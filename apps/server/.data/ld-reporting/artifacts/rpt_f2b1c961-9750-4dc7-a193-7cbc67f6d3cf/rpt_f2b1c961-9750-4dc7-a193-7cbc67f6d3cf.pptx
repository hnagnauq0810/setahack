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0"/>
            <a:ext cx="164592" cy="6858000"/>
          </a:xfrm>
          <a:prstGeom prst="rect">
            <a:avLst/>
          </a:prstGeom>
          <a:solidFill>
            <a:srgbClr val="2563EB"/>
          </a:solidFill>
          <a:ln w="12700">
            <a:solidFill>
              <a:srgbClr val="2563EB"/>
            </a:solidFill>
            <a:prstDash val="solid"/>
          </a:ln>
        </p:spPr>
      </p:sp>
      <p:sp>
        <p:nvSpPr>
          <p:cNvPr id="4" name="Text 2"/>
          <p:cNvSpPr/>
          <p:nvPr/>
        </p:nvSpPr>
        <p:spPr>
          <a:xfrm>
            <a:off x="640080" y="594360"/>
            <a:ext cx="6217920" cy="320040"/>
          </a:xfrm>
          <a:prstGeom prst="rect">
            <a:avLst/>
          </a:prstGeom>
          <a:noFill/>
          <a:ln/>
        </p:spPr>
        <p:txBody>
          <a:bodyPr wrap="square" rtlCol="0" anchor="ctr"/>
          <a:lstStyle/>
          <a:p>
            <a:pPr indent="0" marL="0">
              <a:buNone/>
            </a:pPr>
            <a:r>
              <a:rPr lang="en-US" sz="1400" b="1" dirty="0">
                <a:solidFill>
                  <a:srgbClr val="93C5FD"/>
                </a:solidFill>
              </a:rPr>
              <a:t>Training Effectiveness Agent</a:t>
            </a:r>
            <a:endParaRPr lang="en-US" sz="1400" dirty="0"/>
          </a:p>
        </p:txBody>
      </p:sp>
      <p:sp>
        <p:nvSpPr>
          <p:cNvPr id="5" name="Text 3"/>
          <p:cNvSpPr/>
          <p:nvPr/>
        </p:nvSpPr>
        <p:spPr>
          <a:xfrm>
            <a:off x="640080" y="1143000"/>
            <a:ext cx="8046720" cy="1234440"/>
          </a:xfrm>
          <a:prstGeom prst="rect">
            <a:avLst/>
          </a:prstGeom>
          <a:noFill/>
          <a:ln/>
        </p:spPr>
        <p:txBody>
          <a:bodyPr wrap="square" lIns="254" tIns="254" rIns="254" bIns="254" rtlCol="0" anchor="ctr">
            <a:normAutofit/>
          </a:bodyPr>
          <a:lstStyle/>
          <a:p>
            <a:pPr indent="0" marL="0">
              <a:buNone/>
            </a:pPr>
            <a:r>
              <a:rPr lang="en-US" sz="3400" b="1" dirty="0">
                <a:solidFill>
                  <a:srgbClr val="FFFFFF"/>
                </a:solidFill>
              </a:rPr>
              <a:t>L&amp;D Training Effectiveness Report - Technical Leadership &amp; Communication</a:t>
            </a:r>
            <a:endParaRPr lang="en-US" sz="3400" dirty="0"/>
          </a:p>
        </p:txBody>
      </p:sp>
      <p:sp>
        <p:nvSpPr>
          <p:cNvPr id="6" name="Text 4"/>
          <p:cNvSpPr/>
          <p:nvPr/>
        </p:nvSpPr>
        <p:spPr>
          <a:xfrm>
            <a:off x="658368" y="2606040"/>
            <a:ext cx="7772400" cy="594360"/>
          </a:xfrm>
          <a:prstGeom prst="rect">
            <a:avLst/>
          </a:prstGeom>
          <a:noFill/>
          <a:ln/>
        </p:spPr>
        <p:txBody>
          <a:bodyPr wrap="square" lIns="254" tIns="254" rIns="254" bIns="254" rtlCol="0" anchor="ctr">
            <a:normAutofit/>
          </a:bodyPr>
          <a:lstStyle/>
          <a:p>
            <a:pPr indent="0" marL="0">
              <a:buNone/>
            </a:pPr>
            <a:r>
              <a:rPr lang="en-US" sz="1800" dirty="0">
                <a:solidFill>
                  <a:srgbClr val="CBD5E1"/>
                </a:solidFill>
              </a:rPr>
              <a:t>Evidence gaps block a final effectiveness conclusion.</a:t>
            </a:r>
            <a:endParaRPr lang="en-US" sz="1800" dirty="0"/>
          </a:p>
        </p:txBody>
      </p:sp>
      <p:sp>
        <p:nvSpPr>
          <p:cNvPr id="7" name="Shape 5"/>
          <p:cNvSpPr/>
          <p:nvPr/>
        </p:nvSpPr>
        <p:spPr>
          <a:xfrm>
            <a:off x="658368" y="3703320"/>
            <a:ext cx="1143000" cy="256032"/>
          </a:xfrm>
          <a:prstGeom prst="roundRect">
            <a:avLst>
              <a:gd name="adj" fmla="val 28571"/>
            </a:avLst>
          </a:prstGeom>
          <a:solidFill>
            <a:srgbClr val="FEE2E2"/>
          </a:solidFill>
          <a:ln w="12700">
            <a:solidFill>
              <a:srgbClr val="FEE2E2"/>
            </a:solidFill>
            <a:prstDash val="solid"/>
          </a:ln>
        </p:spPr>
      </p:sp>
      <p:sp>
        <p:nvSpPr>
          <p:cNvPr id="8" name="Text 6"/>
          <p:cNvSpPr/>
          <p:nvPr/>
        </p:nvSpPr>
        <p:spPr>
          <a:xfrm>
            <a:off x="694944" y="3753612"/>
            <a:ext cx="106984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9" name="Shape 7"/>
          <p:cNvSpPr/>
          <p:nvPr/>
        </p:nvSpPr>
        <p:spPr>
          <a:xfrm>
            <a:off x="2057400" y="3703320"/>
            <a:ext cx="1143000" cy="256032"/>
          </a:xfrm>
          <a:prstGeom prst="roundRect">
            <a:avLst>
              <a:gd name="adj" fmla="val 28571"/>
            </a:avLst>
          </a:prstGeom>
          <a:solidFill>
            <a:srgbClr val="E2E8F0"/>
          </a:solidFill>
          <a:ln w="12700">
            <a:solidFill>
              <a:srgbClr val="E2E8F0"/>
            </a:solidFill>
            <a:prstDash val="solid"/>
          </a:ln>
        </p:spPr>
      </p:sp>
      <p:sp>
        <p:nvSpPr>
          <p:cNvPr id="10" name="Text 8"/>
          <p:cNvSpPr/>
          <p:nvPr/>
        </p:nvSpPr>
        <p:spPr>
          <a:xfrm>
            <a:off x="209397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Draft</a:t>
            </a:r>
            <a:endParaRPr lang="en-US" sz="740" dirty="0"/>
          </a:p>
        </p:txBody>
      </p:sp>
      <p:sp>
        <p:nvSpPr>
          <p:cNvPr id="11" name="Shape 9"/>
          <p:cNvSpPr/>
          <p:nvPr/>
        </p:nvSpPr>
        <p:spPr>
          <a:xfrm>
            <a:off x="3291840" y="3703320"/>
            <a:ext cx="1143000" cy="256032"/>
          </a:xfrm>
          <a:prstGeom prst="roundRect">
            <a:avLst>
              <a:gd name="adj" fmla="val 28571"/>
            </a:avLst>
          </a:prstGeom>
          <a:solidFill>
            <a:srgbClr val="E2E8F0"/>
          </a:solidFill>
          <a:ln w="12700">
            <a:solidFill>
              <a:srgbClr val="E2E8F0"/>
            </a:solidFill>
            <a:prstDash val="solid"/>
          </a:ln>
        </p:spPr>
      </p:sp>
      <p:sp>
        <p:nvSpPr>
          <p:cNvPr id="12" name="Text 10"/>
          <p:cNvSpPr/>
          <p:nvPr/>
        </p:nvSpPr>
        <p:spPr>
          <a:xfrm>
            <a:off x="3328416" y="3753612"/>
            <a:ext cx="1069848" cy="91440"/>
          </a:xfrm>
          <a:prstGeom prst="rect">
            <a:avLst/>
          </a:prstGeom>
          <a:noFill/>
          <a:ln/>
        </p:spPr>
        <p:txBody>
          <a:bodyPr wrap="square" rtlCol="0" anchor="ctr">
            <a:normAutofit/>
          </a:bodyPr>
          <a:lstStyle/>
          <a:p>
            <a:pPr algn="ctr" indent="0" marL="0">
              <a:buNone/>
            </a:pPr>
            <a:r>
              <a:rPr lang="en-US" sz="740" b="1" dirty="0">
                <a:solidFill>
                  <a:srgbClr val="64748B"/>
                </a:solidFill>
              </a:rPr>
              <a:t>L&amp;D Manager</a:t>
            </a:r>
            <a:endParaRPr lang="en-US" sz="740" dirty="0"/>
          </a:p>
        </p:txBody>
      </p:sp>
      <p:sp>
        <p:nvSpPr>
          <p:cNvPr id="13" name="Text 11"/>
          <p:cNvSpPr/>
          <p:nvPr/>
        </p:nvSpPr>
        <p:spPr>
          <a:xfrm>
            <a:off x="658368" y="5440680"/>
            <a:ext cx="5669280" cy="274320"/>
          </a:xfrm>
          <a:prstGeom prst="rect">
            <a:avLst/>
          </a:prstGeom>
          <a:noFill/>
          <a:ln/>
        </p:spPr>
        <p:txBody>
          <a:bodyPr wrap="square" rtlCol="0" anchor="ctr"/>
          <a:lstStyle/>
          <a:p>
            <a:pPr indent="0" marL="0">
              <a:buNone/>
            </a:pPr>
            <a:r>
              <a:rPr lang="en-US" sz="1200" dirty="0">
                <a:solidFill>
                  <a:srgbClr val="CBD5E1"/>
                </a:solidFill>
              </a:rPr>
              <a:t>Course Leadership_06_2026 | Type full</a:t>
            </a:r>
            <a:endParaRPr lang="en-US" sz="1200" dirty="0"/>
          </a:p>
        </p:txBody>
      </p:sp>
      <p:sp>
        <p:nvSpPr>
          <p:cNvPr id="14" name="Text 12"/>
          <p:cNvSpPr/>
          <p:nvPr/>
        </p:nvSpPr>
        <p:spPr>
          <a:xfrm>
            <a:off x="658368" y="5779008"/>
            <a:ext cx="3840480" cy="274320"/>
          </a:xfrm>
          <a:prstGeom prst="rect">
            <a:avLst/>
          </a:prstGeom>
          <a:noFill/>
          <a:ln/>
        </p:spPr>
        <p:txBody>
          <a:bodyPr wrap="square" rtlCol="0" anchor="ctr"/>
          <a:lstStyle/>
          <a:p>
            <a:pPr indent="0" marL="0">
              <a:buNone/>
            </a:pPr>
            <a:r>
              <a:rPr lang="en-US" sz="1100" dirty="0">
                <a:solidFill>
                  <a:srgbClr val="94A3B8"/>
                </a:solidFill>
              </a:rPr>
              <a:t>6/21/2026, 5:17:27 PM</a:t>
            </a:r>
            <a:endParaRPr lang="en-US" sz="1100" dirty="0"/>
          </a:p>
        </p:txBody>
      </p:sp>
      <p:sp>
        <p:nvSpPr>
          <p:cNvPr id="15" name="Text 13"/>
          <p:cNvSpPr/>
          <p:nvPr/>
        </p:nvSpPr>
        <p:spPr>
          <a:xfrm>
            <a:off x="9418320" y="6144768"/>
            <a:ext cx="2011680" cy="228600"/>
          </a:xfrm>
          <a:prstGeom prst="rect">
            <a:avLst/>
          </a:prstGeom>
          <a:noFill/>
          <a:ln/>
        </p:spPr>
        <p:txBody>
          <a:bodyPr wrap="square" rtlCol="0" anchor="ctr"/>
          <a:lstStyle/>
          <a:p>
            <a:pPr algn="r" indent="0" marL="0">
              <a:buNone/>
            </a:pPr>
            <a:r>
              <a:rPr lang="en-US" sz="1000" dirty="0">
                <a:solidFill>
                  <a:srgbClr val="94A3B8"/>
                </a:solidFill>
              </a:rPr>
              <a:t>SETA L&amp;D Reporting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Executive snapshot</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6766560" cy="475488"/>
          </a:xfrm>
          <a:prstGeom prst="rect">
            <a:avLst/>
          </a:prstGeom>
          <a:noFill/>
          <a:ln/>
        </p:spPr>
        <p:txBody>
          <a:bodyPr wrap="square" rtlCol="0" anchor="ctr">
            <a:normAutofit/>
          </a:bodyPr>
          <a:lstStyle/>
          <a:p>
            <a:pPr indent="0" marL="0">
              <a:buNone/>
            </a:pPr>
            <a:r>
              <a:rPr lang="en-US" sz="2200" b="1" dirty="0">
                <a:solidFill>
                  <a:srgbClr val="0F172A"/>
                </a:solidFill>
              </a:rPr>
              <a:t>Evidence gaps block a final effectiveness conclusion.</a:t>
            </a:r>
            <a:endParaRPr lang="en-US" sz="2200" dirty="0"/>
          </a:p>
        </p:txBody>
      </p:sp>
      <p:sp>
        <p:nvSpPr>
          <p:cNvPr id="8" name="Text 6"/>
          <p:cNvSpPr/>
          <p:nvPr/>
        </p:nvSpPr>
        <p:spPr>
          <a:xfrm>
            <a:off x="621792" y="1719072"/>
            <a:ext cx="6675120" cy="1554480"/>
          </a:xfrm>
          <a:prstGeom prst="rect">
            <a:avLst/>
          </a:prstGeom>
          <a:noFill/>
          <a:ln/>
        </p:spPr>
        <p:txBody>
          <a:bodyPr wrap="square" rtlCol="0" anchor="t">
            <a:normAutofit/>
          </a:bodyPr>
          <a:lstStyle/>
          <a:p>
            <a:pPr indent="0" marL="0">
              <a:buNone/>
            </a:pPr>
            <a:r>
              <a:rPr lang="en-US" sz="1300" dirty="0">
                <a:solidFill>
                  <a:srgbClr val="0F172A"/>
                </a:solidFill>
              </a:rPr>
              <a:t>The selected scope contains 1 course(s), 0 completed course(s), and 8 trainee-course records. Overall attendance is 47.9%, completion is 0%, pass rate is 0%, and average score is N/A/10. Total training hours are 34.5 and scaled cost is 4.8. Final effectiveness conclusion is blocked because required evidence is incomplete or course status is not completed. Management interpretation: The course 'Technical Leadership &amp; Communication' is currently in progress with 8 trainees enrolled. Attendance stands at 47.9%, with no completions or pass rates recorded. The average score is not applicable due to the course's incomplete status. The total training hours amount to 34.5, and the scaled cost is 4.8. Final effectiveness conclusions cannot be drawn as the course has not yet been completed, and attendance data is incomplete.</a:t>
            </a:r>
            <a:endParaRPr lang="en-US" sz="1300" dirty="0"/>
          </a:p>
        </p:txBody>
      </p:sp>
      <p:sp>
        <p:nvSpPr>
          <p:cNvPr id="9" name="Shape 7"/>
          <p:cNvSpPr/>
          <p:nvPr/>
        </p:nvSpPr>
        <p:spPr>
          <a:xfrm>
            <a:off x="7818120" y="1005840"/>
            <a:ext cx="3611880" cy="2194560"/>
          </a:xfrm>
          <a:prstGeom prst="roundRect">
            <a:avLst>
              <a:gd name="adj" fmla="val 3333"/>
            </a:avLst>
          </a:prstGeom>
          <a:solidFill>
            <a:srgbClr val="FFFFFF"/>
          </a:solidFill>
          <a:ln w="12700">
            <a:solidFill>
              <a:srgbClr val="CBD5E1"/>
            </a:solidFill>
            <a:prstDash val="solid"/>
          </a:ln>
        </p:spPr>
      </p:sp>
      <p:sp>
        <p:nvSpPr>
          <p:cNvPr id="10" name="Text 8"/>
          <p:cNvSpPr/>
          <p:nvPr/>
        </p:nvSpPr>
        <p:spPr>
          <a:xfrm>
            <a:off x="8046720" y="1234440"/>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11" name="Shape 9"/>
          <p:cNvSpPr/>
          <p:nvPr/>
        </p:nvSpPr>
        <p:spPr>
          <a:xfrm>
            <a:off x="8046720" y="1645920"/>
            <a:ext cx="1143000" cy="256032"/>
          </a:xfrm>
          <a:prstGeom prst="roundRect">
            <a:avLst>
              <a:gd name="adj" fmla="val 28571"/>
            </a:avLst>
          </a:prstGeom>
          <a:solidFill>
            <a:srgbClr val="FEE2E2"/>
          </a:solidFill>
          <a:ln w="12700">
            <a:solidFill>
              <a:srgbClr val="FEE2E2"/>
            </a:solidFill>
            <a:prstDash val="solid"/>
          </a:ln>
        </p:spPr>
      </p:sp>
      <p:sp>
        <p:nvSpPr>
          <p:cNvPr id="12" name="Text 10"/>
          <p:cNvSpPr/>
          <p:nvPr/>
        </p:nvSpPr>
        <p:spPr>
          <a:xfrm>
            <a:off x="8083296" y="1696212"/>
            <a:ext cx="106984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13" name="Text 11"/>
          <p:cNvSpPr/>
          <p:nvPr/>
        </p:nvSpPr>
        <p:spPr>
          <a:xfrm>
            <a:off x="8046720" y="2121408"/>
            <a:ext cx="2286000" cy="228600"/>
          </a:xfrm>
          <a:prstGeom prst="rect">
            <a:avLst/>
          </a:prstGeom>
          <a:noFill/>
          <a:ln/>
        </p:spPr>
        <p:txBody>
          <a:bodyPr wrap="square" rtlCol="0" anchor="ctr"/>
          <a:lstStyle/>
          <a:p>
            <a:pPr indent="0" marL="0">
              <a:buNone/>
            </a:pPr>
            <a:r>
              <a:rPr lang="en-US" sz="1100" dirty="0">
                <a:solidFill>
                  <a:srgbClr val="0F172A"/>
                </a:solidFill>
              </a:rPr>
              <a:t>Missing evidence: 1</a:t>
            </a:r>
            <a:endParaRPr lang="en-US" sz="1100" dirty="0"/>
          </a:p>
        </p:txBody>
      </p:sp>
      <p:sp>
        <p:nvSpPr>
          <p:cNvPr id="14" name="Text 12"/>
          <p:cNvSpPr/>
          <p:nvPr/>
        </p:nvSpPr>
        <p:spPr>
          <a:xfrm>
            <a:off x="8046720" y="2423160"/>
            <a:ext cx="2286000" cy="228600"/>
          </a:xfrm>
          <a:prstGeom prst="rect">
            <a:avLst/>
          </a:prstGeom>
          <a:noFill/>
          <a:ln/>
        </p:spPr>
        <p:txBody>
          <a:bodyPr wrap="square" rtlCol="0" anchor="ctr"/>
          <a:lstStyle/>
          <a:p>
            <a:pPr indent="0" marL="0">
              <a:buNone/>
            </a:pPr>
            <a:r>
              <a:rPr lang="en-US" sz="1100" dirty="0">
                <a:solidFill>
                  <a:srgbClr val="0F172A"/>
                </a:solidFill>
              </a:rPr>
              <a:t>Warnings: 1</a:t>
            </a:r>
            <a:endParaRPr lang="en-US" sz="1100" dirty="0"/>
          </a:p>
        </p:txBody>
      </p:sp>
      <p:sp>
        <p:nvSpPr>
          <p:cNvPr id="15" name="Text 13"/>
          <p:cNvSpPr/>
          <p:nvPr/>
        </p:nvSpPr>
        <p:spPr>
          <a:xfrm>
            <a:off x="8046720" y="2743200"/>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blocked until required evidence is resolved.</a:t>
            </a:r>
            <a:endParaRPr lang="en-US" sz="950" dirty="0"/>
          </a:p>
        </p:txBody>
      </p:sp>
      <p:sp>
        <p:nvSpPr>
          <p:cNvPr id="16" name="Shape 14"/>
          <p:cNvSpPr/>
          <p:nvPr/>
        </p:nvSpPr>
        <p:spPr>
          <a:xfrm>
            <a:off x="594360" y="4160520"/>
            <a:ext cx="2514600" cy="1143000"/>
          </a:xfrm>
          <a:prstGeom prst="roundRect">
            <a:avLst>
              <a:gd name="adj" fmla="val 6400"/>
            </a:avLst>
          </a:prstGeom>
          <a:solidFill>
            <a:srgbClr val="FFFFFF"/>
          </a:solidFill>
          <a:ln w="12700">
            <a:solidFill>
              <a:srgbClr val="CBD5E1"/>
            </a:solidFill>
            <a:prstDash val="solid"/>
          </a:ln>
        </p:spPr>
      </p:sp>
      <p:sp>
        <p:nvSpPr>
          <p:cNvPr id="17" name="Text 15"/>
          <p:cNvSpPr/>
          <p:nvPr/>
        </p:nvSpPr>
        <p:spPr>
          <a:xfrm>
            <a:off x="75895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18" name="Text 16"/>
          <p:cNvSpPr/>
          <p:nvPr/>
        </p:nvSpPr>
        <p:spPr>
          <a:xfrm>
            <a:off x="75895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47.9%</a:t>
            </a:r>
            <a:endParaRPr lang="en-US" sz="2100" dirty="0"/>
          </a:p>
        </p:txBody>
      </p:sp>
      <p:sp>
        <p:nvSpPr>
          <p:cNvPr id="19" name="Text 17"/>
          <p:cNvSpPr/>
          <p:nvPr/>
        </p:nvSpPr>
        <p:spPr>
          <a:xfrm>
            <a:off x="75895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20" name="Shape 18"/>
          <p:cNvSpPr/>
          <p:nvPr/>
        </p:nvSpPr>
        <p:spPr>
          <a:xfrm>
            <a:off x="2167128" y="4946904"/>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2203704" y="499719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22" name="Shape 20"/>
          <p:cNvSpPr/>
          <p:nvPr/>
        </p:nvSpPr>
        <p:spPr>
          <a:xfrm>
            <a:off x="3383280" y="4160520"/>
            <a:ext cx="2514600" cy="1143000"/>
          </a:xfrm>
          <a:prstGeom prst="roundRect">
            <a:avLst>
              <a:gd name="adj" fmla="val 6400"/>
            </a:avLst>
          </a:prstGeom>
          <a:solidFill>
            <a:srgbClr val="FFFFFF"/>
          </a:solidFill>
          <a:ln w="12700">
            <a:solidFill>
              <a:srgbClr val="CBD5E1"/>
            </a:solidFill>
            <a:prstDash val="solid"/>
          </a:ln>
        </p:spPr>
      </p:sp>
      <p:sp>
        <p:nvSpPr>
          <p:cNvPr id="23" name="Text 21"/>
          <p:cNvSpPr/>
          <p:nvPr/>
        </p:nvSpPr>
        <p:spPr>
          <a:xfrm>
            <a:off x="354787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24" name="Text 22"/>
          <p:cNvSpPr/>
          <p:nvPr/>
        </p:nvSpPr>
        <p:spPr>
          <a:xfrm>
            <a:off x="354787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25" name="Text 23"/>
          <p:cNvSpPr/>
          <p:nvPr/>
        </p:nvSpPr>
        <p:spPr>
          <a:xfrm>
            <a:off x="354787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26" name="Shape 24"/>
          <p:cNvSpPr/>
          <p:nvPr/>
        </p:nvSpPr>
        <p:spPr>
          <a:xfrm>
            <a:off x="4956048" y="4946904"/>
            <a:ext cx="777240" cy="256032"/>
          </a:xfrm>
          <a:prstGeom prst="roundRect">
            <a:avLst>
              <a:gd name="adj" fmla="val 28571"/>
            </a:avLst>
          </a:prstGeom>
          <a:solidFill>
            <a:srgbClr val="FEE2E2"/>
          </a:solidFill>
          <a:ln w="12700">
            <a:solidFill>
              <a:srgbClr val="FEE2E2"/>
            </a:solidFill>
            <a:prstDash val="solid"/>
          </a:ln>
        </p:spPr>
      </p:sp>
      <p:sp>
        <p:nvSpPr>
          <p:cNvPr id="27" name="Text 25"/>
          <p:cNvSpPr/>
          <p:nvPr/>
        </p:nvSpPr>
        <p:spPr>
          <a:xfrm>
            <a:off x="4992624" y="499719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28" name="Shape 26"/>
          <p:cNvSpPr/>
          <p:nvPr/>
        </p:nvSpPr>
        <p:spPr>
          <a:xfrm>
            <a:off x="6172200" y="4160520"/>
            <a:ext cx="2514600" cy="1143000"/>
          </a:xfrm>
          <a:prstGeom prst="roundRect">
            <a:avLst>
              <a:gd name="adj" fmla="val 6400"/>
            </a:avLst>
          </a:prstGeom>
          <a:solidFill>
            <a:srgbClr val="FFFFFF"/>
          </a:solidFill>
          <a:ln w="12700">
            <a:solidFill>
              <a:srgbClr val="CBD5E1"/>
            </a:solidFill>
            <a:prstDash val="solid"/>
          </a:ln>
        </p:spPr>
      </p:sp>
      <p:sp>
        <p:nvSpPr>
          <p:cNvPr id="29" name="Text 27"/>
          <p:cNvSpPr/>
          <p:nvPr/>
        </p:nvSpPr>
        <p:spPr>
          <a:xfrm>
            <a:off x="633679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30" name="Text 28"/>
          <p:cNvSpPr/>
          <p:nvPr/>
        </p:nvSpPr>
        <p:spPr>
          <a:xfrm>
            <a:off x="633679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31" name="Text 29"/>
          <p:cNvSpPr/>
          <p:nvPr/>
        </p:nvSpPr>
        <p:spPr>
          <a:xfrm>
            <a:off x="633679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32" name="Shape 30"/>
          <p:cNvSpPr/>
          <p:nvPr/>
        </p:nvSpPr>
        <p:spPr>
          <a:xfrm>
            <a:off x="7744968" y="4946904"/>
            <a:ext cx="777240" cy="256032"/>
          </a:xfrm>
          <a:prstGeom prst="roundRect">
            <a:avLst>
              <a:gd name="adj" fmla="val 28571"/>
            </a:avLst>
          </a:prstGeom>
          <a:solidFill>
            <a:srgbClr val="FEE2E2"/>
          </a:solidFill>
          <a:ln w="12700">
            <a:solidFill>
              <a:srgbClr val="FEE2E2"/>
            </a:solidFill>
            <a:prstDash val="solid"/>
          </a:ln>
        </p:spPr>
      </p:sp>
      <p:sp>
        <p:nvSpPr>
          <p:cNvPr id="33" name="Text 31"/>
          <p:cNvSpPr/>
          <p:nvPr/>
        </p:nvSpPr>
        <p:spPr>
          <a:xfrm>
            <a:off x="7781544" y="499719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34" name="Shape 32"/>
          <p:cNvSpPr/>
          <p:nvPr/>
        </p:nvSpPr>
        <p:spPr>
          <a:xfrm>
            <a:off x="8961120" y="4160520"/>
            <a:ext cx="2514600" cy="1143000"/>
          </a:xfrm>
          <a:prstGeom prst="roundRect">
            <a:avLst>
              <a:gd name="adj" fmla="val 6400"/>
            </a:avLst>
          </a:prstGeom>
          <a:solidFill>
            <a:srgbClr val="FFFFFF"/>
          </a:solidFill>
          <a:ln w="12700">
            <a:solidFill>
              <a:srgbClr val="CBD5E1"/>
            </a:solidFill>
            <a:prstDash val="solid"/>
          </a:ln>
        </p:spPr>
      </p:sp>
      <p:sp>
        <p:nvSpPr>
          <p:cNvPr id="35" name="Text 33"/>
          <p:cNvSpPr/>
          <p:nvPr/>
        </p:nvSpPr>
        <p:spPr>
          <a:xfrm>
            <a:off x="9125712" y="430682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36" name="Text 34"/>
          <p:cNvSpPr/>
          <p:nvPr/>
        </p:nvSpPr>
        <p:spPr>
          <a:xfrm>
            <a:off x="9125712" y="454456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37" name="Text 35"/>
          <p:cNvSpPr/>
          <p:nvPr/>
        </p:nvSpPr>
        <p:spPr>
          <a:xfrm>
            <a:off x="9125712" y="494690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38" name="Shape 36"/>
          <p:cNvSpPr/>
          <p:nvPr/>
        </p:nvSpPr>
        <p:spPr>
          <a:xfrm>
            <a:off x="10533888" y="4946904"/>
            <a:ext cx="777240" cy="256032"/>
          </a:xfrm>
          <a:prstGeom prst="roundRect">
            <a:avLst>
              <a:gd name="adj" fmla="val 28571"/>
            </a:avLst>
          </a:prstGeom>
          <a:solidFill>
            <a:srgbClr val="E2E8F0"/>
          </a:solidFill>
          <a:ln w="12700">
            <a:solidFill>
              <a:srgbClr val="E2E8F0"/>
            </a:solidFill>
            <a:prstDash val="solid"/>
          </a:ln>
        </p:spPr>
      </p:sp>
      <p:sp>
        <p:nvSpPr>
          <p:cNvPr id="39" name="Text 37"/>
          <p:cNvSpPr/>
          <p:nvPr/>
        </p:nvSpPr>
        <p:spPr>
          <a:xfrm>
            <a:off x="10570464" y="499719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Decision readiness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24128"/>
            <a:ext cx="3611880" cy="2194560"/>
          </a:xfrm>
          <a:prstGeom prst="roundRect">
            <a:avLst>
              <a:gd name="adj" fmla="val 3333"/>
            </a:avLst>
          </a:prstGeom>
          <a:solidFill>
            <a:srgbClr val="FFFFFF"/>
          </a:solidFill>
          <a:ln w="12700">
            <a:solidFill>
              <a:srgbClr val="CBD5E1"/>
            </a:solidFill>
            <a:prstDash val="solid"/>
          </a:ln>
        </p:spPr>
      </p:sp>
      <p:sp>
        <p:nvSpPr>
          <p:cNvPr id="8" name="Text 6"/>
          <p:cNvSpPr/>
          <p:nvPr/>
        </p:nvSpPr>
        <p:spPr>
          <a:xfrm>
            <a:off x="822960" y="1252728"/>
            <a:ext cx="2560320" cy="228600"/>
          </a:xfrm>
          <a:prstGeom prst="rect">
            <a:avLst/>
          </a:prstGeom>
          <a:noFill/>
          <a:ln/>
        </p:spPr>
        <p:txBody>
          <a:bodyPr wrap="square" rtlCol="0" anchor="ctr"/>
          <a:lstStyle/>
          <a:p>
            <a:pPr indent="0" marL="0">
              <a:buNone/>
            </a:pPr>
            <a:r>
              <a:rPr lang="en-US" sz="1300" b="1" dirty="0">
                <a:solidFill>
                  <a:srgbClr val="0F172A"/>
                </a:solidFill>
              </a:rPr>
              <a:t>Decision readiness</a:t>
            </a:r>
            <a:endParaRPr lang="en-US" sz="1300" dirty="0"/>
          </a:p>
        </p:txBody>
      </p:sp>
      <p:sp>
        <p:nvSpPr>
          <p:cNvPr id="9" name="Shape 7"/>
          <p:cNvSpPr/>
          <p:nvPr/>
        </p:nvSpPr>
        <p:spPr>
          <a:xfrm>
            <a:off x="822960" y="1664208"/>
            <a:ext cx="1143000" cy="256032"/>
          </a:xfrm>
          <a:prstGeom prst="roundRect">
            <a:avLst>
              <a:gd name="adj" fmla="val 28571"/>
            </a:avLst>
          </a:prstGeom>
          <a:solidFill>
            <a:srgbClr val="FEE2E2"/>
          </a:solidFill>
          <a:ln w="12700">
            <a:solidFill>
              <a:srgbClr val="FEE2E2"/>
            </a:solidFill>
            <a:prstDash val="solid"/>
          </a:ln>
        </p:spPr>
      </p:sp>
      <p:sp>
        <p:nvSpPr>
          <p:cNvPr id="10" name="Text 8"/>
          <p:cNvSpPr/>
          <p:nvPr/>
        </p:nvSpPr>
        <p:spPr>
          <a:xfrm>
            <a:off x="859536" y="1714500"/>
            <a:ext cx="106984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11" name="Text 9"/>
          <p:cNvSpPr/>
          <p:nvPr/>
        </p:nvSpPr>
        <p:spPr>
          <a:xfrm>
            <a:off x="822960" y="2139696"/>
            <a:ext cx="2286000" cy="228600"/>
          </a:xfrm>
          <a:prstGeom prst="rect">
            <a:avLst/>
          </a:prstGeom>
          <a:noFill/>
          <a:ln/>
        </p:spPr>
        <p:txBody>
          <a:bodyPr wrap="square" rtlCol="0" anchor="ctr"/>
          <a:lstStyle/>
          <a:p>
            <a:pPr indent="0" marL="0">
              <a:buNone/>
            </a:pPr>
            <a:r>
              <a:rPr lang="en-US" sz="1100" dirty="0">
                <a:solidFill>
                  <a:srgbClr val="0F172A"/>
                </a:solidFill>
              </a:rPr>
              <a:t>Missing evidence: 1</a:t>
            </a:r>
            <a:endParaRPr lang="en-US" sz="1100" dirty="0"/>
          </a:p>
        </p:txBody>
      </p:sp>
      <p:sp>
        <p:nvSpPr>
          <p:cNvPr id="12" name="Text 10"/>
          <p:cNvSpPr/>
          <p:nvPr/>
        </p:nvSpPr>
        <p:spPr>
          <a:xfrm>
            <a:off x="822960" y="2441448"/>
            <a:ext cx="2286000" cy="228600"/>
          </a:xfrm>
          <a:prstGeom prst="rect">
            <a:avLst/>
          </a:prstGeom>
          <a:noFill/>
          <a:ln/>
        </p:spPr>
        <p:txBody>
          <a:bodyPr wrap="square" rtlCol="0" anchor="ctr"/>
          <a:lstStyle/>
          <a:p>
            <a:pPr indent="0" marL="0">
              <a:buNone/>
            </a:pPr>
            <a:r>
              <a:rPr lang="en-US" sz="1100" dirty="0">
                <a:solidFill>
                  <a:srgbClr val="0F172A"/>
                </a:solidFill>
              </a:rPr>
              <a:t>Warnings: 1</a:t>
            </a:r>
            <a:endParaRPr lang="en-US" sz="1100" dirty="0"/>
          </a:p>
        </p:txBody>
      </p:sp>
      <p:sp>
        <p:nvSpPr>
          <p:cNvPr id="13" name="Text 11"/>
          <p:cNvSpPr/>
          <p:nvPr/>
        </p:nvSpPr>
        <p:spPr>
          <a:xfrm>
            <a:off x="822960" y="2761488"/>
            <a:ext cx="3063240" cy="292608"/>
          </a:xfrm>
          <a:prstGeom prst="rect">
            <a:avLst/>
          </a:prstGeom>
          <a:noFill/>
          <a:ln/>
        </p:spPr>
        <p:txBody>
          <a:bodyPr wrap="square" rtlCol="0" anchor="ctr">
            <a:normAutofit/>
          </a:bodyPr>
          <a:lstStyle/>
          <a:p>
            <a:pPr indent="0" marL="0">
              <a:buNone/>
            </a:pPr>
            <a:r>
              <a:rPr lang="en-US" sz="950" dirty="0">
                <a:solidFill>
                  <a:srgbClr val="64748B"/>
                </a:solidFill>
              </a:rPr>
              <a:t>Final conclusion is blocked until required evidence is resolved.</a:t>
            </a:r>
            <a:endParaRPr lang="en-US" sz="950" dirty="0"/>
          </a:p>
        </p:txBody>
      </p:sp>
      <p:sp>
        <p:nvSpPr>
          <p:cNvPr id="14" name="Text 12"/>
          <p:cNvSpPr/>
          <p:nvPr/>
        </p:nvSpPr>
        <p:spPr>
          <a:xfrm>
            <a:off x="4617720" y="1078992"/>
            <a:ext cx="6583680" cy="566928"/>
          </a:xfrm>
          <a:prstGeom prst="rect">
            <a:avLst/>
          </a:prstGeom>
          <a:noFill/>
          <a:ln/>
        </p:spPr>
        <p:txBody>
          <a:bodyPr wrap="square" rtlCol="0" anchor="ctr">
            <a:normAutofit/>
          </a:bodyPr>
          <a:lstStyle/>
          <a:p>
            <a:pPr indent="0" marL="0">
              <a:buNone/>
            </a:pPr>
            <a:r>
              <a:rPr lang="en-US" sz="1600" b="1" dirty="0">
                <a:solidFill>
                  <a:srgbClr val="0F172A"/>
                </a:solidFill>
              </a:rPr>
              <a:t>Final conclusion is blocked until required evidence is resolved.</a:t>
            </a:r>
            <a:endParaRPr lang="en-US" sz="1600" dirty="0"/>
          </a:p>
        </p:txBody>
      </p:sp>
      <p:sp>
        <p:nvSpPr>
          <p:cNvPr id="15" name="Text 13"/>
          <p:cNvSpPr/>
          <p:nvPr/>
        </p:nvSpPr>
        <p:spPr>
          <a:xfrm>
            <a:off x="4617720" y="1993392"/>
            <a:ext cx="2926080" cy="237744"/>
          </a:xfrm>
          <a:prstGeom prst="rect">
            <a:avLst/>
          </a:prstGeom>
          <a:noFill/>
          <a:ln/>
        </p:spPr>
        <p:txBody>
          <a:bodyPr wrap="square" rtlCol="0" anchor="ctr"/>
          <a:lstStyle/>
          <a:p>
            <a:pPr indent="0" marL="0">
              <a:buNone/>
            </a:pPr>
            <a:r>
              <a:rPr lang="en-US" sz="1400" b="1" dirty="0">
                <a:solidFill>
                  <a:srgbClr val="0F172A"/>
                </a:solidFill>
              </a:rPr>
              <a:t>Validated gate checks</a:t>
            </a:r>
            <a:endParaRPr lang="en-US" sz="1400" dirty="0"/>
          </a:p>
        </p:txBody>
      </p:sp>
      <p:sp>
        <p:nvSpPr>
          <p:cNvPr id="16" name="Shape 14"/>
          <p:cNvSpPr/>
          <p:nvPr/>
        </p:nvSpPr>
        <p:spPr>
          <a:xfrm>
            <a:off x="4617720" y="2423160"/>
            <a:ext cx="6583680" cy="566928"/>
          </a:xfrm>
          <a:prstGeom prst="roundRect">
            <a:avLst>
              <a:gd name="adj" fmla="val 9677"/>
            </a:avLst>
          </a:prstGeom>
          <a:solidFill>
            <a:srgbClr val="FFFFFF"/>
          </a:solidFill>
          <a:ln w="12700">
            <a:solidFill>
              <a:srgbClr val="CBD5E1"/>
            </a:solidFill>
            <a:prstDash val="solid"/>
          </a:ln>
        </p:spPr>
      </p:sp>
      <p:sp>
        <p:nvSpPr>
          <p:cNvPr id="17" name="Shape 15"/>
          <p:cNvSpPr/>
          <p:nvPr/>
        </p:nvSpPr>
        <p:spPr>
          <a:xfrm>
            <a:off x="4745736" y="2578608"/>
            <a:ext cx="777240" cy="256032"/>
          </a:xfrm>
          <a:prstGeom prst="roundRect">
            <a:avLst>
              <a:gd name="adj" fmla="val 28571"/>
            </a:avLst>
          </a:prstGeom>
          <a:solidFill>
            <a:srgbClr val="D1FAE5"/>
          </a:solidFill>
          <a:ln w="12700">
            <a:solidFill>
              <a:srgbClr val="D1FAE5"/>
            </a:solidFill>
            <a:prstDash val="solid"/>
          </a:ln>
        </p:spPr>
      </p:sp>
      <p:sp>
        <p:nvSpPr>
          <p:cNvPr id="18" name="Text 16"/>
          <p:cNvSpPr/>
          <p:nvPr/>
        </p:nvSpPr>
        <p:spPr>
          <a:xfrm>
            <a:off x="4782312" y="26289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9" name="Text 17"/>
          <p:cNvSpPr/>
          <p:nvPr/>
        </p:nvSpPr>
        <p:spPr>
          <a:xfrm>
            <a:off x="5623560" y="2532888"/>
            <a:ext cx="2148840" cy="146304"/>
          </a:xfrm>
          <a:prstGeom prst="rect">
            <a:avLst/>
          </a:prstGeom>
          <a:noFill/>
          <a:ln/>
        </p:spPr>
        <p:txBody>
          <a:bodyPr wrap="square" rtlCol="0" anchor="ctr">
            <a:normAutofit/>
          </a:bodyPr>
          <a:lstStyle/>
          <a:p>
            <a:pPr indent="0" marL="0">
              <a:buNone/>
            </a:pPr>
            <a:r>
              <a:rPr lang="en-US" sz="930" b="1" dirty="0">
                <a:solidFill>
                  <a:srgbClr val="0F172A"/>
                </a:solidFill>
              </a:rPr>
              <a:t>Source availability and required columns</a:t>
            </a:r>
            <a:endParaRPr lang="en-US" sz="930" dirty="0"/>
          </a:p>
        </p:txBody>
      </p:sp>
      <p:sp>
        <p:nvSpPr>
          <p:cNvPr id="20" name="Text 18"/>
          <p:cNvSpPr/>
          <p:nvPr/>
        </p:nvSpPr>
        <p:spPr>
          <a:xfrm>
            <a:off x="7863840" y="2514600"/>
            <a:ext cx="3063240" cy="219456"/>
          </a:xfrm>
          <a:prstGeom prst="rect">
            <a:avLst/>
          </a:prstGeom>
          <a:noFill/>
          <a:ln/>
        </p:spPr>
        <p:txBody>
          <a:bodyPr wrap="square" rtlCol="0" anchor="ctr">
            <a:normAutofit/>
          </a:bodyPr>
          <a:lstStyle/>
          <a:p>
            <a:pPr indent="0" marL="0">
              <a:buNone/>
            </a:pPr>
            <a:r>
              <a:rPr lang="en-US" sz="860" dirty="0">
                <a:solidFill>
                  <a:srgbClr val="64748B"/>
                </a:solidFill>
              </a:rPr>
              <a:t>Required sheets and columns were mapped from Teams, OneDrive, Forms, KPI, Rules and Template sources.</a:t>
            </a:r>
            <a:endParaRPr lang="en-US" sz="860" dirty="0"/>
          </a:p>
        </p:txBody>
      </p:sp>
      <p:sp>
        <p:nvSpPr>
          <p:cNvPr id="21" name="Shape 19"/>
          <p:cNvSpPr/>
          <p:nvPr/>
        </p:nvSpPr>
        <p:spPr>
          <a:xfrm>
            <a:off x="4617720" y="3108960"/>
            <a:ext cx="6583680" cy="566928"/>
          </a:xfrm>
          <a:prstGeom prst="roundRect">
            <a:avLst>
              <a:gd name="adj" fmla="val 9677"/>
            </a:avLst>
          </a:prstGeom>
          <a:solidFill>
            <a:srgbClr val="FFFFFF"/>
          </a:solidFill>
          <a:ln w="12700">
            <a:solidFill>
              <a:srgbClr val="CBD5E1"/>
            </a:solidFill>
            <a:prstDash val="solid"/>
          </a:ln>
        </p:spPr>
      </p:sp>
      <p:sp>
        <p:nvSpPr>
          <p:cNvPr id="22" name="Shape 20"/>
          <p:cNvSpPr/>
          <p:nvPr/>
        </p:nvSpPr>
        <p:spPr>
          <a:xfrm>
            <a:off x="4745736" y="3264408"/>
            <a:ext cx="777240" cy="256032"/>
          </a:xfrm>
          <a:prstGeom prst="roundRect">
            <a:avLst>
              <a:gd name="adj" fmla="val 28571"/>
            </a:avLst>
          </a:prstGeom>
          <a:solidFill>
            <a:srgbClr val="FEE2E2"/>
          </a:solidFill>
          <a:ln w="12700">
            <a:solidFill>
              <a:srgbClr val="FEE2E2"/>
            </a:solidFill>
            <a:prstDash val="solid"/>
          </a:ln>
        </p:spPr>
      </p:sp>
      <p:sp>
        <p:nvSpPr>
          <p:cNvPr id="23" name="Text 21"/>
          <p:cNvSpPr/>
          <p:nvPr/>
        </p:nvSpPr>
        <p:spPr>
          <a:xfrm>
            <a:off x="4782312" y="331470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24" name="Text 22"/>
          <p:cNvSpPr/>
          <p:nvPr/>
        </p:nvSpPr>
        <p:spPr>
          <a:xfrm>
            <a:off x="5623560" y="3218688"/>
            <a:ext cx="2148840" cy="146304"/>
          </a:xfrm>
          <a:prstGeom prst="rect">
            <a:avLst/>
          </a:prstGeom>
          <a:noFill/>
          <a:ln/>
        </p:spPr>
        <p:txBody>
          <a:bodyPr wrap="square" rtlCol="0" anchor="ctr">
            <a:normAutofit/>
          </a:bodyPr>
          <a:lstStyle/>
          <a:p>
            <a:pPr indent="0" marL="0">
              <a:buNone/>
            </a:pPr>
            <a:r>
              <a:rPr lang="en-US" sz="930" b="1" dirty="0">
                <a:solidFill>
                  <a:srgbClr val="0F172A"/>
                </a:solidFill>
              </a:rPr>
              <a:t>Course status</a:t>
            </a:r>
            <a:endParaRPr lang="en-US" sz="930" dirty="0"/>
          </a:p>
        </p:txBody>
      </p:sp>
      <p:sp>
        <p:nvSpPr>
          <p:cNvPr id="25" name="Text 23"/>
          <p:cNvSpPr/>
          <p:nvPr/>
        </p:nvSpPr>
        <p:spPr>
          <a:xfrm>
            <a:off x="7863840" y="3200400"/>
            <a:ext cx="3063240" cy="219456"/>
          </a:xfrm>
          <a:prstGeom prst="rect">
            <a:avLst/>
          </a:prstGeom>
          <a:noFill/>
          <a:ln/>
        </p:spPr>
        <p:txBody>
          <a:bodyPr wrap="square" rtlCol="0" anchor="ctr">
            <a:normAutofit/>
          </a:bodyPr>
          <a:lstStyle/>
          <a:p>
            <a:pPr indent="0" marL="0">
              <a:buNone/>
            </a:pPr>
            <a:r>
              <a:rPr lang="en-US" sz="860" dirty="0">
                <a:solidFill>
                  <a:srgbClr val="64748B"/>
                </a:solidFill>
              </a:rPr>
              <a:t>1 selected course(s) are not completed.</a:t>
            </a:r>
            <a:endParaRPr lang="en-US" sz="860" dirty="0"/>
          </a:p>
        </p:txBody>
      </p:sp>
      <p:sp>
        <p:nvSpPr>
          <p:cNvPr id="26" name="Shape 24"/>
          <p:cNvSpPr/>
          <p:nvPr/>
        </p:nvSpPr>
        <p:spPr>
          <a:xfrm>
            <a:off x="4617720" y="3794760"/>
            <a:ext cx="6583680" cy="566928"/>
          </a:xfrm>
          <a:prstGeom prst="roundRect">
            <a:avLst>
              <a:gd name="adj" fmla="val 9677"/>
            </a:avLst>
          </a:prstGeom>
          <a:solidFill>
            <a:srgbClr val="FFFFFF"/>
          </a:solidFill>
          <a:ln w="12700">
            <a:solidFill>
              <a:srgbClr val="CBD5E1"/>
            </a:solidFill>
            <a:prstDash val="solid"/>
          </a:ln>
        </p:spPr>
      </p:sp>
      <p:sp>
        <p:nvSpPr>
          <p:cNvPr id="27" name="Shape 25"/>
          <p:cNvSpPr/>
          <p:nvPr/>
        </p:nvSpPr>
        <p:spPr>
          <a:xfrm>
            <a:off x="4745736" y="3950208"/>
            <a:ext cx="777240" cy="256032"/>
          </a:xfrm>
          <a:prstGeom prst="roundRect">
            <a:avLst>
              <a:gd name="adj" fmla="val 28571"/>
            </a:avLst>
          </a:prstGeom>
          <a:solidFill>
            <a:srgbClr val="FEF3C7"/>
          </a:solidFill>
          <a:ln w="12700">
            <a:solidFill>
              <a:srgbClr val="FEF3C7"/>
            </a:solidFill>
            <a:prstDash val="solid"/>
          </a:ln>
        </p:spPr>
      </p:sp>
      <p:sp>
        <p:nvSpPr>
          <p:cNvPr id="28" name="Text 26"/>
          <p:cNvSpPr/>
          <p:nvPr/>
        </p:nvSpPr>
        <p:spPr>
          <a:xfrm>
            <a:off x="4782312" y="400050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Warning</a:t>
            </a:r>
            <a:endParaRPr lang="en-US" sz="740" dirty="0"/>
          </a:p>
        </p:txBody>
      </p:sp>
      <p:sp>
        <p:nvSpPr>
          <p:cNvPr id="29" name="Text 27"/>
          <p:cNvSpPr/>
          <p:nvPr/>
        </p:nvSpPr>
        <p:spPr>
          <a:xfrm>
            <a:off x="5623560" y="39044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Attendance completeness</a:t>
            </a:r>
            <a:endParaRPr lang="en-US" sz="930" dirty="0"/>
          </a:p>
        </p:txBody>
      </p:sp>
      <p:sp>
        <p:nvSpPr>
          <p:cNvPr id="30" name="Text 28"/>
          <p:cNvSpPr/>
          <p:nvPr/>
        </p:nvSpPr>
        <p:spPr>
          <a:xfrm>
            <a:off x="7863840" y="3886200"/>
            <a:ext cx="3063240" cy="219456"/>
          </a:xfrm>
          <a:prstGeom prst="rect">
            <a:avLst/>
          </a:prstGeom>
          <a:noFill/>
          <a:ln/>
        </p:spPr>
        <p:txBody>
          <a:bodyPr wrap="square" rtlCol="0" anchor="ctr">
            <a:normAutofit/>
          </a:bodyPr>
          <a:lstStyle/>
          <a:p>
            <a:pPr indent="0" marL="0">
              <a:buNone/>
            </a:pPr>
            <a:r>
              <a:rPr lang="en-US" sz="860" dirty="0">
                <a:solidFill>
                  <a:srgbClr val="64748B"/>
                </a:solidFill>
              </a:rPr>
              <a:t>Expected attendance rows are trainee count x total sessions. Late is retained for metrics as partial attendance.</a:t>
            </a:r>
            <a:endParaRPr lang="en-US" sz="860" dirty="0"/>
          </a:p>
        </p:txBody>
      </p:sp>
      <p:sp>
        <p:nvSpPr>
          <p:cNvPr id="31" name="Shape 29"/>
          <p:cNvSpPr/>
          <p:nvPr/>
        </p:nvSpPr>
        <p:spPr>
          <a:xfrm>
            <a:off x="4617720" y="4480560"/>
            <a:ext cx="6583680" cy="566928"/>
          </a:xfrm>
          <a:prstGeom prst="roundRect">
            <a:avLst>
              <a:gd name="adj" fmla="val 9677"/>
            </a:avLst>
          </a:prstGeom>
          <a:solidFill>
            <a:srgbClr val="FFFFFF"/>
          </a:solidFill>
          <a:ln w="12700">
            <a:solidFill>
              <a:srgbClr val="CBD5E1"/>
            </a:solidFill>
            <a:prstDash val="solid"/>
          </a:ln>
        </p:spPr>
      </p:sp>
      <p:sp>
        <p:nvSpPr>
          <p:cNvPr id="32" name="Shape 30"/>
          <p:cNvSpPr/>
          <p:nvPr/>
        </p:nvSpPr>
        <p:spPr>
          <a:xfrm>
            <a:off x="4745736" y="4636008"/>
            <a:ext cx="777240" cy="256032"/>
          </a:xfrm>
          <a:prstGeom prst="roundRect">
            <a:avLst>
              <a:gd name="adj" fmla="val 28571"/>
            </a:avLst>
          </a:prstGeom>
          <a:solidFill>
            <a:srgbClr val="D1FAE5"/>
          </a:solidFill>
          <a:ln w="12700">
            <a:solidFill>
              <a:srgbClr val="D1FAE5"/>
            </a:solidFill>
            <a:prstDash val="solid"/>
          </a:ln>
        </p:spPr>
      </p:sp>
      <p:sp>
        <p:nvSpPr>
          <p:cNvPr id="33" name="Text 31"/>
          <p:cNvSpPr/>
          <p:nvPr/>
        </p:nvSpPr>
        <p:spPr>
          <a:xfrm>
            <a:off x="4782312" y="46863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4" name="Text 32"/>
          <p:cNvSpPr/>
          <p:nvPr/>
        </p:nvSpPr>
        <p:spPr>
          <a:xfrm>
            <a:off x="5623560" y="4590288"/>
            <a:ext cx="2148840" cy="146304"/>
          </a:xfrm>
          <a:prstGeom prst="rect">
            <a:avLst/>
          </a:prstGeom>
          <a:noFill/>
          <a:ln/>
        </p:spPr>
        <p:txBody>
          <a:bodyPr wrap="square" rtlCol="0" anchor="ctr">
            <a:normAutofit/>
          </a:bodyPr>
          <a:lstStyle/>
          <a:p>
            <a:pPr indent="0" marL="0">
              <a:buNone/>
            </a:pPr>
            <a:r>
              <a:rPr lang="en-US" sz="930" b="1" dirty="0">
                <a:solidFill>
                  <a:srgbClr val="0F172A"/>
                </a:solidFill>
              </a:rPr>
              <a:t>Assessment completeness</a:t>
            </a:r>
            <a:endParaRPr lang="en-US" sz="930" dirty="0"/>
          </a:p>
        </p:txBody>
      </p:sp>
      <p:sp>
        <p:nvSpPr>
          <p:cNvPr id="35" name="Text 33"/>
          <p:cNvSpPr/>
          <p:nvPr/>
        </p:nvSpPr>
        <p:spPr>
          <a:xfrm>
            <a:off x="7863840" y="4572000"/>
            <a:ext cx="3063240" cy="219456"/>
          </a:xfrm>
          <a:prstGeom prst="rect">
            <a:avLst/>
          </a:prstGeom>
          <a:noFill/>
          <a:ln/>
        </p:spPr>
        <p:txBody>
          <a:bodyPr wrap="square" rtlCol="0" anchor="ctr">
            <a:normAutofit/>
          </a:bodyPr>
          <a:lstStyle/>
          <a:p>
            <a:pPr indent="0" marL="0">
              <a:buNone/>
            </a:pPr>
            <a:r>
              <a:rPr lang="en-US" sz="860" dirty="0">
                <a:solidFill>
                  <a:srgbClr val="64748B"/>
                </a:solidFill>
              </a:rPr>
              <a:t>Completed courses require one valid assessment and pass-status row per trainee.</a:t>
            </a:r>
            <a:endParaRPr lang="en-US" sz="860" dirty="0"/>
          </a:p>
        </p:txBody>
      </p:sp>
      <p:sp>
        <p:nvSpPr>
          <p:cNvPr id="36" name="Shape 34"/>
          <p:cNvSpPr/>
          <p:nvPr/>
        </p:nvSpPr>
        <p:spPr>
          <a:xfrm>
            <a:off x="4617720" y="5166360"/>
            <a:ext cx="6583680" cy="566928"/>
          </a:xfrm>
          <a:prstGeom prst="roundRect">
            <a:avLst>
              <a:gd name="adj" fmla="val 9677"/>
            </a:avLst>
          </a:prstGeom>
          <a:solidFill>
            <a:srgbClr val="FFFFFF"/>
          </a:solidFill>
          <a:ln w="12700">
            <a:solidFill>
              <a:srgbClr val="CBD5E1"/>
            </a:solidFill>
            <a:prstDash val="solid"/>
          </a:ln>
        </p:spPr>
      </p:sp>
      <p:sp>
        <p:nvSpPr>
          <p:cNvPr id="37" name="Shape 35"/>
          <p:cNvSpPr/>
          <p:nvPr/>
        </p:nvSpPr>
        <p:spPr>
          <a:xfrm>
            <a:off x="4745736" y="5321808"/>
            <a:ext cx="77724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4782312" y="5372100"/>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9" name="Text 37"/>
          <p:cNvSpPr/>
          <p:nvPr/>
        </p:nvSpPr>
        <p:spPr>
          <a:xfrm>
            <a:off x="5623560" y="5276088"/>
            <a:ext cx="2148840" cy="146304"/>
          </a:xfrm>
          <a:prstGeom prst="rect">
            <a:avLst/>
          </a:prstGeom>
          <a:noFill/>
          <a:ln/>
        </p:spPr>
        <p:txBody>
          <a:bodyPr wrap="square" rtlCol="0" anchor="ctr">
            <a:normAutofit/>
          </a:bodyPr>
          <a:lstStyle/>
          <a:p>
            <a:pPr indent="0" marL="0">
              <a:buNone/>
            </a:pPr>
            <a:r>
              <a:rPr lang="en-US" sz="930" b="1" dirty="0">
                <a:solidFill>
                  <a:srgbClr val="0F172A"/>
                </a:solidFill>
              </a:rPr>
              <a:t>Feedback completeness</a:t>
            </a:r>
            <a:endParaRPr lang="en-US" sz="930" dirty="0"/>
          </a:p>
        </p:txBody>
      </p:sp>
      <p:sp>
        <p:nvSpPr>
          <p:cNvPr id="40" name="Text 38"/>
          <p:cNvSpPr/>
          <p:nvPr/>
        </p:nvSpPr>
        <p:spPr>
          <a:xfrm>
            <a:off x="7863840" y="5257800"/>
            <a:ext cx="3063240" cy="219456"/>
          </a:xfrm>
          <a:prstGeom prst="rect">
            <a:avLst/>
          </a:prstGeom>
          <a:noFill/>
          <a:ln/>
        </p:spPr>
        <p:txBody>
          <a:bodyPr wrap="square" rtlCol="0" anchor="ctr">
            <a:normAutofit/>
          </a:bodyPr>
          <a:lstStyle/>
          <a:p>
            <a:pPr indent="0" marL="0">
              <a:buNone/>
            </a:pPr>
            <a:r>
              <a:rPr lang="en-US" sz="860" dirty="0">
                <a:solidFill>
                  <a:srgbClr val="64748B"/>
                </a:solidFill>
              </a:rPr>
              <a:t>NORM-14 requires at least 60% feedback response rate for valid analysis.</a:t>
            </a:r>
            <a:endParaRPr lang="en-US" sz="8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Performance scorecard</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417320"/>
          </a:xfrm>
          <a:prstGeom prst="roundRect">
            <a:avLst>
              <a:gd name="adj" fmla="val 5161"/>
            </a:avLst>
          </a:prstGeom>
          <a:solidFill>
            <a:srgbClr val="FFFFFF"/>
          </a:solidFill>
          <a:ln w="12700">
            <a:solidFill>
              <a:srgbClr val="CBD5E1"/>
            </a:solidFill>
            <a:prstDash val="solid"/>
          </a:ln>
        </p:spPr>
      </p:sp>
      <p:sp>
        <p:nvSpPr>
          <p:cNvPr id="8" name="Text 6"/>
          <p:cNvSpPr/>
          <p:nvPr/>
        </p:nvSpPr>
        <p:spPr>
          <a:xfrm>
            <a:off x="75895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ATTENDANCE</a:t>
            </a:r>
            <a:endParaRPr lang="en-US" sz="850" dirty="0"/>
          </a:p>
        </p:txBody>
      </p:sp>
      <p:sp>
        <p:nvSpPr>
          <p:cNvPr id="9" name="Text 7"/>
          <p:cNvSpPr/>
          <p:nvPr/>
        </p:nvSpPr>
        <p:spPr>
          <a:xfrm>
            <a:off x="75895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47.9%</a:t>
            </a:r>
            <a:endParaRPr lang="en-US" sz="2100" dirty="0"/>
          </a:p>
        </p:txBody>
      </p:sp>
      <p:sp>
        <p:nvSpPr>
          <p:cNvPr id="10" name="Text 8"/>
          <p:cNvSpPr/>
          <p:nvPr/>
        </p:nvSpPr>
        <p:spPr>
          <a:xfrm>
            <a:off x="75895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85%</a:t>
            </a:r>
            <a:endParaRPr lang="en-US" sz="850" dirty="0"/>
          </a:p>
        </p:txBody>
      </p:sp>
      <p:sp>
        <p:nvSpPr>
          <p:cNvPr id="11" name="Shape 9"/>
          <p:cNvSpPr/>
          <p:nvPr/>
        </p:nvSpPr>
        <p:spPr>
          <a:xfrm>
            <a:off x="2167128" y="2112264"/>
            <a:ext cx="777240" cy="256032"/>
          </a:xfrm>
          <a:prstGeom prst="roundRect">
            <a:avLst>
              <a:gd name="adj" fmla="val 28571"/>
            </a:avLst>
          </a:prstGeom>
          <a:solidFill>
            <a:srgbClr val="FEE2E2"/>
          </a:solidFill>
          <a:ln w="12700">
            <a:solidFill>
              <a:srgbClr val="FEE2E2"/>
            </a:solidFill>
            <a:prstDash val="solid"/>
          </a:ln>
        </p:spPr>
      </p:sp>
      <p:sp>
        <p:nvSpPr>
          <p:cNvPr id="12" name="Text 10"/>
          <p:cNvSpPr/>
          <p:nvPr/>
        </p:nvSpPr>
        <p:spPr>
          <a:xfrm>
            <a:off x="2203704" y="216255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3" name="Shape 11"/>
          <p:cNvSpPr/>
          <p:nvPr/>
        </p:nvSpPr>
        <p:spPr>
          <a:xfrm>
            <a:off x="3383280" y="1051560"/>
            <a:ext cx="2514600" cy="1417320"/>
          </a:xfrm>
          <a:prstGeom prst="roundRect">
            <a:avLst>
              <a:gd name="adj" fmla="val 5161"/>
            </a:avLst>
          </a:prstGeom>
          <a:solidFill>
            <a:srgbClr val="FFFFFF"/>
          </a:solidFill>
          <a:ln w="12700">
            <a:solidFill>
              <a:srgbClr val="CBD5E1"/>
            </a:solidFill>
            <a:prstDash val="solid"/>
          </a:ln>
        </p:spPr>
      </p:sp>
      <p:sp>
        <p:nvSpPr>
          <p:cNvPr id="14" name="Text 12"/>
          <p:cNvSpPr/>
          <p:nvPr/>
        </p:nvSpPr>
        <p:spPr>
          <a:xfrm>
            <a:off x="354787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COMPLETION</a:t>
            </a:r>
            <a:endParaRPr lang="en-US" sz="850" dirty="0"/>
          </a:p>
        </p:txBody>
      </p:sp>
      <p:sp>
        <p:nvSpPr>
          <p:cNvPr id="15" name="Text 13"/>
          <p:cNvSpPr/>
          <p:nvPr/>
        </p:nvSpPr>
        <p:spPr>
          <a:xfrm>
            <a:off x="354787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16" name="Text 14"/>
          <p:cNvSpPr/>
          <p:nvPr/>
        </p:nvSpPr>
        <p:spPr>
          <a:xfrm>
            <a:off x="354787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90%</a:t>
            </a:r>
            <a:endParaRPr lang="en-US" sz="850" dirty="0"/>
          </a:p>
        </p:txBody>
      </p:sp>
      <p:sp>
        <p:nvSpPr>
          <p:cNvPr id="17" name="Shape 15"/>
          <p:cNvSpPr/>
          <p:nvPr/>
        </p:nvSpPr>
        <p:spPr>
          <a:xfrm>
            <a:off x="4956048" y="2112264"/>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992624" y="216255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9" name="Shape 17"/>
          <p:cNvSpPr/>
          <p:nvPr/>
        </p:nvSpPr>
        <p:spPr>
          <a:xfrm>
            <a:off x="6172200" y="1051560"/>
            <a:ext cx="2514600" cy="1417320"/>
          </a:xfrm>
          <a:prstGeom prst="roundRect">
            <a:avLst>
              <a:gd name="adj" fmla="val 5161"/>
            </a:avLst>
          </a:prstGeom>
          <a:solidFill>
            <a:srgbClr val="FFFFFF"/>
          </a:solidFill>
          <a:ln w="12700">
            <a:solidFill>
              <a:srgbClr val="CBD5E1"/>
            </a:solidFill>
            <a:prstDash val="solid"/>
          </a:ln>
        </p:spPr>
      </p:sp>
      <p:sp>
        <p:nvSpPr>
          <p:cNvPr id="20" name="Text 18"/>
          <p:cNvSpPr/>
          <p:nvPr/>
        </p:nvSpPr>
        <p:spPr>
          <a:xfrm>
            <a:off x="633679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PASS RATE</a:t>
            </a:r>
            <a:endParaRPr lang="en-US" sz="850" dirty="0"/>
          </a:p>
        </p:txBody>
      </p:sp>
      <p:sp>
        <p:nvSpPr>
          <p:cNvPr id="21" name="Text 19"/>
          <p:cNvSpPr/>
          <p:nvPr/>
        </p:nvSpPr>
        <p:spPr>
          <a:xfrm>
            <a:off x="633679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0%</a:t>
            </a:r>
            <a:endParaRPr lang="en-US" sz="2100" dirty="0"/>
          </a:p>
        </p:txBody>
      </p:sp>
      <p:sp>
        <p:nvSpPr>
          <p:cNvPr id="22" name="Text 20"/>
          <p:cNvSpPr/>
          <p:nvPr/>
        </p:nvSpPr>
        <p:spPr>
          <a:xfrm>
            <a:off x="633679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80%</a:t>
            </a:r>
            <a:endParaRPr lang="en-US" sz="850" dirty="0"/>
          </a:p>
        </p:txBody>
      </p:sp>
      <p:sp>
        <p:nvSpPr>
          <p:cNvPr id="23" name="Shape 21"/>
          <p:cNvSpPr/>
          <p:nvPr/>
        </p:nvSpPr>
        <p:spPr>
          <a:xfrm>
            <a:off x="7744968" y="2112264"/>
            <a:ext cx="77724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7781544" y="216255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25" name="Shape 23"/>
          <p:cNvSpPr/>
          <p:nvPr/>
        </p:nvSpPr>
        <p:spPr>
          <a:xfrm>
            <a:off x="8961120" y="1051560"/>
            <a:ext cx="2514600" cy="1417320"/>
          </a:xfrm>
          <a:prstGeom prst="roundRect">
            <a:avLst>
              <a:gd name="adj" fmla="val 5161"/>
            </a:avLst>
          </a:prstGeom>
          <a:solidFill>
            <a:srgbClr val="FFFFFF"/>
          </a:solidFill>
          <a:ln w="12700">
            <a:solidFill>
              <a:srgbClr val="CBD5E1"/>
            </a:solidFill>
            <a:prstDash val="solid"/>
          </a:ln>
        </p:spPr>
      </p:sp>
      <p:sp>
        <p:nvSpPr>
          <p:cNvPr id="26" name="Text 24"/>
          <p:cNvSpPr/>
          <p:nvPr/>
        </p:nvSpPr>
        <p:spPr>
          <a:xfrm>
            <a:off x="9125712" y="1197864"/>
            <a:ext cx="2194560" cy="164592"/>
          </a:xfrm>
          <a:prstGeom prst="rect">
            <a:avLst/>
          </a:prstGeom>
          <a:noFill/>
          <a:ln/>
        </p:spPr>
        <p:txBody>
          <a:bodyPr wrap="square" rtlCol="0" anchor="ctr">
            <a:normAutofit/>
          </a:bodyPr>
          <a:lstStyle/>
          <a:p>
            <a:pPr indent="0" marL="0">
              <a:buNone/>
            </a:pPr>
            <a:r>
              <a:rPr lang="en-US" sz="850" b="1" dirty="0">
                <a:solidFill>
                  <a:srgbClr val="64748B"/>
                </a:solidFill>
              </a:rPr>
              <a:t>AVG SCORE</a:t>
            </a:r>
            <a:endParaRPr lang="en-US" sz="850" dirty="0"/>
          </a:p>
        </p:txBody>
      </p:sp>
      <p:sp>
        <p:nvSpPr>
          <p:cNvPr id="27" name="Text 25"/>
          <p:cNvSpPr/>
          <p:nvPr/>
        </p:nvSpPr>
        <p:spPr>
          <a:xfrm>
            <a:off x="9125712" y="143560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N/A/10</a:t>
            </a:r>
            <a:endParaRPr lang="en-US" sz="2100" dirty="0"/>
          </a:p>
        </p:txBody>
      </p:sp>
      <p:sp>
        <p:nvSpPr>
          <p:cNvPr id="28" name="Text 26"/>
          <p:cNvSpPr/>
          <p:nvPr/>
        </p:nvSpPr>
        <p:spPr>
          <a:xfrm>
            <a:off x="9125712" y="1837944"/>
            <a:ext cx="1463040" cy="164592"/>
          </a:xfrm>
          <a:prstGeom prst="rect">
            <a:avLst/>
          </a:prstGeom>
          <a:noFill/>
          <a:ln/>
        </p:spPr>
        <p:txBody>
          <a:bodyPr wrap="square" rtlCol="0" anchor="ctr">
            <a:normAutofit/>
          </a:bodyPr>
          <a:lstStyle/>
          <a:p>
            <a:pPr indent="0" marL="0">
              <a:buNone/>
            </a:pPr>
            <a:r>
              <a:rPr lang="en-US" sz="850" dirty="0">
                <a:solidFill>
                  <a:srgbClr val="64748B"/>
                </a:solidFill>
              </a:rPr>
              <a:t>Threshold 6.5</a:t>
            </a:r>
            <a:endParaRPr lang="en-US" sz="850" dirty="0"/>
          </a:p>
        </p:txBody>
      </p:sp>
      <p:sp>
        <p:nvSpPr>
          <p:cNvPr id="29" name="Shape 27"/>
          <p:cNvSpPr/>
          <p:nvPr/>
        </p:nvSpPr>
        <p:spPr>
          <a:xfrm>
            <a:off x="10533888" y="2112264"/>
            <a:ext cx="777240" cy="256032"/>
          </a:xfrm>
          <a:prstGeom prst="roundRect">
            <a:avLst>
              <a:gd name="adj" fmla="val 28571"/>
            </a:avLst>
          </a:prstGeom>
          <a:solidFill>
            <a:srgbClr val="E2E8F0"/>
          </a:solidFill>
          <a:ln w="12700">
            <a:solidFill>
              <a:srgbClr val="E2E8F0"/>
            </a:solidFill>
            <a:prstDash val="solid"/>
          </a:ln>
        </p:spPr>
      </p:sp>
      <p:sp>
        <p:nvSpPr>
          <p:cNvPr id="30" name="Text 28"/>
          <p:cNvSpPr/>
          <p:nvPr/>
        </p:nvSpPr>
        <p:spPr>
          <a:xfrm>
            <a:off x="10570464" y="216255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31" name="Shape 29"/>
          <p:cNvSpPr/>
          <p:nvPr/>
        </p:nvSpPr>
        <p:spPr>
          <a:xfrm>
            <a:off x="594360" y="2926080"/>
            <a:ext cx="2514600" cy="1417320"/>
          </a:xfrm>
          <a:prstGeom prst="roundRect">
            <a:avLst>
              <a:gd name="adj" fmla="val 5161"/>
            </a:avLst>
          </a:prstGeom>
          <a:solidFill>
            <a:srgbClr val="FFFFFF"/>
          </a:solidFill>
          <a:ln w="12700">
            <a:solidFill>
              <a:srgbClr val="CBD5E1"/>
            </a:solidFill>
            <a:prstDash val="solid"/>
          </a:ln>
        </p:spPr>
      </p:sp>
      <p:sp>
        <p:nvSpPr>
          <p:cNvPr id="32" name="Text 30"/>
          <p:cNvSpPr/>
          <p:nvPr/>
        </p:nvSpPr>
        <p:spPr>
          <a:xfrm>
            <a:off x="75895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SATISFACTION</a:t>
            </a:r>
            <a:endParaRPr lang="en-US" sz="850" dirty="0"/>
          </a:p>
        </p:txBody>
      </p:sp>
      <p:sp>
        <p:nvSpPr>
          <p:cNvPr id="33" name="Text 31"/>
          <p:cNvSpPr/>
          <p:nvPr/>
        </p:nvSpPr>
        <p:spPr>
          <a:xfrm>
            <a:off x="75895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4.8/5</a:t>
            </a:r>
            <a:endParaRPr lang="en-US" sz="2100" dirty="0"/>
          </a:p>
        </p:txBody>
      </p:sp>
      <p:sp>
        <p:nvSpPr>
          <p:cNvPr id="34" name="Text 32"/>
          <p:cNvSpPr/>
          <p:nvPr/>
        </p:nvSpPr>
        <p:spPr>
          <a:xfrm>
            <a:off x="75895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Target &gt;= 4.0</a:t>
            </a:r>
            <a:endParaRPr lang="en-US" sz="850" dirty="0"/>
          </a:p>
        </p:txBody>
      </p:sp>
      <p:sp>
        <p:nvSpPr>
          <p:cNvPr id="35" name="Shape 33"/>
          <p:cNvSpPr/>
          <p:nvPr/>
        </p:nvSpPr>
        <p:spPr>
          <a:xfrm>
            <a:off x="2167128" y="3986784"/>
            <a:ext cx="777240" cy="256032"/>
          </a:xfrm>
          <a:prstGeom prst="roundRect">
            <a:avLst>
              <a:gd name="adj" fmla="val 28571"/>
            </a:avLst>
          </a:prstGeom>
          <a:solidFill>
            <a:srgbClr val="D1FAE5"/>
          </a:solidFill>
          <a:ln w="12700">
            <a:solidFill>
              <a:srgbClr val="D1FAE5"/>
            </a:solidFill>
            <a:prstDash val="solid"/>
          </a:ln>
        </p:spPr>
      </p:sp>
      <p:sp>
        <p:nvSpPr>
          <p:cNvPr id="36" name="Text 34"/>
          <p:cNvSpPr/>
          <p:nvPr/>
        </p:nvSpPr>
        <p:spPr>
          <a:xfrm>
            <a:off x="2203704" y="4037076"/>
            <a:ext cx="70408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37" name="Shape 35"/>
          <p:cNvSpPr/>
          <p:nvPr/>
        </p:nvSpPr>
        <p:spPr>
          <a:xfrm>
            <a:off x="3383280" y="2926080"/>
            <a:ext cx="2514600" cy="1417320"/>
          </a:xfrm>
          <a:prstGeom prst="roundRect">
            <a:avLst>
              <a:gd name="adj" fmla="val 5161"/>
            </a:avLst>
          </a:prstGeom>
          <a:solidFill>
            <a:srgbClr val="FFFFFF"/>
          </a:solidFill>
          <a:ln w="12700">
            <a:solidFill>
              <a:srgbClr val="CBD5E1"/>
            </a:solidFill>
            <a:prstDash val="solid"/>
          </a:ln>
        </p:spPr>
      </p:sp>
      <p:sp>
        <p:nvSpPr>
          <p:cNvPr id="38" name="Text 36"/>
          <p:cNvSpPr/>
          <p:nvPr/>
        </p:nvSpPr>
        <p:spPr>
          <a:xfrm>
            <a:off x="354787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TRAINING HOURS</a:t>
            </a:r>
            <a:endParaRPr lang="en-US" sz="850" dirty="0"/>
          </a:p>
        </p:txBody>
      </p:sp>
      <p:sp>
        <p:nvSpPr>
          <p:cNvPr id="39" name="Text 37"/>
          <p:cNvSpPr/>
          <p:nvPr/>
        </p:nvSpPr>
        <p:spPr>
          <a:xfrm>
            <a:off x="354787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34.5</a:t>
            </a:r>
            <a:endParaRPr lang="en-US" sz="2100" dirty="0"/>
          </a:p>
        </p:txBody>
      </p:sp>
      <p:sp>
        <p:nvSpPr>
          <p:cNvPr id="40" name="Text 38"/>
          <p:cNvSpPr/>
          <p:nvPr/>
        </p:nvSpPr>
        <p:spPr>
          <a:xfrm>
            <a:off x="354787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Tracked</a:t>
            </a:r>
            <a:endParaRPr lang="en-US" sz="850" dirty="0"/>
          </a:p>
        </p:txBody>
      </p:sp>
      <p:sp>
        <p:nvSpPr>
          <p:cNvPr id="41" name="Shape 39"/>
          <p:cNvSpPr/>
          <p:nvPr/>
        </p:nvSpPr>
        <p:spPr>
          <a:xfrm>
            <a:off x="4956048" y="3986784"/>
            <a:ext cx="777240" cy="256032"/>
          </a:xfrm>
          <a:prstGeom prst="roundRect">
            <a:avLst>
              <a:gd name="adj" fmla="val 28571"/>
            </a:avLst>
          </a:prstGeom>
          <a:solidFill>
            <a:srgbClr val="E2E8F0"/>
          </a:solidFill>
          <a:ln w="12700">
            <a:solidFill>
              <a:srgbClr val="E2E8F0"/>
            </a:solidFill>
            <a:prstDash val="solid"/>
          </a:ln>
        </p:spPr>
      </p:sp>
      <p:sp>
        <p:nvSpPr>
          <p:cNvPr id="42" name="Text 40"/>
          <p:cNvSpPr/>
          <p:nvPr/>
        </p:nvSpPr>
        <p:spPr>
          <a:xfrm>
            <a:off x="499262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3" name="Shape 41"/>
          <p:cNvSpPr/>
          <p:nvPr/>
        </p:nvSpPr>
        <p:spPr>
          <a:xfrm>
            <a:off x="6172200" y="2926080"/>
            <a:ext cx="2514600" cy="1417320"/>
          </a:xfrm>
          <a:prstGeom prst="roundRect">
            <a:avLst>
              <a:gd name="adj" fmla="val 5161"/>
            </a:avLst>
          </a:prstGeom>
          <a:solidFill>
            <a:srgbClr val="FFFFFF"/>
          </a:solidFill>
          <a:ln w="12700">
            <a:solidFill>
              <a:srgbClr val="CBD5E1"/>
            </a:solidFill>
            <a:prstDash val="solid"/>
          </a:ln>
        </p:spPr>
      </p:sp>
      <p:sp>
        <p:nvSpPr>
          <p:cNvPr id="44" name="Text 42"/>
          <p:cNvSpPr/>
          <p:nvPr/>
        </p:nvSpPr>
        <p:spPr>
          <a:xfrm>
            <a:off x="633679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COST</a:t>
            </a:r>
            <a:endParaRPr lang="en-US" sz="850" dirty="0"/>
          </a:p>
        </p:txBody>
      </p:sp>
      <p:sp>
        <p:nvSpPr>
          <p:cNvPr id="45" name="Text 43"/>
          <p:cNvSpPr/>
          <p:nvPr/>
        </p:nvSpPr>
        <p:spPr>
          <a:xfrm>
            <a:off x="633679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4.8</a:t>
            </a:r>
            <a:endParaRPr lang="en-US" sz="2100" dirty="0"/>
          </a:p>
        </p:txBody>
      </p:sp>
      <p:sp>
        <p:nvSpPr>
          <p:cNvPr id="46" name="Text 44"/>
          <p:cNvSpPr/>
          <p:nvPr/>
        </p:nvSpPr>
        <p:spPr>
          <a:xfrm>
            <a:off x="633679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Scaled cost</a:t>
            </a:r>
            <a:endParaRPr lang="en-US" sz="850" dirty="0"/>
          </a:p>
        </p:txBody>
      </p:sp>
      <p:sp>
        <p:nvSpPr>
          <p:cNvPr id="47" name="Shape 45"/>
          <p:cNvSpPr/>
          <p:nvPr/>
        </p:nvSpPr>
        <p:spPr>
          <a:xfrm>
            <a:off x="7744968" y="3986784"/>
            <a:ext cx="777240" cy="256032"/>
          </a:xfrm>
          <a:prstGeom prst="roundRect">
            <a:avLst>
              <a:gd name="adj" fmla="val 28571"/>
            </a:avLst>
          </a:prstGeom>
          <a:solidFill>
            <a:srgbClr val="E2E8F0"/>
          </a:solidFill>
          <a:ln w="12700">
            <a:solidFill>
              <a:srgbClr val="E2E8F0"/>
            </a:solidFill>
            <a:prstDash val="solid"/>
          </a:ln>
        </p:spPr>
      </p:sp>
      <p:sp>
        <p:nvSpPr>
          <p:cNvPr id="48" name="Text 46"/>
          <p:cNvSpPr/>
          <p:nvPr/>
        </p:nvSpPr>
        <p:spPr>
          <a:xfrm>
            <a:off x="778154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49" name="Shape 47"/>
          <p:cNvSpPr/>
          <p:nvPr/>
        </p:nvSpPr>
        <p:spPr>
          <a:xfrm>
            <a:off x="8961120" y="2926080"/>
            <a:ext cx="2514600" cy="1417320"/>
          </a:xfrm>
          <a:prstGeom prst="roundRect">
            <a:avLst>
              <a:gd name="adj" fmla="val 5161"/>
            </a:avLst>
          </a:prstGeom>
          <a:solidFill>
            <a:srgbClr val="FFFFFF"/>
          </a:solidFill>
          <a:ln w="12700">
            <a:solidFill>
              <a:srgbClr val="CBD5E1"/>
            </a:solidFill>
            <a:prstDash val="solid"/>
          </a:ln>
        </p:spPr>
      </p:sp>
      <p:sp>
        <p:nvSpPr>
          <p:cNvPr id="50" name="Text 48"/>
          <p:cNvSpPr/>
          <p:nvPr/>
        </p:nvSpPr>
        <p:spPr>
          <a:xfrm>
            <a:off x="9125712" y="3072384"/>
            <a:ext cx="2194560" cy="164592"/>
          </a:xfrm>
          <a:prstGeom prst="rect">
            <a:avLst/>
          </a:prstGeom>
          <a:noFill/>
          <a:ln/>
        </p:spPr>
        <p:txBody>
          <a:bodyPr wrap="square" rtlCol="0" anchor="ctr">
            <a:normAutofit/>
          </a:bodyPr>
          <a:lstStyle/>
          <a:p>
            <a:pPr indent="0" marL="0">
              <a:buNone/>
            </a:pPr>
            <a:r>
              <a:rPr lang="en-US" sz="850" b="1" dirty="0">
                <a:solidFill>
                  <a:srgbClr val="64748B"/>
                </a:solidFill>
              </a:rPr>
              <a:t>ROI PROXY</a:t>
            </a:r>
            <a:endParaRPr lang="en-US" sz="850" dirty="0"/>
          </a:p>
        </p:txBody>
      </p:sp>
      <p:sp>
        <p:nvSpPr>
          <p:cNvPr id="51" name="Text 49"/>
          <p:cNvSpPr/>
          <p:nvPr/>
        </p:nvSpPr>
        <p:spPr>
          <a:xfrm>
            <a:off x="9125712" y="3310128"/>
            <a:ext cx="2194560" cy="329184"/>
          </a:xfrm>
          <a:prstGeom prst="rect">
            <a:avLst/>
          </a:prstGeom>
          <a:noFill/>
          <a:ln/>
        </p:spPr>
        <p:txBody>
          <a:bodyPr wrap="square" rtlCol="0" anchor="ctr">
            <a:normAutofit/>
          </a:bodyPr>
          <a:lstStyle/>
          <a:p>
            <a:pPr indent="0" marL="0">
              <a:buNone/>
            </a:pPr>
            <a:r>
              <a:rPr lang="en-US" sz="2100" b="1" dirty="0">
                <a:solidFill>
                  <a:srgbClr val="0F172A"/>
                </a:solidFill>
              </a:rPr>
              <a:t>N/A</a:t>
            </a:r>
            <a:endParaRPr lang="en-US" sz="2100" dirty="0"/>
          </a:p>
        </p:txBody>
      </p:sp>
      <p:sp>
        <p:nvSpPr>
          <p:cNvPr id="52" name="Text 50"/>
          <p:cNvSpPr/>
          <p:nvPr/>
        </p:nvSpPr>
        <p:spPr>
          <a:xfrm>
            <a:off x="9125712" y="3712464"/>
            <a:ext cx="1463040" cy="164592"/>
          </a:xfrm>
          <a:prstGeom prst="rect">
            <a:avLst/>
          </a:prstGeom>
          <a:noFill/>
          <a:ln/>
        </p:spPr>
        <p:txBody>
          <a:bodyPr wrap="square" rtlCol="0" anchor="ctr">
            <a:normAutofit/>
          </a:bodyPr>
          <a:lstStyle/>
          <a:p>
            <a:pPr indent="0" marL="0">
              <a:buNone/>
            </a:pPr>
            <a:r>
              <a:rPr lang="en-US" sz="850" dirty="0">
                <a:solidFill>
                  <a:srgbClr val="64748B"/>
                </a:solidFill>
              </a:rPr>
              <a:t>Relative KPI</a:t>
            </a:r>
            <a:endParaRPr lang="en-US" sz="850" dirty="0"/>
          </a:p>
        </p:txBody>
      </p:sp>
      <p:sp>
        <p:nvSpPr>
          <p:cNvPr id="53" name="Shape 51"/>
          <p:cNvSpPr/>
          <p:nvPr/>
        </p:nvSpPr>
        <p:spPr>
          <a:xfrm>
            <a:off x="10533888" y="3986784"/>
            <a:ext cx="777240" cy="256032"/>
          </a:xfrm>
          <a:prstGeom prst="roundRect">
            <a:avLst>
              <a:gd name="adj" fmla="val 28571"/>
            </a:avLst>
          </a:prstGeom>
          <a:solidFill>
            <a:srgbClr val="E2E8F0"/>
          </a:solidFill>
          <a:ln w="12700">
            <a:solidFill>
              <a:srgbClr val="E2E8F0"/>
            </a:solidFill>
            <a:prstDash val="solid"/>
          </a:ln>
        </p:spPr>
      </p:sp>
      <p:sp>
        <p:nvSpPr>
          <p:cNvPr id="54" name="Text 52"/>
          <p:cNvSpPr/>
          <p:nvPr/>
        </p:nvSpPr>
        <p:spPr>
          <a:xfrm>
            <a:off x="10570464" y="4037076"/>
            <a:ext cx="704088" cy="91440"/>
          </a:xfrm>
          <a:prstGeom prst="rect">
            <a:avLst/>
          </a:prstGeom>
          <a:noFill/>
          <a:ln/>
        </p:spPr>
        <p:txBody>
          <a:bodyPr wrap="square" rtlCol="0" anchor="ctr">
            <a:normAutofit/>
          </a:bodyPr>
          <a:lstStyle/>
          <a:p>
            <a:pPr algn="ctr" indent="0" marL="0">
              <a:buNone/>
            </a:pPr>
            <a:r>
              <a:rPr lang="en-US" sz="740" b="1" dirty="0">
                <a:solidFill>
                  <a:srgbClr val="64748B"/>
                </a:solidFill>
              </a:rPr>
              <a:t>Tracked</a:t>
            </a:r>
            <a:endParaRPr lang="en-US" sz="740" dirty="0"/>
          </a:p>
        </p:txBody>
      </p:sp>
      <p:sp>
        <p:nvSpPr>
          <p:cNvPr id="55" name="Text 53"/>
          <p:cNvSpPr/>
          <p:nvPr/>
        </p:nvSpPr>
        <p:spPr>
          <a:xfrm>
            <a:off x="594360" y="5989320"/>
            <a:ext cx="9875520" cy="228600"/>
          </a:xfrm>
          <a:prstGeom prst="rect">
            <a:avLst/>
          </a:prstGeom>
          <a:noFill/>
          <a:ln/>
        </p:spPr>
        <p:txBody>
          <a:bodyPr wrap="square" rtlCol="0" anchor="ctr"/>
          <a:lstStyle/>
          <a:p>
            <a:pPr indent="0" marL="0">
              <a:buNone/>
            </a:pPr>
            <a:r>
              <a:rPr lang="en-US" sz="950" dirty="0">
                <a:solidFill>
                  <a:srgbClr val="64748B"/>
                </a:solidFill>
              </a:rPr>
              <a:t>Completion is attendance-based (&gt;= 70%) and is intentionally separate from pass rate.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Course performance</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078992"/>
          <a:ext cx="10972800" cy="3063240"/>
        </p:xfrm>
        <a:graphic>
          <a:graphicData uri="http://schemas.openxmlformats.org/drawingml/2006/table">
            <a:tbl>
              <a:tblPr/>
              <a:tblGrid>
                <a:gridCol w="3017520"/>
                <a:gridCol w="914400"/>
                <a:gridCol w="1143000"/>
                <a:gridCol w="1143000"/>
                <a:gridCol w="1005840"/>
                <a:gridCol w="1005840"/>
                <a:gridCol w="1234440"/>
              </a:tblGrid>
              <a:tr h="411480">
                <a:tc>
                  <a:txBody>
                    <a:bodyPr/>
                    <a:lstStyle/>
                    <a:p>
                      <a:pPr indent="0" marL="0">
                        <a:buNone/>
                      </a:pPr>
                      <a:r>
                        <a:rPr lang="en-US" sz="1000" dirty="0">
                          <a:solidFill>
                            <a:srgbClr val="0F172A"/>
                          </a:solidFill>
                        </a:rPr>
                        <a:t>Course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Learners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Attend.</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Complete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Pass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Score</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Effectiveness</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11480">
                <a:tc>
                  <a:txBody>
                    <a:bodyPr/>
                    <a:lstStyle/>
                    <a:p>
                      <a:pPr indent="0" marL="0">
                        <a:buNone/>
                      </a:pPr>
                      <a:r>
                        <a:rPr lang="en-US" sz="1000" dirty="0">
                          <a:solidFill>
                            <a:srgbClr val="0F172A"/>
                          </a:solidFill>
                        </a:rPr>
                        <a:t>Technical Leadership &amp; Communic...</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47.9%</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N/A/10</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rPr>
                        <a:t>25.58</a:t>
                      </a:r>
                      <a:endParaRPr lang="en-US" sz="1000" dirty="0"/>
                    </a:p>
                  </a:txBody>
                  <a:tcPr marL="54864" marR="54864" marT="54864" marB="54864" anchor="mid">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Text 5"/>
          <p:cNvSpPr/>
          <p:nvPr/>
        </p:nvSpPr>
        <p:spPr>
          <a:xfrm>
            <a:off x="594360" y="4572000"/>
            <a:ext cx="2011680" cy="256032"/>
          </a:xfrm>
          <a:prstGeom prst="rect">
            <a:avLst/>
          </a:prstGeom>
          <a:noFill/>
          <a:ln/>
        </p:spPr>
        <p:txBody>
          <a:bodyPr wrap="square" rtlCol="0" anchor="ctr"/>
          <a:lstStyle/>
          <a:p>
            <a:pPr indent="0" marL="0">
              <a:buNone/>
            </a:pPr>
            <a:r>
              <a:rPr lang="en-US" sz="1400" b="1" dirty="0">
                <a:solidFill>
                  <a:srgbClr val="0F172A"/>
                </a:solidFill>
              </a:rPr>
              <a:t>What to notice</a:t>
            </a:r>
            <a:endParaRPr lang="en-US" sz="1400" dirty="0"/>
          </a:p>
        </p:txBody>
      </p:sp>
      <p:sp>
        <p:nvSpPr>
          <p:cNvPr id="9" name="Shape 6"/>
          <p:cNvSpPr/>
          <p:nvPr/>
        </p:nvSpPr>
        <p:spPr>
          <a:xfrm>
            <a:off x="594360" y="4956048"/>
            <a:ext cx="3429000" cy="868680"/>
          </a:xfrm>
          <a:prstGeom prst="roundRect">
            <a:avLst>
              <a:gd name="adj" fmla="val 8421"/>
            </a:avLst>
          </a:prstGeom>
          <a:solidFill>
            <a:srgbClr val="FEE2E2"/>
          </a:solidFill>
          <a:ln w="12700">
            <a:solidFill>
              <a:srgbClr val="FEE2E2"/>
            </a:solidFill>
            <a:prstDash val="solid"/>
          </a:ln>
        </p:spPr>
      </p:sp>
      <p:sp>
        <p:nvSpPr>
          <p:cNvPr id="10" name="Text 7"/>
          <p:cNvSpPr/>
          <p:nvPr/>
        </p:nvSpPr>
        <p:spPr>
          <a:xfrm>
            <a:off x="758952"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Strong completion outcome at 0%</a:t>
            </a:r>
            <a:endParaRPr lang="en-US" sz="1000" dirty="0"/>
          </a:p>
        </p:txBody>
      </p:sp>
      <p:sp>
        <p:nvSpPr>
          <p:cNvPr id="11" name="Shape 8"/>
          <p:cNvSpPr/>
          <p:nvPr/>
        </p:nvSpPr>
        <p:spPr>
          <a:xfrm>
            <a:off x="4325112" y="4956048"/>
            <a:ext cx="3429000" cy="868680"/>
          </a:xfrm>
          <a:prstGeom prst="roundRect">
            <a:avLst>
              <a:gd name="adj" fmla="val 8421"/>
            </a:avLst>
          </a:prstGeom>
          <a:solidFill>
            <a:srgbClr val="FEE2E2"/>
          </a:solidFill>
          <a:ln w="12700">
            <a:solidFill>
              <a:srgbClr val="FEE2E2"/>
            </a:solidFill>
            <a:prstDash val="solid"/>
          </a:ln>
        </p:spPr>
      </p:sp>
      <p:sp>
        <p:nvSpPr>
          <p:cNvPr id="12" name="Text 9"/>
          <p:cNvSpPr/>
          <p:nvPr/>
        </p:nvSpPr>
        <p:spPr>
          <a:xfrm>
            <a:off x="4489704"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Overall effectiveness score is 25.58</a:t>
            </a:r>
            <a:endParaRPr lang="en-US" sz="1000" dirty="0"/>
          </a:p>
        </p:txBody>
      </p:sp>
      <p:sp>
        <p:nvSpPr>
          <p:cNvPr id="13" name="Shape 10"/>
          <p:cNvSpPr/>
          <p:nvPr/>
        </p:nvSpPr>
        <p:spPr>
          <a:xfrm>
            <a:off x="8055864" y="4956048"/>
            <a:ext cx="3429000" cy="868680"/>
          </a:xfrm>
          <a:prstGeom prst="roundRect">
            <a:avLst>
              <a:gd name="adj" fmla="val 8421"/>
            </a:avLst>
          </a:prstGeom>
          <a:solidFill>
            <a:srgbClr val="D1FAE5"/>
          </a:solidFill>
          <a:ln w="12700">
            <a:solidFill>
              <a:srgbClr val="D1FAE5"/>
            </a:solidFill>
            <a:prstDash val="solid"/>
          </a:ln>
        </p:spPr>
      </p:sp>
      <p:sp>
        <p:nvSpPr>
          <p:cNvPr id="14" name="Text 11"/>
          <p:cNvSpPr/>
          <p:nvPr/>
        </p:nvSpPr>
        <p:spPr>
          <a:xfrm>
            <a:off x="8220456" y="5120640"/>
            <a:ext cx="3063240" cy="411480"/>
          </a:xfrm>
          <a:prstGeom prst="rect">
            <a:avLst/>
          </a:prstGeom>
          <a:noFill/>
          <a:ln/>
        </p:spPr>
        <p:txBody>
          <a:bodyPr wrap="square" rtlCol="0" anchor="ctr">
            <a:normAutofit/>
          </a:bodyPr>
          <a:lstStyle/>
          <a:p>
            <a:pPr indent="0" marL="0">
              <a:buNone/>
            </a:pPr>
            <a:r>
              <a:rPr lang="en-US" sz="1000" b="1" dirty="0">
                <a:solidFill>
                  <a:srgbClr val="0F172A"/>
                </a:solidFill>
              </a:rPr>
              <a:t>Technical Leadership &amp; Communication has an effectiveness score of 25.58 in the selected scope.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Key findings and implications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78992"/>
            <a:ext cx="5257800" cy="1783080"/>
          </a:xfrm>
          <a:prstGeom prst="roundRect">
            <a:avLst>
              <a:gd name="adj" fmla="val 4103"/>
            </a:avLst>
          </a:prstGeom>
          <a:solidFill>
            <a:srgbClr val="FFFFFF"/>
          </a:solidFill>
          <a:ln w="12700">
            <a:solidFill>
              <a:srgbClr val="CBD5E1"/>
            </a:solidFill>
            <a:prstDash val="solid"/>
          </a:ln>
        </p:spPr>
      </p:sp>
      <p:sp>
        <p:nvSpPr>
          <p:cNvPr id="8" name="Shape 6"/>
          <p:cNvSpPr/>
          <p:nvPr/>
        </p:nvSpPr>
        <p:spPr>
          <a:xfrm>
            <a:off x="777240" y="1261872"/>
            <a:ext cx="868680" cy="256032"/>
          </a:xfrm>
          <a:prstGeom prst="roundRect">
            <a:avLst>
              <a:gd name="adj" fmla="val 28571"/>
            </a:avLst>
          </a:prstGeom>
          <a:solidFill>
            <a:srgbClr val="FEE2E2"/>
          </a:solidFill>
          <a:ln w="12700">
            <a:solidFill>
              <a:srgbClr val="FEE2E2"/>
            </a:solidFill>
            <a:prstDash val="solid"/>
          </a:ln>
        </p:spPr>
      </p:sp>
      <p:sp>
        <p:nvSpPr>
          <p:cNvPr id="9" name="Text 7"/>
          <p:cNvSpPr/>
          <p:nvPr/>
        </p:nvSpPr>
        <p:spPr>
          <a:xfrm>
            <a:off x="81381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0" name="Text 8"/>
          <p:cNvSpPr/>
          <p:nvPr/>
        </p:nvSpPr>
        <p:spPr>
          <a:xfrm>
            <a:off x="79552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Strong completion outcome at 0%</a:t>
            </a:r>
            <a:endParaRPr lang="en-US" sz="1300" dirty="0"/>
          </a:p>
        </p:txBody>
      </p:sp>
      <p:sp>
        <p:nvSpPr>
          <p:cNvPr id="11" name="Text 9"/>
          <p:cNvSpPr/>
          <p:nvPr/>
        </p:nvSpPr>
        <p:spPr>
          <a:xfrm>
            <a:off x="79552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Completion is calculated as attendance &gt;= 70%; pass rate is tracked separately at 0%.</a:t>
            </a:r>
            <a:endParaRPr lang="en-US" sz="850" dirty="0"/>
          </a:p>
        </p:txBody>
      </p:sp>
      <p:sp>
        <p:nvSpPr>
          <p:cNvPr id="12" name="Text 10"/>
          <p:cNvSpPr/>
          <p:nvPr/>
        </p:nvSpPr>
        <p:spPr>
          <a:xfrm>
            <a:off x="79552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Learners are completing the required session exposure, and assessment achievement is also healthy.</a:t>
            </a:r>
            <a:endParaRPr lang="en-US" sz="850" dirty="0"/>
          </a:p>
        </p:txBody>
      </p:sp>
      <p:sp>
        <p:nvSpPr>
          <p:cNvPr id="13" name="Shape 11"/>
          <p:cNvSpPr/>
          <p:nvPr/>
        </p:nvSpPr>
        <p:spPr>
          <a:xfrm>
            <a:off x="6217920" y="1078992"/>
            <a:ext cx="5257800" cy="1783080"/>
          </a:xfrm>
          <a:prstGeom prst="roundRect">
            <a:avLst>
              <a:gd name="adj" fmla="val 4103"/>
            </a:avLst>
          </a:prstGeom>
          <a:solidFill>
            <a:srgbClr val="FFFFFF"/>
          </a:solidFill>
          <a:ln w="12700">
            <a:solidFill>
              <a:srgbClr val="CBD5E1"/>
            </a:solidFill>
            <a:prstDash val="solid"/>
          </a:ln>
        </p:spPr>
      </p:sp>
      <p:sp>
        <p:nvSpPr>
          <p:cNvPr id="14" name="Shape 12"/>
          <p:cNvSpPr/>
          <p:nvPr/>
        </p:nvSpPr>
        <p:spPr>
          <a:xfrm>
            <a:off x="6400800" y="1261872"/>
            <a:ext cx="868680"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437376" y="1312164"/>
            <a:ext cx="795528" cy="91440"/>
          </a:xfrm>
          <a:prstGeom prst="rect">
            <a:avLst/>
          </a:prstGeom>
          <a:noFill/>
          <a:ln/>
        </p:spPr>
        <p:txBody>
          <a:bodyPr wrap="square" rtlCol="0" anchor="ctr">
            <a:normAutofit/>
          </a:bodyPr>
          <a:lstStyle/>
          <a:p>
            <a:pPr algn="ctr" indent="0" marL="0">
              <a:buNone/>
            </a:pPr>
            <a:r>
              <a:rPr lang="en-US" sz="740" b="1" dirty="0">
                <a:solidFill>
                  <a:srgbClr val="B91C1C"/>
                </a:solidFill>
              </a:rPr>
              <a:t>Risk</a:t>
            </a:r>
            <a:endParaRPr lang="en-US" sz="740" dirty="0"/>
          </a:p>
        </p:txBody>
      </p:sp>
      <p:sp>
        <p:nvSpPr>
          <p:cNvPr id="16" name="Text 14"/>
          <p:cNvSpPr/>
          <p:nvPr/>
        </p:nvSpPr>
        <p:spPr>
          <a:xfrm>
            <a:off x="6419088" y="1609344"/>
            <a:ext cx="4800600" cy="310896"/>
          </a:xfrm>
          <a:prstGeom prst="rect">
            <a:avLst/>
          </a:prstGeom>
          <a:noFill/>
          <a:ln/>
        </p:spPr>
        <p:txBody>
          <a:bodyPr wrap="square" rtlCol="0" anchor="ctr">
            <a:normAutofit/>
          </a:bodyPr>
          <a:lstStyle/>
          <a:p>
            <a:pPr indent="0" marL="0">
              <a:buNone/>
            </a:pPr>
            <a:r>
              <a:rPr lang="en-US" sz="1300" b="1" dirty="0">
                <a:solidFill>
                  <a:srgbClr val="0F172A"/>
                </a:solidFill>
              </a:rPr>
              <a:t>Overall effectiveness score is 25.58</a:t>
            </a:r>
            <a:endParaRPr lang="en-US" sz="1300" dirty="0"/>
          </a:p>
        </p:txBody>
      </p:sp>
      <p:sp>
        <p:nvSpPr>
          <p:cNvPr id="17" name="Text 15"/>
          <p:cNvSpPr/>
          <p:nvPr/>
        </p:nvSpPr>
        <p:spPr>
          <a:xfrm>
            <a:off x="6419088" y="199339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Attendance 47.9%, pass rate 0%, average score N/A/10.</a:t>
            </a:r>
            <a:endParaRPr lang="en-US" sz="850" dirty="0"/>
          </a:p>
        </p:txBody>
      </p:sp>
      <p:sp>
        <p:nvSpPr>
          <p:cNvPr id="18" name="Text 16"/>
          <p:cNvSpPr/>
          <p:nvPr/>
        </p:nvSpPr>
        <p:spPr>
          <a:xfrm>
            <a:off x="6419088" y="237744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The selected scope is classified as Not reportable.</a:t>
            </a:r>
            <a:endParaRPr lang="en-US" sz="850" dirty="0"/>
          </a:p>
        </p:txBody>
      </p:sp>
      <p:sp>
        <p:nvSpPr>
          <p:cNvPr id="19" name="Shape 17"/>
          <p:cNvSpPr/>
          <p:nvPr/>
        </p:nvSpPr>
        <p:spPr>
          <a:xfrm>
            <a:off x="594360" y="3227832"/>
            <a:ext cx="5257800" cy="1783080"/>
          </a:xfrm>
          <a:prstGeom prst="roundRect">
            <a:avLst>
              <a:gd name="adj" fmla="val 4103"/>
            </a:avLst>
          </a:prstGeom>
          <a:solidFill>
            <a:srgbClr val="FFFFFF"/>
          </a:solidFill>
          <a:ln w="12700">
            <a:solidFill>
              <a:srgbClr val="CBD5E1"/>
            </a:solidFill>
            <a:prstDash val="solid"/>
          </a:ln>
        </p:spPr>
      </p:sp>
      <p:sp>
        <p:nvSpPr>
          <p:cNvPr id="20" name="Shape 18"/>
          <p:cNvSpPr/>
          <p:nvPr/>
        </p:nvSpPr>
        <p:spPr>
          <a:xfrm>
            <a:off x="777240" y="3410712"/>
            <a:ext cx="868680" cy="256032"/>
          </a:xfrm>
          <a:prstGeom prst="roundRect">
            <a:avLst>
              <a:gd name="adj" fmla="val 28571"/>
            </a:avLst>
          </a:prstGeom>
          <a:solidFill>
            <a:srgbClr val="D1FAE5"/>
          </a:solidFill>
          <a:ln w="12700">
            <a:solidFill>
              <a:srgbClr val="D1FAE5"/>
            </a:solidFill>
            <a:prstDash val="solid"/>
          </a:ln>
        </p:spPr>
      </p:sp>
      <p:sp>
        <p:nvSpPr>
          <p:cNvPr id="21" name="Text 19"/>
          <p:cNvSpPr/>
          <p:nvPr/>
        </p:nvSpPr>
        <p:spPr>
          <a:xfrm>
            <a:off x="813816" y="3461004"/>
            <a:ext cx="795528" cy="91440"/>
          </a:xfrm>
          <a:prstGeom prst="rect">
            <a:avLst/>
          </a:prstGeom>
          <a:noFill/>
          <a:ln/>
        </p:spPr>
        <p:txBody>
          <a:bodyPr wrap="square" rtlCol="0" anchor="ctr">
            <a:normAutofit/>
          </a:bodyPr>
          <a:lstStyle/>
          <a:p>
            <a:pPr algn="ctr" indent="0" marL="0">
              <a:buNone/>
            </a:pPr>
            <a:r>
              <a:rPr lang="en-US" sz="740" b="1" dirty="0">
                <a:solidFill>
                  <a:srgbClr val="047857"/>
                </a:solidFill>
              </a:rPr>
              <a:t>Good</a:t>
            </a:r>
            <a:endParaRPr lang="en-US" sz="740" dirty="0"/>
          </a:p>
        </p:txBody>
      </p:sp>
      <p:sp>
        <p:nvSpPr>
          <p:cNvPr id="22" name="Text 20"/>
          <p:cNvSpPr/>
          <p:nvPr/>
        </p:nvSpPr>
        <p:spPr>
          <a:xfrm>
            <a:off x="79552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Technical Leadership &amp; Communication has an effectiveness score of 25.58 in the selected scope.</a:t>
            </a:r>
            <a:endParaRPr lang="en-US" sz="1300" dirty="0"/>
          </a:p>
        </p:txBody>
      </p:sp>
      <p:sp>
        <p:nvSpPr>
          <p:cNvPr id="23" name="Text 21"/>
          <p:cNvSpPr/>
          <p:nvPr/>
        </p:nvSpPr>
        <p:spPr>
          <a:xfrm>
            <a:off x="79552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24" name="Text 22"/>
          <p:cNvSpPr/>
          <p:nvPr/>
        </p:nvSpPr>
        <p:spPr>
          <a:xfrm>
            <a:off x="79552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
        <p:nvSpPr>
          <p:cNvPr id="25" name="Shape 23"/>
          <p:cNvSpPr/>
          <p:nvPr/>
        </p:nvSpPr>
        <p:spPr>
          <a:xfrm>
            <a:off x="6217920" y="3227832"/>
            <a:ext cx="5257800" cy="1783080"/>
          </a:xfrm>
          <a:prstGeom prst="roundRect">
            <a:avLst>
              <a:gd name="adj" fmla="val 4103"/>
            </a:avLst>
          </a:prstGeom>
          <a:solidFill>
            <a:srgbClr val="FFFFFF"/>
          </a:solidFill>
          <a:ln w="12700">
            <a:solidFill>
              <a:srgbClr val="CBD5E1"/>
            </a:solidFill>
            <a:prstDash val="solid"/>
          </a:ln>
        </p:spPr>
      </p:sp>
      <p:sp>
        <p:nvSpPr>
          <p:cNvPr id="26" name="Shape 24"/>
          <p:cNvSpPr/>
          <p:nvPr/>
        </p:nvSpPr>
        <p:spPr>
          <a:xfrm>
            <a:off x="6400800" y="3410712"/>
            <a:ext cx="868680" cy="256032"/>
          </a:xfrm>
          <a:prstGeom prst="roundRect">
            <a:avLst>
              <a:gd name="adj" fmla="val 28571"/>
            </a:avLst>
          </a:prstGeom>
          <a:solidFill>
            <a:srgbClr val="FEF3C7"/>
          </a:solidFill>
          <a:ln w="12700">
            <a:solidFill>
              <a:srgbClr val="FEF3C7"/>
            </a:solidFill>
            <a:prstDash val="solid"/>
          </a:ln>
        </p:spPr>
      </p:sp>
      <p:sp>
        <p:nvSpPr>
          <p:cNvPr id="27" name="Text 25"/>
          <p:cNvSpPr/>
          <p:nvPr/>
        </p:nvSpPr>
        <p:spPr>
          <a:xfrm>
            <a:off x="6437376" y="3461004"/>
            <a:ext cx="795528" cy="91440"/>
          </a:xfrm>
          <a:prstGeom prst="rect">
            <a:avLst/>
          </a:prstGeom>
          <a:noFill/>
          <a:ln/>
        </p:spPr>
        <p:txBody>
          <a:bodyPr wrap="square" rtlCol="0" anchor="ctr">
            <a:normAutofit/>
          </a:bodyPr>
          <a:lstStyle/>
          <a:p>
            <a:pPr algn="ctr" indent="0" marL="0">
              <a:buNone/>
            </a:pPr>
            <a:r>
              <a:rPr lang="en-US" sz="740" b="1" dirty="0">
                <a:solidFill>
                  <a:srgbClr val="B45309"/>
                </a:solidFill>
              </a:rPr>
              <a:t>Monitor</a:t>
            </a:r>
            <a:endParaRPr lang="en-US" sz="740" dirty="0"/>
          </a:p>
        </p:txBody>
      </p:sp>
      <p:sp>
        <p:nvSpPr>
          <p:cNvPr id="28" name="Text 26"/>
          <p:cNvSpPr/>
          <p:nvPr/>
        </p:nvSpPr>
        <p:spPr>
          <a:xfrm>
            <a:off x="6419088" y="3758184"/>
            <a:ext cx="4800600" cy="310896"/>
          </a:xfrm>
          <a:prstGeom prst="rect">
            <a:avLst/>
          </a:prstGeom>
          <a:noFill/>
          <a:ln/>
        </p:spPr>
        <p:txBody>
          <a:bodyPr wrap="square" rtlCol="0" anchor="ctr">
            <a:normAutofit/>
          </a:bodyPr>
          <a:lstStyle/>
          <a:p>
            <a:pPr indent="0" marL="0">
              <a:buNone/>
            </a:pPr>
            <a:r>
              <a:rPr lang="en-US" sz="1300" b="1" dirty="0">
                <a:solidFill>
                  <a:srgbClr val="0F172A"/>
                </a:solidFill>
              </a:rPr>
              <a:t>1 course group contained learners who need support based on score or attendance policy.</a:t>
            </a:r>
            <a:endParaRPr lang="en-US" sz="1300" dirty="0"/>
          </a:p>
        </p:txBody>
      </p:sp>
      <p:sp>
        <p:nvSpPr>
          <p:cNvPr id="29" name="Text 27"/>
          <p:cNvSpPr/>
          <p:nvPr/>
        </p:nvSpPr>
        <p:spPr>
          <a:xfrm>
            <a:off x="6419088" y="4142232"/>
            <a:ext cx="4800600" cy="292608"/>
          </a:xfrm>
          <a:prstGeom prst="rect">
            <a:avLst/>
          </a:prstGeom>
          <a:noFill/>
          <a:ln/>
        </p:spPr>
        <p:txBody>
          <a:bodyPr wrap="square" rtlCol="0" anchor="ctr">
            <a:normAutofit/>
          </a:bodyPr>
          <a:lstStyle/>
          <a:p>
            <a:pPr indent="0" marL="0">
              <a:buNone/>
            </a:pPr>
            <a:r>
              <a:rPr lang="en-US" sz="850" dirty="0">
                <a:solidFill>
                  <a:srgbClr val="64748B"/>
                </a:solidFill>
              </a:rPr>
              <a:t>Evidence: Supported by validated metrics, evidence gate, and L&amp;D NORM checks.</a:t>
            </a:r>
            <a:endParaRPr lang="en-US" sz="850" dirty="0"/>
          </a:p>
        </p:txBody>
      </p:sp>
      <p:sp>
        <p:nvSpPr>
          <p:cNvPr id="30" name="Text 28"/>
          <p:cNvSpPr/>
          <p:nvPr/>
        </p:nvSpPr>
        <p:spPr>
          <a:xfrm>
            <a:off x="6419088" y="4526280"/>
            <a:ext cx="4800600" cy="292608"/>
          </a:xfrm>
          <a:prstGeom prst="rect">
            <a:avLst/>
          </a:prstGeom>
          <a:noFill/>
          <a:ln/>
        </p:spPr>
        <p:txBody>
          <a:bodyPr wrap="square" rtlCol="0" anchor="ctr">
            <a:normAutofit/>
          </a:bodyPr>
          <a:lstStyle/>
          <a:p>
            <a:pPr indent="0" marL="0">
              <a:buNone/>
            </a:pPr>
            <a:r>
              <a:rPr lang="en-US" sz="850" dirty="0">
                <a:solidFill>
                  <a:srgbClr val="64748B"/>
                </a:solidFill>
              </a:rPr>
              <a:t>Implication: Use this signal to prioritize follow-up actions and stakeholder communication.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Evidence traceability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42416"/>
            <a:ext cx="6858000" cy="310896"/>
          </a:xfrm>
          <a:prstGeom prst="rect">
            <a:avLst/>
          </a:prstGeom>
          <a:noFill/>
          <a:ln/>
        </p:spPr>
        <p:txBody>
          <a:bodyPr wrap="square" rtlCol="0" anchor="ctr"/>
          <a:lstStyle/>
          <a:p>
            <a:pPr indent="0" marL="0">
              <a:buNone/>
            </a:pPr>
            <a:r>
              <a:rPr lang="en-US" sz="1500" b="1" dirty="0">
                <a:solidFill>
                  <a:srgbClr val="0F172A"/>
                </a:solidFill>
              </a:rPr>
              <a:t>Every narrative claim is backed by validated artifacts before export.</a:t>
            </a:r>
            <a:endParaRPr lang="en-US" sz="1500" dirty="0"/>
          </a:p>
        </p:txBody>
      </p:sp>
      <p:sp>
        <p:nvSpPr>
          <p:cNvPr id="8" name="Shape 6"/>
          <p:cNvSpPr/>
          <p:nvPr/>
        </p:nvSpPr>
        <p:spPr>
          <a:xfrm>
            <a:off x="594360" y="1691640"/>
            <a:ext cx="5166360" cy="868680"/>
          </a:xfrm>
          <a:prstGeom prst="roundRect">
            <a:avLst>
              <a:gd name="adj" fmla="val 8421"/>
            </a:avLst>
          </a:prstGeom>
          <a:solidFill>
            <a:srgbClr val="FFFFFF"/>
          </a:solidFill>
          <a:ln w="12700">
            <a:solidFill>
              <a:srgbClr val="CBD5E1"/>
            </a:solidFill>
            <a:prstDash val="solid"/>
          </a:ln>
        </p:spPr>
      </p:sp>
      <p:sp>
        <p:nvSpPr>
          <p:cNvPr id="9" name="Shape 7"/>
          <p:cNvSpPr/>
          <p:nvPr/>
        </p:nvSpPr>
        <p:spPr>
          <a:xfrm>
            <a:off x="758952" y="1856232"/>
            <a:ext cx="841248" cy="256032"/>
          </a:xfrm>
          <a:prstGeom prst="roundRect">
            <a:avLst>
              <a:gd name="adj" fmla="val 28571"/>
            </a:avLst>
          </a:prstGeom>
          <a:solidFill>
            <a:srgbClr val="D1FAE5"/>
          </a:solidFill>
          <a:ln w="12700">
            <a:solidFill>
              <a:srgbClr val="D1FAE5"/>
            </a:solidFill>
            <a:prstDash val="solid"/>
          </a:ln>
        </p:spPr>
      </p:sp>
      <p:sp>
        <p:nvSpPr>
          <p:cNvPr id="10" name="Text 8"/>
          <p:cNvSpPr/>
          <p:nvPr/>
        </p:nvSpPr>
        <p:spPr>
          <a:xfrm>
            <a:off x="795528" y="1906524"/>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11" name="Text 9"/>
          <p:cNvSpPr/>
          <p:nvPr/>
        </p:nvSpPr>
        <p:spPr>
          <a:xfrm>
            <a:off x="173736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Source availability and required columns</a:t>
            </a:r>
            <a:endParaRPr lang="en-US" sz="1000" dirty="0"/>
          </a:p>
        </p:txBody>
      </p:sp>
      <p:sp>
        <p:nvSpPr>
          <p:cNvPr id="12" name="Text 10"/>
          <p:cNvSpPr/>
          <p:nvPr/>
        </p:nvSpPr>
        <p:spPr>
          <a:xfrm>
            <a:off x="173736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Required sheets and columns were mapped from Teams, OneDrive, Forms, KPI, Rules and Template sources.</a:t>
            </a:r>
            <a:endParaRPr lang="en-US" sz="850" dirty="0"/>
          </a:p>
        </p:txBody>
      </p:sp>
      <p:sp>
        <p:nvSpPr>
          <p:cNvPr id="13" name="Shape 11"/>
          <p:cNvSpPr/>
          <p:nvPr/>
        </p:nvSpPr>
        <p:spPr>
          <a:xfrm>
            <a:off x="6172200" y="1691640"/>
            <a:ext cx="5166360" cy="868680"/>
          </a:xfrm>
          <a:prstGeom prst="roundRect">
            <a:avLst>
              <a:gd name="adj" fmla="val 8421"/>
            </a:avLst>
          </a:prstGeom>
          <a:solidFill>
            <a:srgbClr val="FFFFFF"/>
          </a:solidFill>
          <a:ln w="12700">
            <a:solidFill>
              <a:srgbClr val="CBD5E1"/>
            </a:solidFill>
            <a:prstDash val="solid"/>
          </a:ln>
        </p:spPr>
      </p:sp>
      <p:sp>
        <p:nvSpPr>
          <p:cNvPr id="14" name="Shape 12"/>
          <p:cNvSpPr/>
          <p:nvPr/>
        </p:nvSpPr>
        <p:spPr>
          <a:xfrm>
            <a:off x="6336792" y="1856232"/>
            <a:ext cx="841248" cy="256032"/>
          </a:xfrm>
          <a:prstGeom prst="roundRect">
            <a:avLst>
              <a:gd name="adj" fmla="val 28571"/>
            </a:avLst>
          </a:prstGeom>
          <a:solidFill>
            <a:srgbClr val="FEE2E2"/>
          </a:solidFill>
          <a:ln w="12700">
            <a:solidFill>
              <a:srgbClr val="FEE2E2"/>
            </a:solidFill>
            <a:prstDash val="solid"/>
          </a:ln>
        </p:spPr>
      </p:sp>
      <p:sp>
        <p:nvSpPr>
          <p:cNvPr id="15" name="Text 13"/>
          <p:cNvSpPr/>
          <p:nvPr/>
        </p:nvSpPr>
        <p:spPr>
          <a:xfrm>
            <a:off x="6373368" y="1906524"/>
            <a:ext cx="768096" cy="91440"/>
          </a:xfrm>
          <a:prstGeom prst="rect">
            <a:avLst/>
          </a:prstGeom>
          <a:noFill/>
          <a:ln/>
        </p:spPr>
        <p:txBody>
          <a:bodyPr wrap="square" rtlCol="0" anchor="ctr">
            <a:normAutofit/>
          </a:bodyPr>
          <a:lstStyle/>
          <a:p>
            <a:pPr algn="ctr" indent="0" marL="0">
              <a:buNone/>
            </a:pPr>
            <a:r>
              <a:rPr lang="en-US" sz="740" b="1" dirty="0">
                <a:solidFill>
                  <a:srgbClr val="B91C1C"/>
                </a:solidFill>
              </a:rPr>
              <a:t>Blocked</a:t>
            </a:r>
            <a:endParaRPr lang="en-US" sz="740" dirty="0"/>
          </a:p>
        </p:txBody>
      </p:sp>
      <p:sp>
        <p:nvSpPr>
          <p:cNvPr id="16" name="Text 14"/>
          <p:cNvSpPr/>
          <p:nvPr/>
        </p:nvSpPr>
        <p:spPr>
          <a:xfrm>
            <a:off x="7315200" y="1837944"/>
            <a:ext cx="3611880" cy="182880"/>
          </a:xfrm>
          <a:prstGeom prst="rect">
            <a:avLst/>
          </a:prstGeom>
          <a:noFill/>
          <a:ln/>
        </p:spPr>
        <p:txBody>
          <a:bodyPr wrap="square" rtlCol="0" anchor="ctr">
            <a:normAutofit/>
          </a:bodyPr>
          <a:lstStyle/>
          <a:p>
            <a:pPr indent="0" marL="0">
              <a:buNone/>
            </a:pPr>
            <a:r>
              <a:rPr lang="en-US" sz="1000" b="1" dirty="0">
                <a:solidFill>
                  <a:srgbClr val="0F172A"/>
                </a:solidFill>
              </a:rPr>
              <a:t>Course status</a:t>
            </a:r>
            <a:endParaRPr lang="en-US" sz="1000" dirty="0"/>
          </a:p>
        </p:txBody>
      </p:sp>
      <p:sp>
        <p:nvSpPr>
          <p:cNvPr id="17" name="Text 15"/>
          <p:cNvSpPr/>
          <p:nvPr/>
        </p:nvSpPr>
        <p:spPr>
          <a:xfrm>
            <a:off x="7315200" y="2148840"/>
            <a:ext cx="3611880" cy="201168"/>
          </a:xfrm>
          <a:prstGeom prst="rect">
            <a:avLst/>
          </a:prstGeom>
          <a:noFill/>
          <a:ln/>
        </p:spPr>
        <p:txBody>
          <a:bodyPr wrap="square" rtlCol="0" anchor="ctr">
            <a:normAutofit/>
          </a:bodyPr>
          <a:lstStyle/>
          <a:p>
            <a:pPr indent="0" marL="0">
              <a:buNone/>
            </a:pPr>
            <a:r>
              <a:rPr lang="en-US" sz="850" dirty="0">
                <a:solidFill>
                  <a:srgbClr val="64748B"/>
                </a:solidFill>
              </a:rPr>
              <a:t>1 selected course(s) are not completed.</a:t>
            </a:r>
            <a:endParaRPr lang="en-US" sz="850" dirty="0"/>
          </a:p>
        </p:txBody>
      </p:sp>
      <p:sp>
        <p:nvSpPr>
          <p:cNvPr id="18" name="Shape 16"/>
          <p:cNvSpPr/>
          <p:nvPr/>
        </p:nvSpPr>
        <p:spPr>
          <a:xfrm>
            <a:off x="594360" y="2862072"/>
            <a:ext cx="5166360" cy="868680"/>
          </a:xfrm>
          <a:prstGeom prst="roundRect">
            <a:avLst>
              <a:gd name="adj" fmla="val 8421"/>
            </a:avLst>
          </a:prstGeom>
          <a:solidFill>
            <a:srgbClr val="FFFFFF"/>
          </a:solidFill>
          <a:ln w="12700">
            <a:solidFill>
              <a:srgbClr val="CBD5E1"/>
            </a:solidFill>
            <a:prstDash val="solid"/>
          </a:ln>
        </p:spPr>
      </p:sp>
      <p:sp>
        <p:nvSpPr>
          <p:cNvPr id="19" name="Shape 17"/>
          <p:cNvSpPr/>
          <p:nvPr/>
        </p:nvSpPr>
        <p:spPr>
          <a:xfrm>
            <a:off x="758952" y="3026664"/>
            <a:ext cx="841248" cy="256032"/>
          </a:xfrm>
          <a:prstGeom prst="roundRect">
            <a:avLst>
              <a:gd name="adj" fmla="val 28571"/>
            </a:avLst>
          </a:prstGeom>
          <a:solidFill>
            <a:srgbClr val="FEF3C7"/>
          </a:solidFill>
          <a:ln w="12700">
            <a:solidFill>
              <a:srgbClr val="FEF3C7"/>
            </a:solidFill>
            <a:prstDash val="solid"/>
          </a:ln>
        </p:spPr>
      </p:sp>
      <p:sp>
        <p:nvSpPr>
          <p:cNvPr id="20" name="Text 18"/>
          <p:cNvSpPr/>
          <p:nvPr/>
        </p:nvSpPr>
        <p:spPr>
          <a:xfrm>
            <a:off x="795528" y="3076956"/>
            <a:ext cx="768096" cy="91440"/>
          </a:xfrm>
          <a:prstGeom prst="rect">
            <a:avLst/>
          </a:prstGeom>
          <a:noFill/>
          <a:ln/>
        </p:spPr>
        <p:txBody>
          <a:bodyPr wrap="square" rtlCol="0" anchor="ctr">
            <a:normAutofit/>
          </a:bodyPr>
          <a:lstStyle/>
          <a:p>
            <a:pPr algn="ctr" indent="0" marL="0">
              <a:buNone/>
            </a:pPr>
            <a:r>
              <a:rPr lang="en-US" sz="740" b="1" dirty="0">
                <a:solidFill>
                  <a:srgbClr val="B45309"/>
                </a:solidFill>
              </a:rPr>
              <a:t>Warning</a:t>
            </a:r>
            <a:endParaRPr lang="en-US" sz="740" dirty="0"/>
          </a:p>
        </p:txBody>
      </p:sp>
      <p:sp>
        <p:nvSpPr>
          <p:cNvPr id="21" name="Text 19"/>
          <p:cNvSpPr/>
          <p:nvPr/>
        </p:nvSpPr>
        <p:spPr>
          <a:xfrm>
            <a:off x="173736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Attendance completeness</a:t>
            </a:r>
            <a:endParaRPr lang="en-US" sz="1000" dirty="0"/>
          </a:p>
        </p:txBody>
      </p:sp>
      <p:sp>
        <p:nvSpPr>
          <p:cNvPr id="22" name="Text 20"/>
          <p:cNvSpPr/>
          <p:nvPr/>
        </p:nvSpPr>
        <p:spPr>
          <a:xfrm>
            <a:off x="173736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Expected attendance rows are trainee count x total sessions. Late is retained for metrics as partial attendance.</a:t>
            </a:r>
            <a:endParaRPr lang="en-US" sz="850" dirty="0"/>
          </a:p>
        </p:txBody>
      </p:sp>
      <p:sp>
        <p:nvSpPr>
          <p:cNvPr id="23" name="Shape 21"/>
          <p:cNvSpPr/>
          <p:nvPr/>
        </p:nvSpPr>
        <p:spPr>
          <a:xfrm>
            <a:off x="6172200" y="2862072"/>
            <a:ext cx="5166360" cy="868680"/>
          </a:xfrm>
          <a:prstGeom prst="roundRect">
            <a:avLst>
              <a:gd name="adj" fmla="val 8421"/>
            </a:avLst>
          </a:prstGeom>
          <a:solidFill>
            <a:srgbClr val="FFFFFF"/>
          </a:solidFill>
          <a:ln w="12700">
            <a:solidFill>
              <a:srgbClr val="CBD5E1"/>
            </a:solidFill>
            <a:prstDash val="solid"/>
          </a:ln>
        </p:spPr>
      </p:sp>
      <p:sp>
        <p:nvSpPr>
          <p:cNvPr id="24" name="Shape 22"/>
          <p:cNvSpPr/>
          <p:nvPr/>
        </p:nvSpPr>
        <p:spPr>
          <a:xfrm>
            <a:off x="6336792" y="3026664"/>
            <a:ext cx="841248" cy="256032"/>
          </a:xfrm>
          <a:prstGeom prst="roundRect">
            <a:avLst>
              <a:gd name="adj" fmla="val 28571"/>
            </a:avLst>
          </a:prstGeom>
          <a:solidFill>
            <a:srgbClr val="D1FAE5"/>
          </a:solidFill>
          <a:ln w="12700">
            <a:solidFill>
              <a:srgbClr val="D1FAE5"/>
            </a:solidFill>
            <a:prstDash val="solid"/>
          </a:ln>
        </p:spPr>
      </p:sp>
      <p:sp>
        <p:nvSpPr>
          <p:cNvPr id="25" name="Text 23"/>
          <p:cNvSpPr/>
          <p:nvPr/>
        </p:nvSpPr>
        <p:spPr>
          <a:xfrm>
            <a:off x="6373368" y="3076956"/>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26" name="Text 24"/>
          <p:cNvSpPr/>
          <p:nvPr/>
        </p:nvSpPr>
        <p:spPr>
          <a:xfrm>
            <a:off x="7315200" y="3008376"/>
            <a:ext cx="3611880" cy="182880"/>
          </a:xfrm>
          <a:prstGeom prst="rect">
            <a:avLst/>
          </a:prstGeom>
          <a:noFill/>
          <a:ln/>
        </p:spPr>
        <p:txBody>
          <a:bodyPr wrap="square" rtlCol="0" anchor="ctr">
            <a:normAutofit/>
          </a:bodyPr>
          <a:lstStyle/>
          <a:p>
            <a:pPr indent="0" marL="0">
              <a:buNone/>
            </a:pPr>
            <a:r>
              <a:rPr lang="en-US" sz="1000" b="1" dirty="0">
                <a:solidFill>
                  <a:srgbClr val="0F172A"/>
                </a:solidFill>
              </a:rPr>
              <a:t>Assessment completeness</a:t>
            </a:r>
            <a:endParaRPr lang="en-US" sz="1000" dirty="0"/>
          </a:p>
        </p:txBody>
      </p:sp>
      <p:sp>
        <p:nvSpPr>
          <p:cNvPr id="27" name="Text 25"/>
          <p:cNvSpPr/>
          <p:nvPr/>
        </p:nvSpPr>
        <p:spPr>
          <a:xfrm>
            <a:off x="7315200" y="3319272"/>
            <a:ext cx="3611880" cy="201168"/>
          </a:xfrm>
          <a:prstGeom prst="rect">
            <a:avLst/>
          </a:prstGeom>
          <a:noFill/>
          <a:ln/>
        </p:spPr>
        <p:txBody>
          <a:bodyPr wrap="square" rtlCol="0" anchor="ctr">
            <a:normAutofit/>
          </a:bodyPr>
          <a:lstStyle/>
          <a:p>
            <a:pPr indent="0" marL="0">
              <a:buNone/>
            </a:pPr>
            <a:r>
              <a:rPr lang="en-US" sz="850" dirty="0">
                <a:solidFill>
                  <a:srgbClr val="64748B"/>
                </a:solidFill>
              </a:rPr>
              <a:t>Completed courses require one valid assessment and pass-status row per trainee.</a:t>
            </a:r>
            <a:endParaRPr lang="en-US" sz="850" dirty="0"/>
          </a:p>
        </p:txBody>
      </p:sp>
      <p:sp>
        <p:nvSpPr>
          <p:cNvPr id="28" name="Shape 26"/>
          <p:cNvSpPr/>
          <p:nvPr/>
        </p:nvSpPr>
        <p:spPr>
          <a:xfrm>
            <a:off x="594360" y="4032504"/>
            <a:ext cx="5166360" cy="868680"/>
          </a:xfrm>
          <a:prstGeom prst="roundRect">
            <a:avLst>
              <a:gd name="adj" fmla="val 8421"/>
            </a:avLst>
          </a:prstGeom>
          <a:solidFill>
            <a:srgbClr val="FFFFFF"/>
          </a:solidFill>
          <a:ln w="12700">
            <a:solidFill>
              <a:srgbClr val="CBD5E1"/>
            </a:solidFill>
            <a:prstDash val="solid"/>
          </a:ln>
        </p:spPr>
      </p:sp>
      <p:sp>
        <p:nvSpPr>
          <p:cNvPr id="29" name="Shape 27"/>
          <p:cNvSpPr/>
          <p:nvPr/>
        </p:nvSpPr>
        <p:spPr>
          <a:xfrm>
            <a:off x="758952" y="4197096"/>
            <a:ext cx="841248" cy="256032"/>
          </a:xfrm>
          <a:prstGeom prst="roundRect">
            <a:avLst>
              <a:gd name="adj" fmla="val 28571"/>
            </a:avLst>
          </a:prstGeom>
          <a:solidFill>
            <a:srgbClr val="D1FAE5"/>
          </a:solidFill>
          <a:ln w="12700">
            <a:solidFill>
              <a:srgbClr val="D1FAE5"/>
            </a:solidFill>
            <a:prstDash val="solid"/>
          </a:ln>
        </p:spPr>
      </p:sp>
      <p:sp>
        <p:nvSpPr>
          <p:cNvPr id="30" name="Text 28"/>
          <p:cNvSpPr/>
          <p:nvPr/>
        </p:nvSpPr>
        <p:spPr>
          <a:xfrm>
            <a:off x="79552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1" name="Text 29"/>
          <p:cNvSpPr/>
          <p:nvPr/>
        </p:nvSpPr>
        <p:spPr>
          <a:xfrm>
            <a:off x="173736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Feedback completeness</a:t>
            </a:r>
            <a:endParaRPr lang="en-US" sz="1000" dirty="0"/>
          </a:p>
        </p:txBody>
      </p:sp>
      <p:sp>
        <p:nvSpPr>
          <p:cNvPr id="32" name="Text 30"/>
          <p:cNvSpPr/>
          <p:nvPr/>
        </p:nvSpPr>
        <p:spPr>
          <a:xfrm>
            <a:off x="173736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NORM-14 requires at least 60% feedback response rate for valid analysis.</a:t>
            </a:r>
            <a:endParaRPr lang="en-US" sz="850" dirty="0"/>
          </a:p>
        </p:txBody>
      </p:sp>
      <p:sp>
        <p:nvSpPr>
          <p:cNvPr id="33" name="Shape 31"/>
          <p:cNvSpPr/>
          <p:nvPr/>
        </p:nvSpPr>
        <p:spPr>
          <a:xfrm>
            <a:off x="6172200" y="4032504"/>
            <a:ext cx="5166360" cy="868680"/>
          </a:xfrm>
          <a:prstGeom prst="roundRect">
            <a:avLst>
              <a:gd name="adj" fmla="val 8421"/>
            </a:avLst>
          </a:prstGeom>
          <a:solidFill>
            <a:srgbClr val="FFFFFF"/>
          </a:solidFill>
          <a:ln w="12700">
            <a:solidFill>
              <a:srgbClr val="CBD5E1"/>
            </a:solidFill>
            <a:prstDash val="solid"/>
          </a:ln>
        </p:spPr>
      </p:sp>
      <p:sp>
        <p:nvSpPr>
          <p:cNvPr id="34" name="Shape 32"/>
          <p:cNvSpPr/>
          <p:nvPr/>
        </p:nvSpPr>
        <p:spPr>
          <a:xfrm>
            <a:off x="6336792" y="4197096"/>
            <a:ext cx="841248" cy="256032"/>
          </a:xfrm>
          <a:prstGeom prst="roundRect">
            <a:avLst>
              <a:gd name="adj" fmla="val 28571"/>
            </a:avLst>
          </a:prstGeom>
          <a:solidFill>
            <a:srgbClr val="D1FAE5"/>
          </a:solidFill>
          <a:ln w="12700">
            <a:solidFill>
              <a:srgbClr val="D1FAE5"/>
            </a:solidFill>
            <a:prstDash val="solid"/>
          </a:ln>
        </p:spPr>
      </p:sp>
      <p:sp>
        <p:nvSpPr>
          <p:cNvPr id="35" name="Text 33"/>
          <p:cNvSpPr/>
          <p:nvPr/>
        </p:nvSpPr>
        <p:spPr>
          <a:xfrm>
            <a:off x="6373368" y="4247388"/>
            <a:ext cx="768096" cy="91440"/>
          </a:xfrm>
          <a:prstGeom prst="rect">
            <a:avLst/>
          </a:prstGeom>
          <a:noFill/>
          <a:ln/>
        </p:spPr>
        <p:txBody>
          <a:bodyPr wrap="square" rtlCol="0" anchor="ctr">
            <a:normAutofit/>
          </a:bodyPr>
          <a:lstStyle/>
          <a:p>
            <a:pPr algn="ctr" indent="0" marL="0">
              <a:buNone/>
            </a:pPr>
            <a:r>
              <a:rPr lang="en-US" sz="740" b="1" dirty="0">
                <a:solidFill>
                  <a:srgbClr val="047857"/>
                </a:solidFill>
              </a:rPr>
              <a:t>Ready</a:t>
            </a:r>
            <a:endParaRPr lang="en-US" sz="740" dirty="0"/>
          </a:p>
        </p:txBody>
      </p:sp>
      <p:sp>
        <p:nvSpPr>
          <p:cNvPr id="36" name="Text 34"/>
          <p:cNvSpPr/>
          <p:nvPr/>
        </p:nvSpPr>
        <p:spPr>
          <a:xfrm>
            <a:off x="7315200" y="4178808"/>
            <a:ext cx="3611880" cy="182880"/>
          </a:xfrm>
          <a:prstGeom prst="rect">
            <a:avLst/>
          </a:prstGeom>
          <a:noFill/>
          <a:ln/>
        </p:spPr>
        <p:txBody>
          <a:bodyPr wrap="square" rtlCol="0" anchor="ctr">
            <a:normAutofit/>
          </a:bodyPr>
          <a:lstStyle/>
          <a:p>
            <a:pPr indent="0" marL="0">
              <a:buNone/>
            </a:pPr>
            <a:r>
              <a:rPr lang="en-US" sz="1000" b="1" dirty="0">
                <a:solidFill>
                  <a:srgbClr val="0F172A"/>
                </a:solidFill>
              </a:rPr>
              <a:t>Row-level data quality</a:t>
            </a:r>
            <a:endParaRPr lang="en-US" sz="1000" dirty="0"/>
          </a:p>
        </p:txBody>
      </p:sp>
      <p:sp>
        <p:nvSpPr>
          <p:cNvPr id="37" name="Text 35"/>
          <p:cNvSpPr/>
          <p:nvPr/>
        </p:nvSpPr>
        <p:spPr>
          <a:xfrm>
            <a:off x="7315200" y="4489704"/>
            <a:ext cx="3611880" cy="201168"/>
          </a:xfrm>
          <a:prstGeom prst="rect">
            <a:avLst/>
          </a:prstGeom>
          <a:noFill/>
          <a:ln/>
        </p:spPr>
        <p:txBody>
          <a:bodyPr wrap="square" rtlCol="0" anchor="ctr">
            <a:normAutofit/>
          </a:bodyPr>
          <a:lstStyle/>
          <a:p>
            <a:pPr indent="0" marL="0">
              <a:buNone/>
            </a:pPr>
            <a:r>
              <a:rPr lang="en-US" sz="850" dirty="0">
                <a:solidFill>
                  <a:srgbClr val="64748B"/>
                </a:solidFill>
              </a:rPr>
              <a:t>Duplicate rows and numeric ranges were checked before metric generation.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Governance and access</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1051560"/>
            <a:ext cx="2514600" cy="1078992"/>
          </a:xfrm>
          <a:prstGeom prst="roundRect">
            <a:avLst>
              <a:gd name="adj" fmla="val 6780"/>
            </a:avLst>
          </a:prstGeom>
          <a:solidFill>
            <a:srgbClr val="FFFFFF"/>
          </a:solidFill>
          <a:ln w="12700">
            <a:solidFill>
              <a:srgbClr val="CBD5E1"/>
            </a:solidFill>
            <a:prstDash val="solid"/>
          </a:ln>
        </p:spPr>
      </p:sp>
      <p:sp>
        <p:nvSpPr>
          <p:cNvPr id="8" name="Text 6"/>
          <p:cNvSpPr/>
          <p:nvPr/>
        </p:nvSpPr>
        <p:spPr>
          <a:xfrm>
            <a:off x="740664" y="1179576"/>
            <a:ext cx="2148840" cy="146304"/>
          </a:xfrm>
          <a:prstGeom prst="rect">
            <a:avLst/>
          </a:prstGeom>
          <a:noFill/>
          <a:ln/>
        </p:spPr>
        <p:txBody>
          <a:bodyPr wrap="square" rtlCol="0" anchor="ctr"/>
          <a:lstStyle/>
          <a:p>
            <a:pPr indent="0" marL="0">
              <a:buNone/>
            </a:pPr>
            <a:r>
              <a:rPr lang="en-US" sz="800" b="1" dirty="0">
                <a:solidFill>
                  <a:srgbClr val="64748B"/>
                </a:solidFill>
              </a:rPr>
              <a:t>CLASSIFICATION</a:t>
            </a:r>
            <a:endParaRPr lang="en-US" sz="800" dirty="0"/>
          </a:p>
        </p:txBody>
      </p:sp>
      <p:sp>
        <p:nvSpPr>
          <p:cNvPr id="9" name="Text 7"/>
          <p:cNvSpPr/>
          <p:nvPr/>
        </p:nvSpPr>
        <p:spPr>
          <a:xfrm>
            <a:off x="74066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Not reportable</a:t>
            </a:r>
            <a:endParaRPr lang="en-US" sz="1500" dirty="0"/>
          </a:p>
        </p:txBody>
      </p:sp>
      <p:sp>
        <p:nvSpPr>
          <p:cNvPr id="10" name="Shape 8"/>
          <p:cNvSpPr/>
          <p:nvPr/>
        </p:nvSpPr>
        <p:spPr>
          <a:xfrm>
            <a:off x="3383280" y="1051560"/>
            <a:ext cx="2514600" cy="1078992"/>
          </a:xfrm>
          <a:prstGeom prst="roundRect">
            <a:avLst>
              <a:gd name="adj" fmla="val 6780"/>
            </a:avLst>
          </a:prstGeom>
          <a:solidFill>
            <a:srgbClr val="FFFFFF"/>
          </a:solidFill>
          <a:ln w="12700">
            <a:solidFill>
              <a:srgbClr val="CBD5E1"/>
            </a:solidFill>
            <a:prstDash val="solid"/>
          </a:ln>
        </p:spPr>
      </p:sp>
      <p:sp>
        <p:nvSpPr>
          <p:cNvPr id="11" name="Text 9"/>
          <p:cNvSpPr/>
          <p:nvPr/>
        </p:nvSpPr>
        <p:spPr>
          <a:xfrm>
            <a:off x="3529584" y="1179576"/>
            <a:ext cx="2148840" cy="146304"/>
          </a:xfrm>
          <a:prstGeom prst="rect">
            <a:avLst/>
          </a:prstGeom>
          <a:noFill/>
          <a:ln/>
        </p:spPr>
        <p:txBody>
          <a:bodyPr wrap="square" rtlCol="0" anchor="ctr"/>
          <a:lstStyle/>
          <a:p>
            <a:pPr indent="0" marL="0">
              <a:buNone/>
            </a:pPr>
            <a:r>
              <a:rPr lang="en-US" sz="800" b="1" dirty="0">
                <a:solidFill>
                  <a:srgbClr val="64748B"/>
                </a:solidFill>
              </a:rPr>
              <a:t>SENSITIVE DETAILS</a:t>
            </a:r>
            <a:endParaRPr lang="en-US" sz="800" dirty="0"/>
          </a:p>
        </p:txBody>
      </p:sp>
      <p:sp>
        <p:nvSpPr>
          <p:cNvPr id="12" name="Text 10"/>
          <p:cNvSpPr/>
          <p:nvPr/>
        </p:nvSpPr>
        <p:spPr>
          <a:xfrm>
            <a:off x="352958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Visible</a:t>
            </a:r>
            <a:endParaRPr lang="en-US" sz="1500" dirty="0"/>
          </a:p>
        </p:txBody>
      </p:sp>
      <p:sp>
        <p:nvSpPr>
          <p:cNvPr id="13" name="Shape 11"/>
          <p:cNvSpPr/>
          <p:nvPr/>
        </p:nvSpPr>
        <p:spPr>
          <a:xfrm>
            <a:off x="6172200" y="1051560"/>
            <a:ext cx="2514600" cy="1078992"/>
          </a:xfrm>
          <a:prstGeom prst="roundRect">
            <a:avLst>
              <a:gd name="adj" fmla="val 6780"/>
            </a:avLst>
          </a:prstGeom>
          <a:solidFill>
            <a:srgbClr val="FFFFFF"/>
          </a:solidFill>
          <a:ln w="12700">
            <a:solidFill>
              <a:srgbClr val="CBD5E1"/>
            </a:solidFill>
            <a:prstDash val="solid"/>
          </a:ln>
        </p:spPr>
      </p:sp>
      <p:sp>
        <p:nvSpPr>
          <p:cNvPr id="14" name="Text 12"/>
          <p:cNvSpPr/>
          <p:nvPr/>
        </p:nvSpPr>
        <p:spPr>
          <a:xfrm>
            <a:off x="6318504" y="1179576"/>
            <a:ext cx="2148840" cy="146304"/>
          </a:xfrm>
          <a:prstGeom prst="rect">
            <a:avLst/>
          </a:prstGeom>
          <a:noFill/>
          <a:ln/>
        </p:spPr>
        <p:txBody>
          <a:bodyPr wrap="square" rtlCol="0" anchor="ctr"/>
          <a:lstStyle/>
          <a:p>
            <a:pPr indent="0" marL="0">
              <a:buNone/>
            </a:pPr>
            <a:r>
              <a:rPr lang="en-US" sz="800" b="1" dirty="0">
                <a:solidFill>
                  <a:srgbClr val="64748B"/>
                </a:solidFill>
              </a:rPr>
              <a:t>RAW APPENDIX</a:t>
            </a:r>
            <a:endParaRPr lang="en-US" sz="800" dirty="0"/>
          </a:p>
        </p:txBody>
      </p:sp>
      <p:sp>
        <p:nvSpPr>
          <p:cNvPr id="15" name="Text 13"/>
          <p:cNvSpPr/>
          <p:nvPr/>
        </p:nvSpPr>
        <p:spPr>
          <a:xfrm>
            <a:off x="6318504" y="1490472"/>
            <a:ext cx="2148840" cy="310896"/>
          </a:xfrm>
          <a:prstGeom prst="rect">
            <a:avLst/>
          </a:prstGeom>
          <a:noFill/>
          <a:ln/>
        </p:spPr>
        <p:txBody>
          <a:bodyPr wrap="square" rtlCol="0" anchor="ctr">
            <a:normAutofit/>
          </a:bodyPr>
          <a:lstStyle/>
          <a:p>
            <a:pPr indent="0" marL="0">
              <a:buNone/>
            </a:pPr>
            <a:r>
              <a:rPr lang="en-US" sz="1500" b="1" dirty="0">
                <a:solidFill>
                  <a:srgbClr val="047857"/>
                </a:solidFill>
              </a:rPr>
              <a:t>Allowed</a:t>
            </a:r>
            <a:endParaRPr lang="en-US" sz="1500" dirty="0"/>
          </a:p>
        </p:txBody>
      </p:sp>
      <p:sp>
        <p:nvSpPr>
          <p:cNvPr id="16" name="Shape 14"/>
          <p:cNvSpPr/>
          <p:nvPr/>
        </p:nvSpPr>
        <p:spPr>
          <a:xfrm>
            <a:off x="8961120" y="1051560"/>
            <a:ext cx="2514600" cy="1078992"/>
          </a:xfrm>
          <a:prstGeom prst="roundRect">
            <a:avLst>
              <a:gd name="adj" fmla="val 6780"/>
            </a:avLst>
          </a:prstGeom>
          <a:solidFill>
            <a:srgbClr val="FFFFFF"/>
          </a:solidFill>
          <a:ln w="12700">
            <a:solidFill>
              <a:srgbClr val="CBD5E1"/>
            </a:solidFill>
            <a:prstDash val="solid"/>
          </a:ln>
        </p:spPr>
      </p:sp>
      <p:sp>
        <p:nvSpPr>
          <p:cNvPr id="17" name="Text 15"/>
          <p:cNvSpPr/>
          <p:nvPr/>
        </p:nvSpPr>
        <p:spPr>
          <a:xfrm>
            <a:off x="9107424" y="1179576"/>
            <a:ext cx="2148840" cy="146304"/>
          </a:xfrm>
          <a:prstGeom prst="rect">
            <a:avLst/>
          </a:prstGeom>
          <a:noFill/>
          <a:ln/>
        </p:spPr>
        <p:txBody>
          <a:bodyPr wrap="square" rtlCol="0" anchor="ctr"/>
          <a:lstStyle/>
          <a:p>
            <a:pPr indent="0" marL="0">
              <a:buNone/>
            </a:pPr>
            <a:r>
              <a:rPr lang="en-US" sz="800" b="1" dirty="0">
                <a:solidFill>
                  <a:srgbClr val="64748B"/>
                </a:solidFill>
              </a:rPr>
              <a:t>HIGH-PRIORITY FLAGS</a:t>
            </a:r>
            <a:endParaRPr lang="en-US" sz="800" dirty="0"/>
          </a:p>
        </p:txBody>
      </p:sp>
      <p:sp>
        <p:nvSpPr>
          <p:cNvPr id="18" name="Text 16"/>
          <p:cNvSpPr/>
          <p:nvPr/>
        </p:nvSpPr>
        <p:spPr>
          <a:xfrm>
            <a:off x="9107424" y="1490472"/>
            <a:ext cx="2148840" cy="310896"/>
          </a:xfrm>
          <a:prstGeom prst="rect">
            <a:avLst/>
          </a:prstGeom>
          <a:noFill/>
          <a:ln/>
        </p:spPr>
        <p:txBody>
          <a:bodyPr wrap="square" rtlCol="0" anchor="ctr">
            <a:normAutofit/>
          </a:bodyPr>
          <a:lstStyle/>
          <a:p>
            <a:pPr indent="0" marL="0">
              <a:buNone/>
            </a:pPr>
            <a:r>
              <a:rPr lang="en-US" sz="1500" b="1" dirty="0">
                <a:solidFill>
                  <a:srgbClr val="B91C1C"/>
                </a:solidFill>
              </a:rPr>
              <a:t>10</a:t>
            </a:r>
            <a:endParaRPr lang="en-US" sz="1500" dirty="0"/>
          </a:p>
        </p:txBody>
      </p:sp>
      <p:sp>
        <p:nvSpPr>
          <p:cNvPr id="19" name="Shape 17"/>
          <p:cNvSpPr/>
          <p:nvPr/>
        </p:nvSpPr>
        <p:spPr>
          <a:xfrm>
            <a:off x="594360" y="2788920"/>
            <a:ext cx="6812280" cy="566928"/>
          </a:xfrm>
          <a:prstGeom prst="roundRect">
            <a:avLst>
              <a:gd name="adj" fmla="val 9677"/>
            </a:avLst>
          </a:prstGeom>
          <a:solidFill>
            <a:srgbClr val="FFFFFF"/>
          </a:solidFill>
          <a:ln w="12700">
            <a:solidFill>
              <a:srgbClr val="CBD5E1"/>
            </a:solidFill>
            <a:prstDash val="solid"/>
          </a:ln>
        </p:spPr>
      </p:sp>
      <p:sp>
        <p:nvSpPr>
          <p:cNvPr id="20" name="Shape 18"/>
          <p:cNvSpPr/>
          <p:nvPr/>
        </p:nvSpPr>
        <p:spPr>
          <a:xfrm>
            <a:off x="722376" y="2944368"/>
            <a:ext cx="777240" cy="256032"/>
          </a:xfrm>
          <a:prstGeom prst="roundRect">
            <a:avLst>
              <a:gd name="adj" fmla="val 28571"/>
            </a:avLst>
          </a:prstGeom>
          <a:solidFill>
            <a:srgbClr val="FEE2E2"/>
          </a:solidFill>
          <a:ln w="12700">
            <a:solidFill>
              <a:srgbClr val="FEE2E2"/>
            </a:solidFill>
            <a:prstDash val="solid"/>
          </a:ln>
        </p:spPr>
      </p:sp>
      <p:sp>
        <p:nvSpPr>
          <p:cNvPr id="21" name="Text 19"/>
          <p:cNvSpPr/>
          <p:nvPr/>
        </p:nvSpPr>
        <p:spPr>
          <a:xfrm>
            <a:off x="758952" y="299466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2" name="Text 20"/>
          <p:cNvSpPr/>
          <p:nvPr/>
        </p:nvSpPr>
        <p:spPr>
          <a:xfrm>
            <a:off x="1600200" y="2898648"/>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NORM-01 | High</a:t>
            </a:r>
            <a:endParaRPr lang="en-US" sz="930" dirty="0"/>
          </a:p>
        </p:txBody>
      </p:sp>
      <p:sp>
        <p:nvSpPr>
          <p:cNvPr id="23" name="Text 21"/>
          <p:cNvSpPr/>
          <p:nvPr/>
        </p:nvSpPr>
        <p:spPr>
          <a:xfrm>
            <a:off x="3840480" y="2880360"/>
            <a:ext cx="3291840" cy="219456"/>
          </a:xfrm>
          <a:prstGeom prst="rect">
            <a:avLst/>
          </a:prstGeom>
          <a:noFill/>
          <a:ln/>
        </p:spPr>
        <p:txBody>
          <a:bodyPr wrap="square" rtlCol="0" anchor="ctr">
            <a:normAutofit/>
          </a:bodyPr>
          <a:lstStyle/>
          <a:p>
            <a:pPr indent="0" marL="0">
              <a:buNone/>
            </a:pPr>
            <a:r>
              <a:rPr lang="en-US" sz="860" dirty="0">
                <a:solidFill>
                  <a:srgbClr val="64748B"/>
                </a:solidFill>
              </a:rPr>
              <a:t>Pass rate is below 70%.</a:t>
            </a:r>
            <a:endParaRPr lang="en-US" sz="860" dirty="0"/>
          </a:p>
        </p:txBody>
      </p:sp>
      <p:sp>
        <p:nvSpPr>
          <p:cNvPr id="24" name="Shape 22"/>
          <p:cNvSpPr/>
          <p:nvPr/>
        </p:nvSpPr>
        <p:spPr>
          <a:xfrm>
            <a:off x="594360" y="3538728"/>
            <a:ext cx="6812280" cy="566928"/>
          </a:xfrm>
          <a:prstGeom prst="roundRect">
            <a:avLst>
              <a:gd name="adj" fmla="val 9677"/>
            </a:avLst>
          </a:prstGeom>
          <a:solidFill>
            <a:srgbClr val="FFFFFF"/>
          </a:solidFill>
          <a:ln w="12700">
            <a:solidFill>
              <a:srgbClr val="CBD5E1"/>
            </a:solidFill>
            <a:prstDash val="solid"/>
          </a:ln>
        </p:spPr>
      </p:sp>
      <p:sp>
        <p:nvSpPr>
          <p:cNvPr id="25" name="Shape 23"/>
          <p:cNvSpPr/>
          <p:nvPr/>
        </p:nvSpPr>
        <p:spPr>
          <a:xfrm>
            <a:off x="722376" y="3694176"/>
            <a:ext cx="777240" cy="256032"/>
          </a:xfrm>
          <a:prstGeom prst="roundRect">
            <a:avLst>
              <a:gd name="adj" fmla="val 28571"/>
            </a:avLst>
          </a:prstGeom>
          <a:solidFill>
            <a:srgbClr val="FEF3C7"/>
          </a:solidFill>
          <a:ln w="12700">
            <a:solidFill>
              <a:srgbClr val="FEF3C7"/>
            </a:solidFill>
            <a:prstDash val="solid"/>
          </a:ln>
        </p:spPr>
      </p:sp>
      <p:sp>
        <p:nvSpPr>
          <p:cNvPr id="26" name="Text 24"/>
          <p:cNvSpPr/>
          <p:nvPr/>
        </p:nvSpPr>
        <p:spPr>
          <a:xfrm>
            <a:off x="758952" y="3744468"/>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27" name="Text 25"/>
          <p:cNvSpPr/>
          <p:nvPr/>
        </p:nvSpPr>
        <p:spPr>
          <a:xfrm>
            <a:off x="1600200" y="3648456"/>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NORM-03 | Medium</a:t>
            </a:r>
            <a:endParaRPr lang="en-US" sz="930" dirty="0"/>
          </a:p>
        </p:txBody>
      </p:sp>
      <p:sp>
        <p:nvSpPr>
          <p:cNvPr id="28" name="Text 26"/>
          <p:cNvSpPr/>
          <p:nvPr/>
        </p:nvSpPr>
        <p:spPr>
          <a:xfrm>
            <a:off x="3840480" y="3630168"/>
            <a:ext cx="3291840" cy="219456"/>
          </a:xfrm>
          <a:prstGeom prst="rect">
            <a:avLst/>
          </a:prstGeom>
          <a:noFill/>
          <a:ln/>
        </p:spPr>
        <p:txBody>
          <a:bodyPr wrap="square" rtlCol="0" anchor="ctr">
            <a:normAutofit/>
          </a:bodyPr>
          <a:lstStyle/>
          <a:p>
            <a:pPr indent="0" marL="0">
              <a:buNone/>
            </a:pPr>
            <a:r>
              <a:rPr lang="en-US" sz="860" dirty="0">
                <a:solidFill>
                  <a:srgbClr val="64748B"/>
                </a:solidFill>
              </a:rPr>
              <a:t>Attendance rate is below 75%.</a:t>
            </a:r>
            <a:endParaRPr lang="en-US" sz="860" dirty="0"/>
          </a:p>
        </p:txBody>
      </p:sp>
      <p:sp>
        <p:nvSpPr>
          <p:cNvPr id="29" name="Shape 27"/>
          <p:cNvSpPr/>
          <p:nvPr/>
        </p:nvSpPr>
        <p:spPr>
          <a:xfrm>
            <a:off x="594360" y="4288536"/>
            <a:ext cx="6812280" cy="566928"/>
          </a:xfrm>
          <a:prstGeom prst="roundRect">
            <a:avLst>
              <a:gd name="adj" fmla="val 9677"/>
            </a:avLst>
          </a:prstGeom>
          <a:solidFill>
            <a:srgbClr val="FFFFFF"/>
          </a:solidFill>
          <a:ln w="12700">
            <a:solidFill>
              <a:srgbClr val="CBD5E1"/>
            </a:solidFill>
            <a:prstDash val="solid"/>
          </a:ln>
        </p:spPr>
      </p:sp>
      <p:sp>
        <p:nvSpPr>
          <p:cNvPr id="30" name="Shape 28"/>
          <p:cNvSpPr/>
          <p:nvPr/>
        </p:nvSpPr>
        <p:spPr>
          <a:xfrm>
            <a:off x="722376" y="4443984"/>
            <a:ext cx="77724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758952" y="4494276"/>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1600200" y="4398264"/>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3" name="Text 31"/>
          <p:cNvSpPr/>
          <p:nvPr/>
        </p:nvSpPr>
        <p:spPr>
          <a:xfrm>
            <a:off x="3840480" y="4379976"/>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
        <p:nvSpPr>
          <p:cNvPr id="34" name="Shape 32"/>
          <p:cNvSpPr/>
          <p:nvPr/>
        </p:nvSpPr>
        <p:spPr>
          <a:xfrm>
            <a:off x="594360" y="5038344"/>
            <a:ext cx="6812280" cy="566928"/>
          </a:xfrm>
          <a:prstGeom prst="roundRect">
            <a:avLst>
              <a:gd name="adj" fmla="val 9677"/>
            </a:avLst>
          </a:prstGeom>
          <a:solidFill>
            <a:srgbClr val="FFFFFF"/>
          </a:solidFill>
          <a:ln w="12700">
            <a:solidFill>
              <a:srgbClr val="CBD5E1"/>
            </a:solidFill>
            <a:prstDash val="solid"/>
          </a:ln>
        </p:spPr>
      </p:sp>
      <p:sp>
        <p:nvSpPr>
          <p:cNvPr id="35" name="Shape 33"/>
          <p:cNvSpPr/>
          <p:nvPr/>
        </p:nvSpPr>
        <p:spPr>
          <a:xfrm>
            <a:off x="722376" y="5193792"/>
            <a:ext cx="777240" cy="256032"/>
          </a:xfrm>
          <a:prstGeom prst="roundRect">
            <a:avLst>
              <a:gd name="adj" fmla="val 28571"/>
            </a:avLst>
          </a:prstGeom>
          <a:solidFill>
            <a:srgbClr val="FEE2E2"/>
          </a:solidFill>
          <a:ln w="12700">
            <a:solidFill>
              <a:srgbClr val="FEE2E2"/>
            </a:solidFill>
            <a:prstDash val="solid"/>
          </a:ln>
        </p:spPr>
      </p:sp>
      <p:sp>
        <p:nvSpPr>
          <p:cNvPr id="36" name="Text 34"/>
          <p:cNvSpPr/>
          <p:nvPr/>
        </p:nvSpPr>
        <p:spPr>
          <a:xfrm>
            <a:off x="758952" y="5244084"/>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7" name="Text 35"/>
          <p:cNvSpPr/>
          <p:nvPr/>
        </p:nvSpPr>
        <p:spPr>
          <a:xfrm>
            <a:off x="1600200" y="5148072"/>
            <a:ext cx="2148840" cy="146304"/>
          </a:xfrm>
          <a:prstGeom prst="rect">
            <a:avLst/>
          </a:prstGeom>
          <a:noFill/>
          <a:ln/>
        </p:spPr>
        <p:txBody>
          <a:bodyPr wrap="square" rtlCol="0" anchor="ctr">
            <a:normAutofit/>
          </a:bodyPr>
          <a:lstStyle/>
          <a:p>
            <a:pPr indent="0" marL="0">
              <a:buNone/>
            </a:pPr>
            <a:r>
              <a:rPr lang="en-US" sz="930" b="1" dirty="0">
                <a:solidFill>
                  <a:srgbClr val="0F172A"/>
                </a:solidFill>
              </a:rPr>
              <a:t>NORM-05 | High</a:t>
            </a:r>
            <a:endParaRPr lang="en-US" sz="930" dirty="0"/>
          </a:p>
        </p:txBody>
      </p:sp>
      <p:sp>
        <p:nvSpPr>
          <p:cNvPr id="38" name="Text 36"/>
          <p:cNvSpPr/>
          <p:nvPr/>
        </p:nvSpPr>
        <p:spPr>
          <a:xfrm>
            <a:off x="3840480" y="5129784"/>
            <a:ext cx="3291840" cy="219456"/>
          </a:xfrm>
          <a:prstGeom prst="rect">
            <a:avLst/>
          </a:prstGeom>
          <a:noFill/>
          <a:ln/>
        </p:spPr>
        <p:txBody>
          <a:bodyPr wrap="square" rtlCol="0" anchor="ctr">
            <a:normAutofit/>
          </a:bodyPr>
          <a:lstStyle/>
          <a:p>
            <a:pPr indent="0" marL="0">
              <a:buNone/>
            </a:pPr>
            <a:r>
              <a:rPr lang="en-US" sz="860" dirty="0">
                <a:solidFill>
                  <a:srgbClr val="64748B"/>
                </a:solidFill>
              </a:rPr>
              <a:t>Trainee has zero score or missing assessment.</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Recommended action plan</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594360" y="960120"/>
            <a:ext cx="10972800" cy="749808"/>
          </a:xfrm>
          <a:prstGeom prst="roundRect">
            <a:avLst>
              <a:gd name="adj" fmla="val 7317"/>
            </a:avLst>
          </a:prstGeom>
          <a:solidFill>
            <a:srgbClr val="FFFFFF"/>
          </a:solidFill>
          <a:ln w="12700">
            <a:solidFill>
              <a:srgbClr val="CBD5E1"/>
            </a:solidFill>
            <a:prstDash val="solid"/>
          </a:ln>
        </p:spPr>
      </p:sp>
      <p:sp>
        <p:nvSpPr>
          <p:cNvPr id="8" name="Text 6"/>
          <p:cNvSpPr/>
          <p:nvPr/>
        </p:nvSpPr>
        <p:spPr>
          <a:xfrm>
            <a:off x="768096" y="1179576"/>
            <a:ext cx="228600" cy="164592"/>
          </a:xfrm>
          <a:prstGeom prst="rect">
            <a:avLst/>
          </a:prstGeom>
          <a:noFill/>
          <a:ln/>
        </p:spPr>
        <p:txBody>
          <a:bodyPr wrap="square" rtlCol="0" anchor="ctr"/>
          <a:lstStyle/>
          <a:p>
            <a:pPr algn="ctr" indent="0" marL="0">
              <a:buNone/>
            </a:pPr>
            <a:r>
              <a:rPr lang="en-US" sz="1200" b="1" dirty="0">
                <a:solidFill>
                  <a:srgbClr val="0F172A"/>
                </a:solidFill>
              </a:rPr>
              <a:t>1</a:t>
            </a:r>
            <a:endParaRPr lang="en-US" sz="1200" dirty="0"/>
          </a:p>
        </p:txBody>
      </p:sp>
      <p:sp>
        <p:nvSpPr>
          <p:cNvPr id="9" name="Shape 7"/>
          <p:cNvSpPr/>
          <p:nvPr/>
        </p:nvSpPr>
        <p:spPr>
          <a:xfrm>
            <a:off x="1170432" y="1161288"/>
            <a:ext cx="82296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207008" y="1211580"/>
            <a:ext cx="74980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2121408" y="1124712"/>
            <a:ext cx="1508760" cy="201168"/>
          </a:xfrm>
          <a:prstGeom prst="rect">
            <a:avLst/>
          </a:prstGeom>
          <a:noFill/>
          <a:ln/>
        </p:spPr>
        <p:txBody>
          <a:bodyPr wrap="square" rtlCol="0" anchor="ctr">
            <a:normAutofit/>
          </a:bodyPr>
          <a:lstStyle/>
          <a:p>
            <a:pPr indent="0" marL="0">
              <a:buNone/>
            </a:pPr>
            <a:r>
              <a:rPr lang="en-US" sz="900" b="1" dirty="0">
                <a:solidFill>
                  <a:srgbClr val="0F172A"/>
                </a:solidFill>
              </a:rPr>
              <a:t>Team Manager + L&amp;D</a:t>
            </a:r>
            <a:endParaRPr lang="en-US" sz="900" dirty="0"/>
          </a:p>
        </p:txBody>
      </p:sp>
      <p:sp>
        <p:nvSpPr>
          <p:cNvPr id="12" name="Text 10"/>
          <p:cNvSpPr/>
          <p:nvPr/>
        </p:nvSpPr>
        <p:spPr>
          <a:xfrm>
            <a:off x="3794760" y="1069848"/>
            <a:ext cx="3840480" cy="256032"/>
          </a:xfrm>
          <a:prstGeom prst="rect">
            <a:avLst/>
          </a:prstGeom>
          <a:noFill/>
          <a:ln/>
        </p:spPr>
        <p:txBody>
          <a:bodyPr wrap="square" rtlCol="0" anchor="ctr">
            <a:normAutofit/>
          </a:bodyPr>
          <a:lstStyle/>
          <a:p>
            <a:pPr indent="0" marL="0">
              <a:buNone/>
            </a:pPr>
            <a:r>
              <a:rPr lang="en-US" sz="930" dirty="0">
                <a:solidFill>
                  <a:srgbClr val="0F172A"/>
                </a:solidFill>
              </a:rPr>
              <a:t>Flag course for content review; notify L&amp;D manager</a:t>
            </a:r>
            <a:endParaRPr lang="en-US" sz="930" dirty="0"/>
          </a:p>
        </p:txBody>
      </p:sp>
      <p:sp>
        <p:nvSpPr>
          <p:cNvPr id="13" name="Text 11"/>
          <p:cNvSpPr/>
          <p:nvPr/>
        </p:nvSpPr>
        <p:spPr>
          <a:xfrm>
            <a:off x="7863840" y="1069848"/>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14" name="Shape 12"/>
          <p:cNvSpPr/>
          <p:nvPr/>
        </p:nvSpPr>
        <p:spPr>
          <a:xfrm>
            <a:off x="594360" y="1947672"/>
            <a:ext cx="10972800" cy="749808"/>
          </a:xfrm>
          <a:prstGeom prst="roundRect">
            <a:avLst>
              <a:gd name="adj" fmla="val 7317"/>
            </a:avLst>
          </a:prstGeom>
          <a:solidFill>
            <a:srgbClr val="FFFFFF"/>
          </a:solidFill>
          <a:ln w="12700">
            <a:solidFill>
              <a:srgbClr val="CBD5E1"/>
            </a:solidFill>
            <a:prstDash val="solid"/>
          </a:ln>
        </p:spPr>
      </p:sp>
      <p:sp>
        <p:nvSpPr>
          <p:cNvPr id="15" name="Text 13"/>
          <p:cNvSpPr/>
          <p:nvPr/>
        </p:nvSpPr>
        <p:spPr>
          <a:xfrm>
            <a:off x="768096" y="2167128"/>
            <a:ext cx="228600" cy="164592"/>
          </a:xfrm>
          <a:prstGeom prst="rect">
            <a:avLst/>
          </a:prstGeom>
          <a:noFill/>
          <a:ln/>
        </p:spPr>
        <p:txBody>
          <a:bodyPr wrap="square" rtlCol="0" anchor="ctr"/>
          <a:lstStyle/>
          <a:p>
            <a:pPr algn="ctr" indent="0" marL="0">
              <a:buNone/>
            </a:pPr>
            <a:r>
              <a:rPr lang="en-US" sz="1200" b="1" dirty="0">
                <a:solidFill>
                  <a:srgbClr val="0F172A"/>
                </a:solidFill>
              </a:rPr>
              <a:t>2</a:t>
            </a:r>
            <a:endParaRPr lang="en-US" sz="1200" dirty="0"/>
          </a:p>
        </p:txBody>
      </p:sp>
      <p:sp>
        <p:nvSpPr>
          <p:cNvPr id="16" name="Shape 14"/>
          <p:cNvSpPr/>
          <p:nvPr/>
        </p:nvSpPr>
        <p:spPr>
          <a:xfrm>
            <a:off x="1170432" y="2148840"/>
            <a:ext cx="822960" cy="256032"/>
          </a:xfrm>
          <a:prstGeom prst="roundRect">
            <a:avLst>
              <a:gd name="adj" fmla="val 28571"/>
            </a:avLst>
          </a:prstGeom>
          <a:solidFill>
            <a:srgbClr val="FEE2E2"/>
          </a:solidFill>
          <a:ln w="12700">
            <a:solidFill>
              <a:srgbClr val="FEE2E2"/>
            </a:solidFill>
            <a:prstDash val="solid"/>
          </a:ln>
        </p:spPr>
      </p:sp>
      <p:sp>
        <p:nvSpPr>
          <p:cNvPr id="17" name="Text 15"/>
          <p:cNvSpPr/>
          <p:nvPr/>
        </p:nvSpPr>
        <p:spPr>
          <a:xfrm>
            <a:off x="1207008" y="2199132"/>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8" name="Text 16"/>
          <p:cNvSpPr/>
          <p:nvPr/>
        </p:nvSpPr>
        <p:spPr>
          <a:xfrm>
            <a:off x="2121408" y="2112264"/>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19" name="Text 17"/>
          <p:cNvSpPr/>
          <p:nvPr/>
        </p:nvSpPr>
        <p:spPr>
          <a:xfrm>
            <a:off x="3794760" y="2057400"/>
            <a:ext cx="3840480" cy="256032"/>
          </a:xfrm>
          <a:prstGeom prst="rect">
            <a:avLst/>
          </a:prstGeom>
          <a:noFill/>
          <a:ln/>
        </p:spPr>
        <p:txBody>
          <a:bodyPr wrap="square" rtlCol="0" anchor="ctr">
            <a:normAutofit/>
          </a:bodyPr>
          <a:lstStyle/>
          <a:p>
            <a:pPr indent="0" marL="0">
              <a:buNone/>
            </a:pPr>
            <a:r>
              <a:rPr lang="en-US" sz="930" dirty="0">
                <a:solidFill>
                  <a:srgbClr val="0F172A"/>
                </a:solidFill>
              </a:rPr>
              <a:t>Mark as Incomplete; recommend re-enrollment in next cohort</a:t>
            </a:r>
            <a:endParaRPr lang="en-US" sz="930" dirty="0"/>
          </a:p>
        </p:txBody>
      </p:sp>
      <p:sp>
        <p:nvSpPr>
          <p:cNvPr id="20" name="Text 18"/>
          <p:cNvSpPr/>
          <p:nvPr/>
        </p:nvSpPr>
        <p:spPr>
          <a:xfrm>
            <a:off x="7863840" y="2057400"/>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1" name="Shape 19"/>
          <p:cNvSpPr/>
          <p:nvPr/>
        </p:nvSpPr>
        <p:spPr>
          <a:xfrm>
            <a:off x="594360" y="2935224"/>
            <a:ext cx="10972800" cy="749808"/>
          </a:xfrm>
          <a:prstGeom prst="roundRect">
            <a:avLst>
              <a:gd name="adj" fmla="val 7317"/>
            </a:avLst>
          </a:prstGeom>
          <a:solidFill>
            <a:srgbClr val="FFFFFF"/>
          </a:solidFill>
          <a:ln w="12700">
            <a:solidFill>
              <a:srgbClr val="CBD5E1"/>
            </a:solidFill>
            <a:prstDash val="solid"/>
          </a:ln>
        </p:spPr>
      </p:sp>
      <p:sp>
        <p:nvSpPr>
          <p:cNvPr id="22" name="Text 20"/>
          <p:cNvSpPr/>
          <p:nvPr/>
        </p:nvSpPr>
        <p:spPr>
          <a:xfrm>
            <a:off x="768096" y="3154680"/>
            <a:ext cx="228600" cy="164592"/>
          </a:xfrm>
          <a:prstGeom prst="rect">
            <a:avLst/>
          </a:prstGeom>
          <a:noFill/>
          <a:ln/>
        </p:spPr>
        <p:txBody>
          <a:bodyPr wrap="square" rtlCol="0" anchor="ctr"/>
          <a:lstStyle/>
          <a:p>
            <a:pPr algn="ctr" indent="0" marL="0">
              <a:buNone/>
            </a:pPr>
            <a:r>
              <a:rPr lang="en-US" sz="1200" b="1" dirty="0">
                <a:solidFill>
                  <a:srgbClr val="0F172A"/>
                </a:solidFill>
              </a:rPr>
              <a:t>3</a:t>
            </a:r>
            <a:endParaRPr lang="en-US" sz="1200" dirty="0"/>
          </a:p>
        </p:txBody>
      </p:sp>
      <p:sp>
        <p:nvSpPr>
          <p:cNvPr id="23" name="Shape 21"/>
          <p:cNvSpPr/>
          <p:nvPr/>
        </p:nvSpPr>
        <p:spPr>
          <a:xfrm>
            <a:off x="1170432" y="3136392"/>
            <a:ext cx="822960" cy="256032"/>
          </a:xfrm>
          <a:prstGeom prst="roundRect">
            <a:avLst>
              <a:gd name="adj" fmla="val 28571"/>
            </a:avLst>
          </a:prstGeom>
          <a:solidFill>
            <a:srgbClr val="FEE2E2"/>
          </a:solidFill>
          <a:ln w="12700">
            <a:solidFill>
              <a:srgbClr val="FEE2E2"/>
            </a:solidFill>
            <a:prstDash val="solid"/>
          </a:ln>
        </p:spPr>
      </p:sp>
      <p:sp>
        <p:nvSpPr>
          <p:cNvPr id="24" name="Text 22"/>
          <p:cNvSpPr/>
          <p:nvPr/>
        </p:nvSpPr>
        <p:spPr>
          <a:xfrm>
            <a:off x="1207008" y="3186684"/>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5" name="Text 23"/>
          <p:cNvSpPr/>
          <p:nvPr/>
        </p:nvSpPr>
        <p:spPr>
          <a:xfrm>
            <a:off x="2121408" y="3099816"/>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26" name="Text 24"/>
          <p:cNvSpPr/>
          <p:nvPr/>
        </p:nvSpPr>
        <p:spPr>
          <a:xfrm>
            <a:off x="3794760" y="3044952"/>
            <a:ext cx="3840480" cy="256032"/>
          </a:xfrm>
          <a:prstGeom prst="rect">
            <a:avLst/>
          </a:prstGeom>
          <a:noFill/>
          <a:ln/>
        </p:spPr>
        <p:txBody>
          <a:bodyPr wrap="square" rtlCol="0" anchor="ctr">
            <a:normAutofit/>
          </a:bodyPr>
          <a:lstStyle/>
          <a:p>
            <a:pPr indent="0" marL="0">
              <a:buNone/>
            </a:pPr>
            <a:r>
              <a:rPr lang="en-US" sz="930" dirty="0">
                <a:solidFill>
                  <a:srgbClr val="0F172A"/>
                </a:solidFill>
              </a:rPr>
              <a:t>Block final conclusion; flag data incomplete</a:t>
            </a:r>
            <a:endParaRPr lang="en-US" sz="930" dirty="0"/>
          </a:p>
        </p:txBody>
      </p:sp>
      <p:sp>
        <p:nvSpPr>
          <p:cNvPr id="27" name="Text 25"/>
          <p:cNvSpPr/>
          <p:nvPr/>
        </p:nvSpPr>
        <p:spPr>
          <a:xfrm>
            <a:off x="7863840" y="3044952"/>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28" name="Shape 26"/>
          <p:cNvSpPr/>
          <p:nvPr/>
        </p:nvSpPr>
        <p:spPr>
          <a:xfrm>
            <a:off x="594360" y="3922776"/>
            <a:ext cx="10972800" cy="749808"/>
          </a:xfrm>
          <a:prstGeom prst="roundRect">
            <a:avLst>
              <a:gd name="adj" fmla="val 7317"/>
            </a:avLst>
          </a:prstGeom>
          <a:solidFill>
            <a:srgbClr val="FFFFFF"/>
          </a:solidFill>
          <a:ln w="12700">
            <a:solidFill>
              <a:srgbClr val="CBD5E1"/>
            </a:solidFill>
            <a:prstDash val="solid"/>
          </a:ln>
        </p:spPr>
      </p:sp>
      <p:sp>
        <p:nvSpPr>
          <p:cNvPr id="29" name="Text 27"/>
          <p:cNvSpPr/>
          <p:nvPr/>
        </p:nvSpPr>
        <p:spPr>
          <a:xfrm>
            <a:off x="768096" y="4142232"/>
            <a:ext cx="228600" cy="164592"/>
          </a:xfrm>
          <a:prstGeom prst="rect">
            <a:avLst/>
          </a:prstGeom>
          <a:noFill/>
          <a:ln/>
        </p:spPr>
        <p:txBody>
          <a:bodyPr wrap="square" rtlCol="0" anchor="ctr"/>
          <a:lstStyle/>
          <a:p>
            <a:pPr algn="ctr" indent="0" marL="0">
              <a:buNone/>
            </a:pPr>
            <a:r>
              <a:rPr lang="en-US" sz="1200" b="1" dirty="0">
                <a:solidFill>
                  <a:srgbClr val="0F172A"/>
                </a:solidFill>
              </a:rPr>
              <a:t>4</a:t>
            </a:r>
            <a:endParaRPr lang="en-US" sz="1200" dirty="0"/>
          </a:p>
        </p:txBody>
      </p:sp>
      <p:sp>
        <p:nvSpPr>
          <p:cNvPr id="30" name="Shape 28"/>
          <p:cNvSpPr/>
          <p:nvPr/>
        </p:nvSpPr>
        <p:spPr>
          <a:xfrm>
            <a:off x="1170432" y="4123944"/>
            <a:ext cx="822960" cy="256032"/>
          </a:xfrm>
          <a:prstGeom prst="roundRect">
            <a:avLst>
              <a:gd name="adj" fmla="val 28571"/>
            </a:avLst>
          </a:prstGeom>
          <a:solidFill>
            <a:srgbClr val="FEE2E2"/>
          </a:solidFill>
          <a:ln w="12700">
            <a:solidFill>
              <a:srgbClr val="FEE2E2"/>
            </a:solidFill>
            <a:prstDash val="solid"/>
          </a:ln>
        </p:spPr>
      </p:sp>
      <p:sp>
        <p:nvSpPr>
          <p:cNvPr id="31" name="Text 29"/>
          <p:cNvSpPr/>
          <p:nvPr/>
        </p:nvSpPr>
        <p:spPr>
          <a:xfrm>
            <a:off x="1207008" y="4174236"/>
            <a:ext cx="74980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2" name="Text 30"/>
          <p:cNvSpPr/>
          <p:nvPr/>
        </p:nvSpPr>
        <p:spPr>
          <a:xfrm>
            <a:off x="2121408" y="4087368"/>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33" name="Text 31"/>
          <p:cNvSpPr/>
          <p:nvPr/>
        </p:nvSpPr>
        <p:spPr>
          <a:xfrm>
            <a:off x="3794760" y="4032504"/>
            <a:ext cx="3840480" cy="256032"/>
          </a:xfrm>
          <a:prstGeom prst="rect">
            <a:avLst/>
          </a:prstGeom>
          <a:noFill/>
          <a:ln/>
        </p:spPr>
        <p:txBody>
          <a:bodyPr wrap="square" rtlCol="0" anchor="ctr">
            <a:normAutofit/>
          </a:bodyPr>
          <a:lstStyle/>
          <a:p>
            <a:pPr indent="0" marL="0">
              <a:buNone/>
            </a:pPr>
            <a:r>
              <a:rPr lang="en-US" sz="930" dirty="0">
                <a:solidFill>
                  <a:srgbClr val="0F172A"/>
                </a:solidFill>
              </a:rPr>
              <a:t>Do not publish a final effectiveness conclusion until blocked evidence items are resolved.</a:t>
            </a:r>
            <a:endParaRPr lang="en-US" sz="930" dirty="0"/>
          </a:p>
        </p:txBody>
      </p:sp>
      <p:sp>
        <p:nvSpPr>
          <p:cNvPr id="34" name="Text 32"/>
          <p:cNvSpPr/>
          <p:nvPr/>
        </p:nvSpPr>
        <p:spPr>
          <a:xfrm>
            <a:off x="7863840" y="4032504"/>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
        <p:nvSpPr>
          <p:cNvPr id="35" name="Shape 33"/>
          <p:cNvSpPr/>
          <p:nvPr/>
        </p:nvSpPr>
        <p:spPr>
          <a:xfrm>
            <a:off x="594360" y="4910328"/>
            <a:ext cx="10972800" cy="749808"/>
          </a:xfrm>
          <a:prstGeom prst="roundRect">
            <a:avLst>
              <a:gd name="adj" fmla="val 7317"/>
            </a:avLst>
          </a:prstGeom>
          <a:solidFill>
            <a:srgbClr val="FFFFFF"/>
          </a:solidFill>
          <a:ln w="12700">
            <a:solidFill>
              <a:srgbClr val="CBD5E1"/>
            </a:solidFill>
            <a:prstDash val="solid"/>
          </a:ln>
        </p:spPr>
      </p:sp>
      <p:sp>
        <p:nvSpPr>
          <p:cNvPr id="36" name="Text 34"/>
          <p:cNvSpPr/>
          <p:nvPr/>
        </p:nvSpPr>
        <p:spPr>
          <a:xfrm>
            <a:off x="768096" y="5129784"/>
            <a:ext cx="228600" cy="164592"/>
          </a:xfrm>
          <a:prstGeom prst="rect">
            <a:avLst/>
          </a:prstGeom>
          <a:noFill/>
          <a:ln/>
        </p:spPr>
        <p:txBody>
          <a:bodyPr wrap="square" rtlCol="0" anchor="ctr"/>
          <a:lstStyle/>
          <a:p>
            <a:pPr algn="ctr" indent="0" marL="0">
              <a:buNone/>
            </a:pPr>
            <a:r>
              <a:rPr lang="en-US" sz="1200" b="1" dirty="0">
                <a:solidFill>
                  <a:srgbClr val="0F172A"/>
                </a:solidFill>
              </a:rPr>
              <a:t>5</a:t>
            </a:r>
            <a:endParaRPr lang="en-US" sz="1200" dirty="0"/>
          </a:p>
        </p:txBody>
      </p:sp>
      <p:sp>
        <p:nvSpPr>
          <p:cNvPr id="37" name="Shape 35"/>
          <p:cNvSpPr/>
          <p:nvPr/>
        </p:nvSpPr>
        <p:spPr>
          <a:xfrm>
            <a:off x="1170432" y="5111496"/>
            <a:ext cx="822960" cy="256032"/>
          </a:xfrm>
          <a:prstGeom prst="roundRect">
            <a:avLst>
              <a:gd name="adj" fmla="val 28571"/>
            </a:avLst>
          </a:prstGeom>
          <a:solidFill>
            <a:srgbClr val="D1FAE5"/>
          </a:solidFill>
          <a:ln w="12700">
            <a:solidFill>
              <a:srgbClr val="D1FAE5"/>
            </a:solidFill>
            <a:prstDash val="solid"/>
          </a:ln>
        </p:spPr>
      </p:sp>
      <p:sp>
        <p:nvSpPr>
          <p:cNvPr id="38" name="Text 36"/>
          <p:cNvSpPr/>
          <p:nvPr/>
        </p:nvSpPr>
        <p:spPr>
          <a:xfrm>
            <a:off x="1207008" y="5161788"/>
            <a:ext cx="749808" cy="91440"/>
          </a:xfrm>
          <a:prstGeom prst="rect">
            <a:avLst/>
          </a:prstGeom>
          <a:noFill/>
          <a:ln/>
        </p:spPr>
        <p:txBody>
          <a:bodyPr wrap="square" rtlCol="0" anchor="ctr">
            <a:normAutofit/>
          </a:bodyPr>
          <a:lstStyle/>
          <a:p>
            <a:pPr algn="ctr" indent="0" marL="0">
              <a:buNone/>
            </a:pPr>
            <a:r>
              <a:rPr lang="en-US" sz="740" b="1" dirty="0">
                <a:solidFill>
                  <a:srgbClr val="047857"/>
                </a:solidFill>
              </a:rPr>
              <a:t>Low</a:t>
            </a:r>
            <a:endParaRPr lang="en-US" sz="740" dirty="0"/>
          </a:p>
        </p:txBody>
      </p:sp>
      <p:sp>
        <p:nvSpPr>
          <p:cNvPr id="39" name="Text 37"/>
          <p:cNvSpPr/>
          <p:nvPr/>
        </p:nvSpPr>
        <p:spPr>
          <a:xfrm>
            <a:off x="2121408" y="5074920"/>
            <a:ext cx="1508760" cy="201168"/>
          </a:xfrm>
          <a:prstGeom prst="rect">
            <a:avLst/>
          </a:prstGeom>
          <a:noFill/>
          <a:ln/>
        </p:spPr>
        <p:txBody>
          <a:bodyPr wrap="square" rtlCol="0" anchor="ctr">
            <a:normAutofit/>
          </a:bodyPr>
          <a:lstStyle/>
          <a:p>
            <a:pPr indent="0" marL="0">
              <a:buNone/>
            </a:pPr>
            <a:r>
              <a:rPr lang="en-US" sz="900" b="1" dirty="0">
                <a:solidFill>
                  <a:srgbClr val="0F172A"/>
                </a:solidFill>
              </a:rPr>
              <a:t>L&amp;D Manager</a:t>
            </a:r>
            <a:endParaRPr lang="en-US" sz="900" dirty="0"/>
          </a:p>
        </p:txBody>
      </p:sp>
      <p:sp>
        <p:nvSpPr>
          <p:cNvPr id="40" name="Text 38"/>
          <p:cNvSpPr/>
          <p:nvPr/>
        </p:nvSpPr>
        <p:spPr>
          <a:xfrm>
            <a:off x="3794760" y="5020056"/>
            <a:ext cx="3840480" cy="256032"/>
          </a:xfrm>
          <a:prstGeom prst="rect">
            <a:avLst/>
          </a:prstGeom>
          <a:noFill/>
          <a:ln/>
        </p:spPr>
        <p:txBody>
          <a:bodyPr wrap="square" rtlCol="0" anchor="ctr">
            <a:normAutofit/>
          </a:bodyPr>
          <a:lstStyle/>
          <a:p>
            <a:pPr indent="0" marL="0">
              <a:buNone/>
            </a:pPr>
            <a:r>
              <a:rPr lang="en-US" sz="930" dirty="0">
                <a:solidFill>
                  <a:srgbClr val="0F172A"/>
                </a:solidFill>
              </a:rPr>
              <a:t>Use this output as a preliminary readiness report and assign owners to missing evidence items.</a:t>
            </a:r>
            <a:endParaRPr lang="en-US" sz="930" dirty="0"/>
          </a:p>
        </p:txBody>
      </p:sp>
      <p:sp>
        <p:nvSpPr>
          <p:cNvPr id="41" name="Text 39"/>
          <p:cNvSpPr/>
          <p:nvPr/>
        </p:nvSpPr>
        <p:spPr>
          <a:xfrm>
            <a:off x="7863840" y="5020056"/>
            <a:ext cx="3291840" cy="256032"/>
          </a:xfrm>
          <a:prstGeom prst="rect">
            <a:avLst/>
          </a:prstGeom>
          <a:noFill/>
          <a:ln/>
        </p:spPr>
        <p:txBody>
          <a:bodyPr wrap="square" rtlCol="0" anchor="ctr">
            <a:normAutofit/>
          </a:bodyPr>
          <a:lstStyle/>
          <a:p>
            <a:pPr indent="0" marL="0">
              <a:buNone/>
            </a:pPr>
            <a:r>
              <a:rPr lang="en-US" sz="850" dirty="0">
                <a:solidFill>
                  <a:srgbClr val="64748B"/>
                </a:solidFill>
              </a:rPr>
              <a:t>Improve training effectiveness and repeatability.</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Delivery roadmap</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Shape 5"/>
          <p:cNvSpPr/>
          <p:nvPr/>
        </p:nvSpPr>
        <p:spPr>
          <a:xfrm>
            <a:off x="658368" y="1234440"/>
            <a:ext cx="2331720" cy="4251960"/>
          </a:xfrm>
          <a:prstGeom prst="roundRect">
            <a:avLst>
              <a:gd name="adj" fmla="val 3137"/>
            </a:avLst>
          </a:prstGeom>
          <a:solidFill>
            <a:srgbClr val="FFFFFF"/>
          </a:solidFill>
          <a:ln w="12700">
            <a:solidFill>
              <a:srgbClr val="CBD5E1"/>
            </a:solidFill>
            <a:prstDash val="solid"/>
          </a:ln>
        </p:spPr>
      </p:sp>
      <p:sp>
        <p:nvSpPr>
          <p:cNvPr id="8" name="Text 6"/>
          <p:cNvSpPr/>
          <p:nvPr/>
        </p:nvSpPr>
        <p:spPr>
          <a:xfrm>
            <a:off x="841248" y="1508760"/>
            <a:ext cx="1005840" cy="201168"/>
          </a:xfrm>
          <a:prstGeom prst="rect">
            <a:avLst/>
          </a:prstGeom>
          <a:noFill/>
          <a:ln/>
        </p:spPr>
        <p:txBody>
          <a:bodyPr wrap="square" rtlCol="0" anchor="ctr"/>
          <a:lstStyle/>
          <a:p>
            <a:pPr indent="0" marL="0">
              <a:buNone/>
            </a:pPr>
            <a:r>
              <a:rPr lang="en-US" sz="1000" b="1" dirty="0">
                <a:solidFill>
                  <a:srgbClr val="64748B"/>
                </a:solidFill>
              </a:rPr>
              <a:t>Step 1</a:t>
            </a:r>
            <a:endParaRPr lang="en-US" sz="1000" dirty="0"/>
          </a:p>
        </p:txBody>
      </p:sp>
      <p:sp>
        <p:nvSpPr>
          <p:cNvPr id="9" name="Shape 7"/>
          <p:cNvSpPr/>
          <p:nvPr/>
        </p:nvSpPr>
        <p:spPr>
          <a:xfrm>
            <a:off x="1892808" y="1481328"/>
            <a:ext cx="777240" cy="256032"/>
          </a:xfrm>
          <a:prstGeom prst="roundRect">
            <a:avLst>
              <a:gd name="adj" fmla="val 28571"/>
            </a:avLst>
          </a:prstGeom>
          <a:solidFill>
            <a:srgbClr val="FEF3C7"/>
          </a:solidFill>
          <a:ln w="12700">
            <a:solidFill>
              <a:srgbClr val="FEF3C7"/>
            </a:solidFill>
            <a:prstDash val="solid"/>
          </a:ln>
        </p:spPr>
      </p:sp>
      <p:sp>
        <p:nvSpPr>
          <p:cNvPr id="10" name="Text 8"/>
          <p:cNvSpPr/>
          <p:nvPr/>
        </p:nvSpPr>
        <p:spPr>
          <a:xfrm>
            <a:off x="1929384" y="1531620"/>
            <a:ext cx="704088" cy="91440"/>
          </a:xfrm>
          <a:prstGeom prst="rect">
            <a:avLst/>
          </a:prstGeom>
          <a:noFill/>
          <a:ln/>
        </p:spPr>
        <p:txBody>
          <a:bodyPr wrap="square" rtlCol="0" anchor="ctr">
            <a:normAutofit/>
          </a:bodyPr>
          <a:lstStyle/>
          <a:p>
            <a:pPr algn="ctr" indent="0" marL="0">
              <a:buNone/>
            </a:pPr>
            <a:r>
              <a:rPr lang="en-US" sz="740" b="1" dirty="0">
                <a:solidFill>
                  <a:srgbClr val="B45309"/>
                </a:solidFill>
              </a:rPr>
              <a:t>Medium</a:t>
            </a:r>
            <a:endParaRPr lang="en-US" sz="740" dirty="0"/>
          </a:p>
        </p:txBody>
      </p:sp>
      <p:sp>
        <p:nvSpPr>
          <p:cNvPr id="11" name="Text 9"/>
          <p:cNvSpPr/>
          <p:nvPr/>
        </p:nvSpPr>
        <p:spPr>
          <a:xfrm>
            <a:off x="84124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Team Manager + L&amp;D</a:t>
            </a:r>
            <a:endParaRPr lang="en-US" sz="1100" dirty="0"/>
          </a:p>
        </p:txBody>
      </p:sp>
      <p:sp>
        <p:nvSpPr>
          <p:cNvPr id="12" name="Text 10"/>
          <p:cNvSpPr/>
          <p:nvPr/>
        </p:nvSpPr>
        <p:spPr>
          <a:xfrm>
            <a:off x="84124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Flag course for content review; notify L&amp;D manager</a:t>
            </a:r>
            <a:endParaRPr lang="en-US" sz="1050" dirty="0"/>
          </a:p>
        </p:txBody>
      </p:sp>
      <p:sp>
        <p:nvSpPr>
          <p:cNvPr id="13" name="Text 11"/>
          <p:cNvSpPr/>
          <p:nvPr/>
        </p:nvSpPr>
        <p:spPr>
          <a:xfrm>
            <a:off x="84124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14" name="Text 12"/>
          <p:cNvSpPr/>
          <p:nvPr/>
        </p:nvSpPr>
        <p:spPr>
          <a:xfrm>
            <a:off x="84124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15" name="Shape 13"/>
          <p:cNvSpPr/>
          <p:nvPr/>
        </p:nvSpPr>
        <p:spPr>
          <a:xfrm>
            <a:off x="3447288" y="1234440"/>
            <a:ext cx="2331720" cy="4251960"/>
          </a:xfrm>
          <a:prstGeom prst="roundRect">
            <a:avLst>
              <a:gd name="adj" fmla="val 3137"/>
            </a:avLst>
          </a:prstGeom>
          <a:solidFill>
            <a:srgbClr val="FFFFFF"/>
          </a:solidFill>
          <a:ln w="12700">
            <a:solidFill>
              <a:srgbClr val="CBD5E1"/>
            </a:solidFill>
            <a:prstDash val="solid"/>
          </a:ln>
        </p:spPr>
      </p:sp>
      <p:sp>
        <p:nvSpPr>
          <p:cNvPr id="16" name="Text 14"/>
          <p:cNvSpPr/>
          <p:nvPr/>
        </p:nvSpPr>
        <p:spPr>
          <a:xfrm>
            <a:off x="3630168" y="1508760"/>
            <a:ext cx="1005840" cy="201168"/>
          </a:xfrm>
          <a:prstGeom prst="rect">
            <a:avLst/>
          </a:prstGeom>
          <a:noFill/>
          <a:ln/>
        </p:spPr>
        <p:txBody>
          <a:bodyPr wrap="square" rtlCol="0" anchor="ctr"/>
          <a:lstStyle/>
          <a:p>
            <a:pPr indent="0" marL="0">
              <a:buNone/>
            </a:pPr>
            <a:r>
              <a:rPr lang="en-US" sz="1000" b="1" dirty="0">
                <a:solidFill>
                  <a:srgbClr val="64748B"/>
                </a:solidFill>
              </a:rPr>
              <a:t>Step 2</a:t>
            </a:r>
            <a:endParaRPr lang="en-US" sz="1000" dirty="0"/>
          </a:p>
        </p:txBody>
      </p:sp>
      <p:sp>
        <p:nvSpPr>
          <p:cNvPr id="17" name="Shape 15"/>
          <p:cNvSpPr/>
          <p:nvPr/>
        </p:nvSpPr>
        <p:spPr>
          <a:xfrm>
            <a:off x="4681728" y="1481328"/>
            <a:ext cx="777240" cy="256032"/>
          </a:xfrm>
          <a:prstGeom prst="roundRect">
            <a:avLst>
              <a:gd name="adj" fmla="val 28571"/>
            </a:avLst>
          </a:prstGeom>
          <a:solidFill>
            <a:srgbClr val="FEE2E2"/>
          </a:solidFill>
          <a:ln w="12700">
            <a:solidFill>
              <a:srgbClr val="FEE2E2"/>
            </a:solidFill>
            <a:prstDash val="solid"/>
          </a:ln>
        </p:spPr>
      </p:sp>
      <p:sp>
        <p:nvSpPr>
          <p:cNvPr id="18" name="Text 16"/>
          <p:cNvSpPr/>
          <p:nvPr/>
        </p:nvSpPr>
        <p:spPr>
          <a:xfrm>
            <a:off x="471830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19" name="Text 17"/>
          <p:cNvSpPr/>
          <p:nvPr/>
        </p:nvSpPr>
        <p:spPr>
          <a:xfrm>
            <a:off x="363016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0" name="Text 18"/>
          <p:cNvSpPr/>
          <p:nvPr/>
        </p:nvSpPr>
        <p:spPr>
          <a:xfrm>
            <a:off x="363016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Mark as Incomplete; recommend re-enrollment in next cohort</a:t>
            </a:r>
            <a:endParaRPr lang="en-US" sz="1050" dirty="0"/>
          </a:p>
        </p:txBody>
      </p:sp>
      <p:sp>
        <p:nvSpPr>
          <p:cNvPr id="21" name="Text 19"/>
          <p:cNvSpPr/>
          <p:nvPr/>
        </p:nvSpPr>
        <p:spPr>
          <a:xfrm>
            <a:off x="363016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22" name="Text 20"/>
          <p:cNvSpPr/>
          <p:nvPr/>
        </p:nvSpPr>
        <p:spPr>
          <a:xfrm>
            <a:off x="363016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23" name="Shape 21"/>
          <p:cNvSpPr/>
          <p:nvPr/>
        </p:nvSpPr>
        <p:spPr>
          <a:xfrm>
            <a:off x="6236208" y="1234440"/>
            <a:ext cx="2331720" cy="4251960"/>
          </a:xfrm>
          <a:prstGeom prst="roundRect">
            <a:avLst>
              <a:gd name="adj" fmla="val 3137"/>
            </a:avLst>
          </a:prstGeom>
          <a:solidFill>
            <a:srgbClr val="FFFFFF"/>
          </a:solidFill>
          <a:ln w="12700">
            <a:solidFill>
              <a:srgbClr val="CBD5E1"/>
            </a:solidFill>
            <a:prstDash val="solid"/>
          </a:ln>
        </p:spPr>
      </p:sp>
      <p:sp>
        <p:nvSpPr>
          <p:cNvPr id="24" name="Text 22"/>
          <p:cNvSpPr/>
          <p:nvPr/>
        </p:nvSpPr>
        <p:spPr>
          <a:xfrm>
            <a:off x="6419088" y="1508760"/>
            <a:ext cx="1005840" cy="201168"/>
          </a:xfrm>
          <a:prstGeom prst="rect">
            <a:avLst/>
          </a:prstGeom>
          <a:noFill/>
          <a:ln/>
        </p:spPr>
        <p:txBody>
          <a:bodyPr wrap="square" rtlCol="0" anchor="ctr"/>
          <a:lstStyle/>
          <a:p>
            <a:pPr indent="0" marL="0">
              <a:buNone/>
            </a:pPr>
            <a:r>
              <a:rPr lang="en-US" sz="1000" b="1" dirty="0">
                <a:solidFill>
                  <a:srgbClr val="64748B"/>
                </a:solidFill>
              </a:rPr>
              <a:t>Step 3</a:t>
            </a:r>
            <a:endParaRPr lang="en-US" sz="1000" dirty="0"/>
          </a:p>
        </p:txBody>
      </p:sp>
      <p:sp>
        <p:nvSpPr>
          <p:cNvPr id="25" name="Shape 23"/>
          <p:cNvSpPr/>
          <p:nvPr/>
        </p:nvSpPr>
        <p:spPr>
          <a:xfrm>
            <a:off x="7470648" y="1481328"/>
            <a:ext cx="777240" cy="256032"/>
          </a:xfrm>
          <a:prstGeom prst="roundRect">
            <a:avLst>
              <a:gd name="adj" fmla="val 28571"/>
            </a:avLst>
          </a:prstGeom>
          <a:solidFill>
            <a:srgbClr val="FEE2E2"/>
          </a:solidFill>
          <a:ln w="12700">
            <a:solidFill>
              <a:srgbClr val="FEE2E2"/>
            </a:solidFill>
            <a:prstDash val="solid"/>
          </a:ln>
        </p:spPr>
      </p:sp>
      <p:sp>
        <p:nvSpPr>
          <p:cNvPr id="26" name="Text 24"/>
          <p:cNvSpPr/>
          <p:nvPr/>
        </p:nvSpPr>
        <p:spPr>
          <a:xfrm>
            <a:off x="750722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27" name="Text 25"/>
          <p:cNvSpPr/>
          <p:nvPr/>
        </p:nvSpPr>
        <p:spPr>
          <a:xfrm>
            <a:off x="641908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28" name="Text 26"/>
          <p:cNvSpPr/>
          <p:nvPr/>
        </p:nvSpPr>
        <p:spPr>
          <a:xfrm>
            <a:off x="641908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Block final conclusion; flag data incomplete</a:t>
            </a:r>
            <a:endParaRPr lang="en-US" sz="1050" dirty="0"/>
          </a:p>
        </p:txBody>
      </p:sp>
      <p:sp>
        <p:nvSpPr>
          <p:cNvPr id="29" name="Text 27"/>
          <p:cNvSpPr/>
          <p:nvPr/>
        </p:nvSpPr>
        <p:spPr>
          <a:xfrm>
            <a:off x="641908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0" name="Text 28"/>
          <p:cNvSpPr/>
          <p:nvPr/>
        </p:nvSpPr>
        <p:spPr>
          <a:xfrm>
            <a:off x="641908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
        <p:nvSpPr>
          <p:cNvPr id="31" name="Shape 29"/>
          <p:cNvSpPr/>
          <p:nvPr/>
        </p:nvSpPr>
        <p:spPr>
          <a:xfrm>
            <a:off x="9025128" y="1234440"/>
            <a:ext cx="2331720" cy="4251960"/>
          </a:xfrm>
          <a:prstGeom prst="roundRect">
            <a:avLst>
              <a:gd name="adj" fmla="val 3137"/>
            </a:avLst>
          </a:prstGeom>
          <a:solidFill>
            <a:srgbClr val="FFFFFF"/>
          </a:solidFill>
          <a:ln w="12700">
            <a:solidFill>
              <a:srgbClr val="CBD5E1"/>
            </a:solidFill>
            <a:prstDash val="solid"/>
          </a:ln>
        </p:spPr>
      </p:sp>
      <p:sp>
        <p:nvSpPr>
          <p:cNvPr id="32" name="Text 30"/>
          <p:cNvSpPr/>
          <p:nvPr/>
        </p:nvSpPr>
        <p:spPr>
          <a:xfrm>
            <a:off x="9208008" y="1508760"/>
            <a:ext cx="1005840" cy="201168"/>
          </a:xfrm>
          <a:prstGeom prst="rect">
            <a:avLst/>
          </a:prstGeom>
          <a:noFill/>
          <a:ln/>
        </p:spPr>
        <p:txBody>
          <a:bodyPr wrap="square" rtlCol="0" anchor="ctr"/>
          <a:lstStyle/>
          <a:p>
            <a:pPr indent="0" marL="0">
              <a:buNone/>
            </a:pPr>
            <a:r>
              <a:rPr lang="en-US" sz="1000" b="1" dirty="0">
                <a:solidFill>
                  <a:srgbClr val="64748B"/>
                </a:solidFill>
              </a:rPr>
              <a:t>Step 4</a:t>
            </a:r>
            <a:endParaRPr lang="en-US" sz="1000" dirty="0"/>
          </a:p>
        </p:txBody>
      </p:sp>
      <p:sp>
        <p:nvSpPr>
          <p:cNvPr id="33" name="Shape 31"/>
          <p:cNvSpPr/>
          <p:nvPr/>
        </p:nvSpPr>
        <p:spPr>
          <a:xfrm>
            <a:off x="10259568" y="1481328"/>
            <a:ext cx="777240" cy="256032"/>
          </a:xfrm>
          <a:prstGeom prst="roundRect">
            <a:avLst>
              <a:gd name="adj" fmla="val 28571"/>
            </a:avLst>
          </a:prstGeom>
          <a:solidFill>
            <a:srgbClr val="FEE2E2"/>
          </a:solidFill>
          <a:ln w="12700">
            <a:solidFill>
              <a:srgbClr val="FEE2E2"/>
            </a:solidFill>
            <a:prstDash val="solid"/>
          </a:ln>
        </p:spPr>
      </p:sp>
      <p:sp>
        <p:nvSpPr>
          <p:cNvPr id="34" name="Text 32"/>
          <p:cNvSpPr/>
          <p:nvPr/>
        </p:nvSpPr>
        <p:spPr>
          <a:xfrm>
            <a:off x="10296144" y="1531620"/>
            <a:ext cx="704088" cy="91440"/>
          </a:xfrm>
          <a:prstGeom prst="rect">
            <a:avLst/>
          </a:prstGeom>
          <a:noFill/>
          <a:ln/>
        </p:spPr>
        <p:txBody>
          <a:bodyPr wrap="square" rtlCol="0" anchor="ctr">
            <a:normAutofit/>
          </a:bodyPr>
          <a:lstStyle/>
          <a:p>
            <a:pPr algn="ctr" indent="0" marL="0">
              <a:buNone/>
            </a:pPr>
            <a:r>
              <a:rPr lang="en-US" sz="740" b="1" dirty="0">
                <a:solidFill>
                  <a:srgbClr val="B91C1C"/>
                </a:solidFill>
              </a:rPr>
              <a:t>High</a:t>
            </a:r>
            <a:endParaRPr lang="en-US" sz="740" dirty="0"/>
          </a:p>
        </p:txBody>
      </p:sp>
      <p:sp>
        <p:nvSpPr>
          <p:cNvPr id="35" name="Text 33"/>
          <p:cNvSpPr/>
          <p:nvPr/>
        </p:nvSpPr>
        <p:spPr>
          <a:xfrm>
            <a:off x="9208008" y="1938528"/>
            <a:ext cx="1874520" cy="219456"/>
          </a:xfrm>
          <a:prstGeom prst="rect">
            <a:avLst/>
          </a:prstGeom>
          <a:noFill/>
          <a:ln/>
        </p:spPr>
        <p:txBody>
          <a:bodyPr wrap="square" rtlCol="0" anchor="ctr">
            <a:normAutofit/>
          </a:bodyPr>
          <a:lstStyle/>
          <a:p>
            <a:pPr indent="0" marL="0">
              <a:buNone/>
            </a:pPr>
            <a:r>
              <a:rPr lang="en-US" sz="1100" b="1" dirty="0">
                <a:solidFill>
                  <a:srgbClr val="0F172A"/>
                </a:solidFill>
              </a:rPr>
              <a:t>L&amp;D Manager</a:t>
            </a:r>
            <a:endParaRPr lang="en-US" sz="1100" dirty="0"/>
          </a:p>
        </p:txBody>
      </p:sp>
      <p:sp>
        <p:nvSpPr>
          <p:cNvPr id="36" name="Text 34"/>
          <p:cNvSpPr/>
          <p:nvPr/>
        </p:nvSpPr>
        <p:spPr>
          <a:xfrm>
            <a:off x="9208008" y="2395728"/>
            <a:ext cx="1874520" cy="1005840"/>
          </a:xfrm>
          <a:prstGeom prst="rect">
            <a:avLst/>
          </a:prstGeom>
          <a:noFill/>
          <a:ln/>
        </p:spPr>
        <p:txBody>
          <a:bodyPr wrap="square" rtlCol="0" anchor="t">
            <a:normAutofit/>
          </a:bodyPr>
          <a:lstStyle/>
          <a:p>
            <a:pPr indent="0" marL="0">
              <a:buNone/>
            </a:pPr>
            <a:r>
              <a:rPr lang="en-US" sz="1050" dirty="0">
                <a:solidFill>
                  <a:srgbClr val="0F172A"/>
                </a:solidFill>
              </a:rPr>
              <a:t>Do not publish a final effectiveness conclusion until blocked evidence items are resolved.</a:t>
            </a:r>
            <a:endParaRPr lang="en-US" sz="1050" dirty="0"/>
          </a:p>
        </p:txBody>
      </p:sp>
      <p:sp>
        <p:nvSpPr>
          <p:cNvPr id="37" name="Text 35"/>
          <p:cNvSpPr/>
          <p:nvPr/>
        </p:nvSpPr>
        <p:spPr>
          <a:xfrm>
            <a:off x="9208008" y="3822192"/>
            <a:ext cx="1645920" cy="164592"/>
          </a:xfrm>
          <a:prstGeom prst="rect">
            <a:avLst/>
          </a:prstGeom>
          <a:noFill/>
          <a:ln/>
        </p:spPr>
        <p:txBody>
          <a:bodyPr wrap="square" rtlCol="0" anchor="ctr"/>
          <a:lstStyle/>
          <a:p>
            <a:pPr indent="0" marL="0">
              <a:buNone/>
            </a:pPr>
            <a:r>
              <a:rPr lang="en-US" sz="800" b="1" dirty="0">
                <a:solidFill>
                  <a:srgbClr val="64748B"/>
                </a:solidFill>
              </a:rPr>
              <a:t>Expected outcome</a:t>
            </a:r>
            <a:endParaRPr lang="en-US" sz="800" dirty="0"/>
          </a:p>
        </p:txBody>
      </p:sp>
      <p:sp>
        <p:nvSpPr>
          <p:cNvPr id="38" name="Text 36"/>
          <p:cNvSpPr/>
          <p:nvPr/>
        </p:nvSpPr>
        <p:spPr>
          <a:xfrm>
            <a:off x="9208008" y="4096512"/>
            <a:ext cx="1874520" cy="594360"/>
          </a:xfrm>
          <a:prstGeom prst="rect">
            <a:avLst/>
          </a:prstGeom>
          <a:noFill/>
          <a:ln/>
        </p:spPr>
        <p:txBody>
          <a:bodyPr wrap="square" rtlCol="0" anchor="ctr">
            <a:normAutofit/>
          </a:bodyPr>
          <a:lstStyle/>
          <a:p>
            <a:pPr indent="0" marL="0">
              <a:buNone/>
            </a:pPr>
            <a:r>
              <a:rPr lang="en-US" sz="920" dirty="0">
                <a:solidFill>
                  <a:srgbClr val="64748B"/>
                </a:solidFill>
              </a:rPr>
              <a:t>Improve training effectiveness and repeatability.</a:t>
            </a:r>
            <a:endParaRPr lang="en-US" sz="9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30352" y="320040"/>
            <a:ext cx="6858000" cy="365760"/>
          </a:xfrm>
          <a:prstGeom prst="rect">
            <a:avLst/>
          </a:prstGeom>
          <a:noFill/>
          <a:ln/>
        </p:spPr>
        <p:txBody>
          <a:bodyPr wrap="square" lIns="254" tIns="254" rIns="254" bIns="254" rtlCol="0" anchor="ctr"/>
          <a:lstStyle/>
          <a:p>
            <a:pPr indent="0" marL="0">
              <a:buNone/>
            </a:pPr>
            <a:r>
              <a:rPr lang="en-US" sz="2200" b="1" dirty="0">
                <a:solidFill>
                  <a:srgbClr val="0F172A"/>
                </a:solidFill>
              </a:rPr>
              <a:t>Appendix and methodology</a:t>
            </a:r>
            <a:endParaRPr lang="en-US" sz="2200" dirty="0"/>
          </a:p>
        </p:txBody>
      </p:sp>
      <p:sp>
        <p:nvSpPr>
          <p:cNvPr id="3" name="Text 1"/>
          <p:cNvSpPr/>
          <p:nvPr/>
        </p:nvSpPr>
        <p:spPr>
          <a:xfrm>
            <a:off x="7772400" y="384048"/>
            <a:ext cx="3611880" cy="228600"/>
          </a:xfrm>
          <a:prstGeom prst="rect">
            <a:avLst/>
          </a:prstGeom>
          <a:noFill/>
          <a:ln/>
        </p:spPr>
        <p:txBody>
          <a:bodyPr wrap="square" rtlCol="0" anchor="ctr"/>
          <a:lstStyle/>
          <a:p>
            <a:pPr algn="r" indent="0" marL="0">
              <a:buNone/>
            </a:pPr>
            <a:r>
              <a:rPr lang="en-US" sz="950" dirty="0">
                <a:solidFill>
                  <a:srgbClr val="64748B"/>
                </a:solidFill>
              </a:rPr>
              <a:t>Course Leadership_06_2026 | Type full</a:t>
            </a:r>
            <a:endParaRPr lang="en-US" sz="950" dirty="0"/>
          </a:p>
        </p:txBody>
      </p:sp>
      <p:sp>
        <p:nvSpPr>
          <p:cNvPr id="4" name="Shape 2"/>
          <p:cNvSpPr/>
          <p:nvPr/>
        </p:nvSpPr>
        <p:spPr>
          <a:xfrm>
            <a:off x="548640" y="841248"/>
            <a:ext cx="11109960" cy="0"/>
          </a:xfrm>
          <a:prstGeom prst="line">
            <a:avLst/>
          </a:prstGeom>
          <a:noFill/>
          <a:ln w="12700">
            <a:solidFill>
              <a:srgbClr val="CBD5E1"/>
            </a:solidFill>
            <a:prstDash val="solid"/>
          </a:ln>
        </p:spPr>
      </p:sp>
      <p:sp>
        <p:nvSpPr>
          <p:cNvPr id="5" name="Text 3"/>
          <p:cNvSpPr/>
          <p:nvPr/>
        </p:nvSpPr>
        <p:spPr>
          <a:xfrm>
            <a:off x="566928" y="6473952"/>
            <a:ext cx="6949440" cy="201168"/>
          </a:xfrm>
          <a:prstGeom prst="rect">
            <a:avLst/>
          </a:prstGeom>
          <a:noFill/>
          <a:ln/>
        </p:spPr>
        <p:txBody>
          <a:bodyPr wrap="square" rtlCol="0" anchor="ctr"/>
          <a:lstStyle/>
          <a:p>
            <a:pPr indent="0" marL="0">
              <a:buNone/>
            </a:pPr>
            <a:r>
              <a:rPr lang="en-US" sz="850" dirty="0">
                <a:solidFill>
                  <a:srgbClr val="64748B"/>
                </a:solidFill>
              </a:rPr>
              <a:t>Evidence: Blocked | Draft | L&amp;D Manager</a:t>
            </a:r>
            <a:endParaRPr lang="en-US" sz="850" dirty="0"/>
          </a:p>
        </p:txBody>
      </p:sp>
      <p:sp>
        <p:nvSpPr>
          <p:cNvPr id="6" name="Text 4"/>
          <p:cNvSpPr/>
          <p:nvPr/>
        </p:nvSpPr>
        <p:spPr>
          <a:xfrm>
            <a:off x="9464040" y="6473952"/>
            <a:ext cx="2057400" cy="201168"/>
          </a:xfrm>
          <a:prstGeom prst="rect">
            <a:avLst/>
          </a:prstGeom>
          <a:noFill/>
          <a:ln/>
        </p:spPr>
        <p:txBody>
          <a:bodyPr wrap="square" rtlCol="0" anchor="ctr"/>
          <a:lstStyle/>
          <a:p>
            <a:pPr algn="r" indent="0" marL="0">
              <a:buNone/>
            </a:pPr>
            <a:r>
              <a:rPr lang="en-US" sz="850" dirty="0">
                <a:solidFill>
                  <a:srgbClr val="64748B"/>
                </a:solidFill>
              </a:rPr>
              <a:t>SETA L&amp;D Reporting</a:t>
            </a:r>
            <a:endParaRPr lang="en-US" sz="850" dirty="0"/>
          </a:p>
        </p:txBody>
      </p:sp>
      <p:sp>
        <p:nvSpPr>
          <p:cNvPr id="7" name="Text 5"/>
          <p:cNvSpPr/>
          <p:nvPr/>
        </p:nvSpPr>
        <p:spPr>
          <a:xfrm>
            <a:off x="594360" y="1051560"/>
            <a:ext cx="2926080" cy="274320"/>
          </a:xfrm>
          <a:prstGeom prst="rect">
            <a:avLst/>
          </a:prstGeom>
          <a:noFill/>
          <a:ln/>
        </p:spPr>
        <p:txBody>
          <a:bodyPr wrap="square" rtlCol="0" anchor="ctr"/>
          <a:lstStyle/>
          <a:p>
            <a:pPr indent="0" marL="0">
              <a:buNone/>
            </a:pPr>
            <a:r>
              <a:rPr lang="en-US" sz="1600" b="1" dirty="0">
                <a:solidFill>
                  <a:srgbClr val="0F172A"/>
                </a:solidFill>
              </a:rPr>
              <a:t>Source traceability</a:t>
            </a:r>
            <a:endParaRPr lang="en-US" sz="1600" dirty="0"/>
          </a:p>
        </p:txBody>
      </p:sp>
      <p:sp>
        <p:nvSpPr>
          <p:cNvPr id="8" name="Text 6"/>
          <p:cNvSpPr/>
          <p:nvPr/>
        </p:nvSpPr>
        <p:spPr>
          <a:xfrm>
            <a:off x="731520" y="1481328"/>
            <a:ext cx="5120640" cy="219456"/>
          </a:xfrm>
          <a:prstGeom prst="rect">
            <a:avLst/>
          </a:prstGeom>
          <a:noFill/>
          <a:ln/>
        </p:spPr>
        <p:txBody>
          <a:bodyPr wrap="square" rtlCol="0" anchor="ctr">
            <a:normAutofit/>
          </a:bodyPr>
          <a:lstStyle/>
          <a:p>
            <a:pPr indent="0" marL="0">
              <a:buNone/>
            </a:pPr>
            <a:r>
              <a:rPr lang="en-US" sz="1050" dirty="0">
                <a:solidFill>
                  <a:srgbClr val="0F172A"/>
                </a:solidFill>
              </a:rPr>
              <a:t>Report ID: rpt_f2b1c961-9750-4dc7-a193-7cbc67f6d3cf</a:t>
            </a:r>
            <a:endParaRPr lang="en-US" sz="1050" dirty="0"/>
          </a:p>
        </p:txBody>
      </p:sp>
      <p:sp>
        <p:nvSpPr>
          <p:cNvPr id="9" name="Text 7"/>
          <p:cNvSpPr/>
          <p:nvPr/>
        </p:nvSpPr>
        <p:spPr>
          <a:xfrm>
            <a:off x="731520" y="1792224"/>
            <a:ext cx="5120640" cy="219456"/>
          </a:xfrm>
          <a:prstGeom prst="rect">
            <a:avLst/>
          </a:prstGeom>
          <a:noFill/>
          <a:ln/>
        </p:spPr>
        <p:txBody>
          <a:bodyPr wrap="square" rtlCol="0" anchor="ctr">
            <a:normAutofit/>
          </a:bodyPr>
          <a:lstStyle/>
          <a:p>
            <a:pPr indent="0" marL="0">
              <a:buNone/>
            </a:pPr>
            <a:r>
              <a:rPr lang="en-US" sz="1050" dirty="0">
                <a:solidFill>
                  <a:srgbClr val="0F172A"/>
                </a:solidFill>
              </a:rPr>
              <a:t>Dataset ID: ds_ad7e109f8caa4e0b</a:t>
            </a:r>
            <a:endParaRPr lang="en-US" sz="1050" dirty="0"/>
          </a:p>
        </p:txBody>
      </p:sp>
      <p:sp>
        <p:nvSpPr>
          <p:cNvPr id="10" name="Text 8"/>
          <p:cNvSpPr/>
          <p:nvPr/>
        </p:nvSpPr>
        <p:spPr>
          <a:xfrm>
            <a:off x="731520" y="2103120"/>
            <a:ext cx="5120640" cy="219456"/>
          </a:xfrm>
          <a:prstGeom prst="rect">
            <a:avLst/>
          </a:prstGeom>
          <a:noFill/>
          <a:ln/>
        </p:spPr>
        <p:txBody>
          <a:bodyPr wrap="square" rtlCol="0" anchor="ctr">
            <a:normAutofit/>
          </a:bodyPr>
          <a:lstStyle/>
          <a:p>
            <a:pPr indent="0" marL="0">
              <a:buNone/>
            </a:pPr>
            <a:r>
              <a:rPr lang="en-US" sz="1050" dirty="0">
                <a:solidFill>
                  <a:srgbClr val="0F172A"/>
                </a:solidFill>
              </a:rPr>
              <a:t>Metrics snapshot ID: mx_a56a5d24-d575-422a-ab0b-d2fd272127a3</a:t>
            </a:r>
            <a:endParaRPr lang="en-US" sz="1050" dirty="0"/>
          </a:p>
        </p:txBody>
      </p:sp>
      <p:sp>
        <p:nvSpPr>
          <p:cNvPr id="11" name="Text 9"/>
          <p:cNvSpPr/>
          <p:nvPr/>
        </p:nvSpPr>
        <p:spPr>
          <a:xfrm>
            <a:off x="731520" y="2414016"/>
            <a:ext cx="5120640" cy="219456"/>
          </a:xfrm>
          <a:prstGeom prst="rect">
            <a:avLst/>
          </a:prstGeom>
          <a:noFill/>
          <a:ln/>
        </p:spPr>
        <p:txBody>
          <a:bodyPr wrap="square" rtlCol="0" anchor="ctr">
            <a:normAutofit/>
          </a:bodyPr>
          <a:lstStyle/>
          <a:p>
            <a:pPr indent="0" marL="0">
              <a:buNone/>
            </a:pPr>
            <a:r>
              <a:rPr lang="en-US" sz="1050" dirty="0">
                <a:solidFill>
                  <a:srgbClr val="0F172A"/>
                </a:solidFill>
              </a:rPr>
              <a:t>Evidence decision ID: ev_28d0ec38-b567-471b-bacd-3529693d267b</a:t>
            </a:r>
            <a:endParaRPr lang="en-US" sz="1050" dirty="0"/>
          </a:p>
        </p:txBody>
      </p:sp>
      <p:sp>
        <p:nvSpPr>
          <p:cNvPr id="12" name="Text 10"/>
          <p:cNvSpPr/>
          <p:nvPr/>
        </p:nvSpPr>
        <p:spPr>
          <a:xfrm>
            <a:off x="731520" y="2724912"/>
            <a:ext cx="5120640" cy="219456"/>
          </a:xfrm>
          <a:prstGeom prst="rect">
            <a:avLst/>
          </a:prstGeom>
          <a:noFill/>
          <a:ln/>
        </p:spPr>
        <p:txBody>
          <a:bodyPr wrap="square" rtlCol="0" anchor="ctr">
            <a:normAutofit/>
          </a:bodyPr>
          <a:lstStyle/>
          <a:p>
            <a:pPr indent="0" marL="0">
              <a:buNone/>
            </a:pPr>
            <a:r>
              <a:rPr lang="en-US" sz="1050" dirty="0">
                <a:solidFill>
                  <a:srgbClr val="0F172A"/>
                </a:solidFill>
              </a:rPr>
              <a:t>Governance view ID: gv_a341e4ad-374f-4921-af93-8359e4bbcf8b</a:t>
            </a:r>
            <a:endParaRPr lang="en-US" sz="1050" dirty="0"/>
          </a:p>
        </p:txBody>
      </p:sp>
      <p:sp>
        <p:nvSpPr>
          <p:cNvPr id="13" name="Text 11"/>
          <p:cNvSpPr/>
          <p:nvPr/>
        </p:nvSpPr>
        <p:spPr>
          <a:xfrm>
            <a:off x="731520" y="3035808"/>
            <a:ext cx="5120640" cy="219456"/>
          </a:xfrm>
          <a:prstGeom prst="rect">
            <a:avLst/>
          </a:prstGeom>
          <a:noFill/>
          <a:ln/>
        </p:spPr>
        <p:txBody>
          <a:bodyPr wrap="square" rtlCol="0" anchor="ctr">
            <a:normAutofit/>
          </a:bodyPr>
          <a:lstStyle/>
          <a:p>
            <a:pPr indent="0" marL="0">
              <a:buNone/>
            </a:pPr>
            <a:r>
              <a:rPr lang="en-US" sz="1050" dirty="0">
                <a:solidFill>
                  <a:srgbClr val="0F172A"/>
                </a:solidFill>
              </a:rPr>
              <a:t>Role view: L&amp;D Manager</a:t>
            </a:r>
            <a:endParaRPr lang="en-US" sz="1050" dirty="0"/>
          </a:p>
        </p:txBody>
      </p:sp>
      <p:sp>
        <p:nvSpPr>
          <p:cNvPr id="14" name="Text 12"/>
          <p:cNvSpPr/>
          <p:nvPr/>
        </p:nvSpPr>
        <p:spPr>
          <a:xfrm>
            <a:off x="731520" y="3346704"/>
            <a:ext cx="5120640" cy="219456"/>
          </a:xfrm>
          <a:prstGeom prst="rect">
            <a:avLst/>
          </a:prstGeom>
          <a:noFill/>
          <a:ln/>
        </p:spPr>
        <p:txBody>
          <a:bodyPr wrap="square" rtlCol="0" anchor="ctr">
            <a:normAutofit/>
          </a:bodyPr>
          <a:lstStyle/>
          <a:p>
            <a:pPr indent="0" marL="0">
              <a:buNone/>
            </a:pPr>
            <a:r>
              <a:rPr lang="en-US" sz="1050" dirty="0">
                <a:solidFill>
                  <a:srgbClr val="0F172A"/>
                </a:solidFill>
              </a:rPr>
              <a:t>Sensitive details: visible</a:t>
            </a:r>
            <a:endParaRPr lang="en-US" sz="1050" dirty="0"/>
          </a:p>
        </p:txBody>
      </p:sp>
      <p:sp>
        <p:nvSpPr>
          <p:cNvPr id="15" name="Text 13"/>
          <p:cNvSpPr/>
          <p:nvPr/>
        </p:nvSpPr>
        <p:spPr>
          <a:xfrm>
            <a:off x="6492240" y="1051560"/>
            <a:ext cx="2926080" cy="274320"/>
          </a:xfrm>
          <a:prstGeom prst="rect">
            <a:avLst/>
          </a:prstGeom>
          <a:noFill/>
          <a:ln/>
        </p:spPr>
        <p:txBody>
          <a:bodyPr wrap="square" rtlCol="0" anchor="ctr"/>
          <a:lstStyle/>
          <a:p>
            <a:pPr indent="0" marL="0">
              <a:buNone/>
            </a:pPr>
            <a:r>
              <a:rPr lang="en-US" sz="1600" b="1" dirty="0">
                <a:solidFill>
                  <a:srgbClr val="0F172A"/>
                </a:solidFill>
              </a:rPr>
              <a:t>LLM disclosure</a:t>
            </a:r>
            <a:endParaRPr lang="en-US" sz="1600" dirty="0"/>
          </a:p>
        </p:txBody>
      </p:sp>
      <p:sp>
        <p:nvSpPr>
          <p:cNvPr id="16" name="Shape 14"/>
          <p:cNvSpPr/>
          <p:nvPr/>
        </p:nvSpPr>
        <p:spPr>
          <a:xfrm>
            <a:off x="6492240" y="1463040"/>
            <a:ext cx="4983480" cy="1371600"/>
          </a:xfrm>
          <a:prstGeom prst="roundRect">
            <a:avLst>
              <a:gd name="adj" fmla="val 5333"/>
            </a:avLst>
          </a:prstGeom>
          <a:solidFill>
            <a:srgbClr val="F8FAFC"/>
          </a:solidFill>
          <a:ln w="12700">
            <a:solidFill>
              <a:srgbClr val="CBD5E1"/>
            </a:solidFill>
            <a:prstDash val="solid"/>
          </a:ln>
        </p:spPr>
      </p:sp>
      <p:sp>
        <p:nvSpPr>
          <p:cNvPr id="17" name="Text 15"/>
          <p:cNvSpPr/>
          <p:nvPr/>
        </p:nvSpPr>
        <p:spPr>
          <a:xfrm>
            <a:off x="6720840" y="1700784"/>
            <a:ext cx="4480560" cy="777240"/>
          </a:xfrm>
          <a:prstGeom prst="rect">
            <a:avLst/>
          </a:prstGeom>
          <a:noFill/>
          <a:ln/>
        </p:spPr>
        <p:txBody>
          <a:bodyPr wrap="square" rtlCol="0" anchor="ctr">
            <a:normAutofit/>
          </a:bodyPr>
          <a:lstStyle/>
          <a:p>
            <a:pPr indent="0" marL="0">
              <a:buNone/>
            </a:pPr>
            <a:r>
              <a:rPr lang="en-US" sz="1150" dirty="0">
                <a:solidFill>
                  <a:srgbClr val="0F172A"/>
                </a:solidFill>
              </a:rPr>
              <a:t>OpenAI gpt-4o-mini enriched narrative fields. Numeric metrics remain deterministic.</a:t>
            </a:r>
            <a:endParaRPr lang="en-US" sz="1150" dirty="0"/>
          </a:p>
        </p:txBody>
      </p:sp>
      <p:sp>
        <p:nvSpPr>
          <p:cNvPr id="18" name="Text 16"/>
          <p:cNvSpPr/>
          <p:nvPr/>
        </p:nvSpPr>
        <p:spPr>
          <a:xfrm>
            <a:off x="6492240" y="3246120"/>
            <a:ext cx="2926080" cy="274320"/>
          </a:xfrm>
          <a:prstGeom prst="rect">
            <a:avLst/>
          </a:prstGeom>
          <a:noFill/>
          <a:ln/>
        </p:spPr>
        <p:txBody>
          <a:bodyPr wrap="square" rtlCol="0" anchor="ctr"/>
          <a:lstStyle/>
          <a:p>
            <a:pPr indent="0" marL="0">
              <a:buNone/>
            </a:pPr>
            <a:r>
              <a:rPr lang="en-US" sz="1600" b="1" dirty="0">
                <a:solidFill>
                  <a:srgbClr val="0F172A"/>
                </a:solidFill>
              </a:rPr>
              <a:t>Business rule</a:t>
            </a:r>
            <a:endParaRPr lang="en-US" sz="1600" dirty="0"/>
          </a:p>
        </p:txBody>
      </p:sp>
      <p:sp>
        <p:nvSpPr>
          <p:cNvPr id="19" name="Text 17"/>
          <p:cNvSpPr/>
          <p:nvPr/>
        </p:nvSpPr>
        <p:spPr>
          <a:xfrm>
            <a:off x="6492240" y="3675888"/>
            <a:ext cx="4892040" cy="685800"/>
          </a:xfrm>
          <a:prstGeom prst="rect">
            <a:avLst/>
          </a:prstGeom>
          <a:noFill/>
          <a:ln/>
        </p:spPr>
        <p:txBody>
          <a:bodyPr wrap="square" rtlCol="0" anchor="ctr">
            <a:normAutofit/>
          </a:bodyPr>
          <a:lstStyle/>
          <a:p>
            <a:pPr indent="0" marL="0">
              <a:buNone/>
            </a:pPr>
            <a:r>
              <a:rPr lang="en-US" sz="1200" dirty="0">
                <a:solidFill>
                  <a:srgbClr val="0F172A"/>
                </a:solidFill>
              </a:rPr>
              <a:t>Completion rate is calculated from learner attendance &gt;= 70%. Pass rate is calculated independently from assessment pass status.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SETA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L&amp;D Training Effectiveness Report - Technical Leadership &amp; Communication</dc:title>
  <dc:subject>Evidence gaps block a final effectiveness conclusion.</dc:subject>
  <dc:creator>SETA L&amp;D Reporting Agent</dc:creator>
  <cp:lastModifiedBy>SETA L&amp;D Reporting Agent</cp:lastModifiedBy>
  <cp:revision>1</cp:revision>
  <dcterms:created xsi:type="dcterms:W3CDTF">2026-06-21T10:17:31Z</dcterms:created>
  <dcterms:modified xsi:type="dcterms:W3CDTF">2026-06-21T10:17:31Z</dcterms:modified>
</cp:coreProperties>
</file>