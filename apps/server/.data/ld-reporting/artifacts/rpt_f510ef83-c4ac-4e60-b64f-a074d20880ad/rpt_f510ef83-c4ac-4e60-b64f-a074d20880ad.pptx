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Governance flags by priority</c:v>
                </c:pt>
              </c:strCache>
            </c:strRef>
          </c:tx>
          <c:spPr>
            <a:solidFill>
              <a:schemeClr val="accent1"/>
            </a:solidFill>
            <a:ln w="9525" cap="flat">
              <a:solidFill>
                <a:srgbClr val="F9F9F9"/>
              </a:solidFill>
              <a:prstDash val="solid"/>
              <a:round/>
            </a:ln>
            <a:effectLst/>
          </c:spPr>
          <c:dPt>
            <c:idx val="0"/>
            <c:bubble3D val="0"/>
            <c:spPr>
              <a:solidFill>
                <a:srgbClr val="B91C1C"/>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Sheet1!$A$2:$A$2</c:f>
              <c:strCache>
                <c:ptCount val="1"/>
                <c:pt idx="0">
                  <c:v>High</c:v>
                </c:pt>
              </c:strCache>
            </c:strRef>
          </c:cat>
          <c:val>
            <c:numRef>
              <c:f>Sheet1!$B$2:$B$2</c:f>
              <c:numCache>
                <c:ptCount val="1"/>
                <c:pt idx="0">
                  <c:v>2</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executive summary
The selected scope contains 1 course(s), 1 completed course(s), and 12 trainee-course records. Overall attendance is 93.3%, completion is 100%, pass rate is 83.3%, and average score is 7.32/10. Total training hours are 224 and scaled cost is 11. Overall effectiveness classification is Risk. Management interpretation: The training course 'AWS Cloud Architecture &amp; Services' has been completed with a total of 12 trainees. The overall attendance rate is high at 93.3%, and the completion rate is perfect at 100%. However, the pass rate of 83.3% indicates that a portion of trainees did not meet the required performance threshold, contributing to an overall effectiveness classification of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performance profile
AWS Cloud Architecture &amp; Services
Learners: 12
Attendance: 93.3%
Completion: 100%
Pass rate: 83.3%
Average score: 7.32/10
Effectiveness: 85.76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delivery sequence
1. Flag for coaching; assign buddy or practice resources
Owner: L&amp;D Manager
Outcome: Improve learner recovery and reduce support-needed cases.
2. Assign a coaching owner, buddy support, and targeted practice resources for the flagged learner.
Owner: L&amp;D Manager
Outcome: Improve learner recovery and reduce support-needed cases.
3. Additionally, consider reviewing course content and delivery methods to address the gaps that may be affecting the pass rate, ensuring that all trainees can achieve the desired learning outcomes.
Owner: L&amp;D Manager
Outcome: Improve training effectiveness and repeatability.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AWS Cloud Architecture &amp; Services</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is strong with validated evidence.</a:t>
            </a:r>
            <a:endParaRPr lang="en-US" sz="1800" dirty="0"/>
          </a:p>
        </p:txBody>
      </p:sp>
      <p:sp>
        <p:nvSpPr>
          <p:cNvPr id="7" name="Text 5"/>
          <p:cNvSpPr/>
          <p:nvPr/>
        </p:nvSpPr>
        <p:spPr>
          <a:xfrm>
            <a:off x="8732520" y="960120"/>
            <a:ext cx="2560320" cy="201168"/>
          </a:xfrm>
          <a:prstGeom prst="rect">
            <a:avLst/>
          </a:prstGeom>
          <a:noFill/>
          <a:ln/>
        </p:spPr>
        <p:txBody>
          <a:bodyPr wrap="square" lIns="0" tIns="0" rIns="0" bIns="0" rtlCol="0" anchor="ctr"/>
          <a:lstStyle/>
          <a:p>
            <a:pPr algn="ctr" indent="0" marL="0">
              <a:buNone/>
            </a:pPr>
            <a:r>
              <a:rPr lang="en-US" sz="900" b="1" dirty="0">
                <a:solidFill>
                  <a:srgbClr val="93C5FD"/>
                </a:solidFill>
              </a:rPr>
              <a:t>VALIDATED PERFORMANCE</a:t>
            </a:r>
            <a:endParaRPr lang="en-US" sz="900" dirty="0"/>
          </a:p>
        </p:txBody>
      </p:sp>
      <p:sp>
        <p:nvSpPr>
          <p:cNvPr id="8" name="Shape 6"/>
          <p:cNvSpPr/>
          <p:nvPr/>
        </p:nvSpPr>
        <p:spPr>
          <a:xfrm>
            <a:off x="8887968" y="1325880"/>
            <a:ext cx="2240280" cy="2240280"/>
          </a:xfrm>
          <a:prstGeom prst="ellipse">
            <a:avLst/>
          </a:prstGeom>
          <a:solidFill>
            <a:srgbClr val="B91C1C">
              <a:alpha val="95000"/>
            </a:srgbClr>
          </a:solidFill>
          <a:ln w="12700">
            <a:solidFill>
              <a:srgbClr val="60A5FA">
                <a:alpha val="80000"/>
              </a:srgbClr>
            </a:solidFill>
            <a:prstDash val="solid"/>
          </a:ln>
        </p:spPr>
      </p:sp>
      <p:sp>
        <p:nvSpPr>
          <p:cNvPr id="9" name="Shape 7"/>
          <p:cNvSpPr/>
          <p:nvPr/>
        </p:nvSpPr>
        <p:spPr>
          <a:xfrm>
            <a:off x="9281160" y="1719072"/>
            <a:ext cx="1453896" cy="1453896"/>
          </a:xfrm>
          <a:prstGeom prst="ellipse">
            <a:avLst/>
          </a:prstGeom>
          <a:solidFill>
            <a:srgbClr val="0B1220"/>
          </a:solidFill>
          <a:ln w="12700">
            <a:solidFill>
              <a:srgbClr val="0B1220">
                <a:alpha val="0"/>
              </a:srgbClr>
            </a:solidFill>
            <a:prstDash val="solid"/>
          </a:ln>
        </p:spPr>
      </p:sp>
      <p:sp>
        <p:nvSpPr>
          <p:cNvPr id="10" name="Text 8"/>
          <p:cNvSpPr/>
          <p:nvPr/>
        </p:nvSpPr>
        <p:spPr>
          <a:xfrm>
            <a:off x="9363456" y="2148840"/>
            <a:ext cx="1298448" cy="34747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rPr>
              <a:t>85.8/100</a:t>
            </a:r>
            <a:endParaRPr lang="en-US" sz="2200" dirty="0"/>
          </a:p>
        </p:txBody>
      </p:sp>
      <p:sp>
        <p:nvSpPr>
          <p:cNvPr id="11" name="Text 9"/>
          <p:cNvSpPr/>
          <p:nvPr/>
        </p:nvSpPr>
        <p:spPr>
          <a:xfrm>
            <a:off x="8851392" y="3749040"/>
            <a:ext cx="233172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Risk</a:t>
            </a:r>
            <a:endParaRPr lang="en-US" sz="1100" dirty="0"/>
          </a:p>
        </p:txBody>
      </p:sp>
      <p:sp>
        <p:nvSpPr>
          <p:cNvPr id="12" name="Text 10"/>
          <p:cNvSpPr/>
          <p:nvPr/>
        </p:nvSpPr>
        <p:spPr>
          <a:xfrm>
            <a:off x="8668512" y="4315968"/>
            <a:ext cx="868680" cy="146304"/>
          </a:xfrm>
          <a:prstGeom prst="rect">
            <a:avLst/>
          </a:prstGeom>
          <a:noFill/>
          <a:ln/>
        </p:spPr>
        <p:txBody>
          <a:bodyPr wrap="square" lIns="0" tIns="0" rIns="0" bIns="0" rtlCol="0" anchor="ctr"/>
          <a:lstStyle/>
          <a:p>
            <a:pPr indent="0" marL="0">
              <a:buNone/>
            </a:pPr>
            <a:r>
              <a:rPr lang="en-US" sz="750" dirty="0">
                <a:solidFill>
                  <a:srgbClr val="CBD5E1"/>
                </a:solidFill>
              </a:rPr>
              <a:t>Attendance</a:t>
            </a:r>
            <a:endParaRPr lang="en-US" sz="750" dirty="0"/>
          </a:p>
        </p:txBody>
      </p:sp>
      <p:sp>
        <p:nvSpPr>
          <p:cNvPr id="13" name="Shape 11"/>
          <p:cNvSpPr/>
          <p:nvPr/>
        </p:nvSpPr>
        <p:spPr>
          <a:xfrm>
            <a:off x="9555480" y="4334256"/>
            <a:ext cx="1097280" cy="91440"/>
          </a:xfrm>
          <a:prstGeom prst="rect">
            <a:avLst/>
          </a:prstGeom>
          <a:solidFill>
            <a:srgbClr val="334155"/>
          </a:solidFill>
          <a:ln w="12700">
            <a:solidFill>
              <a:srgbClr val="334155">
                <a:alpha val="0"/>
              </a:srgbClr>
            </a:solidFill>
            <a:prstDash val="solid"/>
          </a:ln>
        </p:spPr>
      </p:sp>
      <p:sp>
        <p:nvSpPr>
          <p:cNvPr id="14" name="Shape 12"/>
          <p:cNvSpPr/>
          <p:nvPr/>
        </p:nvSpPr>
        <p:spPr>
          <a:xfrm>
            <a:off x="9555480" y="4334256"/>
            <a:ext cx="1023762" cy="91440"/>
          </a:xfrm>
          <a:prstGeom prst="rect">
            <a:avLst/>
          </a:prstGeom>
          <a:solidFill>
            <a:srgbClr val="047857"/>
          </a:solidFill>
          <a:ln w="12700">
            <a:solidFill>
              <a:srgbClr val="047857">
                <a:alpha val="0"/>
              </a:srgbClr>
            </a:solidFill>
            <a:prstDash val="solid"/>
          </a:ln>
        </p:spPr>
      </p:sp>
      <p:sp>
        <p:nvSpPr>
          <p:cNvPr id="15" name="Text 13"/>
          <p:cNvSpPr/>
          <p:nvPr/>
        </p:nvSpPr>
        <p:spPr>
          <a:xfrm>
            <a:off x="10716768" y="43068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93.3%</a:t>
            </a:r>
            <a:endParaRPr lang="en-US" sz="750" dirty="0"/>
          </a:p>
        </p:txBody>
      </p:sp>
      <p:sp>
        <p:nvSpPr>
          <p:cNvPr id="16" name="Text 14"/>
          <p:cNvSpPr/>
          <p:nvPr/>
        </p:nvSpPr>
        <p:spPr>
          <a:xfrm>
            <a:off x="8668512" y="4773168"/>
            <a:ext cx="868680" cy="146304"/>
          </a:xfrm>
          <a:prstGeom prst="rect">
            <a:avLst/>
          </a:prstGeom>
          <a:noFill/>
          <a:ln/>
        </p:spPr>
        <p:txBody>
          <a:bodyPr wrap="square" lIns="0" tIns="0" rIns="0" bIns="0" rtlCol="0" anchor="ctr"/>
          <a:lstStyle/>
          <a:p>
            <a:pPr indent="0" marL="0">
              <a:buNone/>
            </a:pPr>
            <a:r>
              <a:rPr lang="en-US" sz="750" dirty="0">
                <a:solidFill>
                  <a:srgbClr val="CBD5E1"/>
                </a:solidFill>
              </a:rPr>
              <a:t>Completion</a:t>
            </a:r>
            <a:endParaRPr lang="en-US" sz="750" dirty="0"/>
          </a:p>
        </p:txBody>
      </p:sp>
      <p:sp>
        <p:nvSpPr>
          <p:cNvPr id="17" name="Shape 15"/>
          <p:cNvSpPr/>
          <p:nvPr/>
        </p:nvSpPr>
        <p:spPr>
          <a:xfrm>
            <a:off x="9555480" y="4791456"/>
            <a:ext cx="1097280" cy="91440"/>
          </a:xfrm>
          <a:prstGeom prst="rect">
            <a:avLst/>
          </a:prstGeom>
          <a:solidFill>
            <a:srgbClr val="334155"/>
          </a:solidFill>
          <a:ln w="12700">
            <a:solidFill>
              <a:srgbClr val="334155">
                <a:alpha val="0"/>
              </a:srgbClr>
            </a:solidFill>
            <a:prstDash val="solid"/>
          </a:ln>
        </p:spPr>
      </p:sp>
      <p:sp>
        <p:nvSpPr>
          <p:cNvPr id="18" name="Shape 16"/>
          <p:cNvSpPr/>
          <p:nvPr/>
        </p:nvSpPr>
        <p:spPr>
          <a:xfrm>
            <a:off x="9555480" y="4791456"/>
            <a:ext cx="1097280" cy="91440"/>
          </a:xfrm>
          <a:prstGeom prst="rect">
            <a:avLst/>
          </a:prstGeom>
          <a:solidFill>
            <a:srgbClr val="047857"/>
          </a:solidFill>
          <a:ln w="12700">
            <a:solidFill>
              <a:srgbClr val="047857">
                <a:alpha val="0"/>
              </a:srgbClr>
            </a:solidFill>
            <a:prstDash val="solid"/>
          </a:ln>
        </p:spPr>
      </p:sp>
      <p:sp>
        <p:nvSpPr>
          <p:cNvPr id="19" name="Text 17"/>
          <p:cNvSpPr/>
          <p:nvPr/>
        </p:nvSpPr>
        <p:spPr>
          <a:xfrm>
            <a:off x="10716768" y="47640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0" name="Text 18"/>
          <p:cNvSpPr/>
          <p:nvPr/>
        </p:nvSpPr>
        <p:spPr>
          <a:xfrm>
            <a:off x="8668512" y="5230368"/>
            <a:ext cx="868680" cy="146304"/>
          </a:xfrm>
          <a:prstGeom prst="rect">
            <a:avLst/>
          </a:prstGeom>
          <a:noFill/>
          <a:ln/>
        </p:spPr>
        <p:txBody>
          <a:bodyPr wrap="square" lIns="0" tIns="0" rIns="0" bIns="0" rtlCol="0" anchor="ctr"/>
          <a:lstStyle/>
          <a:p>
            <a:pPr indent="0" marL="0">
              <a:buNone/>
            </a:pPr>
            <a:r>
              <a:rPr lang="en-US" sz="750" dirty="0">
                <a:solidFill>
                  <a:srgbClr val="CBD5E1"/>
                </a:solidFill>
              </a:rPr>
              <a:t>Pass rate</a:t>
            </a:r>
            <a:endParaRPr lang="en-US" sz="750" dirty="0"/>
          </a:p>
        </p:txBody>
      </p:sp>
      <p:sp>
        <p:nvSpPr>
          <p:cNvPr id="21" name="Shape 19"/>
          <p:cNvSpPr/>
          <p:nvPr/>
        </p:nvSpPr>
        <p:spPr>
          <a:xfrm>
            <a:off x="9555480" y="5248656"/>
            <a:ext cx="1097280" cy="91440"/>
          </a:xfrm>
          <a:prstGeom prst="rect">
            <a:avLst/>
          </a:prstGeom>
          <a:solidFill>
            <a:srgbClr val="334155"/>
          </a:solidFill>
          <a:ln w="12700">
            <a:solidFill>
              <a:srgbClr val="334155">
                <a:alpha val="0"/>
              </a:srgbClr>
            </a:solidFill>
            <a:prstDash val="solid"/>
          </a:ln>
        </p:spPr>
      </p:sp>
      <p:sp>
        <p:nvSpPr>
          <p:cNvPr id="22" name="Shape 20"/>
          <p:cNvSpPr/>
          <p:nvPr/>
        </p:nvSpPr>
        <p:spPr>
          <a:xfrm>
            <a:off x="9555480" y="5248656"/>
            <a:ext cx="914034" cy="91440"/>
          </a:xfrm>
          <a:prstGeom prst="rect">
            <a:avLst/>
          </a:prstGeom>
          <a:solidFill>
            <a:srgbClr val="047857"/>
          </a:solidFill>
          <a:ln w="12700">
            <a:solidFill>
              <a:srgbClr val="047857">
                <a:alpha val="0"/>
              </a:srgbClr>
            </a:solidFill>
            <a:prstDash val="solid"/>
          </a:ln>
        </p:spPr>
      </p:sp>
      <p:sp>
        <p:nvSpPr>
          <p:cNvPr id="23" name="Text 21"/>
          <p:cNvSpPr/>
          <p:nvPr/>
        </p:nvSpPr>
        <p:spPr>
          <a:xfrm>
            <a:off x="10716768" y="52212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83.3%</a:t>
            </a:r>
            <a:endParaRPr lang="en-US" sz="750" dirty="0"/>
          </a:p>
        </p:txBody>
      </p:sp>
      <p:sp>
        <p:nvSpPr>
          <p:cNvPr id="24" name="Shape 22"/>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94944"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Passed</a:t>
            </a:r>
            <a:endParaRPr lang="en-US" sz="740" dirty="0"/>
          </a:p>
        </p:txBody>
      </p:sp>
      <p:sp>
        <p:nvSpPr>
          <p:cNvPr id="26" name="Shape 24"/>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27" name="Text 25"/>
          <p:cNvSpPr/>
          <p:nvPr/>
        </p:nvSpPr>
        <p:spPr>
          <a:xfrm>
            <a:off x="209397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Draft</a:t>
            </a:r>
            <a:endParaRPr lang="en-US" sz="740" dirty="0"/>
          </a:p>
        </p:txBody>
      </p:sp>
      <p:sp>
        <p:nvSpPr>
          <p:cNvPr id="28" name="Shape 26"/>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29" name="Text 27"/>
          <p:cNvSpPr/>
          <p:nvPr/>
        </p:nvSpPr>
        <p:spPr>
          <a:xfrm>
            <a:off x="332841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L&amp;D Manager</a:t>
            </a:r>
            <a:endParaRPr lang="en-US" sz="740" dirty="0"/>
          </a:p>
        </p:txBody>
      </p:sp>
      <p:sp>
        <p:nvSpPr>
          <p:cNvPr id="30" name="Text 28"/>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Course CloudAWS_03_2026 | Type full</a:t>
            </a:r>
            <a:endParaRPr lang="en-US" sz="1200" dirty="0"/>
          </a:p>
        </p:txBody>
      </p:sp>
      <p:sp>
        <p:nvSpPr>
          <p:cNvPr id="31" name="Text 29"/>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6/22/2026, 3:21:14 PM</a:t>
            </a:r>
            <a:endParaRPr lang="en-US" sz="1100" dirty="0"/>
          </a:p>
        </p:txBody>
      </p:sp>
      <p:sp>
        <p:nvSpPr>
          <p:cNvPr id="32" name="Text 30"/>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594360" y="1051560"/>
            <a:ext cx="6766560" cy="566928"/>
          </a:xfrm>
          <a:prstGeom prst="rect">
            <a:avLst/>
          </a:prstGeom>
          <a:noFill/>
          <a:ln/>
        </p:spPr>
        <p:txBody>
          <a:bodyPr wrap="square" rtlCol="0" anchor="ctr">
            <a:normAutofit/>
          </a:bodyPr>
          <a:lstStyle/>
          <a:p>
            <a:pPr indent="0" marL="0">
              <a:buNone/>
            </a:pPr>
            <a:r>
              <a:rPr lang="en-US" sz="2100" b="1" dirty="0">
                <a:solidFill>
                  <a:srgbClr val="0F172A"/>
                </a:solidFill>
              </a:rPr>
              <a:t>Training effectiveness is strong with validated evidence.</a:t>
            </a:r>
            <a:endParaRPr lang="en-US" sz="2100" dirty="0"/>
          </a:p>
        </p:txBody>
      </p:sp>
      <p:sp>
        <p:nvSpPr>
          <p:cNvPr id="9" name="Shape 6"/>
          <p:cNvSpPr/>
          <p:nvPr/>
        </p:nvSpPr>
        <p:spPr>
          <a:xfrm>
            <a:off x="621792" y="1828800"/>
            <a:ext cx="310896" cy="310896"/>
          </a:xfrm>
          <a:prstGeom prst="ellipse">
            <a:avLst/>
          </a:prstGeom>
          <a:solidFill>
            <a:srgbClr val="DBEAFE"/>
          </a:solidFill>
          <a:ln w="12700">
            <a:solidFill>
              <a:srgbClr val="93C5FD"/>
            </a:solidFill>
            <a:prstDash val="solid"/>
          </a:ln>
        </p:spPr>
      </p:sp>
      <p:sp>
        <p:nvSpPr>
          <p:cNvPr id="10" name="Text 7"/>
          <p:cNvSpPr/>
          <p:nvPr/>
        </p:nvSpPr>
        <p:spPr>
          <a:xfrm>
            <a:off x="621792" y="1828800"/>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1</a:t>
            </a:r>
            <a:endParaRPr lang="en-US" sz="850" dirty="0"/>
          </a:p>
        </p:txBody>
      </p:sp>
      <p:sp>
        <p:nvSpPr>
          <p:cNvPr id="11" name="Text 8"/>
          <p:cNvSpPr/>
          <p:nvPr/>
        </p:nvSpPr>
        <p:spPr>
          <a:xfrm>
            <a:off x="1097280" y="1783080"/>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The selected scope contains 1 course(s), 1 completed course(s), and 12 trainee-course records.</a:t>
            </a:r>
            <a:endParaRPr lang="en-US" sz="1120" dirty="0"/>
          </a:p>
        </p:txBody>
      </p:sp>
      <p:sp>
        <p:nvSpPr>
          <p:cNvPr id="12" name="Shape 9"/>
          <p:cNvSpPr/>
          <p:nvPr/>
        </p:nvSpPr>
        <p:spPr>
          <a:xfrm>
            <a:off x="621792" y="2487168"/>
            <a:ext cx="310896" cy="310896"/>
          </a:xfrm>
          <a:prstGeom prst="ellipse">
            <a:avLst/>
          </a:prstGeom>
          <a:solidFill>
            <a:srgbClr val="DBEAFE"/>
          </a:solidFill>
          <a:ln w="12700">
            <a:solidFill>
              <a:srgbClr val="93C5FD"/>
            </a:solidFill>
            <a:prstDash val="solid"/>
          </a:ln>
        </p:spPr>
      </p:sp>
      <p:sp>
        <p:nvSpPr>
          <p:cNvPr id="13" name="Text 10"/>
          <p:cNvSpPr/>
          <p:nvPr/>
        </p:nvSpPr>
        <p:spPr>
          <a:xfrm>
            <a:off x="621792" y="2487168"/>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2</a:t>
            </a:r>
            <a:endParaRPr lang="en-US" sz="850" dirty="0"/>
          </a:p>
        </p:txBody>
      </p:sp>
      <p:sp>
        <p:nvSpPr>
          <p:cNvPr id="14" name="Text 11"/>
          <p:cNvSpPr/>
          <p:nvPr/>
        </p:nvSpPr>
        <p:spPr>
          <a:xfrm>
            <a:off x="1097280" y="2441448"/>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Overall attendance is 93.3%, completion is 100%, pass rate is 83.3%, and average score is 7.32/10.</a:t>
            </a:r>
            <a:endParaRPr lang="en-US" sz="1120" dirty="0"/>
          </a:p>
        </p:txBody>
      </p:sp>
      <p:sp>
        <p:nvSpPr>
          <p:cNvPr id="15" name="Shape 12"/>
          <p:cNvSpPr/>
          <p:nvPr/>
        </p:nvSpPr>
        <p:spPr>
          <a:xfrm>
            <a:off x="621792" y="3145536"/>
            <a:ext cx="310896" cy="310896"/>
          </a:xfrm>
          <a:prstGeom prst="ellipse">
            <a:avLst/>
          </a:prstGeom>
          <a:solidFill>
            <a:srgbClr val="DBEAFE"/>
          </a:solidFill>
          <a:ln w="12700">
            <a:solidFill>
              <a:srgbClr val="93C5FD"/>
            </a:solidFill>
            <a:prstDash val="solid"/>
          </a:ln>
        </p:spPr>
      </p:sp>
      <p:sp>
        <p:nvSpPr>
          <p:cNvPr id="16" name="Text 13"/>
          <p:cNvSpPr/>
          <p:nvPr/>
        </p:nvSpPr>
        <p:spPr>
          <a:xfrm>
            <a:off x="621792" y="3145536"/>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3</a:t>
            </a:r>
            <a:endParaRPr lang="en-US" sz="850" dirty="0"/>
          </a:p>
        </p:txBody>
      </p:sp>
      <p:sp>
        <p:nvSpPr>
          <p:cNvPr id="17" name="Text 14"/>
          <p:cNvSpPr/>
          <p:nvPr/>
        </p:nvSpPr>
        <p:spPr>
          <a:xfrm>
            <a:off x="1097280" y="3099816"/>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Total training hours are 224 and scaled cost is 11.</a:t>
            </a:r>
            <a:endParaRPr lang="en-US" sz="1120" dirty="0"/>
          </a:p>
        </p:txBody>
      </p:sp>
      <p:sp>
        <p:nvSpPr>
          <p:cNvPr id="18" name="Shape 15"/>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9" name="Text 16"/>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20" name="Shape 17"/>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21" name="Text 18"/>
          <p:cNvSpPr/>
          <p:nvPr/>
        </p:nvSpPr>
        <p:spPr>
          <a:xfrm>
            <a:off x="8083296" y="16459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22" name="Text 19"/>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23" name="Text 20"/>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24" name="Text 21"/>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25" name="Shape 22"/>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26" name="Text 23"/>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27" name="Text 24"/>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93.3%</a:t>
            </a:r>
            <a:endParaRPr lang="en-US" sz="2100" dirty="0"/>
          </a:p>
        </p:txBody>
      </p:sp>
      <p:sp>
        <p:nvSpPr>
          <p:cNvPr id="28" name="Text 25"/>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9" name="Shape 26"/>
          <p:cNvSpPr/>
          <p:nvPr/>
        </p:nvSpPr>
        <p:spPr>
          <a:xfrm>
            <a:off x="2167128" y="4946904"/>
            <a:ext cx="777240" cy="256032"/>
          </a:xfrm>
          <a:prstGeom prst="roundRect">
            <a:avLst>
              <a:gd name="adj" fmla="val 28571"/>
            </a:avLst>
          </a:prstGeom>
          <a:solidFill>
            <a:srgbClr val="D1FAE5"/>
          </a:solidFill>
          <a:ln w="12700">
            <a:solidFill>
              <a:srgbClr val="D1FAE5"/>
            </a:solidFill>
            <a:prstDash val="solid"/>
          </a:ln>
        </p:spPr>
      </p:sp>
      <p:sp>
        <p:nvSpPr>
          <p:cNvPr id="30" name="Text 27"/>
          <p:cNvSpPr/>
          <p:nvPr/>
        </p:nvSpPr>
        <p:spPr>
          <a:xfrm>
            <a:off x="220370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1" name="Shape 28"/>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32" name="Text 29"/>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33" name="Text 30"/>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34" name="Text 31"/>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35" name="Shape 32"/>
          <p:cNvSpPr/>
          <p:nvPr/>
        </p:nvSpPr>
        <p:spPr>
          <a:xfrm>
            <a:off x="4956048" y="4946904"/>
            <a:ext cx="777240" cy="256032"/>
          </a:xfrm>
          <a:prstGeom prst="roundRect">
            <a:avLst>
              <a:gd name="adj" fmla="val 28571"/>
            </a:avLst>
          </a:prstGeom>
          <a:solidFill>
            <a:srgbClr val="D1FAE5"/>
          </a:solidFill>
          <a:ln w="12700">
            <a:solidFill>
              <a:srgbClr val="D1FAE5"/>
            </a:solidFill>
            <a:prstDash val="solid"/>
          </a:ln>
        </p:spPr>
      </p:sp>
      <p:sp>
        <p:nvSpPr>
          <p:cNvPr id="36" name="Text 33"/>
          <p:cNvSpPr/>
          <p:nvPr/>
        </p:nvSpPr>
        <p:spPr>
          <a:xfrm>
            <a:off x="499262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7" name="Shape 34"/>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38" name="Text 35"/>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9" name="Text 36"/>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83.3%</a:t>
            </a:r>
            <a:endParaRPr lang="en-US" sz="2100" dirty="0"/>
          </a:p>
        </p:txBody>
      </p:sp>
      <p:sp>
        <p:nvSpPr>
          <p:cNvPr id="40" name="Text 37"/>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41" name="Shape 38"/>
          <p:cNvSpPr/>
          <p:nvPr/>
        </p:nvSpPr>
        <p:spPr>
          <a:xfrm>
            <a:off x="7744968" y="4946904"/>
            <a:ext cx="777240" cy="256032"/>
          </a:xfrm>
          <a:prstGeom prst="roundRect">
            <a:avLst>
              <a:gd name="adj" fmla="val 28571"/>
            </a:avLst>
          </a:prstGeom>
          <a:solidFill>
            <a:srgbClr val="D1FAE5"/>
          </a:solidFill>
          <a:ln w="12700">
            <a:solidFill>
              <a:srgbClr val="D1FAE5"/>
            </a:solidFill>
            <a:prstDash val="solid"/>
          </a:ln>
        </p:spPr>
      </p:sp>
      <p:sp>
        <p:nvSpPr>
          <p:cNvPr id="42" name="Text 39"/>
          <p:cNvSpPr/>
          <p:nvPr/>
        </p:nvSpPr>
        <p:spPr>
          <a:xfrm>
            <a:off x="778154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43" name="Shape 40"/>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44" name="Text 41"/>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45" name="Text 42"/>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7.32/10</a:t>
            </a:r>
            <a:endParaRPr lang="en-US" sz="2100" dirty="0"/>
          </a:p>
        </p:txBody>
      </p:sp>
      <p:sp>
        <p:nvSpPr>
          <p:cNvPr id="46" name="Text 43"/>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47" name="Shape 44"/>
          <p:cNvSpPr/>
          <p:nvPr/>
        </p:nvSpPr>
        <p:spPr>
          <a:xfrm>
            <a:off x="10533888" y="4946904"/>
            <a:ext cx="777240" cy="256032"/>
          </a:xfrm>
          <a:prstGeom prst="roundRect">
            <a:avLst>
              <a:gd name="adj" fmla="val 28571"/>
            </a:avLst>
          </a:prstGeom>
          <a:solidFill>
            <a:srgbClr val="D1FAE5"/>
          </a:solidFill>
          <a:ln w="12700">
            <a:solidFill>
              <a:srgbClr val="D1FAE5"/>
            </a:solidFill>
            <a:prstDash val="solid"/>
          </a:ln>
        </p:spPr>
      </p:sp>
      <p:sp>
        <p:nvSpPr>
          <p:cNvPr id="48" name="Text 45"/>
          <p:cNvSpPr/>
          <p:nvPr/>
        </p:nvSpPr>
        <p:spPr>
          <a:xfrm>
            <a:off x="1057046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664208"/>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Risk.</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5786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Required sheets and columns were mapped from Teams, OneDrive, Forms, KPI, Rules and Template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2644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39502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x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360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valid assessment and 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218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93.3%</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220370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99262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83.3%</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D1FAE5"/>
          </a:solidFill>
          <a:ln w="12700">
            <a:solidFill>
              <a:srgbClr val="D1FAE5"/>
            </a:solidFill>
            <a:prstDash val="solid"/>
          </a:ln>
        </p:spPr>
      </p:sp>
      <p:sp>
        <p:nvSpPr>
          <p:cNvPr id="24" name="Text 22"/>
          <p:cNvSpPr/>
          <p:nvPr/>
        </p:nvSpPr>
        <p:spPr>
          <a:xfrm>
            <a:off x="778154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7.32/10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1057046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4.71/5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224</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11</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0.024</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FEF3C7"/>
          </a:solidFill>
          <a:ln w="12700">
            <a:solidFill>
              <a:srgbClr val="FEF3C7"/>
            </a:solidFill>
            <a:prstDash val="solid"/>
          </a:ln>
        </p:spPr>
      </p:sp>
      <p:sp>
        <p:nvSpPr>
          <p:cNvPr id="54" name="Text 52"/>
          <p:cNvSpPr/>
          <p:nvPr/>
        </p:nvSpPr>
        <p:spPr>
          <a:xfrm>
            <a:off x="1057046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Monitor</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Visual analytics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5440680" cy="4892040"/>
          </a:xfrm>
          <a:prstGeom prst="roundRect">
            <a:avLst>
              <a:gd name="adj" fmla="val 1495"/>
            </a:avLst>
          </a:prstGeom>
          <a:solidFill>
            <a:srgbClr val="FFFFFF"/>
          </a:solidFill>
          <a:ln w="12700">
            <a:solidFill>
              <a:srgbClr val="CBD5E1"/>
            </a:solidFill>
            <a:prstDash val="solid"/>
          </a:ln>
        </p:spPr>
      </p:sp>
      <p:sp>
        <p:nvSpPr>
          <p:cNvPr id="8" name="Text 6"/>
          <p:cNvSpPr/>
          <p:nvPr/>
        </p:nvSpPr>
        <p:spPr>
          <a:xfrm>
            <a:off x="795528" y="1234440"/>
            <a:ext cx="5038344" cy="219456"/>
          </a:xfrm>
          <a:prstGeom prst="rect">
            <a:avLst/>
          </a:prstGeom>
          <a:noFill/>
          <a:ln/>
        </p:spPr>
        <p:txBody>
          <a:bodyPr wrap="square" rtlCol="0" anchor="ctr">
            <a:normAutofit/>
          </a:bodyPr>
          <a:lstStyle/>
          <a:p>
            <a:pPr indent="0" marL="0">
              <a:buNone/>
            </a:pPr>
            <a:r>
              <a:rPr lang="en-US" sz="1250" b="1" dirty="0">
                <a:solidFill>
                  <a:srgbClr val="0F172A"/>
                </a:solidFill>
              </a:rPr>
              <a:t>Overall KPI vs target</a:t>
            </a:r>
            <a:endParaRPr lang="en-US" sz="1250" dirty="0"/>
          </a:p>
        </p:txBody>
      </p:sp>
      <p:sp>
        <p:nvSpPr>
          <p:cNvPr id="9" name="Text 7"/>
          <p:cNvSpPr/>
          <p:nvPr/>
        </p:nvSpPr>
        <p:spPr>
          <a:xfrm>
            <a:off x="795528" y="1527048"/>
            <a:ext cx="5038344" cy="201168"/>
          </a:xfrm>
          <a:prstGeom prst="rect">
            <a:avLst/>
          </a:prstGeom>
          <a:noFill/>
          <a:ln/>
        </p:spPr>
        <p:txBody>
          <a:bodyPr wrap="square" rtlCol="0" anchor="ctr">
            <a:normAutofit/>
          </a:bodyPr>
          <a:lstStyle/>
          <a:p>
            <a:pPr indent="0" marL="0">
              <a:buNone/>
            </a:pPr>
            <a:r>
              <a:rPr lang="en-US" sz="780" dirty="0">
                <a:solidFill>
                  <a:srgbClr val="64748B"/>
                </a:solidFill>
              </a:rPr>
              <a:t>Validated performance metrics compared with L&amp;D operating thresholds.</a:t>
            </a:r>
            <a:endParaRPr lang="en-US" sz="780" dirty="0"/>
          </a:p>
        </p:txBody>
      </p:sp>
      <p:sp>
        <p:nvSpPr>
          <p:cNvPr id="10" name="Text 8"/>
          <p:cNvSpPr/>
          <p:nvPr/>
        </p:nvSpPr>
        <p:spPr>
          <a:xfrm>
            <a:off x="795528" y="1920240"/>
            <a:ext cx="1508760" cy="164592"/>
          </a:xfrm>
          <a:prstGeom prst="rect">
            <a:avLst/>
          </a:prstGeom>
          <a:noFill/>
          <a:ln/>
        </p:spPr>
        <p:txBody>
          <a:bodyPr wrap="square" rtlCol="0" anchor="ctr">
            <a:normAutofit/>
          </a:bodyPr>
          <a:lstStyle/>
          <a:p>
            <a:pPr indent="0" marL="0">
              <a:buNone/>
            </a:pPr>
            <a:r>
              <a:rPr lang="en-US" sz="780" dirty="0">
                <a:solidFill>
                  <a:srgbClr val="0F172A"/>
                </a:solidFill>
              </a:rPr>
              <a:t>Attendance</a:t>
            </a:r>
            <a:endParaRPr lang="en-US" sz="780" dirty="0"/>
          </a:p>
        </p:txBody>
      </p:sp>
      <p:sp>
        <p:nvSpPr>
          <p:cNvPr id="11" name="Shape 9"/>
          <p:cNvSpPr/>
          <p:nvPr/>
        </p:nvSpPr>
        <p:spPr>
          <a:xfrm>
            <a:off x="2395728" y="2066544"/>
            <a:ext cx="2596896" cy="201168"/>
          </a:xfrm>
          <a:prstGeom prst="rect">
            <a:avLst/>
          </a:prstGeom>
          <a:solidFill>
            <a:srgbClr val="E2E8F0"/>
          </a:solidFill>
          <a:ln w="12700">
            <a:solidFill>
              <a:srgbClr val="E2E8F0">
                <a:alpha val="0"/>
              </a:srgbClr>
            </a:solidFill>
            <a:prstDash val="solid"/>
          </a:ln>
        </p:spPr>
      </p:sp>
      <p:sp>
        <p:nvSpPr>
          <p:cNvPr id="12" name="Shape 10"/>
          <p:cNvSpPr/>
          <p:nvPr/>
        </p:nvSpPr>
        <p:spPr>
          <a:xfrm>
            <a:off x="2395728" y="2066544"/>
            <a:ext cx="2422904" cy="201168"/>
          </a:xfrm>
          <a:prstGeom prst="rect">
            <a:avLst/>
          </a:prstGeom>
          <a:solidFill>
            <a:srgbClr val="047857"/>
          </a:solidFill>
          <a:ln w="12700">
            <a:solidFill>
              <a:srgbClr val="047857">
                <a:alpha val="0"/>
              </a:srgbClr>
            </a:solidFill>
            <a:prstDash val="solid"/>
          </a:ln>
        </p:spPr>
      </p:sp>
      <p:sp>
        <p:nvSpPr>
          <p:cNvPr id="13" name="Shape 11"/>
          <p:cNvSpPr/>
          <p:nvPr/>
        </p:nvSpPr>
        <p:spPr>
          <a:xfrm>
            <a:off x="4603090" y="2020824"/>
            <a:ext cx="0" cy="292608"/>
          </a:xfrm>
          <a:prstGeom prst="line">
            <a:avLst/>
          </a:prstGeom>
          <a:noFill/>
          <a:ln w="12700">
            <a:solidFill>
              <a:srgbClr val="0B1220">
                <a:alpha val="80000"/>
              </a:srgbClr>
            </a:solidFill>
            <a:prstDash val="solid"/>
          </a:ln>
        </p:spPr>
      </p:sp>
      <p:sp>
        <p:nvSpPr>
          <p:cNvPr id="14" name="Text 12"/>
          <p:cNvSpPr/>
          <p:nvPr/>
        </p:nvSpPr>
        <p:spPr>
          <a:xfrm>
            <a:off x="5065776" y="191109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93.3%</a:t>
            </a:r>
            <a:endParaRPr lang="en-US" sz="700" dirty="0"/>
          </a:p>
        </p:txBody>
      </p:sp>
      <p:sp>
        <p:nvSpPr>
          <p:cNvPr id="15" name="Text 13"/>
          <p:cNvSpPr/>
          <p:nvPr/>
        </p:nvSpPr>
        <p:spPr>
          <a:xfrm>
            <a:off x="795528" y="2868930"/>
            <a:ext cx="1508760" cy="164592"/>
          </a:xfrm>
          <a:prstGeom prst="rect">
            <a:avLst/>
          </a:prstGeom>
          <a:noFill/>
          <a:ln/>
        </p:spPr>
        <p:txBody>
          <a:bodyPr wrap="square" rtlCol="0" anchor="ctr">
            <a:normAutofit/>
          </a:bodyPr>
          <a:lstStyle/>
          <a:p>
            <a:pPr indent="0" marL="0">
              <a:buNone/>
            </a:pPr>
            <a:r>
              <a:rPr lang="en-US" sz="780" dirty="0">
                <a:solidFill>
                  <a:srgbClr val="0F172A"/>
                </a:solidFill>
              </a:rPr>
              <a:t>Completion</a:t>
            </a:r>
            <a:endParaRPr lang="en-US" sz="780" dirty="0"/>
          </a:p>
        </p:txBody>
      </p:sp>
      <p:sp>
        <p:nvSpPr>
          <p:cNvPr id="16" name="Shape 14"/>
          <p:cNvSpPr/>
          <p:nvPr/>
        </p:nvSpPr>
        <p:spPr>
          <a:xfrm>
            <a:off x="2395728" y="3015234"/>
            <a:ext cx="2596896" cy="201168"/>
          </a:xfrm>
          <a:prstGeom prst="rect">
            <a:avLst/>
          </a:prstGeom>
          <a:solidFill>
            <a:srgbClr val="E2E8F0"/>
          </a:solidFill>
          <a:ln w="12700">
            <a:solidFill>
              <a:srgbClr val="E2E8F0">
                <a:alpha val="0"/>
              </a:srgbClr>
            </a:solidFill>
            <a:prstDash val="solid"/>
          </a:ln>
        </p:spPr>
      </p:sp>
      <p:sp>
        <p:nvSpPr>
          <p:cNvPr id="17" name="Shape 15"/>
          <p:cNvSpPr/>
          <p:nvPr/>
        </p:nvSpPr>
        <p:spPr>
          <a:xfrm>
            <a:off x="2395728" y="3015234"/>
            <a:ext cx="2596896" cy="201168"/>
          </a:xfrm>
          <a:prstGeom prst="rect">
            <a:avLst/>
          </a:prstGeom>
          <a:solidFill>
            <a:srgbClr val="047857"/>
          </a:solidFill>
          <a:ln w="12700">
            <a:solidFill>
              <a:srgbClr val="047857">
                <a:alpha val="0"/>
              </a:srgbClr>
            </a:solidFill>
            <a:prstDash val="solid"/>
          </a:ln>
        </p:spPr>
      </p:sp>
      <p:sp>
        <p:nvSpPr>
          <p:cNvPr id="18" name="Shape 16"/>
          <p:cNvSpPr/>
          <p:nvPr/>
        </p:nvSpPr>
        <p:spPr>
          <a:xfrm>
            <a:off x="4732934" y="2969514"/>
            <a:ext cx="0" cy="292608"/>
          </a:xfrm>
          <a:prstGeom prst="line">
            <a:avLst/>
          </a:prstGeom>
          <a:noFill/>
          <a:ln w="12700">
            <a:solidFill>
              <a:srgbClr val="0B1220">
                <a:alpha val="80000"/>
              </a:srgbClr>
            </a:solidFill>
            <a:prstDash val="solid"/>
          </a:ln>
        </p:spPr>
      </p:sp>
      <p:sp>
        <p:nvSpPr>
          <p:cNvPr id="19" name="Text 17"/>
          <p:cNvSpPr/>
          <p:nvPr/>
        </p:nvSpPr>
        <p:spPr>
          <a:xfrm>
            <a:off x="5065776" y="285978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0" name="Text 18"/>
          <p:cNvSpPr/>
          <p:nvPr/>
        </p:nvSpPr>
        <p:spPr>
          <a:xfrm>
            <a:off x="795528" y="3817620"/>
            <a:ext cx="1508760" cy="164592"/>
          </a:xfrm>
          <a:prstGeom prst="rect">
            <a:avLst/>
          </a:prstGeom>
          <a:noFill/>
          <a:ln/>
        </p:spPr>
        <p:txBody>
          <a:bodyPr wrap="square" rtlCol="0" anchor="ctr">
            <a:normAutofit/>
          </a:bodyPr>
          <a:lstStyle/>
          <a:p>
            <a:pPr indent="0" marL="0">
              <a:buNone/>
            </a:pPr>
            <a:r>
              <a:rPr lang="en-US" sz="780" dirty="0">
                <a:solidFill>
                  <a:srgbClr val="0F172A"/>
                </a:solidFill>
              </a:rPr>
              <a:t>Pass rate</a:t>
            </a:r>
            <a:endParaRPr lang="en-US" sz="780" dirty="0"/>
          </a:p>
        </p:txBody>
      </p:sp>
      <p:sp>
        <p:nvSpPr>
          <p:cNvPr id="21" name="Shape 19"/>
          <p:cNvSpPr/>
          <p:nvPr/>
        </p:nvSpPr>
        <p:spPr>
          <a:xfrm>
            <a:off x="2395728" y="3963924"/>
            <a:ext cx="2596896" cy="201168"/>
          </a:xfrm>
          <a:prstGeom prst="rect">
            <a:avLst/>
          </a:prstGeom>
          <a:solidFill>
            <a:srgbClr val="E2E8F0"/>
          </a:solidFill>
          <a:ln w="12700">
            <a:solidFill>
              <a:srgbClr val="E2E8F0">
                <a:alpha val="0"/>
              </a:srgbClr>
            </a:solidFill>
            <a:prstDash val="solid"/>
          </a:ln>
        </p:spPr>
      </p:sp>
      <p:sp>
        <p:nvSpPr>
          <p:cNvPr id="22" name="Shape 20"/>
          <p:cNvSpPr/>
          <p:nvPr/>
        </p:nvSpPr>
        <p:spPr>
          <a:xfrm>
            <a:off x="2395728" y="3963924"/>
            <a:ext cx="2163214" cy="201168"/>
          </a:xfrm>
          <a:prstGeom prst="rect">
            <a:avLst/>
          </a:prstGeom>
          <a:solidFill>
            <a:srgbClr val="047857"/>
          </a:solidFill>
          <a:ln w="12700">
            <a:solidFill>
              <a:srgbClr val="047857">
                <a:alpha val="0"/>
              </a:srgbClr>
            </a:solidFill>
            <a:prstDash val="solid"/>
          </a:ln>
        </p:spPr>
      </p:sp>
      <p:sp>
        <p:nvSpPr>
          <p:cNvPr id="23" name="Shape 21"/>
          <p:cNvSpPr/>
          <p:nvPr/>
        </p:nvSpPr>
        <p:spPr>
          <a:xfrm>
            <a:off x="4473245" y="3918204"/>
            <a:ext cx="0" cy="292608"/>
          </a:xfrm>
          <a:prstGeom prst="line">
            <a:avLst/>
          </a:prstGeom>
          <a:noFill/>
          <a:ln w="12700">
            <a:solidFill>
              <a:srgbClr val="0B1220">
                <a:alpha val="80000"/>
              </a:srgbClr>
            </a:solidFill>
            <a:prstDash val="solid"/>
          </a:ln>
        </p:spPr>
      </p:sp>
      <p:sp>
        <p:nvSpPr>
          <p:cNvPr id="24" name="Text 22"/>
          <p:cNvSpPr/>
          <p:nvPr/>
        </p:nvSpPr>
        <p:spPr>
          <a:xfrm>
            <a:off x="5065776" y="380847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83.3%</a:t>
            </a:r>
            <a:endParaRPr lang="en-US" sz="700" dirty="0"/>
          </a:p>
        </p:txBody>
      </p:sp>
      <p:sp>
        <p:nvSpPr>
          <p:cNvPr id="25" name="Text 23"/>
          <p:cNvSpPr/>
          <p:nvPr/>
        </p:nvSpPr>
        <p:spPr>
          <a:xfrm>
            <a:off x="795528" y="4766310"/>
            <a:ext cx="1508760" cy="164592"/>
          </a:xfrm>
          <a:prstGeom prst="rect">
            <a:avLst/>
          </a:prstGeom>
          <a:noFill/>
          <a:ln/>
        </p:spPr>
        <p:txBody>
          <a:bodyPr wrap="square" rtlCol="0" anchor="ctr">
            <a:normAutofit/>
          </a:bodyPr>
          <a:lstStyle/>
          <a:p>
            <a:pPr indent="0" marL="0">
              <a:buNone/>
            </a:pPr>
            <a:r>
              <a:rPr lang="en-US" sz="780" dirty="0">
                <a:solidFill>
                  <a:srgbClr val="0F172A"/>
                </a:solidFill>
              </a:rPr>
              <a:t>Effectiveness</a:t>
            </a:r>
            <a:endParaRPr lang="en-US" sz="780" dirty="0"/>
          </a:p>
        </p:txBody>
      </p:sp>
      <p:sp>
        <p:nvSpPr>
          <p:cNvPr id="26" name="Shape 24"/>
          <p:cNvSpPr/>
          <p:nvPr/>
        </p:nvSpPr>
        <p:spPr>
          <a:xfrm>
            <a:off x="2395728" y="4912614"/>
            <a:ext cx="2596896" cy="201168"/>
          </a:xfrm>
          <a:prstGeom prst="rect">
            <a:avLst/>
          </a:prstGeom>
          <a:solidFill>
            <a:srgbClr val="E2E8F0"/>
          </a:solidFill>
          <a:ln w="12700">
            <a:solidFill>
              <a:srgbClr val="E2E8F0">
                <a:alpha val="0"/>
              </a:srgbClr>
            </a:solidFill>
            <a:prstDash val="solid"/>
          </a:ln>
        </p:spPr>
      </p:sp>
      <p:sp>
        <p:nvSpPr>
          <p:cNvPr id="27" name="Shape 25"/>
          <p:cNvSpPr/>
          <p:nvPr/>
        </p:nvSpPr>
        <p:spPr>
          <a:xfrm>
            <a:off x="2395728" y="4912614"/>
            <a:ext cx="2227098" cy="201168"/>
          </a:xfrm>
          <a:prstGeom prst="rect">
            <a:avLst/>
          </a:prstGeom>
          <a:solidFill>
            <a:srgbClr val="B91C1C"/>
          </a:solidFill>
          <a:ln w="12700">
            <a:solidFill>
              <a:srgbClr val="B91C1C">
                <a:alpha val="0"/>
              </a:srgbClr>
            </a:solidFill>
            <a:prstDash val="solid"/>
          </a:ln>
        </p:spPr>
      </p:sp>
      <p:sp>
        <p:nvSpPr>
          <p:cNvPr id="28" name="Shape 26"/>
          <p:cNvSpPr/>
          <p:nvPr/>
        </p:nvSpPr>
        <p:spPr>
          <a:xfrm>
            <a:off x="4603090" y="4866894"/>
            <a:ext cx="0" cy="292608"/>
          </a:xfrm>
          <a:prstGeom prst="line">
            <a:avLst/>
          </a:prstGeom>
          <a:noFill/>
          <a:ln w="12700">
            <a:solidFill>
              <a:srgbClr val="0B1220">
                <a:alpha val="80000"/>
              </a:srgbClr>
            </a:solidFill>
            <a:prstDash val="solid"/>
          </a:ln>
        </p:spPr>
      </p:sp>
      <p:sp>
        <p:nvSpPr>
          <p:cNvPr id="29" name="Text 27"/>
          <p:cNvSpPr/>
          <p:nvPr/>
        </p:nvSpPr>
        <p:spPr>
          <a:xfrm>
            <a:off x="5065776" y="475716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85.8/100</a:t>
            </a:r>
            <a:endParaRPr lang="en-US" sz="700" dirty="0"/>
          </a:p>
        </p:txBody>
      </p:sp>
      <p:sp>
        <p:nvSpPr>
          <p:cNvPr id="30" name="Shape 28"/>
          <p:cNvSpPr/>
          <p:nvPr/>
        </p:nvSpPr>
        <p:spPr>
          <a:xfrm>
            <a:off x="6309360" y="1051560"/>
            <a:ext cx="5257800" cy="4892040"/>
          </a:xfrm>
          <a:prstGeom prst="roundRect">
            <a:avLst>
              <a:gd name="adj" fmla="val 1495"/>
            </a:avLst>
          </a:prstGeom>
          <a:solidFill>
            <a:srgbClr val="FFFFFF"/>
          </a:solidFill>
          <a:ln w="12700">
            <a:solidFill>
              <a:srgbClr val="CBD5E1"/>
            </a:solidFill>
            <a:prstDash val="solid"/>
          </a:ln>
        </p:spPr>
      </p:sp>
      <p:sp>
        <p:nvSpPr>
          <p:cNvPr id="31" name="Text 29"/>
          <p:cNvSpPr/>
          <p:nvPr/>
        </p:nvSpPr>
        <p:spPr>
          <a:xfrm>
            <a:off x="6510528" y="1234440"/>
            <a:ext cx="4855464" cy="219456"/>
          </a:xfrm>
          <a:prstGeom prst="rect">
            <a:avLst/>
          </a:prstGeom>
          <a:noFill/>
          <a:ln/>
        </p:spPr>
        <p:txBody>
          <a:bodyPr wrap="square" rtlCol="0" anchor="ctr">
            <a:normAutofit/>
          </a:bodyPr>
          <a:lstStyle/>
          <a:p>
            <a:pPr indent="0" marL="0">
              <a:buNone/>
            </a:pPr>
            <a:r>
              <a:rPr lang="en-US" sz="1250" b="1" dirty="0">
                <a:solidFill>
                  <a:srgbClr val="0F172A"/>
                </a:solidFill>
              </a:rPr>
              <a:t>Governance flags by priority</a:t>
            </a:r>
            <a:endParaRPr lang="en-US" sz="1250" dirty="0"/>
          </a:p>
        </p:txBody>
      </p:sp>
      <p:sp>
        <p:nvSpPr>
          <p:cNvPr id="32" name="Text 30"/>
          <p:cNvSpPr/>
          <p:nvPr/>
        </p:nvSpPr>
        <p:spPr>
          <a:xfrm>
            <a:off x="6510528" y="1527048"/>
            <a:ext cx="4855464" cy="201168"/>
          </a:xfrm>
          <a:prstGeom prst="rect">
            <a:avLst/>
          </a:prstGeom>
          <a:noFill/>
          <a:ln/>
        </p:spPr>
        <p:txBody>
          <a:bodyPr wrap="square" rtlCol="0" anchor="ctr">
            <a:normAutofit/>
          </a:bodyPr>
          <a:lstStyle/>
          <a:p>
            <a:pPr indent="0" marL="0">
              <a:buNone/>
            </a:pPr>
            <a:r>
              <a:rPr lang="en-US" sz="780" dirty="0">
                <a:solidFill>
                  <a:srgbClr val="64748B"/>
                </a:solidFill>
              </a:rPr>
              <a:t>NORM rule triggers grouped by business priority.</a:t>
            </a:r>
            <a:endParaRPr lang="en-US" sz="780" dirty="0"/>
          </a:p>
        </p:txBody>
      </p:sp>
      <p:graphicFrame>
        <p:nvGraphicFramePr>
          <p:cNvPr id="33" name="Chart 0" descr=""/>
          <p:cNvGraphicFramePr/>
          <p:nvPr/>
        </p:nvGraphicFramePr>
        <p:xfrm>
          <a:off x="6537960" y="1920240"/>
          <a:ext cx="2784348" cy="3749040"/>
        </p:xfrm>
        <a:graphic xmlns:a="http://schemas.openxmlformats.org/drawingml/2006/main">
          <a:graphicData uri="http://schemas.openxmlformats.org/drawingml/2006/chart">
            <c:chart xmlns:c="http://schemas.openxmlformats.org/drawingml/2006/chart" r:id="rId1"/>
          </a:graphicData>
        </a:graphic>
      </p:graphicFrame>
      <p:sp>
        <p:nvSpPr>
          <p:cNvPr id="34" name="Text 31"/>
          <p:cNvSpPr/>
          <p:nvPr/>
        </p:nvSpPr>
        <p:spPr>
          <a:xfrm>
            <a:off x="7345421" y="3372307"/>
            <a:ext cx="1169426" cy="347472"/>
          </a:xfrm>
          <a:prstGeom prst="rect">
            <a:avLst/>
          </a:prstGeom>
          <a:noFill/>
          <a:ln/>
        </p:spPr>
        <p:txBody>
          <a:bodyPr wrap="square" lIns="0" tIns="0" rIns="0" bIns="0" rtlCol="0" anchor="ctr"/>
          <a:lstStyle/>
          <a:p>
            <a:pPr algn="ctr" indent="0" marL="0">
              <a:buNone/>
            </a:pPr>
            <a:r>
              <a:rPr lang="en-US" sz="2200" b="1" dirty="0">
                <a:solidFill>
                  <a:srgbClr val="0F172A"/>
                </a:solidFill>
              </a:rPr>
              <a:t>2</a:t>
            </a:r>
            <a:endParaRPr lang="en-US" sz="2200" dirty="0"/>
          </a:p>
        </p:txBody>
      </p:sp>
      <p:sp>
        <p:nvSpPr>
          <p:cNvPr id="35" name="Text 32"/>
          <p:cNvSpPr/>
          <p:nvPr/>
        </p:nvSpPr>
        <p:spPr>
          <a:xfrm>
            <a:off x="7234047" y="3871570"/>
            <a:ext cx="1392174" cy="182880"/>
          </a:xfrm>
          <a:prstGeom prst="rect">
            <a:avLst/>
          </a:prstGeom>
          <a:noFill/>
          <a:ln/>
        </p:spPr>
        <p:txBody>
          <a:bodyPr wrap="square" lIns="0" tIns="0" rIns="0" bIns="0" rtlCol="0" anchor="ctr"/>
          <a:lstStyle/>
          <a:p>
            <a:pPr algn="ctr" indent="0" marL="0">
              <a:buNone/>
            </a:pPr>
            <a:r>
              <a:rPr lang="en-US" sz="800" dirty="0">
                <a:solidFill>
                  <a:srgbClr val="64748B"/>
                </a:solidFill>
              </a:rPr>
              <a:t>total flags</a:t>
            </a:r>
            <a:endParaRPr lang="en-US" sz="800" dirty="0"/>
          </a:p>
        </p:txBody>
      </p:sp>
      <p:sp>
        <p:nvSpPr>
          <p:cNvPr id="36" name="Shape 33"/>
          <p:cNvSpPr/>
          <p:nvPr/>
        </p:nvSpPr>
        <p:spPr>
          <a:xfrm>
            <a:off x="9486900" y="2286000"/>
            <a:ext cx="109728" cy="109728"/>
          </a:xfrm>
          <a:prstGeom prst="rect">
            <a:avLst/>
          </a:prstGeom>
          <a:solidFill>
            <a:srgbClr val="B91C1C"/>
          </a:solidFill>
          <a:ln w="12700">
            <a:solidFill>
              <a:srgbClr val="B91C1C">
                <a:alpha val="0"/>
              </a:srgbClr>
            </a:solidFill>
            <a:prstDash val="solid"/>
          </a:ln>
        </p:spPr>
      </p:sp>
      <p:sp>
        <p:nvSpPr>
          <p:cNvPr id="37" name="Text 34"/>
          <p:cNvSpPr/>
          <p:nvPr/>
        </p:nvSpPr>
        <p:spPr>
          <a:xfrm>
            <a:off x="9669780" y="2258568"/>
            <a:ext cx="992124" cy="182880"/>
          </a:xfrm>
          <a:prstGeom prst="rect">
            <a:avLst/>
          </a:prstGeom>
          <a:noFill/>
          <a:ln/>
        </p:spPr>
        <p:txBody>
          <a:bodyPr wrap="square" lIns="0" tIns="0" rIns="0" bIns="0" rtlCol="0" anchor="ctr"/>
          <a:lstStyle/>
          <a:p>
            <a:pPr indent="0" marL="0">
              <a:buNone/>
            </a:pPr>
            <a:r>
              <a:rPr lang="en-US" sz="900" b="1" dirty="0">
                <a:solidFill>
                  <a:srgbClr val="0F172A"/>
                </a:solidFill>
              </a:rPr>
              <a:t>High</a:t>
            </a:r>
            <a:endParaRPr lang="en-US" sz="900" dirty="0"/>
          </a:p>
        </p:txBody>
      </p:sp>
      <p:sp>
        <p:nvSpPr>
          <p:cNvPr id="38" name="Text 35"/>
          <p:cNvSpPr/>
          <p:nvPr/>
        </p:nvSpPr>
        <p:spPr>
          <a:xfrm>
            <a:off x="10643616" y="2258568"/>
            <a:ext cx="658368" cy="182880"/>
          </a:xfrm>
          <a:prstGeom prst="rect">
            <a:avLst/>
          </a:prstGeom>
          <a:noFill/>
          <a:ln/>
        </p:spPr>
        <p:txBody>
          <a:bodyPr wrap="square" lIns="0" tIns="0" rIns="0" bIns="0" rtlCol="0" anchor="ctr"/>
          <a:lstStyle/>
          <a:p>
            <a:pPr algn="r" indent="0" marL="0">
              <a:buNone/>
            </a:pPr>
            <a:r>
              <a:rPr lang="en-US" sz="800" dirty="0">
                <a:solidFill>
                  <a:srgbClr val="64748B"/>
                </a:solidFill>
              </a:rPr>
              <a:t>2 (100%)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621792" y="1024128"/>
            <a:ext cx="2926080" cy="182880"/>
          </a:xfrm>
          <a:prstGeom prst="rect">
            <a:avLst/>
          </a:prstGeom>
          <a:noFill/>
          <a:ln/>
        </p:spPr>
        <p:txBody>
          <a:bodyPr wrap="square" lIns="0" tIns="0" rIns="0" bIns="0" rtlCol="0" anchor="ctr"/>
          <a:lstStyle/>
          <a:p>
            <a:pPr indent="0" marL="0">
              <a:buNone/>
            </a:pPr>
            <a:r>
              <a:rPr lang="en-US" sz="900" b="1" dirty="0">
                <a:solidFill>
                  <a:srgbClr val="2563EB"/>
                </a:solidFill>
              </a:rPr>
              <a:t>Course performance profile</a:t>
            </a:r>
            <a:endParaRPr lang="en-US" sz="900" dirty="0"/>
          </a:p>
        </p:txBody>
      </p:sp>
      <p:sp>
        <p:nvSpPr>
          <p:cNvPr id="9" name="Text 6"/>
          <p:cNvSpPr/>
          <p:nvPr/>
        </p:nvSpPr>
        <p:spPr>
          <a:xfrm>
            <a:off x="621792" y="1298448"/>
            <a:ext cx="6629400" cy="502920"/>
          </a:xfrm>
          <a:prstGeom prst="rect">
            <a:avLst/>
          </a:prstGeom>
          <a:noFill/>
          <a:ln/>
        </p:spPr>
        <p:txBody>
          <a:bodyPr wrap="square" lIns="0" tIns="0" rIns="0" bIns="0" rtlCol="0" anchor="ctr">
            <a:normAutofit/>
          </a:bodyPr>
          <a:lstStyle/>
          <a:p>
            <a:pPr indent="0" marL="0">
              <a:buNone/>
            </a:pPr>
            <a:r>
              <a:rPr lang="en-US" sz="2100" b="1" dirty="0">
                <a:solidFill>
                  <a:srgbClr val="0F172A"/>
                </a:solidFill>
              </a:rPr>
              <a:t>AWS Cloud Architecture &amp; Services</a:t>
            </a:r>
            <a:endParaRPr lang="en-US" sz="2100" dirty="0"/>
          </a:p>
        </p:txBody>
      </p:sp>
      <p:sp>
        <p:nvSpPr>
          <p:cNvPr id="10" name="Text 7"/>
          <p:cNvSpPr/>
          <p:nvPr/>
        </p:nvSpPr>
        <p:spPr>
          <a:xfrm>
            <a:off x="658368" y="2084832"/>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Attendance</a:t>
            </a:r>
            <a:endParaRPr lang="en-US" sz="1000" dirty="0"/>
          </a:p>
        </p:txBody>
      </p:sp>
      <p:sp>
        <p:nvSpPr>
          <p:cNvPr id="11" name="Shape 8"/>
          <p:cNvSpPr/>
          <p:nvPr/>
        </p:nvSpPr>
        <p:spPr>
          <a:xfrm>
            <a:off x="1773936" y="2112264"/>
            <a:ext cx="4626864" cy="164592"/>
          </a:xfrm>
          <a:prstGeom prst="roundRect">
            <a:avLst>
              <a:gd name="adj" fmla="val 22222"/>
            </a:avLst>
          </a:prstGeom>
          <a:solidFill>
            <a:srgbClr val="E2E8F0"/>
          </a:solidFill>
          <a:ln w="12700">
            <a:solidFill>
              <a:srgbClr val="E2E8F0">
                <a:alpha val="0"/>
              </a:srgbClr>
            </a:solidFill>
            <a:prstDash val="solid"/>
          </a:ln>
        </p:spPr>
      </p:sp>
      <p:sp>
        <p:nvSpPr>
          <p:cNvPr id="12" name="Shape 9"/>
          <p:cNvSpPr/>
          <p:nvPr/>
        </p:nvSpPr>
        <p:spPr>
          <a:xfrm>
            <a:off x="1773936" y="2112264"/>
            <a:ext cx="4316864" cy="164592"/>
          </a:xfrm>
          <a:prstGeom prst="roundRect">
            <a:avLst>
              <a:gd name="adj" fmla="val 22222"/>
            </a:avLst>
          </a:prstGeom>
          <a:solidFill>
            <a:srgbClr val="047857"/>
          </a:solidFill>
          <a:ln w="12700">
            <a:solidFill>
              <a:srgbClr val="047857">
                <a:alpha val="0"/>
              </a:srgbClr>
            </a:solidFill>
            <a:prstDash val="solid"/>
          </a:ln>
        </p:spPr>
      </p:sp>
      <p:sp>
        <p:nvSpPr>
          <p:cNvPr id="13" name="Shape 10"/>
          <p:cNvSpPr/>
          <p:nvPr/>
        </p:nvSpPr>
        <p:spPr>
          <a:xfrm>
            <a:off x="5706770" y="2075688"/>
            <a:ext cx="0" cy="256032"/>
          </a:xfrm>
          <a:prstGeom prst="line">
            <a:avLst/>
          </a:prstGeom>
          <a:noFill/>
          <a:ln w="12700">
            <a:solidFill>
              <a:srgbClr val="0B1220">
                <a:alpha val="85000"/>
              </a:srgbClr>
            </a:solidFill>
            <a:prstDash val="solid"/>
          </a:ln>
        </p:spPr>
      </p:sp>
      <p:sp>
        <p:nvSpPr>
          <p:cNvPr id="14" name="Text 11"/>
          <p:cNvSpPr/>
          <p:nvPr/>
        </p:nvSpPr>
        <p:spPr>
          <a:xfrm>
            <a:off x="6492240" y="2084832"/>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93.3%</a:t>
            </a:r>
            <a:endParaRPr lang="en-US" sz="900" dirty="0"/>
          </a:p>
        </p:txBody>
      </p:sp>
      <p:sp>
        <p:nvSpPr>
          <p:cNvPr id="15" name="Text 12"/>
          <p:cNvSpPr/>
          <p:nvPr/>
        </p:nvSpPr>
        <p:spPr>
          <a:xfrm>
            <a:off x="1773936" y="2377440"/>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85%</a:t>
            </a:r>
            <a:endParaRPr lang="en-US" sz="700" dirty="0"/>
          </a:p>
        </p:txBody>
      </p:sp>
      <p:sp>
        <p:nvSpPr>
          <p:cNvPr id="16" name="Text 13"/>
          <p:cNvSpPr/>
          <p:nvPr/>
        </p:nvSpPr>
        <p:spPr>
          <a:xfrm>
            <a:off x="658368" y="2871216"/>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Completion</a:t>
            </a:r>
            <a:endParaRPr lang="en-US" sz="1000" dirty="0"/>
          </a:p>
        </p:txBody>
      </p:sp>
      <p:sp>
        <p:nvSpPr>
          <p:cNvPr id="17" name="Shape 14"/>
          <p:cNvSpPr/>
          <p:nvPr/>
        </p:nvSpPr>
        <p:spPr>
          <a:xfrm>
            <a:off x="1773936" y="2898648"/>
            <a:ext cx="4626864" cy="164592"/>
          </a:xfrm>
          <a:prstGeom prst="roundRect">
            <a:avLst>
              <a:gd name="adj" fmla="val 22222"/>
            </a:avLst>
          </a:prstGeom>
          <a:solidFill>
            <a:srgbClr val="E2E8F0"/>
          </a:solidFill>
          <a:ln w="12700">
            <a:solidFill>
              <a:srgbClr val="E2E8F0">
                <a:alpha val="0"/>
              </a:srgbClr>
            </a:solidFill>
            <a:prstDash val="solid"/>
          </a:ln>
        </p:spPr>
      </p:sp>
      <p:sp>
        <p:nvSpPr>
          <p:cNvPr id="18" name="Shape 15"/>
          <p:cNvSpPr/>
          <p:nvPr/>
        </p:nvSpPr>
        <p:spPr>
          <a:xfrm>
            <a:off x="1773936" y="2898648"/>
            <a:ext cx="4626864" cy="164592"/>
          </a:xfrm>
          <a:prstGeom prst="roundRect">
            <a:avLst>
              <a:gd name="adj" fmla="val 22222"/>
            </a:avLst>
          </a:prstGeom>
          <a:solidFill>
            <a:srgbClr val="047857"/>
          </a:solidFill>
          <a:ln w="12700">
            <a:solidFill>
              <a:srgbClr val="047857">
                <a:alpha val="0"/>
              </a:srgbClr>
            </a:solidFill>
            <a:prstDash val="solid"/>
          </a:ln>
        </p:spPr>
      </p:sp>
      <p:sp>
        <p:nvSpPr>
          <p:cNvPr id="19" name="Shape 16"/>
          <p:cNvSpPr/>
          <p:nvPr/>
        </p:nvSpPr>
        <p:spPr>
          <a:xfrm>
            <a:off x="5938114" y="2862072"/>
            <a:ext cx="0" cy="256032"/>
          </a:xfrm>
          <a:prstGeom prst="line">
            <a:avLst/>
          </a:prstGeom>
          <a:noFill/>
          <a:ln w="12700">
            <a:solidFill>
              <a:srgbClr val="0B1220">
                <a:alpha val="85000"/>
              </a:srgbClr>
            </a:solidFill>
            <a:prstDash val="solid"/>
          </a:ln>
        </p:spPr>
      </p:sp>
      <p:sp>
        <p:nvSpPr>
          <p:cNvPr id="20" name="Text 17"/>
          <p:cNvSpPr/>
          <p:nvPr/>
        </p:nvSpPr>
        <p:spPr>
          <a:xfrm>
            <a:off x="6492240" y="2871216"/>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1" name="Text 18"/>
          <p:cNvSpPr/>
          <p:nvPr/>
        </p:nvSpPr>
        <p:spPr>
          <a:xfrm>
            <a:off x="1773936" y="3163824"/>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90%</a:t>
            </a:r>
            <a:endParaRPr lang="en-US" sz="700" dirty="0"/>
          </a:p>
        </p:txBody>
      </p:sp>
      <p:sp>
        <p:nvSpPr>
          <p:cNvPr id="22" name="Text 19"/>
          <p:cNvSpPr/>
          <p:nvPr/>
        </p:nvSpPr>
        <p:spPr>
          <a:xfrm>
            <a:off x="658368" y="3657600"/>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Pass rate</a:t>
            </a:r>
            <a:endParaRPr lang="en-US" sz="1000" dirty="0"/>
          </a:p>
        </p:txBody>
      </p:sp>
      <p:sp>
        <p:nvSpPr>
          <p:cNvPr id="23" name="Shape 20"/>
          <p:cNvSpPr/>
          <p:nvPr/>
        </p:nvSpPr>
        <p:spPr>
          <a:xfrm>
            <a:off x="1773936" y="3685032"/>
            <a:ext cx="4626864" cy="164592"/>
          </a:xfrm>
          <a:prstGeom prst="roundRect">
            <a:avLst>
              <a:gd name="adj" fmla="val 22222"/>
            </a:avLst>
          </a:prstGeom>
          <a:solidFill>
            <a:srgbClr val="E2E8F0"/>
          </a:solidFill>
          <a:ln w="12700">
            <a:solidFill>
              <a:srgbClr val="E2E8F0">
                <a:alpha val="0"/>
              </a:srgbClr>
            </a:solidFill>
            <a:prstDash val="solid"/>
          </a:ln>
        </p:spPr>
      </p:sp>
      <p:sp>
        <p:nvSpPr>
          <p:cNvPr id="24" name="Shape 21"/>
          <p:cNvSpPr/>
          <p:nvPr/>
        </p:nvSpPr>
        <p:spPr>
          <a:xfrm>
            <a:off x="1773936" y="3685032"/>
            <a:ext cx="3854178" cy="164592"/>
          </a:xfrm>
          <a:prstGeom prst="roundRect">
            <a:avLst>
              <a:gd name="adj" fmla="val 22222"/>
            </a:avLst>
          </a:prstGeom>
          <a:solidFill>
            <a:srgbClr val="047857"/>
          </a:solidFill>
          <a:ln w="12700">
            <a:solidFill>
              <a:srgbClr val="047857">
                <a:alpha val="0"/>
              </a:srgbClr>
            </a:solidFill>
            <a:prstDash val="solid"/>
          </a:ln>
        </p:spPr>
      </p:sp>
      <p:sp>
        <p:nvSpPr>
          <p:cNvPr id="25" name="Shape 22"/>
          <p:cNvSpPr/>
          <p:nvPr/>
        </p:nvSpPr>
        <p:spPr>
          <a:xfrm>
            <a:off x="5475427" y="3648456"/>
            <a:ext cx="0" cy="256032"/>
          </a:xfrm>
          <a:prstGeom prst="line">
            <a:avLst/>
          </a:prstGeom>
          <a:noFill/>
          <a:ln w="12700">
            <a:solidFill>
              <a:srgbClr val="0B1220">
                <a:alpha val="85000"/>
              </a:srgbClr>
            </a:solidFill>
            <a:prstDash val="solid"/>
          </a:ln>
        </p:spPr>
      </p:sp>
      <p:sp>
        <p:nvSpPr>
          <p:cNvPr id="26" name="Text 23"/>
          <p:cNvSpPr/>
          <p:nvPr/>
        </p:nvSpPr>
        <p:spPr>
          <a:xfrm>
            <a:off x="6492240" y="3657600"/>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83.3%</a:t>
            </a:r>
            <a:endParaRPr lang="en-US" sz="900" dirty="0"/>
          </a:p>
        </p:txBody>
      </p:sp>
      <p:sp>
        <p:nvSpPr>
          <p:cNvPr id="27" name="Text 24"/>
          <p:cNvSpPr/>
          <p:nvPr/>
        </p:nvSpPr>
        <p:spPr>
          <a:xfrm>
            <a:off x="1773936" y="3950208"/>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80%</a:t>
            </a:r>
            <a:endParaRPr lang="en-US" sz="700" dirty="0"/>
          </a:p>
        </p:txBody>
      </p:sp>
      <p:sp>
        <p:nvSpPr>
          <p:cNvPr id="28" name="Shape 25"/>
          <p:cNvSpPr/>
          <p:nvPr/>
        </p:nvSpPr>
        <p:spPr>
          <a:xfrm>
            <a:off x="7635240" y="1170432"/>
            <a:ext cx="3840480" cy="3611880"/>
          </a:xfrm>
          <a:prstGeom prst="roundRect">
            <a:avLst>
              <a:gd name="adj" fmla="val 2025"/>
            </a:avLst>
          </a:prstGeom>
          <a:solidFill>
            <a:srgbClr val="FFFFFF"/>
          </a:solidFill>
          <a:ln w="12700">
            <a:solidFill>
              <a:srgbClr val="CBD5E1"/>
            </a:solidFill>
            <a:prstDash val="solid"/>
          </a:ln>
        </p:spPr>
      </p:sp>
      <p:sp>
        <p:nvSpPr>
          <p:cNvPr id="29" name="Text 26"/>
          <p:cNvSpPr/>
          <p:nvPr/>
        </p:nvSpPr>
        <p:spPr>
          <a:xfrm>
            <a:off x="7936992" y="1481328"/>
            <a:ext cx="3246120" cy="182880"/>
          </a:xfrm>
          <a:prstGeom prst="rect">
            <a:avLst/>
          </a:prstGeom>
          <a:noFill/>
          <a:ln/>
        </p:spPr>
        <p:txBody>
          <a:bodyPr wrap="square" lIns="0" tIns="0" rIns="0" bIns="0" rtlCol="0" anchor="ctr"/>
          <a:lstStyle/>
          <a:p>
            <a:pPr algn="ctr" indent="0" marL="0">
              <a:buNone/>
            </a:pPr>
            <a:r>
              <a:rPr lang="en-US" sz="900" b="1" dirty="0">
                <a:solidFill>
                  <a:srgbClr val="64748B"/>
                </a:solidFill>
              </a:rPr>
              <a:t>EFFECTIVENESS</a:t>
            </a:r>
            <a:endParaRPr lang="en-US" sz="900" dirty="0"/>
          </a:p>
        </p:txBody>
      </p:sp>
      <p:sp>
        <p:nvSpPr>
          <p:cNvPr id="30" name="Shape 27"/>
          <p:cNvSpPr/>
          <p:nvPr/>
        </p:nvSpPr>
        <p:spPr>
          <a:xfrm>
            <a:off x="8549640" y="1828800"/>
            <a:ext cx="2011680" cy="2011680"/>
          </a:xfrm>
          <a:prstGeom prst="ellipse">
            <a:avLst/>
          </a:prstGeom>
          <a:solidFill>
            <a:srgbClr val="047857"/>
          </a:solidFill>
          <a:ln w="12700">
            <a:solidFill>
              <a:srgbClr val="047857">
                <a:alpha val="0"/>
              </a:srgbClr>
            </a:solidFill>
            <a:prstDash val="solid"/>
          </a:ln>
        </p:spPr>
      </p:sp>
      <p:sp>
        <p:nvSpPr>
          <p:cNvPr id="31" name="Shape 28"/>
          <p:cNvSpPr/>
          <p:nvPr/>
        </p:nvSpPr>
        <p:spPr>
          <a:xfrm>
            <a:off x="8897112" y="2176272"/>
            <a:ext cx="1316736" cy="1316736"/>
          </a:xfrm>
          <a:prstGeom prst="ellipse">
            <a:avLst/>
          </a:prstGeom>
          <a:solidFill>
            <a:srgbClr val="FFFFFF"/>
          </a:solidFill>
          <a:ln w="12700">
            <a:solidFill>
              <a:srgbClr val="FFFFFF">
                <a:alpha val="0"/>
              </a:srgbClr>
            </a:solidFill>
            <a:prstDash val="solid"/>
          </a:ln>
        </p:spPr>
      </p:sp>
      <p:sp>
        <p:nvSpPr>
          <p:cNvPr id="32" name="Text 29"/>
          <p:cNvSpPr/>
          <p:nvPr/>
        </p:nvSpPr>
        <p:spPr>
          <a:xfrm>
            <a:off x="8897112" y="2505456"/>
            <a:ext cx="1316736" cy="384048"/>
          </a:xfrm>
          <a:prstGeom prst="rect">
            <a:avLst/>
          </a:prstGeom>
          <a:noFill/>
          <a:ln/>
        </p:spPr>
        <p:txBody>
          <a:bodyPr wrap="square" lIns="0" tIns="0" rIns="0" bIns="0" rtlCol="0" anchor="ctr">
            <a:normAutofit/>
          </a:bodyPr>
          <a:lstStyle/>
          <a:p>
            <a:pPr algn="ctr" indent="0" marL="0">
              <a:buNone/>
            </a:pPr>
            <a:r>
              <a:rPr lang="en-US" sz="2200" b="1" dirty="0">
                <a:solidFill>
                  <a:srgbClr val="047857"/>
                </a:solidFill>
              </a:rPr>
              <a:t>85.76</a:t>
            </a:r>
            <a:endParaRPr lang="en-US" sz="2200" dirty="0"/>
          </a:p>
        </p:txBody>
      </p:sp>
      <p:sp>
        <p:nvSpPr>
          <p:cNvPr id="33" name="Text 30"/>
          <p:cNvSpPr/>
          <p:nvPr/>
        </p:nvSpPr>
        <p:spPr>
          <a:xfrm>
            <a:off x="9025128" y="2898648"/>
            <a:ext cx="1051560" cy="164592"/>
          </a:xfrm>
          <a:prstGeom prst="rect">
            <a:avLst/>
          </a:prstGeom>
          <a:noFill/>
          <a:ln/>
        </p:spPr>
        <p:txBody>
          <a:bodyPr wrap="square" lIns="0" tIns="0" rIns="0" bIns="0" rtlCol="0" anchor="ctr"/>
          <a:lstStyle/>
          <a:p>
            <a:pPr algn="ctr" indent="0" marL="0">
              <a:buNone/>
            </a:pPr>
            <a:r>
              <a:rPr lang="en-US" sz="800" dirty="0">
                <a:solidFill>
                  <a:srgbClr val="64748B"/>
                </a:solidFill>
              </a:rPr>
              <a:t>/ 100</a:t>
            </a:r>
            <a:endParaRPr lang="en-US" sz="800" dirty="0"/>
          </a:p>
        </p:txBody>
      </p:sp>
      <p:sp>
        <p:nvSpPr>
          <p:cNvPr id="34" name="Text 31"/>
          <p:cNvSpPr/>
          <p:nvPr/>
        </p:nvSpPr>
        <p:spPr>
          <a:xfrm>
            <a:off x="797356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LEARNERS</a:t>
            </a:r>
            <a:endParaRPr lang="en-US" sz="750" dirty="0"/>
          </a:p>
        </p:txBody>
      </p:sp>
      <p:sp>
        <p:nvSpPr>
          <p:cNvPr id="35" name="Text 32"/>
          <p:cNvSpPr/>
          <p:nvPr/>
        </p:nvSpPr>
        <p:spPr>
          <a:xfrm>
            <a:off x="797356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12</a:t>
            </a:r>
            <a:endParaRPr lang="en-US" sz="1500" dirty="0"/>
          </a:p>
        </p:txBody>
      </p:sp>
      <p:sp>
        <p:nvSpPr>
          <p:cNvPr id="36" name="Text 33"/>
          <p:cNvSpPr/>
          <p:nvPr/>
        </p:nvSpPr>
        <p:spPr>
          <a:xfrm>
            <a:off x="961948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AVG SCORE</a:t>
            </a:r>
            <a:endParaRPr lang="en-US" sz="750" dirty="0"/>
          </a:p>
        </p:txBody>
      </p:sp>
      <p:sp>
        <p:nvSpPr>
          <p:cNvPr id="37" name="Text 34"/>
          <p:cNvSpPr/>
          <p:nvPr/>
        </p:nvSpPr>
        <p:spPr>
          <a:xfrm>
            <a:off x="961948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7.32/10</a:t>
            </a:r>
            <a:endParaRPr lang="en-US" sz="1500" dirty="0"/>
          </a:p>
        </p:txBody>
      </p:sp>
      <p:sp>
        <p:nvSpPr>
          <p:cNvPr id="38" name="Text 35"/>
          <p:cNvSpPr/>
          <p:nvPr/>
        </p:nvSpPr>
        <p:spPr>
          <a:xfrm>
            <a:off x="621792" y="4919472"/>
            <a:ext cx="3108960" cy="228600"/>
          </a:xfrm>
          <a:prstGeom prst="rect">
            <a:avLst/>
          </a:prstGeom>
          <a:noFill/>
          <a:ln/>
        </p:spPr>
        <p:txBody>
          <a:bodyPr wrap="square" lIns="0" tIns="0" rIns="0" bIns="0" rtlCol="0" anchor="ctr"/>
          <a:lstStyle/>
          <a:p>
            <a:pPr indent="0" marL="0">
              <a:buNone/>
            </a:pPr>
            <a:r>
              <a:rPr lang="en-US" sz="1300" b="1" dirty="0">
                <a:solidFill>
                  <a:srgbClr val="0F172A"/>
                </a:solidFill>
              </a:rPr>
              <a:t>What leaders should notice</a:t>
            </a:r>
            <a:endParaRPr lang="en-US" sz="1300" dirty="0"/>
          </a:p>
        </p:txBody>
      </p:sp>
      <p:sp>
        <p:nvSpPr>
          <p:cNvPr id="39" name="Shape 36"/>
          <p:cNvSpPr/>
          <p:nvPr/>
        </p:nvSpPr>
        <p:spPr>
          <a:xfrm>
            <a:off x="621792" y="5285232"/>
            <a:ext cx="3429000" cy="868680"/>
          </a:xfrm>
          <a:prstGeom prst="roundRect">
            <a:avLst>
              <a:gd name="adj" fmla="val 8421"/>
            </a:avLst>
          </a:prstGeom>
          <a:solidFill>
            <a:srgbClr val="D1FAE5"/>
          </a:solidFill>
          <a:ln w="12700">
            <a:solidFill>
              <a:srgbClr val="D1FAE5"/>
            </a:solidFill>
            <a:prstDash val="solid"/>
          </a:ln>
        </p:spPr>
      </p:sp>
      <p:sp>
        <p:nvSpPr>
          <p:cNvPr id="40" name="Text 37"/>
          <p:cNvSpPr/>
          <p:nvPr/>
        </p:nvSpPr>
        <p:spPr>
          <a:xfrm>
            <a:off x="786384"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100%</a:t>
            </a:r>
            <a:endParaRPr lang="en-US" sz="1000" dirty="0"/>
          </a:p>
        </p:txBody>
      </p:sp>
      <p:sp>
        <p:nvSpPr>
          <p:cNvPr id="41" name="Shape 38"/>
          <p:cNvSpPr/>
          <p:nvPr/>
        </p:nvSpPr>
        <p:spPr>
          <a:xfrm>
            <a:off x="4352544" y="5285232"/>
            <a:ext cx="3429000" cy="868680"/>
          </a:xfrm>
          <a:prstGeom prst="roundRect">
            <a:avLst>
              <a:gd name="adj" fmla="val 8421"/>
            </a:avLst>
          </a:prstGeom>
          <a:solidFill>
            <a:srgbClr val="FEE2E2"/>
          </a:solidFill>
          <a:ln w="12700">
            <a:solidFill>
              <a:srgbClr val="FEE2E2"/>
            </a:solidFill>
            <a:prstDash val="solid"/>
          </a:ln>
        </p:spPr>
      </p:sp>
      <p:sp>
        <p:nvSpPr>
          <p:cNvPr id="42" name="Text 39"/>
          <p:cNvSpPr/>
          <p:nvPr/>
        </p:nvSpPr>
        <p:spPr>
          <a:xfrm>
            <a:off x="4517136"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85.76</a:t>
            </a:r>
            <a:endParaRPr lang="en-US" sz="1000" dirty="0"/>
          </a:p>
        </p:txBody>
      </p:sp>
      <p:sp>
        <p:nvSpPr>
          <p:cNvPr id="43" name="Shape 40"/>
          <p:cNvSpPr/>
          <p:nvPr/>
        </p:nvSpPr>
        <p:spPr>
          <a:xfrm>
            <a:off x="8083296" y="5285232"/>
            <a:ext cx="3429000" cy="868680"/>
          </a:xfrm>
          <a:prstGeom prst="roundRect">
            <a:avLst>
              <a:gd name="adj" fmla="val 8421"/>
            </a:avLst>
          </a:prstGeom>
          <a:solidFill>
            <a:srgbClr val="D1FAE5"/>
          </a:solidFill>
          <a:ln w="12700">
            <a:solidFill>
              <a:srgbClr val="D1FAE5"/>
            </a:solidFill>
            <a:prstDash val="solid"/>
          </a:ln>
        </p:spPr>
      </p:sp>
      <p:sp>
        <p:nvSpPr>
          <p:cNvPr id="44" name="Text 41"/>
          <p:cNvSpPr/>
          <p:nvPr/>
        </p:nvSpPr>
        <p:spPr>
          <a:xfrm>
            <a:off x="8247888"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AWS Cloud Architecture &amp; Services has an effectiveness score of 85.76 in the selected scope.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D1FAE5"/>
          </a:solidFill>
          <a:ln w="12700">
            <a:solidFill>
              <a:srgbClr val="D1FAE5"/>
            </a:solidFill>
            <a:prstDash val="solid"/>
          </a:ln>
        </p:spPr>
      </p:sp>
      <p:sp>
        <p:nvSpPr>
          <p:cNvPr id="9" name="Text 7"/>
          <p:cNvSpPr/>
          <p:nvPr/>
        </p:nvSpPr>
        <p:spPr>
          <a:xfrm>
            <a:off x="81381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100%</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83.3%.</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43737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Risk</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85.76</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93.3%, pass rate 83.3%, average score 7.32/10.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Risk.</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AWS Cloud Architecture &amp; Services has an effectiveness score of 85.76 in the selected scope.</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D1FAE5"/>
          </a:solidFill>
          <a:ln w="12700">
            <a:solidFill>
              <a:srgbClr val="D1FAE5"/>
            </a:solidFill>
            <a:prstDash val="solid"/>
          </a:ln>
        </p:spPr>
      </p:sp>
      <p:sp>
        <p:nvSpPr>
          <p:cNvPr id="27" name="Text 25"/>
          <p:cNvSpPr/>
          <p:nvPr/>
        </p:nvSpPr>
        <p:spPr>
          <a:xfrm>
            <a:off x="643737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2 outstanding trainees met the star learner rule: score &gt;= 9.0 and full attendance.</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Required sheets and columns were mapped from Teams, OneDrive, Forms, KPI, Rules and Template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x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valid assessment and 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Row-level data quality</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Duplicate rows and numeric ranges were checked before metric generation.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Risk</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2</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FEE2E2"/>
          </a:solidFill>
          <a:ln w="12700">
            <a:solidFill>
              <a:srgbClr val="FEE2E2"/>
            </a:solidFill>
            <a:prstDash val="solid"/>
          </a:ln>
        </p:spPr>
      </p:sp>
      <p:sp>
        <p:nvSpPr>
          <p:cNvPr id="21" name="Text 19"/>
          <p:cNvSpPr/>
          <p:nvPr/>
        </p:nvSpPr>
        <p:spPr>
          <a:xfrm>
            <a:off x="758952" y="294436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
        <p:nvSpPr>
          <p:cNvPr id="24" name="Shape 22"/>
          <p:cNvSpPr/>
          <p:nvPr/>
        </p:nvSpPr>
        <p:spPr>
          <a:xfrm>
            <a:off x="594360" y="3538728"/>
            <a:ext cx="6812280" cy="566928"/>
          </a:xfrm>
          <a:prstGeom prst="roundRect">
            <a:avLst>
              <a:gd name="adj" fmla="val 9677"/>
            </a:avLst>
          </a:prstGeom>
          <a:solidFill>
            <a:srgbClr val="FFFFFF"/>
          </a:solidFill>
          <a:ln w="12700">
            <a:solidFill>
              <a:srgbClr val="CBD5E1"/>
            </a:solidFill>
            <a:prstDash val="solid"/>
          </a:ln>
        </p:spPr>
      </p:sp>
      <p:sp>
        <p:nvSpPr>
          <p:cNvPr id="25" name="Shape 23"/>
          <p:cNvSpPr/>
          <p:nvPr/>
        </p:nvSpPr>
        <p:spPr>
          <a:xfrm>
            <a:off x="722376" y="3694176"/>
            <a:ext cx="777240" cy="256032"/>
          </a:xfrm>
          <a:prstGeom prst="roundRect">
            <a:avLst>
              <a:gd name="adj" fmla="val 28571"/>
            </a:avLst>
          </a:prstGeom>
          <a:solidFill>
            <a:srgbClr val="FEE2E2"/>
          </a:solidFill>
          <a:ln w="12700">
            <a:solidFill>
              <a:srgbClr val="FEE2E2"/>
            </a:solidFill>
            <a:prstDash val="solid"/>
          </a:ln>
        </p:spPr>
      </p:sp>
      <p:sp>
        <p:nvSpPr>
          <p:cNvPr id="26" name="Text 24"/>
          <p:cNvSpPr/>
          <p:nvPr/>
        </p:nvSpPr>
        <p:spPr>
          <a:xfrm>
            <a:off x="758952" y="3694176"/>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7" name="Text 25"/>
          <p:cNvSpPr/>
          <p:nvPr/>
        </p:nvSpPr>
        <p:spPr>
          <a:xfrm>
            <a:off x="1600200" y="3648456"/>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28" name="Text 26"/>
          <p:cNvSpPr/>
          <p:nvPr/>
        </p:nvSpPr>
        <p:spPr>
          <a:xfrm>
            <a:off x="3840480" y="3630168"/>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
        <p:nvSpPr>
          <p:cNvPr id="29" name="Shape 27"/>
          <p:cNvSpPr/>
          <p:nvPr/>
        </p:nvSpPr>
        <p:spPr>
          <a:xfrm>
            <a:off x="7699248" y="2788920"/>
            <a:ext cx="3767328" cy="1965960"/>
          </a:xfrm>
          <a:prstGeom prst="roundRect">
            <a:avLst>
              <a:gd name="adj" fmla="val 3721"/>
            </a:avLst>
          </a:prstGeom>
          <a:solidFill>
            <a:srgbClr val="FEE2E2"/>
          </a:solidFill>
          <a:ln w="12700">
            <a:solidFill>
              <a:srgbClr val="B91C1C">
                <a:alpha val="65000"/>
              </a:srgbClr>
            </a:solidFill>
            <a:prstDash val="solid"/>
          </a:ln>
        </p:spPr>
      </p:sp>
      <p:sp>
        <p:nvSpPr>
          <p:cNvPr id="30" name="Text 28"/>
          <p:cNvSpPr/>
          <p:nvPr/>
        </p:nvSpPr>
        <p:spPr>
          <a:xfrm>
            <a:off x="7955280" y="3054096"/>
            <a:ext cx="3200400" cy="182880"/>
          </a:xfrm>
          <a:prstGeom prst="rect">
            <a:avLst/>
          </a:prstGeom>
          <a:noFill/>
          <a:ln/>
        </p:spPr>
        <p:txBody>
          <a:bodyPr wrap="square" lIns="0" tIns="0" rIns="0" bIns="0" rtlCol="0" anchor="ctr"/>
          <a:lstStyle/>
          <a:p>
            <a:pPr indent="0" marL="0">
              <a:buNone/>
            </a:pPr>
            <a:r>
              <a:rPr lang="en-US" sz="850" b="1" dirty="0">
                <a:solidFill>
                  <a:srgbClr val="B91C1C"/>
                </a:solidFill>
              </a:rPr>
              <a:t>GOVERNANCE RESPONSE</a:t>
            </a:r>
            <a:endParaRPr lang="en-US" sz="850" dirty="0"/>
          </a:p>
        </p:txBody>
      </p:sp>
      <p:sp>
        <p:nvSpPr>
          <p:cNvPr id="31" name="Text 29"/>
          <p:cNvSpPr/>
          <p:nvPr/>
        </p:nvSpPr>
        <p:spPr>
          <a:xfrm>
            <a:off x="7955280" y="3493008"/>
            <a:ext cx="3218688" cy="658368"/>
          </a:xfrm>
          <a:prstGeom prst="rect">
            <a:avLst/>
          </a:prstGeom>
          <a:noFill/>
          <a:ln/>
        </p:spPr>
        <p:txBody>
          <a:bodyPr wrap="square" lIns="0" tIns="0" rIns="0" bIns="0" rtlCol="0" anchor="ctr">
            <a:normAutofit/>
          </a:bodyPr>
          <a:lstStyle/>
          <a:p>
            <a:pPr indent="0" marL="0">
              <a:buNone/>
            </a:pPr>
            <a:r>
              <a:rPr lang="en-US" sz="1200" b="1" dirty="0">
                <a:solidFill>
                  <a:srgbClr val="0F172A"/>
                </a:solidFill>
              </a:rPr>
              <a:t>Flag for coaching; assign buddy or practice resources</a:t>
            </a:r>
            <a:endParaRPr lang="en-US" sz="1200" dirty="0"/>
          </a:p>
        </p:txBody>
      </p:sp>
      <p:sp>
        <p:nvSpPr>
          <p:cNvPr id="32" name="Text 30"/>
          <p:cNvSpPr/>
          <p:nvPr/>
        </p:nvSpPr>
        <p:spPr>
          <a:xfrm>
            <a:off x="7955280" y="4279392"/>
            <a:ext cx="3218688" cy="228600"/>
          </a:xfrm>
          <a:prstGeom prst="rect">
            <a:avLst/>
          </a:prstGeom>
          <a:noFill/>
          <a:ln/>
        </p:spPr>
        <p:txBody>
          <a:bodyPr wrap="square" lIns="0" tIns="0" rIns="0" bIns="0" rtlCol="0" anchor="ctr"/>
          <a:lstStyle/>
          <a:p>
            <a:pPr indent="0" marL="0">
              <a:buNone/>
            </a:pPr>
            <a:r>
              <a:rPr lang="en-US" sz="850" dirty="0">
                <a:solidFill>
                  <a:srgbClr val="64748B"/>
                </a:solidFill>
              </a:rPr>
              <a:t>Triggered by NORM-07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1207008" y="1161288"/>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Flag for coaching; assign buddy or practice resources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E2E2"/>
          </a:solidFill>
          <a:ln w="12700">
            <a:solidFill>
              <a:srgbClr val="FEE2E2"/>
            </a:solidFill>
            <a:prstDash val="solid"/>
          </a:ln>
        </p:spPr>
      </p:sp>
      <p:sp>
        <p:nvSpPr>
          <p:cNvPr id="17" name="Text 15"/>
          <p:cNvSpPr/>
          <p:nvPr/>
        </p:nvSpPr>
        <p:spPr>
          <a:xfrm>
            <a:off x="1207008" y="2148840"/>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Assign a coaching owner, buddy support, and targeted practice resources for the flagged learner.</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F3C7"/>
          </a:solidFill>
          <a:ln w="12700">
            <a:solidFill>
              <a:srgbClr val="FEF3C7"/>
            </a:solidFill>
            <a:prstDash val="solid"/>
          </a:ln>
        </p:spPr>
      </p:sp>
      <p:sp>
        <p:nvSpPr>
          <p:cNvPr id="24" name="Text 22"/>
          <p:cNvSpPr/>
          <p:nvPr/>
        </p:nvSpPr>
        <p:spPr>
          <a:xfrm>
            <a:off x="1207008" y="3136392"/>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Additionally, consider reviewing course content and delivery methods to address the gaps that may be affecting the pass rate, ensuring that all trainees can achieve the desired learning outcomes.</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Shape 5"/>
          <p:cNvSpPr/>
          <p:nvPr/>
        </p:nvSpPr>
        <p:spPr>
          <a:xfrm>
            <a:off x="2394204" y="1490472"/>
            <a:ext cx="7418832" cy="0"/>
          </a:xfrm>
          <a:prstGeom prst="line">
            <a:avLst/>
          </a:prstGeom>
          <a:noFill/>
          <a:ln w="12700">
            <a:solidFill>
              <a:srgbClr val="93C5FD"/>
            </a:solidFill>
            <a:prstDash val="solid"/>
          </a:ln>
        </p:spPr>
      </p:sp>
      <p:sp>
        <p:nvSpPr>
          <p:cNvPr id="9" name="Shape 6"/>
          <p:cNvSpPr/>
          <p:nvPr/>
        </p:nvSpPr>
        <p:spPr>
          <a:xfrm>
            <a:off x="2138172" y="1234440"/>
            <a:ext cx="512064" cy="512064"/>
          </a:xfrm>
          <a:prstGeom prst="ellipse">
            <a:avLst/>
          </a:prstGeom>
          <a:solidFill>
            <a:srgbClr val="B91C1C"/>
          </a:solidFill>
          <a:ln w="12700">
            <a:solidFill>
              <a:srgbClr val="FFFFFF"/>
            </a:solidFill>
            <a:prstDash val="solid"/>
          </a:ln>
        </p:spPr>
      </p:sp>
      <p:sp>
        <p:nvSpPr>
          <p:cNvPr id="10" name="Text 7"/>
          <p:cNvSpPr/>
          <p:nvPr/>
        </p:nvSpPr>
        <p:spPr>
          <a:xfrm>
            <a:off x="2138172"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8"/>
          <p:cNvSpPr/>
          <p:nvPr/>
        </p:nvSpPr>
        <p:spPr>
          <a:xfrm>
            <a:off x="685800" y="1938528"/>
            <a:ext cx="3416808" cy="3364992"/>
          </a:xfrm>
          <a:prstGeom prst="roundRect">
            <a:avLst>
              <a:gd name="adj" fmla="val 2174"/>
            </a:avLst>
          </a:prstGeom>
          <a:solidFill>
            <a:srgbClr val="FFFFFF"/>
          </a:solidFill>
          <a:ln w="12700">
            <a:solidFill>
              <a:srgbClr val="CBD5E1"/>
            </a:solidFill>
            <a:prstDash val="solid"/>
          </a:ln>
        </p:spPr>
      </p:sp>
      <p:sp>
        <p:nvSpPr>
          <p:cNvPr id="12" name="Text 9"/>
          <p:cNvSpPr/>
          <p:nvPr/>
        </p:nvSpPr>
        <p:spPr>
          <a:xfrm>
            <a:off x="868680"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1</a:t>
            </a:r>
            <a:endParaRPr lang="en-US" sz="800" dirty="0"/>
          </a:p>
        </p:txBody>
      </p:sp>
      <p:sp>
        <p:nvSpPr>
          <p:cNvPr id="13" name="Shape 10"/>
          <p:cNvSpPr/>
          <p:nvPr/>
        </p:nvSpPr>
        <p:spPr>
          <a:xfrm>
            <a:off x="3142488" y="2148840"/>
            <a:ext cx="749808" cy="256032"/>
          </a:xfrm>
          <a:prstGeom prst="roundRect">
            <a:avLst>
              <a:gd name="adj" fmla="val 28571"/>
            </a:avLst>
          </a:prstGeom>
          <a:solidFill>
            <a:srgbClr val="FEE2E2"/>
          </a:solidFill>
          <a:ln w="12700">
            <a:solidFill>
              <a:srgbClr val="FEE2E2"/>
            </a:solidFill>
            <a:prstDash val="solid"/>
          </a:ln>
        </p:spPr>
      </p:sp>
      <p:sp>
        <p:nvSpPr>
          <p:cNvPr id="14" name="Text 11"/>
          <p:cNvSpPr/>
          <p:nvPr/>
        </p:nvSpPr>
        <p:spPr>
          <a:xfrm>
            <a:off x="3179064"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15" name="Text 12"/>
          <p:cNvSpPr/>
          <p:nvPr/>
        </p:nvSpPr>
        <p:spPr>
          <a:xfrm>
            <a:off x="868680"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16" name="Text 13"/>
          <p:cNvSpPr/>
          <p:nvPr/>
        </p:nvSpPr>
        <p:spPr>
          <a:xfrm>
            <a:off x="868680"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Flag for coaching; assign buddy or practice resources</a:t>
            </a:r>
            <a:endParaRPr lang="en-US" sz="1050" dirty="0"/>
          </a:p>
        </p:txBody>
      </p:sp>
      <p:sp>
        <p:nvSpPr>
          <p:cNvPr id="17" name="Text 14"/>
          <p:cNvSpPr/>
          <p:nvPr/>
        </p:nvSpPr>
        <p:spPr>
          <a:xfrm>
            <a:off x="868680"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18" name="Text 15"/>
          <p:cNvSpPr/>
          <p:nvPr/>
        </p:nvSpPr>
        <p:spPr>
          <a:xfrm>
            <a:off x="868680"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learner recovery and reduce support-needed cases.</a:t>
            </a:r>
            <a:endParaRPr lang="en-US" sz="920" dirty="0"/>
          </a:p>
        </p:txBody>
      </p:sp>
      <p:sp>
        <p:nvSpPr>
          <p:cNvPr id="19" name="Shape 16"/>
          <p:cNvSpPr/>
          <p:nvPr/>
        </p:nvSpPr>
        <p:spPr>
          <a:xfrm>
            <a:off x="5847588" y="1234440"/>
            <a:ext cx="512064" cy="512064"/>
          </a:xfrm>
          <a:prstGeom prst="ellipse">
            <a:avLst/>
          </a:prstGeom>
          <a:solidFill>
            <a:srgbClr val="B91C1C"/>
          </a:solidFill>
          <a:ln w="12700">
            <a:solidFill>
              <a:srgbClr val="FFFFFF"/>
            </a:solidFill>
            <a:prstDash val="solid"/>
          </a:ln>
        </p:spPr>
      </p:sp>
      <p:sp>
        <p:nvSpPr>
          <p:cNvPr id="20" name="Text 17"/>
          <p:cNvSpPr/>
          <p:nvPr/>
        </p:nvSpPr>
        <p:spPr>
          <a:xfrm>
            <a:off x="5847588"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1" name="Shape 18"/>
          <p:cNvSpPr/>
          <p:nvPr/>
        </p:nvSpPr>
        <p:spPr>
          <a:xfrm>
            <a:off x="4395216" y="1938528"/>
            <a:ext cx="3416808" cy="3364992"/>
          </a:xfrm>
          <a:prstGeom prst="roundRect">
            <a:avLst>
              <a:gd name="adj" fmla="val 2174"/>
            </a:avLst>
          </a:prstGeom>
          <a:solidFill>
            <a:srgbClr val="FFFFFF"/>
          </a:solidFill>
          <a:ln w="12700">
            <a:solidFill>
              <a:srgbClr val="CBD5E1"/>
            </a:solidFill>
            <a:prstDash val="solid"/>
          </a:ln>
        </p:spPr>
      </p:sp>
      <p:sp>
        <p:nvSpPr>
          <p:cNvPr id="22" name="Text 19"/>
          <p:cNvSpPr/>
          <p:nvPr/>
        </p:nvSpPr>
        <p:spPr>
          <a:xfrm>
            <a:off x="4578096"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2</a:t>
            </a:r>
            <a:endParaRPr lang="en-US" sz="800" dirty="0"/>
          </a:p>
        </p:txBody>
      </p:sp>
      <p:sp>
        <p:nvSpPr>
          <p:cNvPr id="23" name="Shape 20"/>
          <p:cNvSpPr/>
          <p:nvPr/>
        </p:nvSpPr>
        <p:spPr>
          <a:xfrm>
            <a:off x="6851904" y="2148840"/>
            <a:ext cx="749808" cy="256032"/>
          </a:xfrm>
          <a:prstGeom prst="roundRect">
            <a:avLst>
              <a:gd name="adj" fmla="val 28571"/>
            </a:avLst>
          </a:prstGeom>
          <a:solidFill>
            <a:srgbClr val="FEE2E2"/>
          </a:solidFill>
          <a:ln w="12700">
            <a:solidFill>
              <a:srgbClr val="FEE2E2"/>
            </a:solidFill>
            <a:prstDash val="solid"/>
          </a:ln>
        </p:spPr>
      </p:sp>
      <p:sp>
        <p:nvSpPr>
          <p:cNvPr id="24" name="Text 21"/>
          <p:cNvSpPr/>
          <p:nvPr/>
        </p:nvSpPr>
        <p:spPr>
          <a:xfrm>
            <a:off x="6888480"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5" name="Text 22"/>
          <p:cNvSpPr/>
          <p:nvPr/>
        </p:nvSpPr>
        <p:spPr>
          <a:xfrm>
            <a:off x="4578096"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26" name="Text 23"/>
          <p:cNvSpPr/>
          <p:nvPr/>
        </p:nvSpPr>
        <p:spPr>
          <a:xfrm>
            <a:off x="4578096"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Assign a coaching owner, buddy support, and targeted practice resources for the flagged learner.</a:t>
            </a:r>
            <a:endParaRPr lang="en-US" sz="1050" dirty="0"/>
          </a:p>
        </p:txBody>
      </p:sp>
      <p:sp>
        <p:nvSpPr>
          <p:cNvPr id="27" name="Text 24"/>
          <p:cNvSpPr/>
          <p:nvPr/>
        </p:nvSpPr>
        <p:spPr>
          <a:xfrm>
            <a:off x="4578096"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28" name="Text 25"/>
          <p:cNvSpPr/>
          <p:nvPr/>
        </p:nvSpPr>
        <p:spPr>
          <a:xfrm>
            <a:off x="4578096"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learner recovery and reduce support-needed cases.</a:t>
            </a:r>
            <a:endParaRPr lang="en-US" sz="920" dirty="0"/>
          </a:p>
        </p:txBody>
      </p:sp>
      <p:sp>
        <p:nvSpPr>
          <p:cNvPr id="29" name="Shape 26"/>
          <p:cNvSpPr/>
          <p:nvPr/>
        </p:nvSpPr>
        <p:spPr>
          <a:xfrm>
            <a:off x="9557004" y="1234440"/>
            <a:ext cx="512064" cy="512064"/>
          </a:xfrm>
          <a:prstGeom prst="ellipse">
            <a:avLst/>
          </a:prstGeom>
          <a:solidFill>
            <a:srgbClr val="B45309"/>
          </a:solidFill>
          <a:ln w="12700">
            <a:solidFill>
              <a:srgbClr val="FFFFFF"/>
            </a:solidFill>
            <a:prstDash val="solid"/>
          </a:ln>
        </p:spPr>
      </p:sp>
      <p:sp>
        <p:nvSpPr>
          <p:cNvPr id="30" name="Text 27"/>
          <p:cNvSpPr/>
          <p:nvPr/>
        </p:nvSpPr>
        <p:spPr>
          <a:xfrm>
            <a:off x="9557004"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31" name="Shape 28"/>
          <p:cNvSpPr/>
          <p:nvPr/>
        </p:nvSpPr>
        <p:spPr>
          <a:xfrm>
            <a:off x="8104632" y="1938528"/>
            <a:ext cx="3416808" cy="3364992"/>
          </a:xfrm>
          <a:prstGeom prst="roundRect">
            <a:avLst>
              <a:gd name="adj" fmla="val 2174"/>
            </a:avLst>
          </a:prstGeom>
          <a:solidFill>
            <a:srgbClr val="FFFFFF"/>
          </a:solidFill>
          <a:ln w="12700">
            <a:solidFill>
              <a:srgbClr val="CBD5E1"/>
            </a:solidFill>
            <a:prstDash val="solid"/>
          </a:ln>
        </p:spPr>
      </p:sp>
      <p:sp>
        <p:nvSpPr>
          <p:cNvPr id="32" name="Text 29"/>
          <p:cNvSpPr/>
          <p:nvPr/>
        </p:nvSpPr>
        <p:spPr>
          <a:xfrm>
            <a:off x="8287512"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3</a:t>
            </a:r>
            <a:endParaRPr lang="en-US" sz="800" dirty="0"/>
          </a:p>
        </p:txBody>
      </p:sp>
      <p:sp>
        <p:nvSpPr>
          <p:cNvPr id="33" name="Shape 30"/>
          <p:cNvSpPr/>
          <p:nvPr/>
        </p:nvSpPr>
        <p:spPr>
          <a:xfrm>
            <a:off x="10561320" y="2148840"/>
            <a:ext cx="749808" cy="256032"/>
          </a:xfrm>
          <a:prstGeom prst="roundRect">
            <a:avLst>
              <a:gd name="adj" fmla="val 28571"/>
            </a:avLst>
          </a:prstGeom>
          <a:solidFill>
            <a:srgbClr val="FEF3C7"/>
          </a:solidFill>
          <a:ln w="12700">
            <a:solidFill>
              <a:srgbClr val="FEF3C7"/>
            </a:solidFill>
            <a:prstDash val="solid"/>
          </a:ln>
        </p:spPr>
      </p:sp>
      <p:sp>
        <p:nvSpPr>
          <p:cNvPr id="34" name="Text 31"/>
          <p:cNvSpPr/>
          <p:nvPr/>
        </p:nvSpPr>
        <p:spPr>
          <a:xfrm>
            <a:off x="10597896"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35" name="Text 32"/>
          <p:cNvSpPr/>
          <p:nvPr/>
        </p:nvSpPr>
        <p:spPr>
          <a:xfrm>
            <a:off x="8287512"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36" name="Text 33"/>
          <p:cNvSpPr/>
          <p:nvPr/>
        </p:nvSpPr>
        <p:spPr>
          <a:xfrm>
            <a:off x="8287512"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Additionally, consider reviewing course content and delivery methods to address the gaps that may be affecting the pass rate, ensuring that all trainees can achieve the desired learning outcomes.</a:t>
            </a:r>
            <a:endParaRPr lang="en-US" sz="1050" dirty="0"/>
          </a:p>
        </p:txBody>
      </p:sp>
      <p:sp>
        <p:nvSpPr>
          <p:cNvPr id="37" name="Text 34"/>
          <p:cNvSpPr/>
          <p:nvPr/>
        </p:nvSpPr>
        <p:spPr>
          <a:xfrm>
            <a:off x="8287512"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38" name="Text 35"/>
          <p:cNvSpPr/>
          <p:nvPr/>
        </p:nvSpPr>
        <p:spPr>
          <a:xfrm>
            <a:off x="8287512"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rpt_f510ef83-c4ac-4e60-b64f-a074d20880ad</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ds_236a8de76abde8ad</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mx_6bc5147d-4211-4c8c-96ff-49fc785dff24</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ev_9b3c4c4d-2ebf-4a85-bd05-2b796635be7b</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gv_0fda527b-52d2-478a-8c97-711ebe0d3228</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AWS Cloud Architecture &amp; Services</dc:title>
  <dc:subject>Training effectiveness is strong with validated evidence.</dc:subject>
  <dc:creator>SETA L&amp;D Reporting Agent</dc:creator>
  <cp:lastModifiedBy>SETA L&amp;D Reporting Agent</cp:lastModifiedBy>
  <cp:revision>1</cp:revision>
  <dcterms:created xsi:type="dcterms:W3CDTF">2026-06-22T08:21:20Z</dcterms:created>
  <dcterms:modified xsi:type="dcterms:W3CDTF">2026-06-22T08:21:20Z</dcterms:modified>
</cp:coreProperties>
</file>