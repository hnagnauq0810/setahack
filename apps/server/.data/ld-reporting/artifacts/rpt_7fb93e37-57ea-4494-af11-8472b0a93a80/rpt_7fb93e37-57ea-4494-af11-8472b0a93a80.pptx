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- 2026-Q1</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Shape 5"/>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8" name="Text 6"/>
          <p:cNvSpPr/>
          <p:nvPr/>
        </p:nvSpPr>
        <p:spPr>
          <a:xfrm>
            <a:off x="694944" y="37536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Passed</a:t>
            </a:r>
            <a:endParaRPr lang="en-US" sz="740" dirty="0"/>
          </a:p>
        </p:txBody>
      </p:sp>
      <p:sp>
        <p:nvSpPr>
          <p:cNvPr id="9" name="Shape 7"/>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10" name="Text 8"/>
          <p:cNvSpPr/>
          <p:nvPr/>
        </p:nvSpPr>
        <p:spPr>
          <a:xfrm>
            <a:off x="209397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Draft</a:t>
            </a:r>
            <a:endParaRPr lang="en-US" sz="740" dirty="0"/>
          </a:p>
        </p:txBody>
      </p:sp>
      <p:sp>
        <p:nvSpPr>
          <p:cNvPr id="11" name="Shape 9"/>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12" name="Text 10"/>
          <p:cNvSpPr/>
          <p:nvPr/>
        </p:nvSpPr>
        <p:spPr>
          <a:xfrm>
            <a:off x="332841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L&amp;D Manager</a:t>
            </a:r>
            <a:endParaRPr lang="en-US" sz="740" dirty="0"/>
          </a:p>
        </p:txBody>
      </p:sp>
      <p:sp>
        <p:nvSpPr>
          <p:cNvPr id="13" name="Text 11"/>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Period 2026-Q1 | Type full</a:t>
            </a:r>
            <a:endParaRPr lang="en-US" sz="1200" dirty="0"/>
          </a:p>
        </p:txBody>
      </p:sp>
      <p:sp>
        <p:nvSpPr>
          <p:cNvPr id="14" name="Text 12"/>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6/19/2026, 6:46:36 PM</a:t>
            </a:r>
            <a:endParaRPr lang="en-US" sz="1100" dirty="0"/>
          </a:p>
        </p:txBody>
      </p:sp>
      <p:sp>
        <p:nvSpPr>
          <p:cNvPr id="15" name="Text 13"/>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6766560" cy="475488"/>
          </a:xfrm>
          <a:prstGeom prst="rect">
            <a:avLst/>
          </a:prstGeom>
          <a:noFill/>
          <a:ln/>
        </p:spPr>
        <p:txBody>
          <a:bodyPr wrap="square" rtlCol="0" anchor="ctr">
            <a:normAutofit/>
          </a:bodyPr>
          <a:lstStyle/>
          <a:p>
            <a:pPr indent="0" marL="0">
              <a:buNone/>
            </a:pPr>
            <a:r>
              <a:rPr lang="en-US" sz="2200" b="1" dirty="0">
                <a:solidFill>
                  <a:srgbClr val="0F172A"/>
                </a:solidFill>
              </a:rPr>
              <a:t>Training effectiveness is strong with validated evidence.</a:t>
            </a:r>
            <a:endParaRPr lang="en-US" sz="2200" dirty="0"/>
          </a:p>
        </p:txBody>
      </p:sp>
      <p:sp>
        <p:nvSpPr>
          <p:cNvPr id="8" name="Text 6"/>
          <p:cNvSpPr/>
          <p:nvPr/>
        </p:nvSpPr>
        <p:spPr>
          <a:xfrm>
            <a:off x="621792" y="1719072"/>
            <a:ext cx="6675120" cy="1554480"/>
          </a:xfrm>
          <a:prstGeom prst="rect">
            <a:avLst/>
          </a:prstGeom>
          <a:noFill/>
          <a:ln/>
        </p:spPr>
        <p:txBody>
          <a:bodyPr wrap="square" rtlCol="0" anchor="t">
            <a:normAutofit/>
          </a:bodyPr>
          <a:lstStyle/>
          <a:p>
            <a:pPr indent="0" marL="0">
              <a:buNone/>
            </a:pPr>
            <a:r>
              <a:rPr lang="en-US" sz="1300" dirty="0">
                <a:solidFill>
                  <a:srgbClr val="0F172A"/>
                </a:solidFill>
              </a:rPr>
              <a:t>The selected scope contains 3 course(s), 3 completed course(s), and 59 trainee-course records. Overall attendance is 92.9%, completion is 98.3%, pass rate is 89.8%, and average score is 7.59/10. Total training hours are 848 and scaled cost is 32. Overall effectiveness classification is Risk. Management interpretation: The training program for Q1 2026 included three courses, all of which were completed by a total of 59 trainees. The overall attendance rate was high at 92.9%, with a completion rate of 98.3%. However, the pass rate of 89.8% indicates that some trainees did not meet the required performance standards, contributing to an overall effectiveness classification of Risk. The average score across all courses was 7.59 out of 10, and the feedback rating averaged 4.48 out of 5, suggesting positive reception but highlighting areas for improvement.</a:t>
            </a:r>
            <a:endParaRPr lang="en-US" sz="1300" dirty="0"/>
          </a:p>
        </p:txBody>
      </p:sp>
      <p:sp>
        <p:nvSpPr>
          <p:cNvPr id="9" name="Shape 7"/>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0" name="Text 8"/>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11" name="Shape 9"/>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8083296" y="1696212"/>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3" name="Text 11"/>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4" name="Text 12"/>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5" name="Text 13"/>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6" name="Shape 14"/>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17" name="Text 15"/>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18" name="Text 16"/>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92.9%</a:t>
            </a:r>
            <a:endParaRPr lang="en-US" sz="2100" dirty="0"/>
          </a:p>
        </p:txBody>
      </p:sp>
      <p:sp>
        <p:nvSpPr>
          <p:cNvPr id="19" name="Text 17"/>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0" name="Shape 18"/>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220370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Shape 20"/>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23" name="Text 21"/>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24" name="Text 22"/>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98.3%</a:t>
            </a:r>
            <a:endParaRPr lang="en-US" sz="2100" dirty="0"/>
          </a:p>
        </p:txBody>
      </p:sp>
      <p:sp>
        <p:nvSpPr>
          <p:cNvPr id="25" name="Text 23"/>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26" name="Shape 24"/>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499262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28" name="Shape 26"/>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29" name="Text 27"/>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0" name="Text 28"/>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89.8%</a:t>
            </a:r>
            <a:endParaRPr lang="en-US" sz="2100" dirty="0"/>
          </a:p>
        </p:txBody>
      </p:sp>
      <p:sp>
        <p:nvSpPr>
          <p:cNvPr id="31" name="Text 29"/>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32" name="Shape 30"/>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778154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4" name="Shape 32"/>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35" name="Text 33"/>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36" name="Text 34"/>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7.59/10</a:t>
            </a:r>
            <a:endParaRPr lang="en-US" sz="2100" dirty="0"/>
          </a:p>
        </p:txBody>
      </p:sp>
      <p:sp>
        <p:nvSpPr>
          <p:cNvPr id="37" name="Text 35"/>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38" name="Shape 36"/>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39" name="Text 37"/>
          <p:cNvSpPr/>
          <p:nvPr/>
        </p:nvSpPr>
        <p:spPr>
          <a:xfrm>
            <a:off x="10570464" y="499719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714500"/>
            <a:ext cx="1069848" cy="91440"/>
          </a:xfrm>
          <a:prstGeom prst="rect">
            <a:avLst/>
          </a:prstGeom>
          <a:noFill/>
          <a:ln/>
        </p:spPr>
        <p:txBody>
          <a:bodyPr wrap="square"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Risk.</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6289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Teams, OneDrive, Forms, KPI, Rules and Template sheets were mapped to simulated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3147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40005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863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assessment/pass-status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721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92.9%</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98.3%</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89.8%</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7.59/10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6255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4.48/5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403707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848</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32</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0.0683</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4037076"/>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078992"/>
          <a:ext cx="10972800" cy="3063240"/>
        </p:xfrm>
        <a:graphic>
          <a:graphicData uri="http://schemas.openxmlformats.org/drawingml/2006/table">
            <a:tbl>
              <a:tblPr/>
              <a:tblGrid>
                <a:gridCol w="3017520"/>
                <a:gridCol w="914400"/>
                <a:gridCol w="1143000"/>
                <a:gridCol w="1143000"/>
                <a:gridCol w="1005840"/>
                <a:gridCol w="1005840"/>
                <a:gridCol w="1234440"/>
              </a:tblGrid>
              <a:tr h="411480">
                <a:tc>
                  <a:txBody>
                    <a:bodyPr/>
                    <a:lstStyle/>
                    <a:p>
                      <a:pPr indent="0" marL="0">
                        <a:buNone/>
                      </a:pPr>
                      <a:r>
                        <a:rPr lang="en-US" sz="1000" dirty="0">
                          <a:solidFill>
                            <a:srgbClr val="0F172A"/>
                          </a:solidFill>
                        </a:rPr>
                        <a:t>Course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Learners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Attend.</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Complete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Pass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Score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Effectiveness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Automation Testing with Playwri...</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37</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91.9%</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97.3%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89.2%</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7.59/10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86.66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DevOps Fundamentals: CI/CD, K8s...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7.89/10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92.28</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AWS Cloud Architecture &amp; Servic...</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12</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93.3%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100%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83.3%</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7.32/10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85.76</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Text 5"/>
          <p:cNvSpPr/>
          <p:nvPr/>
        </p:nvSpPr>
        <p:spPr>
          <a:xfrm>
            <a:off x="594360" y="4572000"/>
            <a:ext cx="2011680" cy="256032"/>
          </a:xfrm>
          <a:prstGeom prst="rect">
            <a:avLst/>
          </a:prstGeom>
          <a:noFill/>
          <a:ln/>
        </p:spPr>
        <p:txBody>
          <a:bodyPr wrap="square" rtlCol="0" anchor="ctr"/>
          <a:lstStyle/>
          <a:p>
            <a:pPr indent="0" marL="0">
              <a:buNone/>
            </a:pPr>
            <a:r>
              <a:rPr lang="en-US" sz="1400" b="1" dirty="0">
                <a:solidFill>
                  <a:srgbClr val="0F172A"/>
                </a:solidFill>
              </a:rPr>
              <a:t>What to notice</a:t>
            </a:r>
            <a:endParaRPr lang="en-US" sz="1400" dirty="0"/>
          </a:p>
        </p:txBody>
      </p:sp>
      <p:sp>
        <p:nvSpPr>
          <p:cNvPr id="9" name="Shape 6"/>
          <p:cNvSpPr/>
          <p:nvPr/>
        </p:nvSpPr>
        <p:spPr>
          <a:xfrm>
            <a:off x="594360" y="4956048"/>
            <a:ext cx="3429000" cy="868680"/>
          </a:xfrm>
          <a:prstGeom prst="roundRect">
            <a:avLst>
              <a:gd name="adj" fmla="val 8421"/>
            </a:avLst>
          </a:prstGeom>
          <a:solidFill>
            <a:srgbClr val="D1FAE5"/>
          </a:solidFill>
          <a:ln w="12700">
            <a:solidFill>
              <a:srgbClr val="D1FAE5"/>
            </a:solidFill>
            <a:prstDash val="solid"/>
          </a:ln>
        </p:spPr>
      </p:sp>
      <p:sp>
        <p:nvSpPr>
          <p:cNvPr id="10" name="Text 7"/>
          <p:cNvSpPr/>
          <p:nvPr/>
        </p:nvSpPr>
        <p:spPr>
          <a:xfrm>
            <a:off x="758952"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98.3%</a:t>
            </a:r>
            <a:endParaRPr lang="en-US" sz="1000" dirty="0"/>
          </a:p>
        </p:txBody>
      </p:sp>
      <p:sp>
        <p:nvSpPr>
          <p:cNvPr id="11" name="Shape 8"/>
          <p:cNvSpPr/>
          <p:nvPr/>
        </p:nvSpPr>
        <p:spPr>
          <a:xfrm>
            <a:off x="4325112" y="4956048"/>
            <a:ext cx="3429000" cy="868680"/>
          </a:xfrm>
          <a:prstGeom prst="roundRect">
            <a:avLst>
              <a:gd name="adj" fmla="val 8421"/>
            </a:avLst>
          </a:prstGeom>
          <a:solidFill>
            <a:srgbClr val="FEE2E2"/>
          </a:solidFill>
          <a:ln w="12700">
            <a:solidFill>
              <a:srgbClr val="FEE2E2"/>
            </a:solidFill>
            <a:prstDash val="solid"/>
          </a:ln>
        </p:spPr>
      </p:sp>
      <p:sp>
        <p:nvSpPr>
          <p:cNvPr id="12" name="Text 9"/>
          <p:cNvSpPr/>
          <p:nvPr/>
        </p:nvSpPr>
        <p:spPr>
          <a:xfrm>
            <a:off x="4489704"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88.23</a:t>
            </a:r>
            <a:endParaRPr lang="en-US" sz="1000" dirty="0"/>
          </a:p>
        </p:txBody>
      </p:sp>
      <p:sp>
        <p:nvSpPr>
          <p:cNvPr id="13" name="Shape 10"/>
          <p:cNvSpPr/>
          <p:nvPr/>
        </p:nvSpPr>
        <p:spPr>
          <a:xfrm>
            <a:off x="8055864" y="4956048"/>
            <a:ext cx="3429000" cy="868680"/>
          </a:xfrm>
          <a:prstGeom prst="roundRect">
            <a:avLst>
              <a:gd name="adj" fmla="val 8421"/>
            </a:avLst>
          </a:prstGeom>
          <a:solidFill>
            <a:srgbClr val="D1FAE5"/>
          </a:solidFill>
          <a:ln w="12700">
            <a:solidFill>
              <a:srgbClr val="D1FAE5"/>
            </a:solidFill>
            <a:prstDash val="solid"/>
          </a:ln>
        </p:spPr>
      </p:sp>
      <p:sp>
        <p:nvSpPr>
          <p:cNvPr id="14" name="Text 11"/>
          <p:cNvSpPr/>
          <p:nvPr/>
        </p:nvSpPr>
        <p:spPr>
          <a:xfrm>
            <a:off x="8220456"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the strongest effectiveness score (92.28) in the selected scop</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31216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98.3%</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89.8%.</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88.23</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92.9%, pass rate 89.8%, average score 7.59/10.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Risk.</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6100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the strongest effectiveness score (92.28) in the selected scop</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FEF3C7"/>
          </a:solidFill>
          <a:ln w="12700">
            <a:solidFill>
              <a:srgbClr val="FEF3C7"/>
            </a:solidFill>
            <a:prstDash val="solid"/>
          </a:ln>
        </p:spPr>
      </p:sp>
      <p:sp>
        <p:nvSpPr>
          <p:cNvPr id="27" name="Text 25"/>
          <p:cNvSpPr/>
          <p:nvPr/>
        </p:nvSpPr>
        <p:spPr>
          <a:xfrm>
            <a:off x="6437376" y="3461004"/>
            <a:ext cx="79552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AWS Cloud Architecture &amp; Services needs attention with effectiveness score 85.76, attendance 93.3%, and pass r</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Teams, OneDrive, Forms, KPI, Rules and Template sheets were mapped to simulated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assessment/pass-status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Consistency: course ID, trainee ID, period</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Cross-source course IDs and pass-status logic were checked against the catalog.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Risk</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7</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9466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8952" y="3744468"/>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9" name="Shape 27"/>
          <p:cNvSpPr/>
          <p:nvPr/>
        </p:nvSpPr>
        <p:spPr>
          <a:xfrm>
            <a:off x="594360" y="4288536"/>
            <a:ext cx="6812280" cy="566928"/>
          </a:xfrm>
          <a:prstGeom prst="roundRect">
            <a:avLst>
              <a:gd name="adj" fmla="val 9677"/>
            </a:avLst>
          </a:prstGeom>
          <a:solidFill>
            <a:srgbClr val="FFFFFF"/>
          </a:solidFill>
          <a:ln w="12700">
            <a:solidFill>
              <a:srgbClr val="CBD5E1"/>
            </a:solidFill>
            <a:prstDash val="solid"/>
          </a:ln>
        </p:spPr>
      </p:sp>
      <p:sp>
        <p:nvSpPr>
          <p:cNvPr id="30" name="Shape 28"/>
          <p:cNvSpPr/>
          <p:nvPr/>
        </p:nvSpPr>
        <p:spPr>
          <a:xfrm>
            <a:off x="722376" y="4443984"/>
            <a:ext cx="77724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758952" y="449427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1600200" y="4398264"/>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3" name="Text 31"/>
          <p:cNvSpPr/>
          <p:nvPr/>
        </p:nvSpPr>
        <p:spPr>
          <a:xfrm>
            <a:off x="3840480" y="4379976"/>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
        <p:nvSpPr>
          <p:cNvPr id="34" name="Shape 32"/>
          <p:cNvSpPr/>
          <p:nvPr/>
        </p:nvSpPr>
        <p:spPr>
          <a:xfrm>
            <a:off x="594360" y="5038344"/>
            <a:ext cx="6812280" cy="566928"/>
          </a:xfrm>
          <a:prstGeom prst="roundRect">
            <a:avLst>
              <a:gd name="adj" fmla="val 9677"/>
            </a:avLst>
          </a:prstGeom>
          <a:solidFill>
            <a:srgbClr val="FFFFFF"/>
          </a:solidFill>
          <a:ln w="12700">
            <a:solidFill>
              <a:srgbClr val="CBD5E1"/>
            </a:solidFill>
            <a:prstDash val="solid"/>
          </a:ln>
        </p:spPr>
      </p:sp>
      <p:sp>
        <p:nvSpPr>
          <p:cNvPr id="35" name="Shape 33"/>
          <p:cNvSpPr/>
          <p:nvPr/>
        </p:nvSpPr>
        <p:spPr>
          <a:xfrm>
            <a:off x="722376" y="5193792"/>
            <a:ext cx="777240" cy="256032"/>
          </a:xfrm>
          <a:prstGeom prst="roundRect">
            <a:avLst>
              <a:gd name="adj" fmla="val 28571"/>
            </a:avLst>
          </a:prstGeom>
          <a:solidFill>
            <a:srgbClr val="FEE2E2"/>
          </a:solidFill>
          <a:ln w="12700">
            <a:solidFill>
              <a:srgbClr val="FEE2E2"/>
            </a:solidFill>
            <a:prstDash val="solid"/>
          </a:ln>
        </p:spPr>
      </p:sp>
      <p:sp>
        <p:nvSpPr>
          <p:cNvPr id="36" name="Text 34"/>
          <p:cNvSpPr/>
          <p:nvPr/>
        </p:nvSpPr>
        <p:spPr>
          <a:xfrm>
            <a:off x="758952" y="5244084"/>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7" name="Text 35"/>
          <p:cNvSpPr/>
          <p:nvPr/>
        </p:nvSpPr>
        <p:spPr>
          <a:xfrm>
            <a:off x="1600200" y="5148072"/>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38" name="Text 36"/>
          <p:cNvSpPr/>
          <p:nvPr/>
        </p:nvSpPr>
        <p:spPr>
          <a:xfrm>
            <a:off x="3840480" y="5129784"/>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207008" y="1211580"/>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for coaching; assign buddy or practice resources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99132"/>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Mark as Incomplete; recommend re-enrollment in next cohort</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86684"/>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Assign a coaching owner, buddy support, and targeted practice resources for the flagged learner.</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28" name="Shape 26"/>
          <p:cNvSpPr/>
          <p:nvPr/>
        </p:nvSpPr>
        <p:spPr>
          <a:xfrm>
            <a:off x="594360" y="3922776"/>
            <a:ext cx="10972800" cy="749808"/>
          </a:xfrm>
          <a:prstGeom prst="roundRect">
            <a:avLst>
              <a:gd name="adj" fmla="val 7317"/>
            </a:avLst>
          </a:prstGeom>
          <a:solidFill>
            <a:srgbClr val="FFFFFF"/>
          </a:solidFill>
          <a:ln w="12700">
            <a:solidFill>
              <a:srgbClr val="CBD5E1"/>
            </a:solidFill>
            <a:prstDash val="solid"/>
          </a:ln>
        </p:spPr>
      </p:sp>
      <p:sp>
        <p:nvSpPr>
          <p:cNvPr id="29" name="Text 27"/>
          <p:cNvSpPr/>
          <p:nvPr/>
        </p:nvSpPr>
        <p:spPr>
          <a:xfrm>
            <a:off x="768096" y="4142232"/>
            <a:ext cx="228600" cy="164592"/>
          </a:xfrm>
          <a:prstGeom prst="rect">
            <a:avLst/>
          </a:prstGeom>
          <a:noFill/>
          <a:ln/>
        </p:spPr>
        <p:txBody>
          <a:bodyPr wrap="square" rtlCol="0" anchor="ctr"/>
          <a:lstStyle/>
          <a:p>
            <a:pPr algn="ctr" indent="0" marL="0">
              <a:buNone/>
            </a:pPr>
            <a:r>
              <a:rPr lang="en-US" sz="1200" b="1" dirty="0">
                <a:solidFill>
                  <a:srgbClr val="0F172A"/>
                </a:solidFill>
              </a:rPr>
              <a:t>4</a:t>
            </a:r>
            <a:endParaRPr lang="en-US" sz="1200" dirty="0"/>
          </a:p>
        </p:txBody>
      </p:sp>
      <p:sp>
        <p:nvSpPr>
          <p:cNvPr id="30" name="Shape 28"/>
          <p:cNvSpPr/>
          <p:nvPr/>
        </p:nvSpPr>
        <p:spPr>
          <a:xfrm>
            <a:off x="1170432" y="4123944"/>
            <a:ext cx="82296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1207008" y="4174236"/>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2121408" y="4087368"/>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33" name="Text 31"/>
          <p:cNvSpPr/>
          <p:nvPr/>
        </p:nvSpPr>
        <p:spPr>
          <a:xfrm>
            <a:off x="3794760" y="4032504"/>
            <a:ext cx="3840480" cy="256032"/>
          </a:xfrm>
          <a:prstGeom prst="rect">
            <a:avLst/>
          </a:prstGeom>
          <a:noFill/>
          <a:ln/>
        </p:spPr>
        <p:txBody>
          <a:bodyPr wrap="square" rtlCol="0" anchor="ctr">
            <a:normAutofit/>
          </a:bodyPr>
          <a:lstStyle/>
          <a:p>
            <a:pPr indent="0" marL="0">
              <a:buNone/>
            </a:pPr>
            <a:r>
              <a:rPr lang="en-US" sz="930" dirty="0">
                <a:solidFill>
                  <a:srgbClr val="0F172A"/>
                </a:solidFill>
              </a:rPr>
              <a:t>Mark incomplete learner records for review and schedule re-enrollment in the next suitable cohort.</a:t>
            </a:r>
            <a:endParaRPr lang="en-US" sz="930" dirty="0"/>
          </a:p>
        </p:txBody>
      </p:sp>
      <p:sp>
        <p:nvSpPr>
          <p:cNvPr id="34" name="Text 32"/>
          <p:cNvSpPr/>
          <p:nvPr/>
        </p:nvSpPr>
        <p:spPr>
          <a:xfrm>
            <a:off x="7863840" y="4032504"/>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35" name="Shape 33"/>
          <p:cNvSpPr/>
          <p:nvPr/>
        </p:nvSpPr>
        <p:spPr>
          <a:xfrm>
            <a:off x="594360" y="4910328"/>
            <a:ext cx="10972800" cy="749808"/>
          </a:xfrm>
          <a:prstGeom prst="roundRect">
            <a:avLst>
              <a:gd name="adj" fmla="val 7317"/>
            </a:avLst>
          </a:prstGeom>
          <a:solidFill>
            <a:srgbClr val="FFFFFF"/>
          </a:solidFill>
          <a:ln w="12700">
            <a:solidFill>
              <a:srgbClr val="CBD5E1"/>
            </a:solidFill>
            <a:prstDash val="solid"/>
          </a:ln>
        </p:spPr>
      </p:sp>
      <p:sp>
        <p:nvSpPr>
          <p:cNvPr id="36" name="Text 34"/>
          <p:cNvSpPr/>
          <p:nvPr/>
        </p:nvSpPr>
        <p:spPr>
          <a:xfrm>
            <a:off x="768096" y="5129784"/>
            <a:ext cx="228600" cy="164592"/>
          </a:xfrm>
          <a:prstGeom prst="rect">
            <a:avLst/>
          </a:prstGeom>
          <a:noFill/>
          <a:ln/>
        </p:spPr>
        <p:txBody>
          <a:bodyPr wrap="square" rtlCol="0" anchor="ctr"/>
          <a:lstStyle/>
          <a:p>
            <a:pPr algn="ctr" indent="0" marL="0">
              <a:buNone/>
            </a:pPr>
            <a:r>
              <a:rPr lang="en-US" sz="1200" b="1" dirty="0">
                <a:solidFill>
                  <a:srgbClr val="0F172A"/>
                </a:solidFill>
              </a:rPr>
              <a:t>5</a:t>
            </a:r>
            <a:endParaRPr lang="en-US" sz="1200" dirty="0"/>
          </a:p>
        </p:txBody>
      </p:sp>
      <p:sp>
        <p:nvSpPr>
          <p:cNvPr id="37" name="Shape 35"/>
          <p:cNvSpPr/>
          <p:nvPr/>
        </p:nvSpPr>
        <p:spPr>
          <a:xfrm>
            <a:off x="1170432" y="5111496"/>
            <a:ext cx="82296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1207008" y="5161788"/>
            <a:ext cx="749808" cy="91440"/>
          </a:xfrm>
          <a:prstGeom prst="rect">
            <a:avLst/>
          </a:prstGeom>
          <a:noFill/>
          <a:ln/>
        </p:spPr>
        <p:txBody>
          <a:bodyPr wrap="square" rtlCol="0" anchor="ctr">
            <a:normAutofit/>
          </a:bodyPr>
          <a:lstStyle/>
          <a:p>
            <a:pPr algn="ctr" indent="0" marL="0">
              <a:buNone/>
            </a:pPr>
            <a:r>
              <a:rPr lang="en-US" sz="740" b="1" dirty="0">
                <a:solidFill>
                  <a:srgbClr val="047857"/>
                </a:solidFill>
              </a:rPr>
              <a:t>Low</a:t>
            </a:r>
            <a:endParaRPr lang="en-US" sz="740" dirty="0"/>
          </a:p>
        </p:txBody>
      </p:sp>
      <p:sp>
        <p:nvSpPr>
          <p:cNvPr id="39" name="Text 37"/>
          <p:cNvSpPr/>
          <p:nvPr/>
        </p:nvSpPr>
        <p:spPr>
          <a:xfrm>
            <a:off x="2121408" y="5074920"/>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40" name="Text 38"/>
          <p:cNvSpPr/>
          <p:nvPr/>
        </p:nvSpPr>
        <p:spPr>
          <a:xfrm>
            <a:off x="3794760" y="5020056"/>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a review of course content and delivery methods should be conducted to address the low pass rates and enhance overall effectiveness.</a:t>
            </a:r>
            <a:endParaRPr lang="en-US" sz="930" dirty="0"/>
          </a:p>
        </p:txBody>
      </p:sp>
      <p:sp>
        <p:nvSpPr>
          <p:cNvPr id="41" name="Text 39"/>
          <p:cNvSpPr/>
          <p:nvPr/>
        </p:nvSpPr>
        <p:spPr>
          <a:xfrm>
            <a:off x="7863840" y="5020056"/>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658368" y="1234440"/>
            <a:ext cx="2331720" cy="4251960"/>
          </a:xfrm>
          <a:prstGeom prst="roundRect">
            <a:avLst>
              <a:gd name="adj" fmla="val 3137"/>
            </a:avLst>
          </a:prstGeom>
          <a:solidFill>
            <a:srgbClr val="FFFFFF"/>
          </a:solidFill>
          <a:ln w="12700">
            <a:solidFill>
              <a:srgbClr val="CBD5E1"/>
            </a:solidFill>
            <a:prstDash val="solid"/>
          </a:ln>
        </p:spPr>
      </p:sp>
      <p:sp>
        <p:nvSpPr>
          <p:cNvPr id="8" name="Text 6"/>
          <p:cNvSpPr/>
          <p:nvPr/>
        </p:nvSpPr>
        <p:spPr>
          <a:xfrm>
            <a:off x="841248" y="1508760"/>
            <a:ext cx="1005840" cy="201168"/>
          </a:xfrm>
          <a:prstGeom prst="rect">
            <a:avLst/>
          </a:prstGeom>
          <a:noFill/>
          <a:ln/>
        </p:spPr>
        <p:txBody>
          <a:bodyPr wrap="square" rtlCol="0" anchor="ctr"/>
          <a:lstStyle/>
          <a:p>
            <a:pPr indent="0" marL="0">
              <a:buNone/>
            </a:pPr>
            <a:r>
              <a:rPr lang="en-US" sz="1000" b="1" dirty="0">
                <a:solidFill>
                  <a:srgbClr val="64748B"/>
                </a:solidFill>
              </a:rPr>
              <a:t>Step 1</a:t>
            </a:r>
            <a:endParaRPr lang="en-US" sz="1000" dirty="0"/>
          </a:p>
        </p:txBody>
      </p:sp>
      <p:sp>
        <p:nvSpPr>
          <p:cNvPr id="9" name="Shape 7"/>
          <p:cNvSpPr/>
          <p:nvPr/>
        </p:nvSpPr>
        <p:spPr>
          <a:xfrm>
            <a:off x="1892808" y="1481328"/>
            <a:ext cx="77724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92938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84124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12" name="Text 10"/>
          <p:cNvSpPr/>
          <p:nvPr/>
        </p:nvSpPr>
        <p:spPr>
          <a:xfrm>
            <a:off x="84124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Flag for coaching; assign buddy or practice resources</a:t>
            </a:r>
            <a:endParaRPr lang="en-US" sz="1050" dirty="0"/>
          </a:p>
        </p:txBody>
      </p:sp>
      <p:sp>
        <p:nvSpPr>
          <p:cNvPr id="13" name="Text 11"/>
          <p:cNvSpPr/>
          <p:nvPr/>
        </p:nvSpPr>
        <p:spPr>
          <a:xfrm>
            <a:off x="84124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14" name="Text 12"/>
          <p:cNvSpPr/>
          <p:nvPr/>
        </p:nvSpPr>
        <p:spPr>
          <a:xfrm>
            <a:off x="84124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15" name="Shape 13"/>
          <p:cNvSpPr/>
          <p:nvPr/>
        </p:nvSpPr>
        <p:spPr>
          <a:xfrm>
            <a:off x="3447288" y="1234440"/>
            <a:ext cx="2331720" cy="4251960"/>
          </a:xfrm>
          <a:prstGeom prst="roundRect">
            <a:avLst>
              <a:gd name="adj" fmla="val 3137"/>
            </a:avLst>
          </a:prstGeom>
          <a:solidFill>
            <a:srgbClr val="FFFFFF"/>
          </a:solidFill>
          <a:ln w="12700">
            <a:solidFill>
              <a:srgbClr val="CBD5E1"/>
            </a:solidFill>
            <a:prstDash val="solid"/>
          </a:ln>
        </p:spPr>
      </p:sp>
      <p:sp>
        <p:nvSpPr>
          <p:cNvPr id="16" name="Text 14"/>
          <p:cNvSpPr/>
          <p:nvPr/>
        </p:nvSpPr>
        <p:spPr>
          <a:xfrm>
            <a:off x="3630168" y="1508760"/>
            <a:ext cx="1005840" cy="201168"/>
          </a:xfrm>
          <a:prstGeom prst="rect">
            <a:avLst/>
          </a:prstGeom>
          <a:noFill/>
          <a:ln/>
        </p:spPr>
        <p:txBody>
          <a:bodyPr wrap="square" rtlCol="0" anchor="ctr"/>
          <a:lstStyle/>
          <a:p>
            <a:pPr indent="0" marL="0">
              <a:buNone/>
            </a:pPr>
            <a:r>
              <a:rPr lang="en-US" sz="1000" b="1" dirty="0">
                <a:solidFill>
                  <a:srgbClr val="64748B"/>
                </a:solidFill>
              </a:rPr>
              <a:t>Step 2</a:t>
            </a:r>
            <a:endParaRPr lang="en-US" sz="1000" dirty="0"/>
          </a:p>
        </p:txBody>
      </p:sp>
      <p:sp>
        <p:nvSpPr>
          <p:cNvPr id="17" name="Shape 15"/>
          <p:cNvSpPr/>
          <p:nvPr/>
        </p:nvSpPr>
        <p:spPr>
          <a:xfrm>
            <a:off x="4681728" y="1481328"/>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71830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9" name="Text 17"/>
          <p:cNvSpPr/>
          <p:nvPr/>
        </p:nvSpPr>
        <p:spPr>
          <a:xfrm>
            <a:off x="363016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0" name="Text 18"/>
          <p:cNvSpPr/>
          <p:nvPr/>
        </p:nvSpPr>
        <p:spPr>
          <a:xfrm>
            <a:off x="363016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as Incomplete; recommend re-enrollment in next cohort</a:t>
            </a:r>
            <a:endParaRPr lang="en-US" sz="1050" dirty="0"/>
          </a:p>
        </p:txBody>
      </p:sp>
      <p:sp>
        <p:nvSpPr>
          <p:cNvPr id="21" name="Text 19"/>
          <p:cNvSpPr/>
          <p:nvPr/>
        </p:nvSpPr>
        <p:spPr>
          <a:xfrm>
            <a:off x="363016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22" name="Text 20"/>
          <p:cNvSpPr/>
          <p:nvPr/>
        </p:nvSpPr>
        <p:spPr>
          <a:xfrm>
            <a:off x="363016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3" name="Shape 21"/>
          <p:cNvSpPr/>
          <p:nvPr/>
        </p:nvSpPr>
        <p:spPr>
          <a:xfrm>
            <a:off x="6236208" y="1234440"/>
            <a:ext cx="2331720" cy="4251960"/>
          </a:xfrm>
          <a:prstGeom prst="roundRect">
            <a:avLst>
              <a:gd name="adj" fmla="val 3137"/>
            </a:avLst>
          </a:prstGeom>
          <a:solidFill>
            <a:srgbClr val="FFFFFF"/>
          </a:solidFill>
          <a:ln w="12700">
            <a:solidFill>
              <a:srgbClr val="CBD5E1"/>
            </a:solidFill>
            <a:prstDash val="solid"/>
          </a:ln>
        </p:spPr>
      </p:sp>
      <p:sp>
        <p:nvSpPr>
          <p:cNvPr id="24" name="Text 22"/>
          <p:cNvSpPr/>
          <p:nvPr/>
        </p:nvSpPr>
        <p:spPr>
          <a:xfrm>
            <a:off x="6419088" y="1508760"/>
            <a:ext cx="1005840" cy="201168"/>
          </a:xfrm>
          <a:prstGeom prst="rect">
            <a:avLst/>
          </a:prstGeom>
          <a:noFill/>
          <a:ln/>
        </p:spPr>
        <p:txBody>
          <a:bodyPr wrap="square" rtlCol="0" anchor="ctr"/>
          <a:lstStyle/>
          <a:p>
            <a:pPr indent="0" marL="0">
              <a:buNone/>
            </a:pPr>
            <a:r>
              <a:rPr lang="en-US" sz="1000" b="1" dirty="0">
                <a:solidFill>
                  <a:srgbClr val="64748B"/>
                </a:solidFill>
              </a:rPr>
              <a:t>Step 3</a:t>
            </a:r>
            <a:endParaRPr lang="en-US" sz="1000" dirty="0"/>
          </a:p>
        </p:txBody>
      </p:sp>
      <p:sp>
        <p:nvSpPr>
          <p:cNvPr id="25" name="Shape 23"/>
          <p:cNvSpPr/>
          <p:nvPr/>
        </p:nvSpPr>
        <p:spPr>
          <a:xfrm>
            <a:off x="7470648" y="1481328"/>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0722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641908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8" name="Text 26"/>
          <p:cNvSpPr/>
          <p:nvPr/>
        </p:nvSpPr>
        <p:spPr>
          <a:xfrm>
            <a:off x="641908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Assign a coaching owner, buddy support, and targeted practice resources for the flagged learner.</a:t>
            </a:r>
            <a:endParaRPr lang="en-US" sz="1050" dirty="0"/>
          </a:p>
        </p:txBody>
      </p:sp>
      <p:sp>
        <p:nvSpPr>
          <p:cNvPr id="29" name="Text 27"/>
          <p:cNvSpPr/>
          <p:nvPr/>
        </p:nvSpPr>
        <p:spPr>
          <a:xfrm>
            <a:off x="641908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0" name="Text 28"/>
          <p:cNvSpPr/>
          <p:nvPr/>
        </p:nvSpPr>
        <p:spPr>
          <a:xfrm>
            <a:off x="641908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31" name="Shape 29"/>
          <p:cNvSpPr/>
          <p:nvPr/>
        </p:nvSpPr>
        <p:spPr>
          <a:xfrm>
            <a:off x="9025128" y="1234440"/>
            <a:ext cx="2331720" cy="4251960"/>
          </a:xfrm>
          <a:prstGeom prst="roundRect">
            <a:avLst>
              <a:gd name="adj" fmla="val 3137"/>
            </a:avLst>
          </a:prstGeom>
          <a:solidFill>
            <a:srgbClr val="FFFFFF"/>
          </a:solidFill>
          <a:ln w="12700">
            <a:solidFill>
              <a:srgbClr val="CBD5E1"/>
            </a:solidFill>
            <a:prstDash val="solid"/>
          </a:ln>
        </p:spPr>
      </p:sp>
      <p:sp>
        <p:nvSpPr>
          <p:cNvPr id="32" name="Text 30"/>
          <p:cNvSpPr/>
          <p:nvPr/>
        </p:nvSpPr>
        <p:spPr>
          <a:xfrm>
            <a:off x="9208008" y="1508760"/>
            <a:ext cx="1005840" cy="201168"/>
          </a:xfrm>
          <a:prstGeom prst="rect">
            <a:avLst/>
          </a:prstGeom>
          <a:noFill/>
          <a:ln/>
        </p:spPr>
        <p:txBody>
          <a:bodyPr wrap="square" rtlCol="0" anchor="ctr"/>
          <a:lstStyle/>
          <a:p>
            <a:pPr indent="0" marL="0">
              <a:buNone/>
            </a:pPr>
            <a:r>
              <a:rPr lang="en-US" sz="1000" b="1" dirty="0">
                <a:solidFill>
                  <a:srgbClr val="64748B"/>
                </a:solidFill>
              </a:rPr>
              <a:t>Step 4</a:t>
            </a:r>
            <a:endParaRPr lang="en-US" sz="1000" dirty="0"/>
          </a:p>
        </p:txBody>
      </p:sp>
      <p:sp>
        <p:nvSpPr>
          <p:cNvPr id="33" name="Shape 31"/>
          <p:cNvSpPr/>
          <p:nvPr/>
        </p:nvSpPr>
        <p:spPr>
          <a:xfrm>
            <a:off x="10259568" y="1481328"/>
            <a:ext cx="777240" cy="256032"/>
          </a:xfrm>
          <a:prstGeom prst="roundRect">
            <a:avLst>
              <a:gd name="adj" fmla="val 28571"/>
            </a:avLst>
          </a:prstGeom>
          <a:solidFill>
            <a:srgbClr val="FEE2E2"/>
          </a:solidFill>
          <a:ln w="12700">
            <a:solidFill>
              <a:srgbClr val="FEE2E2"/>
            </a:solidFill>
            <a:prstDash val="solid"/>
          </a:ln>
        </p:spPr>
      </p:sp>
      <p:sp>
        <p:nvSpPr>
          <p:cNvPr id="34" name="Text 32"/>
          <p:cNvSpPr/>
          <p:nvPr/>
        </p:nvSpPr>
        <p:spPr>
          <a:xfrm>
            <a:off x="1029614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5" name="Text 33"/>
          <p:cNvSpPr/>
          <p:nvPr/>
        </p:nvSpPr>
        <p:spPr>
          <a:xfrm>
            <a:off x="920800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36" name="Text 34"/>
          <p:cNvSpPr/>
          <p:nvPr/>
        </p:nvSpPr>
        <p:spPr>
          <a:xfrm>
            <a:off x="920800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incomplete learner records for review and schedule re-enrollment in the next suitable cohort.</a:t>
            </a:r>
            <a:endParaRPr lang="en-US" sz="1050" dirty="0"/>
          </a:p>
        </p:txBody>
      </p:sp>
      <p:sp>
        <p:nvSpPr>
          <p:cNvPr id="37" name="Text 35"/>
          <p:cNvSpPr/>
          <p:nvPr/>
        </p:nvSpPr>
        <p:spPr>
          <a:xfrm>
            <a:off x="920800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8" name="Text 36"/>
          <p:cNvSpPr/>
          <p:nvPr/>
        </p:nvSpPr>
        <p:spPr>
          <a:xfrm>
            <a:off x="920800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Period 2026-Q1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rpt_7fb93e37-57ea-4494-af11-8472b0a93a80</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ds_95133ff73ffc176e</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mx_bea95a2a-eae0-4428-a888-d4111ac60a9d</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ev_cc7282b0-9029-41fa-8cfe-93e0e15dca31</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gv_efe75b22-9dc2-4aed-9ac3-c3d2e6a8ed33</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- 2026-Q1</dc:title>
  <dc:subject>Training effectiveness is strong with validated evidence.</dc:subject>
  <dc:creator>SETA L&amp;D Reporting Agent</dc:creator>
  <cp:lastModifiedBy>SETA L&amp;D Reporting Agent</cp:lastModifiedBy>
  <cp:revision>1</cp:revision>
  <dcterms:created xsi:type="dcterms:W3CDTF">2026-06-19T11:46:41Z</dcterms:created>
  <dcterms:modified xsi:type="dcterms:W3CDTF">2026-06-19T11:46:41Z</dcterms:modified>
</cp:coreProperties>
</file>