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executive summary
The selected scope contains 1 course(s), 1 completed course(s), and 10 trainee-course records. Overall attendance is 96%, completion is 100%, pass rate is 100%, and average score is 7.89/10. Total training hours are 216 and scaled cost is 15. Overall effectiveness classification is Effective. Management interpretation: The training program for the DevOps Fundamentals course has demonstrated high levels of effectiveness, with all trainees completing the course successfully and achieving a perfect pass rate. The overall attendance rate is commendable at 96%, and the average score of 7.89 out of 10 indicates strong understanding of the material. The feedback rating of 4.6 out of 5 further supports the positive reception of the course content and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performance profile
DevOps Fundamentals: CI/CD, K8s, Monitoring
Learners: 10
Attendance: 96%
Completion: 100%
Pass rate: 100%
Average score: 7.89/10
Effectiveness: 92.28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delivery sequence
1. Maintain the current delivery model and reuse top-performing materials for future cohorts.
Owner: L&amp;D Manager
Outcome: Improve training effectiveness and repeatability.
2. To further enhance the training effectiveness, consider implementing additional advanced modules or supplementary resources that could challenge trainees and potentially raise the average score.
Owner: L&amp;D Manager
Outcome: Improve training effectiveness and repeatability.
3. Additionally, maintaining high engagement levels and exploring opportunities for mentorship roles for high-performing trainees could foster a culture of continuous learning and improvement.
Owner: L&amp;D Manager
Outcome: Improve training effectiveness and repeatability.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Devops</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Training effectiveness is strong with validated evidence.</a:t>
            </a:r>
            <a:endParaRPr lang="en-US" sz="1800" dirty="0"/>
          </a:p>
        </p:txBody>
      </p:sp>
      <p:sp>
        <p:nvSpPr>
          <p:cNvPr id="7" name="Text 5"/>
          <p:cNvSpPr/>
          <p:nvPr/>
        </p:nvSpPr>
        <p:spPr>
          <a:xfrm>
            <a:off x="8732520" y="960120"/>
            <a:ext cx="2560320" cy="201168"/>
          </a:xfrm>
          <a:prstGeom prst="rect">
            <a:avLst/>
          </a:prstGeom>
          <a:noFill/>
          <a:ln/>
        </p:spPr>
        <p:txBody>
          <a:bodyPr wrap="square" lIns="0" tIns="0" rIns="0" bIns="0" rtlCol="0" anchor="ctr"/>
          <a:lstStyle/>
          <a:p>
            <a:pPr algn="ctr" indent="0" marL="0">
              <a:buNone/>
            </a:pPr>
            <a:r>
              <a:rPr lang="en-US" sz="900" b="1" dirty="0">
                <a:solidFill>
                  <a:srgbClr val="93C5FD"/>
                </a:solidFill>
              </a:rPr>
              <a:t>VALIDATED PERFORMANCE</a:t>
            </a:r>
            <a:endParaRPr lang="en-US" sz="900" dirty="0"/>
          </a:p>
        </p:txBody>
      </p:sp>
      <p:sp>
        <p:nvSpPr>
          <p:cNvPr id="8" name="Shape 6"/>
          <p:cNvSpPr/>
          <p:nvPr/>
        </p:nvSpPr>
        <p:spPr>
          <a:xfrm>
            <a:off x="8887968" y="1325880"/>
            <a:ext cx="2240280" cy="2240280"/>
          </a:xfrm>
          <a:prstGeom prst="ellipse">
            <a:avLst/>
          </a:prstGeom>
          <a:solidFill>
            <a:srgbClr val="047857">
              <a:alpha val="95000"/>
            </a:srgbClr>
          </a:solidFill>
          <a:ln w="12700">
            <a:solidFill>
              <a:srgbClr val="60A5FA">
                <a:alpha val="80000"/>
              </a:srgbClr>
            </a:solidFill>
            <a:prstDash val="solid"/>
          </a:ln>
        </p:spPr>
      </p:sp>
      <p:sp>
        <p:nvSpPr>
          <p:cNvPr id="9" name="Shape 7"/>
          <p:cNvSpPr/>
          <p:nvPr/>
        </p:nvSpPr>
        <p:spPr>
          <a:xfrm>
            <a:off x="9281160" y="1719072"/>
            <a:ext cx="1453896" cy="1453896"/>
          </a:xfrm>
          <a:prstGeom prst="ellipse">
            <a:avLst/>
          </a:prstGeom>
          <a:solidFill>
            <a:srgbClr val="0B1220"/>
          </a:solidFill>
          <a:ln w="12700">
            <a:solidFill>
              <a:srgbClr val="0B1220">
                <a:alpha val="0"/>
              </a:srgbClr>
            </a:solidFill>
            <a:prstDash val="solid"/>
          </a:ln>
        </p:spPr>
      </p:sp>
      <p:sp>
        <p:nvSpPr>
          <p:cNvPr id="10" name="Text 8"/>
          <p:cNvSpPr/>
          <p:nvPr/>
        </p:nvSpPr>
        <p:spPr>
          <a:xfrm>
            <a:off x="9363456" y="2148840"/>
            <a:ext cx="1298448" cy="347472"/>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rPr>
              <a:t>92.3/100</a:t>
            </a:r>
            <a:endParaRPr lang="en-US" sz="2200" dirty="0"/>
          </a:p>
        </p:txBody>
      </p:sp>
      <p:sp>
        <p:nvSpPr>
          <p:cNvPr id="11" name="Text 9"/>
          <p:cNvSpPr/>
          <p:nvPr/>
        </p:nvSpPr>
        <p:spPr>
          <a:xfrm>
            <a:off x="8851392" y="3749040"/>
            <a:ext cx="2331720" cy="25603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Effective</a:t>
            </a:r>
            <a:endParaRPr lang="en-US" sz="1100" dirty="0"/>
          </a:p>
        </p:txBody>
      </p:sp>
      <p:sp>
        <p:nvSpPr>
          <p:cNvPr id="12" name="Text 10"/>
          <p:cNvSpPr/>
          <p:nvPr/>
        </p:nvSpPr>
        <p:spPr>
          <a:xfrm>
            <a:off x="8668512" y="4315968"/>
            <a:ext cx="868680" cy="146304"/>
          </a:xfrm>
          <a:prstGeom prst="rect">
            <a:avLst/>
          </a:prstGeom>
          <a:noFill/>
          <a:ln/>
        </p:spPr>
        <p:txBody>
          <a:bodyPr wrap="square" lIns="0" tIns="0" rIns="0" bIns="0" rtlCol="0" anchor="ctr"/>
          <a:lstStyle/>
          <a:p>
            <a:pPr indent="0" marL="0">
              <a:buNone/>
            </a:pPr>
            <a:r>
              <a:rPr lang="en-US" sz="750" dirty="0">
                <a:solidFill>
                  <a:srgbClr val="CBD5E1"/>
                </a:solidFill>
              </a:rPr>
              <a:t>Attendance</a:t>
            </a:r>
            <a:endParaRPr lang="en-US" sz="750" dirty="0"/>
          </a:p>
        </p:txBody>
      </p:sp>
      <p:sp>
        <p:nvSpPr>
          <p:cNvPr id="13" name="Shape 11"/>
          <p:cNvSpPr/>
          <p:nvPr/>
        </p:nvSpPr>
        <p:spPr>
          <a:xfrm>
            <a:off x="9555480" y="4334256"/>
            <a:ext cx="1097280" cy="91440"/>
          </a:xfrm>
          <a:prstGeom prst="rect">
            <a:avLst/>
          </a:prstGeom>
          <a:solidFill>
            <a:srgbClr val="334155"/>
          </a:solidFill>
          <a:ln w="12700">
            <a:solidFill>
              <a:srgbClr val="334155">
                <a:alpha val="0"/>
              </a:srgbClr>
            </a:solidFill>
            <a:prstDash val="solid"/>
          </a:ln>
        </p:spPr>
      </p:sp>
      <p:sp>
        <p:nvSpPr>
          <p:cNvPr id="14" name="Shape 12"/>
          <p:cNvSpPr/>
          <p:nvPr/>
        </p:nvSpPr>
        <p:spPr>
          <a:xfrm>
            <a:off x="9555480" y="4334256"/>
            <a:ext cx="1053389" cy="91440"/>
          </a:xfrm>
          <a:prstGeom prst="rect">
            <a:avLst/>
          </a:prstGeom>
          <a:solidFill>
            <a:srgbClr val="047857"/>
          </a:solidFill>
          <a:ln w="12700">
            <a:solidFill>
              <a:srgbClr val="047857">
                <a:alpha val="0"/>
              </a:srgbClr>
            </a:solidFill>
            <a:prstDash val="solid"/>
          </a:ln>
        </p:spPr>
      </p:sp>
      <p:sp>
        <p:nvSpPr>
          <p:cNvPr id="15" name="Text 13"/>
          <p:cNvSpPr/>
          <p:nvPr/>
        </p:nvSpPr>
        <p:spPr>
          <a:xfrm>
            <a:off x="10716768" y="43068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96%</a:t>
            </a:r>
            <a:endParaRPr lang="en-US" sz="750" dirty="0"/>
          </a:p>
        </p:txBody>
      </p:sp>
      <p:sp>
        <p:nvSpPr>
          <p:cNvPr id="16" name="Text 14"/>
          <p:cNvSpPr/>
          <p:nvPr/>
        </p:nvSpPr>
        <p:spPr>
          <a:xfrm>
            <a:off x="8668512" y="4773168"/>
            <a:ext cx="868680" cy="146304"/>
          </a:xfrm>
          <a:prstGeom prst="rect">
            <a:avLst/>
          </a:prstGeom>
          <a:noFill/>
          <a:ln/>
        </p:spPr>
        <p:txBody>
          <a:bodyPr wrap="square" lIns="0" tIns="0" rIns="0" bIns="0" rtlCol="0" anchor="ctr"/>
          <a:lstStyle/>
          <a:p>
            <a:pPr indent="0" marL="0">
              <a:buNone/>
            </a:pPr>
            <a:r>
              <a:rPr lang="en-US" sz="750" dirty="0">
                <a:solidFill>
                  <a:srgbClr val="CBD5E1"/>
                </a:solidFill>
              </a:rPr>
              <a:t>Completion</a:t>
            </a:r>
            <a:endParaRPr lang="en-US" sz="750" dirty="0"/>
          </a:p>
        </p:txBody>
      </p:sp>
      <p:sp>
        <p:nvSpPr>
          <p:cNvPr id="17" name="Shape 15"/>
          <p:cNvSpPr/>
          <p:nvPr/>
        </p:nvSpPr>
        <p:spPr>
          <a:xfrm>
            <a:off x="9555480" y="4791456"/>
            <a:ext cx="1097280" cy="91440"/>
          </a:xfrm>
          <a:prstGeom prst="rect">
            <a:avLst/>
          </a:prstGeom>
          <a:solidFill>
            <a:srgbClr val="334155"/>
          </a:solidFill>
          <a:ln w="12700">
            <a:solidFill>
              <a:srgbClr val="334155">
                <a:alpha val="0"/>
              </a:srgbClr>
            </a:solidFill>
            <a:prstDash val="solid"/>
          </a:ln>
        </p:spPr>
      </p:sp>
      <p:sp>
        <p:nvSpPr>
          <p:cNvPr id="18" name="Shape 16"/>
          <p:cNvSpPr/>
          <p:nvPr/>
        </p:nvSpPr>
        <p:spPr>
          <a:xfrm>
            <a:off x="9555480" y="4791456"/>
            <a:ext cx="1097280" cy="91440"/>
          </a:xfrm>
          <a:prstGeom prst="rect">
            <a:avLst/>
          </a:prstGeom>
          <a:solidFill>
            <a:srgbClr val="047857"/>
          </a:solidFill>
          <a:ln w="12700">
            <a:solidFill>
              <a:srgbClr val="047857">
                <a:alpha val="0"/>
              </a:srgbClr>
            </a:solidFill>
            <a:prstDash val="solid"/>
          </a:ln>
        </p:spPr>
      </p:sp>
      <p:sp>
        <p:nvSpPr>
          <p:cNvPr id="19" name="Text 17"/>
          <p:cNvSpPr/>
          <p:nvPr/>
        </p:nvSpPr>
        <p:spPr>
          <a:xfrm>
            <a:off x="10716768" y="47640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100%</a:t>
            </a:r>
            <a:endParaRPr lang="en-US" sz="750" dirty="0"/>
          </a:p>
        </p:txBody>
      </p:sp>
      <p:sp>
        <p:nvSpPr>
          <p:cNvPr id="20" name="Text 18"/>
          <p:cNvSpPr/>
          <p:nvPr/>
        </p:nvSpPr>
        <p:spPr>
          <a:xfrm>
            <a:off x="8668512" y="5230368"/>
            <a:ext cx="868680" cy="146304"/>
          </a:xfrm>
          <a:prstGeom prst="rect">
            <a:avLst/>
          </a:prstGeom>
          <a:noFill/>
          <a:ln/>
        </p:spPr>
        <p:txBody>
          <a:bodyPr wrap="square" lIns="0" tIns="0" rIns="0" bIns="0" rtlCol="0" anchor="ctr"/>
          <a:lstStyle/>
          <a:p>
            <a:pPr indent="0" marL="0">
              <a:buNone/>
            </a:pPr>
            <a:r>
              <a:rPr lang="en-US" sz="750" dirty="0">
                <a:solidFill>
                  <a:srgbClr val="CBD5E1"/>
                </a:solidFill>
              </a:rPr>
              <a:t>Pass rate</a:t>
            </a:r>
            <a:endParaRPr lang="en-US" sz="750" dirty="0"/>
          </a:p>
        </p:txBody>
      </p:sp>
      <p:sp>
        <p:nvSpPr>
          <p:cNvPr id="21" name="Shape 19"/>
          <p:cNvSpPr/>
          <p:nvPr/>
        </p:nvSpPr>
        <p:spPr>
          <a:xfrm>
            <a:off x="9555480" y="5248656"/>
            <a:ext cx="1097280" cy="91440"/>
          </a:xfrm>
          <a:prstGeom prst="rect">
            <a:avLst/>
          </a:prstGeom>
          <a:solidFill>
            <a:srgbClr val="334155"/>
          </a:solidFill>
          <a:ln w="12700">
            <a:solidFill>
              <a:srgbClr val="334155">
                <a:alpha val="0"/>
              </a:srgbClr>
            </a:solidFill>
            <a:prstDash val="solid"/>
          </a:ln>
        </p:spPr>
      </p:sp>
      <p:sp>
        <p:nvSpPr>
          <p:cNvPr id="22" name="Shape 20"/>
          <p:cNvSpPr/>
          <p:nvPr/>
        </p:nvSpPr>
        <p:spPr>
          <a:xfrm>
            <a:off x="9555480" y="5248656"/>
            <a:ext cx="1097280" cy="91440"/>
          </a:xfrm>
          <a:prstGeom prst="rect">
            <a:avLst/>
          </a:prstGeom>
          <a:solidFill>
            <a:srgbClr val="047857"/>
          </a:solidFill>
          <a:ln w="12700">
            <a:solidFill>
              <a:srgbClr val="047857">
                <a:alpha val="0"/>
              </a:srgbClr>
            </a:solidFill>
            <a:prstDash val="solid"/>
          </a:ln>
        </p:spPr>
      </p:sp>
      <p:sp>
        <p:nvSpPr>
          <p:cNvPr id="23" name="Text 21"/>
          <p:cNvSpPr/>
          <p:nvPr/>
        </p:nvSpPr>
        <p:spPr>
          <a:xfrm>
            <a:off x="10716768" y="52212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100%</a:t>
            </a:r>
            <a:endParaRPr lang="en-US" sz="750" dirty="0"/>
          </a:p>
        </p:txBody>
      </p:sp>
      <p:sp>
        <p:nvSpPr>
          <p:cNvPr id="24" name="Shape 22"/>
          <p:cNvSpPr/>
          <p:nvPr/>
        </p:nvSpPr>
        <p:spPr>
          <a:xfrm>
            <a:off x="658368" y="3703320"/>
            <a:ext cx="1143000"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94944"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Passed</a:t>
            </a:r>
            <a:endParaRPr lang="en-US" sz="740" dirty="0"/>
          </a:p>
        </p:txBody>
      </p:sp>
      <p:sp>
        <p:nvSpPr>
          <p:cNvPr id="26" name="Shape 24"/>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27" name="Text 25"/>
          <p:cNvSpPr/>
          <p:nvPr/>
        </p:nvSpPr>
        <p:spPr>
          <a:xfrm>
            <a:off x="209397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Draft</a:t>
            </a:r>
            <a:endParaRPr lang="en-US" sz="740" dirty="0"/>
          </a:p>
        </p:txBody>
      </p:sp>
      <p:sp>
        <p:nvSpPr>
          <p:cNvPr id="28" name="Shape 26"/>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29" name="Text 27"/>
          <p:cNvSpPr/>
          <p:nvPr/>
        </p:nvSpPr>
        <p:spPr>
          <a:xfrm>
            <a:off x="332841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L&amp;D Manager</a:t>
            </a:r>
            <a:endParaRPr lang="en-US" sz="740" dirty="0"/>
          </a:p>
        </p:txBody>
      </p:sp>
      <p:sp>
        <p:nvSpPr>
          <p:cNvPr id="30" name="Text 28"/>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Course Devops | Type full</a:t>
            </a:r>
            <a:endParaRPr lang="en-US" sz="1200" dirty="0"/>
          </a:p>
        </p:txBody>
      </p:sp>
      <p:sp>
        <p:nvSpPr>
          <p:cNvPr id="31" name="Text 29"/>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6/22/2026, 4:05:18 PM</a:t>
            </a:r>
            <a:endParaRPr lang="en-US" sz="1100" dirty="0"/>
          </a:p>
        </p:txBody>
      </p:sp>
      <p:sp>
        <p:nvSpPr>
          <p:cNvPr id="32" name="Text 30"/>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594360" y="1051560"/>
            <a:ext cx="6766560" cy="566928"/>
          </a:xfrm>
          <a:prstGeom prst="rect">
            <a:avLst/>
          </a:prstGeom>
          <a:noFill/>
          <a:ln/>
        </p:spPr>
        <p:txBody>
          <a:bodyPr wrap="square" rtlCol="0" anchor="ctr">
            <a:normAutofit/>
          </a:bodyPr>
          <a:lstStyle/>
          <a:p>
            <a:pPr indent="0" marL="0">
              <a:buNone/>
            </a:pPr>
            <a:r>
              <a:rPr lang="en-US" sz="2100" b="1" dirty="0">
                <a:solidFill>
                  <a:srgbClr val="0F172A"/>
                </a:solidFill>
              </a:rPr>
              <a:t>Training effectiveness is strong with validated evidence.</a:t>
            </a:r>
            <a:endParaRPr lang="en-US" sz="2100" dirty="0"/>
          </a:p>
        </p:txBody>
      </p:sp>
      <p:sp>
        <p:nvSpPr>
          <p:cNvPr id="9" name="Shape 6"/>
          <p:cNvSpPr/>
          <p:nvPr/>
        </p:nvSpPr>
        <p:spPr>
          <a:xfrm>
            <a:off x="621792" y="1828800"/>
            <a:ext cx="310896" cy="310896"/>
          </a:xfrm>
          <a:prstGeom prst="ellipse">
            <a:avLst/>
          </a:prstGeom>
          <a:solidFill>
            <a:srgbClr val="DBEAFE"/>
          </a:solidFill>
          <a:ln w="12700">
            <a:solidFill>
              <a:srgbClr val="93C5FD"/>
            </a:solidFill>
            <a:prstDash val="solid"/>
          </a:ln>
        </p:spPr>
      </p:sp>
      <p:sp>
        <p:nvSpPr>
          <p:cNvPr id="10" name="Text 7"/>
          <p:cNvSpPr/>
          <p:nvPr/>
        </p:nvSpPr>
        <p:spPr>
          <a:xfrm>
            <a:off x="621792" y="1828800"/>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1</a:t>
            </a:r>
            <a:endParaRPr lang="en-US" sz="850" dirty="0"/>
          </a:p>
        </p:txBody>
      </p:sp>
      <p:sp>
        <p:nvSpPr>
          <p:cNvPr id="11" name="Text 8"/>
          <p:cNvSpPr/>
          <p:nvPr/>
        </p:nvSpPr>
        <p:spPr>
          <a:xfrm>
            <a:off x="1097280" y="1783080"/>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The selected scope contains 1 course(s), 1 completed course(s), and 10 trainee-course records.</a:t>
            </a:r>
            <a:endParaRPr lang="en-US" sz="1120" dirty="0"/>
          </a:p>
        </p:txBody>
      </p:sp>
      <p:sp>
        <p:nvSpPr>
          <p:cNvPr id="12" name="Shape 9"/>
          <p:cNvSpPr/>
          <p:nvPr/>
        </p:nvSpPr>
        <p:spPr>
          <a:xfrm>
            <a:off x="621792" y="2487168"/>
            <a:ext cx="310896" cy="310896"/>
          </a:xfrm>
          <a:prstGeom prst="ellipse">
            <a:avLst/>
          </a:prstGeom>
          <a:solidFill>
            <a:srgbClr val="DBEAFE"/>
          </a:solidFill>
          <a:ln w="12700">
            <a:solidFill>
              <a:srgbClr val="93C5FD"/>
            </a:solidFill>
            <a:prstDash val="solid"/>
          </a:ln>
        </p:spPr>
      </p:sp>
      <p:sp>
        <p:nvSpPr>
          <p:cNvPr id="13" name="Text 10"/>
          <p:cNvSpPr/>
          <p:nvPr/>
        </p:nvSpPr>
        <p:spPr>
          <a:xfrm>
            <a:off x="621792" y="2487168"/>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2</a:t>
            </a:r>
            <a:endParaRPr lang="en-US" sz="850" dirty="0"/>
          </a:p>
        </p:txBody>
      </p:sp>
      <p:sp>
        <p:nvSpPr>
          <p:cNvPr id="14" name="Text 11"/>
          <p:cNvSpPr/>
          <p:nvPr/>
        </p:nvSpPr>
        <p:spPr>
          <a:xfrm>
            <a:off x="1097280" y="2441448"/>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Overall attendance is 96%, completion is 100%, pass rate is 100%, and average score is 7.89/10.</a:t>
            </a:r>
            <a:endParaRPr lang="en-US" sz="1120" dirty="0"/>
          </a:p>
        </p:txBody>
      </p:sp>
      <p:sp>
        <p:nvSpPr>
          <p:cNvPr id="15" name="Shape 12"/>
          <p:cNvSpPr/>
          <p:nvPr/>
        </p:nvSpPr>
        <p:spPr>
          <a:xfrm>
            <a:off x="621792" y="3145536"/>
            <a:ext cx="310896" cy="310896"/>
          </a:xfrm>
          <a:prstGeom prst="ellipse">
            <a:avLst/>
          </a:prstGeom>
          <a:solidFill>
            <a:srgbClr val="DBEAFE"/>
          </a:solidFill>
          <a:ln w="12700">
            <a:solidFill>
              <a:srgbClr val="93C5FD"/>
            </a:solidFill>
            <a:prstDash val="solid"/>
          </a:ln>
        </p:spPr>
      </p:sp>
      <p:sp>
        <p:nvSpPr>
          <p:cNvPr id="16" name="Text 13"/>
          <p:cNvSpPr/>
          <p:nvPr/>
        </p:nvSpPr>
        <p:spPr>
          <a:xfrm>
            <a:off x="621792" y="3145536"/>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3</a:t>
            </a:r>
            <a:endParaRPr lang="en-US" sz="850" dirty="0"/>
          </a:p>
        </p:txBody>
      </p:sp>
      <p:sp>
        <p:nvSpPr>
          <p:cNvPr id="17" name="Text 14"/>
          <p:cNvSpPr/>
          <p:nvPr/>
        </p:nvSpPr>
        <p:spPr>
          <a:xfrm>
            <a:off x="1097280" y="3099816"/>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Total training hours are 216 and scaled cost is 15.</a:t>
            </a:r>
            <a:endParaRPr lang="en-US" sz="1120" dirty="0"/>
          </a:p>
        </p:txBody>
      </p:sp>
      <p:sp>
        <p:nvSpPr>
          <p:cNvPr id="18" name="Shape 15"/>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9" name="Text 16"/>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20" name="Shape 17"/>
          <p:cNvSpPr/>
          <p:nvPr/>
        </p:nvSpPr>
        <p:spPr>
          <a:xfrm>
            <a:off x="8046720" y="1645920"/>
            <a:ext cx="1143000" cy="256032"/>
          </a:xfrm>
          <a:prstGeom prst="roundRect">
            <a:avLst>
              <a:gd name="adj" fmla="val 28571"/>
            </a:avLst>
          </a:prstGeom>
          <a:solidFill>
            <a:srgbClr val="D1FAE5"/>
          </a:solidFill>
          <a:ln w="12700">
            <a:solidFill>
              <a:srgbClr val="D1FAE5"/>
            </a:solidFill>
            <a:prstDash val="solid"/>
          </a:ln>
        </p:spPr>
      </p:sp>
      <p:sp>
        <p:nvSpPr>
          <p:cNvPr id="21" name="Text 18"/>
          <p:cNvSpPr/>
          <p:nvPr/>
        </p:nvSpPr>
        <p:spPr>
          <a:xfrm>
            <a:off x="8083296" y="16459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22" name="Text 19"/>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23" name="Text 20"/>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24" name="Text 21"/>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Effective.</a:t>
            </a:r>
            <a:endParaRPr lang="en-US" sz="950" dirty="0"/>
          </a:p>
        </p:txBody>
      </p:sp>
      <p:sp>
        <p:nvSpPr>
          <p:cNvPr id="25" name="Shape 22"/>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26" name="Text 23"/>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27" name="Text 24"/>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96%</a:t>
            </a:r>
            <a:endParaRPr lang="en-US" sz="2100" dirty="0"/>
          </a:p>
        </p:txBody>
      </p:sp>
      <p:sp>
        <p:nvSpPr>
          <p:cNvPr id="28" name="Text 25"/>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9" name="Shape 26"/>
          <p:cNvSpPr/>
          <p:nvPr/>
        </p:nvSpPr>
        <p:spPr>
          <a:xfrm>
            <a:off x="2167128" y="4946904"/>
            <a:ext cx="777240" cy="256032"/>
          </a:xfrm>
          <a:prstGeom prst="roundRect">
            <a:avLst>
              <a:gd name="adj" fmla="val 28571"/>
            </a:avLst>
          </a:prstGeom>
          <a:solidFill>
            <a:srgbClr val="D1FAE5"/>
          </a:solidFill>
          <a:ln w="12700">
            <a:solidFill>
              <a:srgbClr val="D1FAE5"/>
            </a:solidFill>
            <a:prstDash val="solid"/>
          </a:ln>
        </p:spPr>
      </p:sp>
      <p:sp>
        <p:nvSpPr>
          <p:cNvPr id="30" name="Text 27"/>
          <p:cNvSpPr/>
          <p:nvPr/>
        </p:nvSpPr>
        <p:spPr>
          <a:xfrm>
            <a:off x="220370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1" name="Shape 28"/>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32" name="Text 29"/>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33" name="Text 30"/>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34" name="Text 31"/>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35" name="Shape 32"/>
          <p:cNvSpPr/>
          <p:nvPr/>
        </p:nvSpPr>
        <p:spPr>
          <a:xfrm>
            <a:off x="4956048" y="4946904"/>
            <a:ext cx="777240" cy="256032"/>
          </a:xfrm>
          <a:prstGeom prst="roundRect">
            <a:avLst>
              <a:gd name="adj" fmla="val 28571"/>
            </a:avLst>
          </a:prstGeom>
          <a:solidFill>
            <a:srgbClr val="D1FAE5"/>
          </a:solidFill>
          <a:ln w="12700">
            <a:solidFill>
              <a:srgbClr val="D1FAE5"/>
            </a:solidFill>
            <a:prstDash val="solid"/>
          </a:ln>
        </p:spPr>
      </p:sp>
      <p:sp>
        <p:nvSpPr>
          <p:cNvPr id="36" name="Text 33"/>
          <p:cNvSpPr/>
          <p:nvPr/>
        </p:nvSpPr>
        <p:spPr>
          <a:xfrm>
            <a:off x="499262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37" name="Shape 34"/>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38" name="Text 35"/>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9" name="Text 36"/>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40" name="Text 37"/>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41" name="Shape 38"/>
          <p:cNvSpPr/>
          <p:nvPr/>
        </p:nvSpPr>
        <p:spPr>
          <a:xfrm>
            <a:off x="7744968" y="4946904"/>
            <a:ext cx="777240" cy="256032"/>
          </a:xfrm>
          <a:prstGeom prst="roundRect">
            <a:avLst>
              <a:gd name="adj" fmla="val 28571"/>
            </a:avLst>
          </a:prstGeom>
          <a:solidFill>
            <a:srgbClr val="D1FAE5"/>
          </a:solidFill>
          <a:ln w="12700">
            <a:solidFill>
              <a:srgbClr val="D1FAE5"/>
            </a:solidFill>
            <a:prstDash val="solid"/>
          </a:ln>
        </p:spPr>
      </p:sp>
      <p:sp>
        <p:nvSpPr>
          <p:cNvPr id="42" name="Text 39"/>
          <p:cNvSpPr/>
          <p:nvPr/>
        </p:nvSpPr>
        <p:spPr>
          <a:xfrm>
            <a:off x="778154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43" name="Shape 40"/>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44" name="Text 41"/>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45" name="Text 42"/>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7.89/10</a:t>
            </a:r>
            <a:endParaRPr lang="en-US" sz="2100" dirty="0"/>
          </a:p>
        </p:txBody>
      </p:sp>
      <p:sp>
        <p:nvSpPr>
          <p:cNvPr id="46" name="Text 43"/>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47" name="Shape 44"/>
          <p:cNvSpPr/>
          <p:nvPr/>
        </p:nvSpPr>
        <p:spPr>
          <a:xfrm>
            <a:off x="10533888" y="4946904"/>
            <a:ext cx="777240" cy="256032"/>
          </a:xfrm>
          <a:prstGeom prst="roundRect">
            <a:avLst>
              <a:gd name="adj" fmla="val 28571"/>
            </a:avLst>
          </a:prstGeom>
          <a:solidFill>
            <a:srgbClr val="D1FAE5"/>
          </a:solidFill>
          <a:ln w="12700">
            <a:solidFill>
              <a:srgbClr val="D1FAE5"/>
            </a:solidFill>
            <a:prstDash val="solid"/>
          </a:ln>
        </p:spPr>
      </p:sp>
      <p:sp>
        <p:nvSpPr>
          <p:cNvPr id="48" name="Text 45"/>
          <p:cNvSpPr/>
          <p:nvPr/>
        </p:nvSpPr>
        <p:spPr>
          <a:xfrm>
            <a:off x="1057046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859536" y="1664208"/>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Effective.</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allowed. Overall classification is Effective.</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5786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Required sheets and columns were mapped from Teams, OneDrive, Forms, KPI, Rules and Template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D1FAE5"/>
          </a:solidFill>
          <a:ln w="12700">
            <a:solidFill>
              <a:srgbClr val="D1FAE5"/>
            </a:solidFill>
            <a:prstDash val="solid"/>
          </a:ln>
        </p:spPr>
      </p:sp>
      <p:sp>
        <p:nvSpPr>
          <p:cNvPr id="23" name="Text 21"/>
          <p:cNvSpPr/>
          <p:nvPr/>
        </p:nvSpPr>
        <p:spPr>
          <a:xfrm>
            <a:off x="4782312" y="32644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All selected courses are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D1FAE5"/>
          </a:solidFill>
          <a:ln w="12700">
            <a:solidFill>
              <a:srgbClr val="D1FAE5"/>
            </a:solidFill>
            <a:prstDash val="solid"/>
          </a:ln>
        </p:spPr>
      </p:sp>
      <p:sp>
        <p:nvSpPr>
          <p:cNvPr id="28" name="Text 26"/>
          <p:cNvSpPr/>
          <p:nvPr/>
        </p:nvSpPr>
        <p:spPr>
          <a:xfrm>
            <a:off x="4782312" y="39502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x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360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valid assessment and 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218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96%</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220370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99262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D1FAE5"/>
          </a:solidFill>
          <a:ln w="12700">
            <a:solidFill>
              <a:srgbClr val="D1FAE5"/>
            </a:solidFill>
            <a:prstDash val="solid"/>
          </a:ln>
        </p:spPr>
      </p:sp>
      <p:sp>
        <p:nvSpPr>
          <p:cNvPr id="24" name="Text 22"/>
          <p:cNvSpPr/>
          <p:nvPr/>
        </p:nvSpPr>
        <p:spPr>
          <a:xfrm>
            <a:off x="778154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7.89/10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1057046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4.6/5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216</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15</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0.0207</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FEF3C7"/>
          </a:solidFill>
          <a:ln w="12700">
            <a:solidFill>
              <a:srgbClr val="FEF3C7"/>
            </a:solidFill>
            <a:prstDash val="solid"/>
          </a:ln>
        </p:spPr>
      </p:sp>
      <p:sp>
        <p:nvSpPr>
          <p:cNvPr id="54" name="Text 52"/>
          <p:cNvSpPr/>
          <p:nvPr/>
        </p:nvSpPr>
        <p:spPr>
          <a:xfrm>
            <a:off x="1057046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Monitor</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Visual analytics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5440680" cy="4892040"/>
          </a:xfrm>
          <a:prstGeom prst="roundRect">
            <a:avLst>
              <a:gd name="adj" fmla="val 1495"/>
            </a:avLst>
          </a:prstGeom>
          <a:solidFill>
            <a:srgbClr val="FFFFFF"/>
          </a:solidFill>
          <a:ln w="12700">
            <a:solidFill>
              <a:srgbClr val="CBD5E1"/>
            </a:solidFill>
            <a:prstDash val="solid"/>
          </a:ln>
        </p:spPr>
      </p:sp>
      <p:sp>
        <p:nvSpPr>
          <p:cNvPr id="8" name="Text 6"/>
          <p:cNvSpPr/>
          <p:nvPr/>
        </p:nvSpPr>
        <p:spPr>
          <a:xfrm>
            <a:off x="795528" y="1234440"/>
            <a:ext cx="5038344" cy="219456"/>
          </a:xfrm>
          <a:prstGeom prst="rect">
            <a:avLst/>
          </a:prstGeom>
          <a:noFill/>
          <a:ln/>
        </p:spPr>
        <p:txBody>
          <a:bodyPr wrap="square" rtlCol="0" anchor="ctr">
            <a:normAutofit/>
          </a:bodyPr>
          <a:lstStyle/>
          <a:p>
            <a:pPr indent="0" marL="0">
              <a:buNone/>
            </a:pPr>
            <a:r>
              <a:rPr lang="en-US" sz="1250" b="1" dirty="0">
                <a:solidFill>
                  <a:srgbClr val="0F172A"/>
                </a:solidFill>
              </a:rPr>
              <a:t>Overall KPI vs target</a:t>
            </a:r>
            <a:endParaRPr lang="en-US" sz="1250" dirty="0"/>
          </a:p>
        </p:txBody>
      </p:sp>
      <p:sp>
        <p:nvSpPr>
          <p:cNvPr id="9" name="Text 7"/>
          <p:cNvSpPr/>
          <p:nvPr/>
        </p:nvSpPr>
        <p:spPr>
          <a:xfrm>
            <a:off x="795528" y="1527048"/>
            <a:ext cx="5038344" cy="201168"/>
          </a:xfrm>
          <a:prstGeom prst="rect">
            <a:avLst/>
          </a:prstGeom>
          <a:noFill/>
          <a:ln/>
        </p:spPr>
        <p:txBody>
          <a:bodyPr wrap="square" rtlCol="0" anchor="ctr">
            <a:normAutofit/>
          </a:bodyPr>
          <a:lstStyle/>
          <a:p>
            <a:pPr indent="0" marL="0">
              <a:buNone/>
            </a:pPr>
            <a:r>
              <a:rPr lang="en-US" sz="780" dirty="0">
                <a:solidFill>
                  <a:srgbClr val="64748B"/>
                </a:solidFill>
              </a:rPr>
              <a:t>Validated performance metrics compared with L&amp;D operating thresholds.</a:t>
            </a:r>
            <a:endParaRPr lang="en-US" sz="780" dirty="0"/>
          </a:p>
        </p:txBody>
      </p:sp>
      <p:sp>
        <p:nvSpPr>
          <p:cNvPr id="10" name="Text 8"/>
          <p:cNvSpPr/>
          <p:nvPr/>
        </p:nvSpPr>
        <p:spPr>
          <a:xfrm>
            <a:off x="795528" y="1920240"/>
            <a:ext cx="1508760" cy="164592"/>
          </a:xfrm>
          <a:prstGeom prst="rect">
            <a:avLst/>
          </a:prstGeom>
          <a:noFill/>
          <a:ln/>
        </p:spPr>
        <p:txBody>
          <a:bodyPr wrap="square" rtlCol="0" anchor="ctr">
            <a:normAutofit/>
          </a:bodyPr>
          <a:lstStyle/>
          <a:p>
            <a:pPr indent="0" marL="0">
              <a:buNone/>
            </a:pPr>
            <a:r>
              <a:rPr lang="en-US" sz="780" dirty="0">
                <a:solidFill>
                  <a:srgbClr val="0F172A"/>
                </a:solidFill>
              </a:rPr>
              <a:t>Attendance</a:t>
            </a:r>
            <a:endParaRPr lang="en-US" sz="780" dirty="0"/>
          </a:p>
        </p:txBody>
      </p:sp>
      <p:sp>
        <p:nvSpPr>
          <p:cNvPr id="11" name="Shape 9"/>
          <p:cNvSpPr/>
          <p:nvPr/>
        </p:nvSpPr>
        <p:spPr>
          <a:xfrm>
            <a:off x="2395728" y="2066544"/>
            <a:ext cx="2596896" cy="201168"/>
          </a:xfrm>
          <a:prstGeom prst="rect">
            <a:avLst/>
          </a:prstGeom>
          <a:solidFill>
            <a:srgbClr val="E2E8F0"/>
          </a:solidFill>
          <a:ln w="12700">
            <a:solidFill>
              <a:srgbClr val="E2E8F0">
                <a:alpha val="0"/>
              </a:srgbClr>
            </a:solidFill>
            <a:prstDash val="solid"/>
          </a:ln>
        </p:spPr>
      </p:sp>
      <p:sp>
        <p:nvSpPr>
          <p:cNvPr id="12" name="Shape 10"/>
          <p:cNvSpPr/>
          <p:nvPr/>
        </p:nvSpPr>
        <p:spPr>
          <a:xfrm>
            <a:off x="2395728" y="2066544"/>
            <a:ext cx="2493020" cy="201168"/>
          </a:xfrm>
          <a:prstGeom prst="rect">
            <a:avLst/>
          </a:prstGeom>
          <a:solidFill>
            <a:srgbClr val="047857"/>
          </a:solidFill>
          <a:ln w="12700">
            <a:solidFill>
              <a:srgbClr val="047857">
                <a:alpha val="0"/>
              </a:srgbClr>
            </a:solidFill>
            <a:prstDash val="solid"/>
          </a:ln>
        </p:spPr>
      </p:sp>
      <p:sp>
        <p:nvSpPr>
          <p:cNvPr id="13" name="Shape 11"/>
          <p:cNvSpPr/>
          <p:nvPr/>
        </p:nvSpPr>
        <p:spPr>
          <a:xfrm>
            <a:off x="4603090" y="2020824"/>
            <a:ext cx="0" cy="292608"/>
          </a:xfrm>
          <a:prstGeom prst="line">
            <a:avLst/>
          </a:prstGeom>
          <a:noFill/>
          <a:ln w="12700">
            <a:solidFill>
              <a:srgbClr val="0B1220">
                <a:alpha val="80000"/>
              </a:srgbClr>
            </a:solidFill>
            <a:prstDash val="solid"/>
          </a:ln>
        </p:spPr>
      </p:sp>
      <p:sp>
        <p:nvSpPr>
          <p:cNvPr id="14" name="Text 12"/>
          <p:cNvSpPr/>
          <p:nvPr/>
        </p:nvSpPr>
        <p:spPr>
          <a:xfrm>
            <a:off x="5065776" y="191109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96%</a:t>
            </a:r>
            <a:endParaRPr lang="en-US" sz="700" dirty="0"/>
          </a:p>
        </p:txBody>
      </p:sp>
      <p:sp>
        <p:nvSpPr>
          <p:cNvPr id="15" name="Text 13"/>
          <p:cNvSpPr/>
          <p:nvPr/>
        </p:nvSpPr>
        <p:spPr>
          <a:xfrm>
            <a:off x="795528" y="2868930"/>
            <a:ext cx="1508760" cy="164592"/>
          </a:xfrm>
          <a:prstGeom prst="rect">
            <a:avLst/>
          </a:prstGeom>
          <a:noFill/>
          <a:ln/>
        </p:spPr>
        <p:txBody>
          <a:bodyPr wrap="square" rtlCol="0" anchor="ctr">
            <a:normAutofit/>
          </a:bodyPr>
          <a:lstStyle/>
          <a:p>
            <a:pPr indent="0" marL="0">
              <a:buNone/>
            </a:pPr>
            <a:r>
              <a:rPr lang="en-US" sz="780" dirty="0">
                <a:solidFill>
                  <a:srgbClr val="0F172A"/>
                </a:solidFill>
              </a:rPr>
              <a:t>Completion</a:t>
            </a:r>
            <a:endParaRPr lang="en-US" sz="780" dirty="0"/>
          </a:p>
        </p:txBody>
      </p:sp>
      <p:sp>
        <p:nvSpPr>
          <p:cNvPr id="16" name="Shape 14"/>
          <p:cNvSpPr/>
          <p:nvPr/>
        </p:nvSpPr>
        <p:spPr>
          <a:xfrm>
            <a:off x="2395728" y="3015234"/>
            <a:ext cx="2596896" cy="201168"/>
          </a:xfrm>
          <a:prstGeom prst="rect">
            <a:avLst/>
          </a:prstGeom>
          <a:solidFill>
            <a:srgbClr val="E2E8F0"/>
          </a:solidFill>
          <a:ln w="12700">
            <a:solidFill>
              <a:srgbClr val="E2E8F0">
                <a:alpha val="0"/>
              </a:srgbClr>
            </a:solidFill>
            <a:prstDash val="solid"/>
          </a:ln>
        </p:spPr>
      </p:sp>
      <p:sp>
        <p:nvSpPr>
          <p:cNvPr id="17" name="Shape 15"/>
          <p:cNvSpPr/>
          <p:nvPr/>
        </p:nvSpPr>
        <p:spPr>
          <a:xfrm>
            <a:off x="2395728" y="3015234"/>
            <a:ext cx="2596896" cy="201168"/>
          </a:xfrm>
          <a:prstGeom prst="rect">
            <a:avLst/>
          </a:prstGeom>
          <a:solidFill>
            <a:srgbClr val="047857"/>
          </a:solidFill>
          <a:ln w="12700">
            <a:solidFill>
              <a:srgbClr val="047857">
                <a:alpha val="0"/>
              </a:srgbClr>
            </a:solidFill>
            <a:prstDash val="solid"/>
          </a:ln>
        </p:spPr>
      </p:sp>
      <p:sp>
        <p:nvSpPr>
          <p:cNvPr id="18" name="Shape 16"/>
          <p:cNvSpPr/>
          <p:nvPr/>
        </p:nvSpPr>
        <p:spPr>
          <a:xfrm>
            <a:off x="4732934" y="2969514"/>
            <a:ext cx="0" cy="292608"/>
          </a:xfrm>
          <a:prstGeom prst="line">
            <a:avLst/>
          </a:prstGeom>
          <a:noFill/>
          <a:ln w="12700">
            <a:solidFill>
              <a:srgbClr val="0B1220">
                <a:alpha val="80000"/>
              </a:srgbClr>
            </a:solidFill>
            <a:prstDash val="solid"/>
          </a:ln>
        </p:spPr>
      </p:sp>
      <p:sp>
        <p:nvSpPr>
          <p:cNvPr id="19" name="Text 17"/>
          <p:cNvSpPr/>
          <p:nvPr/>
        </p:nvSpPr>
        <p:spPr>
          <a:xfrm>
            <a:off x="5065776" y="285978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100%</a:t>
            </a:r>
            <a:endParaRPr lang="en-US" sz="700" dirty="0"/>
          </a:p>
        </p:txBody>
      </p:sp>
      <p:sp>
        <p:nvSpPr>
          <p:cNvPr id="20" name="Text 18"/>
          <p:cNvSpPr/>
          <p:nvPr/>
        </p:nvSpPr>
        <p:spPr>
          <a:xfrm>
            <a:off x="795528" y="3817620"/>
            <a:ext cx="1508760" cy="164592"/>
          </a:xfrm>
          <a:prstGeom prst="rect">
            <a:avLst/>
          </a:prstGeom>
          <a:noFill/>
          <a:ln/>
        </p:spPr>
        <p:txBody>
          <a:bodyPr wrap="square" rtlCol="0" anchor="ctr">
            <a:normAutofit/>
          </a:bodyPr>
          <a:lstStyle/>
          <a:p>
            <a:pPr indent="0" marL="0">
              <a:buNone/>
            </a:pPr>
            <a:r>
              <a:rPr lang="en-US" sz="780" dirty="0">
                <a:solidFill>
                  <a:srgbClr val="0F172A"/>
                </a:solidFill>
              </a:rPr>
              <a:t>Pass rate</a:t>
            </a:r>
            <a:endParaRPr lang="en-US" sz="780" dirty="0"/>
          </a:p>
        </p:txBody>
      </p:sp>
      <p:sp>
        <p:nvSpPr>
          <p:cNvPr id="21" name="Shape 19"/>
          <p:cNvSpPr/>
          <p:nvPr/>
        </p:nvSpPr>
        <p:spPr>
          <a:xfrm>
            <a:off x="2395728" y="3963924"/>
            <a:ext cx="2596896" cy="201168"/>
          </a:xfrm>
          <a:prstGeom prst="rect">
            <a:avLst/>
          </a:prstGeom>
          <a:solidFill>
            <a:srgbClr val="E2E8F0"/>
          </a:solidFill>
          <a:ln w="12700">
            <a:solidFill>
              <a:srgbClr val="E2E8F0">
                <a:alpha val="0"/>
              </a:srgbClr>
            </a:solidFill>
            <a:prstDash val="solid"/>
          </a:ln>
        </p:spPr>
      </p:sp>
      <p:sp>
        <p:nvSpPr>
          <p:cNvPr id="22" name="Shape 20"/>
          <p:cNvSpPr/>
          <p:nvPr/>
        </p:nvSpPr>
        <p:spPr>
          <a:xfrm>
            <a:off x="2395728" y="3963924"/>
            <a:ext cx="2596896" cy="201168"/>
          </a:xfrm>
          <a:prstGeom prst="rect">
            <a:avLst/>
          </a:prstGeom>
          <a:solidFill>
            <a:srgbClr val="047857"/>
          </a:solidFill>
          <a:ln w="12700">
            <a:solidFill>
              <a:srgbClr val="047857">
                <a:alpha val="0"/>
              </a:srgbClr>
            </a:solidFill>
            <a:prstDash val="solid"/>
          </a:ln>
        </p:spPr>
      </p:sp>
      <p:sp>
        <p:nvSpPr>
          <p:cNvPr id="23" name="Shape 21"/>
          <p:cNvSpPr/>
          <p:nvPr/>
        </p:nvSpPr>
        <p:spPr>
          <a:xfrm>
            <a:off x="4473245" y="3918204"/>
            <a:ext cx="0" cy="292608"/>
          </a:xfrm>
          <a:prstGeom prst="line">
            <a:avLst/>
          </a:prstGeom>
          <a:noFill/>
          <a:ln w="12700">
            <a:solidFill>
              <a:srgbClr val="0B1220">
                <a:alpha val="80000"/>
              </a:srgbClr>
            </a:solidFill>
            <a:prstDash val="solid"/>
          </a:ln>
        </p:spPr>
      </p:sp>
      <p:sp>
        <p:nvSpPr>
          <p:cNvPr id="24" name="Text 22"/>
          <p:cNvSpPr/>
          <p:nvPr/>
        </p:nvSpPr>
        <p:spPr>
          <a:xfrm>
            <a:off x="5065776" y="380847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100%</a:t>
            </a:r>
            <a:endParaRPr lang="en-US" sz="700" dirty="0"/>
          </a:p>
        </p:txBody>
      </p:sp>
      <p:sp>
        <p:nvSpPr>
          <p:cNvPr id="25" name="Text 23"/>
          <p:cNvSpPr/>
          <p:nvPr/>
        </p:nvSpPr>
        <p:spPr>
          <a:xfrm>
            <a:off x="795528" y="4766310"/>
            <a:ext cx="1508760" cy="164592"/>
          </a:xfrm>
          <a:prstGeom prst="rect">
            <a:avLst/>
          </a:prstGeom>
          <a:noFill/>
          <a:ln/>
        </p:spPr>
        <p:txBody>
          <a:bodyPr wrap="square" rtlCol="0" anchor="ctr">
            <a:normAutofit/>
          </a:bodyPr>
          <a:lstStyle/>
          <a:p>
            <a:pPr indent="0" marL="0">
              <a:buNone/>
            </a:pPr>
            <a:r>
              <a:rPr lang="en-US" sz="780" dirty="0">
                <a:solidFill>
                  <a:srgbClr val="0F172A"/>
                </a:solidFill>
              </a:rPr>
              <a:t>Effectiveness</a:t>
            </a:r>
            <a:endParaRPr lang="en-US" sz="780" dirty="0"/>
          </a:p>
        </p:txBody>
      </p:sp>
      <p:sp>
        <p:nvSpPr>
          <p:cNvPr id="26" name="Shape 24"/>
          <p:cNvSpPr/>
          <p:nvPr/>
        </p:nvSpPr>
        <p:spPr>
          <a:xfrm>
            <a:off x="2395728" y="4912614"/>
            <a:ext cx="2596896" cy="201168"/>
          </a:xfrm>
          <a:prstGeom prst="rect">
            <a:avLst/>
          </a:prstGeom>
          <a:solidFill>
            <a:srgbClr val="E2E8F0"/>
          </a:solidFill>
          <a:ln w="12700">
            <a:solidFill>
              <a:srgbClr val="E2E8F0">
                <a:alpha val="0"/>
              </a:srgbClr>
            </a:solidFill>
            <a:prstDash val="solid"/>
          </a:ln>
        </p:spPr>
      </p:sp>
      <p:sp>
        <p:nvSpPr>
          <p:cNvPr id="27" name="Shape 25"/>
          <p:cNvSpPr/>
          <p:nvPr/>
        </p:nvSpPr>
        <p:spPr>
          <a:xfrm>
            <a:off x="2395728" y="4912614"/>
            <a:ext cx="2396416" cy="201168"/>
          </a:xfrm>
          <a:prstGeom prst="rect">
            <a:avLst/>
          </a:prstGeom>
          <a:solidFill>
            <a:srgbClr val="047857"/>
          </a:solidFill>
          <a:ln w="12700">
            <a:solidFill>
              <a:srgbClr val="047857">
                <a:alpha val="0"/>
              </a:srgbClr>
            </a:solidFill>
            <a:prstDash val="solid"/>
          </a:ln>
        </p:spPr>
      </p:sp>
      <p:sp>
        <p:nvSpPr>
          <p:cNvPr id="28" name="Shape 26"/>
          <p:cNvSpPr/>
          <p:nvPr/>
        </p:nvSpPr>
        <p:spPr>
          <a:xfrm>
            <a:off x="4603090" y="4866894"/>
            <a:ext cx="0" cy="292608"/>
          </a:xfrm>
          <a:prstGeom prst="line">
            <a:avLst/>
          </a:prstGeom>
          <a:noFill/>
          <a:ln w="12700">
            <a:solidFill>
              <a:srgbClr val="0B1220">
                <a:alpha val="80000"/>
              </a:srgbClr>
            </a:solidFill>
            <a:prstDash val="solid"/>
          </a:ln>
        </p:spPr>
      </p:sp>
      <p:sp>
        <p:nvSpPr>
          <p:cNvPr id="29" name="Text 27"/>
          <p:cNvSpPr/>
          <p:nvPr/>
        </p:nvSpPr>
        <p:spPr>
          <a:xfrm>
            <a:off x="5065776" y="475716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92.3/100</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621792" y="1024128"/>
            <a:ext cx="2926080" cy="182880"/>
          </a:xfrm>
          <a:prstGeom prst="rect">
            <a:avLst/>
          </a:prstGeom>
          <a:noFill/>
          <a:ln/>
        </p:spPr>
        <p:txBody>
          <a:bodyPr wrap="square" lIns="0" tIns="0" rIns="0" bIns="0" rtlCol="0" anchor="ctr"/>
          <a:lstStyle/>
          <a:p>
            <a:pPr indent="0" marL="0">
              <a:buNone/>
            </a:pPr>
            <a:r>
              <a:rPr lang="en-US" sz="900" b="1" dirty="0">
                <a:solidFill>
                  <a:srgbClr val="2563EB"/>
                </a:solidFill>
              </a:rPr>
              <a:t>Course performance profile</a:t>
            </a:r>
            <a:endParaRPr lang="en-US" sz="900" dirty="0"/>
          </a:p>
        </p:txBody>
      </p:sp>
      <p:sp>
        <p:nvSpPr>
          <p:cNvPr id="9" name="Text 6"/>
          <p:cNvSpPr/>
          <p:nvPr/>
        </p:nvSpPr>
        <p:spPr>
          <a:xfrm>
            <a:off x="621792" y="1298448"/>
            <a:ext cx="6629400" cy="502920"/>
          </a:xfrm>
          <a:prstGeom prst="rect">
            <a:avLst/>
          </a:prstGeom>
          <a:noFill/>
          <a:ln/>
        </p:spPr>
        <p:txBody>
          <a:bodyPr wrap="square" lIns="0" tIns="0" rIns="0" bIns="0" rtlCol="0" anchor="ctr">
            <a:normAutofit/>
          </a:bodyPr>
          <a:lstStyle/>
          <a:p>
            <a:pPr indent="0" marL="0">
              <a:buNone/>
            </a:pPr>
            <a:r>
              <a:rPr lang="en-US" sz="2100" b="1" dirty="0">
                <a:solidFill>
                  <a:srgbClr val="0F172A"/>
                </a:solidFill>
              </a:rPr>
              <a:t>DevOps Fundamentals: CI/CD, K8s, Monitoring</a:t>
            </a:r>
            <a:endParaRPr lang="en-US" sz="2100" dirty="0"/>
          </a:p>
        </p:txBody>
      </p:sp>
      <p:sp>
        <p:nvSpPr>
          <p:cNvPr id="10" name="Text 7"/>
          <p:cNvSpPr/>
          <p:nvPr/>
        </p:nvSpPr>
        <p:spPr>
          <a:xfrm>
            <a:off x="658368" y="2084832"/>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Attendance</a:t>
            </a:r>
            <a:endParaRPr lang="en-US" sz="1000" dirty="0"/>
          </a:p>
        </p:txBody>
      </p:sp>
      <p:sp>
        <p:nvSpPr>
          <p:cNvPr id="11" name="Shape 8"/>
          <p:cNvSpPr/>
          <p:nvPr/>
        </p:nvSpPr>
        <p:spPr>
          <a:xfrm>
            <a:off x="1773936" y="2112264"/>
            <a:ext cx="4626864" cy="164592"/>
          </a:xfrm>
          <a:prstGeom prst="roundRect">
            <a:avLst>
              <a:gd name="adj" fmla="val 22222"/>
            </a:avLst>
          </a:prstGeom>
          <a:solidFill>
            <a:srgbClr val="E2E8F0"/>
          </a:solidFill>
          <a:ln w="12700">
            <a:solidFill>
              <a:srgbClr val="E2E8F0">
                <a:alpha val="0"/>
              </a:srgbClr>
            </a:solidFill>
            <a:prstDash val="solid"/>
          </a:ln>
        </p:spPr>
      </p:sp>
      <p:sp>
        <p:nvSpPr>
          <p:cNvPr id="12" name="Shape 9"/>
          <p:cNvSpPr/>
          <p:nvPr/>
        </p:nvSpPr>
        <p:spPr>
          <a:xfrm>
            <a:off x="1773936" y="2112264"/>
            <a:ext cx="4441789" cy="164592"/>
          </a:xfrm>
          <a:prstGeom prst="roundRect">
            <a:avLst>
              <a:gd name="adj" fmla="val 22222"/>
            </a:avLst>
          </a:prstGeom>
          <a:solidFill>
            <a:srgbClr val="047857"/>
          </a:solidFill>
          <a:ln w="12700">
            <a:solidFill>
              <a:srgbClr val="047857">
                <a:alpha val="0"/>
              </a:srgbClr>
            </a:solidFill>
            <a:prstDash val="solid"/>
          </a:ln>
        </p:spPr>
      </p:sp>
      <p:sp>
        <p:nvSpPr>
          <p:cNvPr id="13" name="Shape 10"/>
          <p:cNvSpPr/>
          <p:nvPr/>
        </p:nvSpPr>
        <p:spPr>
          <a:xfrm>
            <a:off x="5706770" y="2075688"/>
            <a:ext cx="0" cy="256032"/>
          </a:xfrm>
          <a:prstGeom prst="line">
            <a:avLst/>
          </a:prstGeom>
          <a:noFill/>
          <a:ln w="12700">
            <a:solidFill>
              <a:srgbClr val="0B1220">
                <a:alpha val="85000"/>
              </a:srgbClr>
            </a:solidFill>
            <a:prstDash val="solid"/>
          </a:ln>
        </p:spPr>
      </p:sp>
      <p:sp>
        <p:nvSpPr>
          <p:cNvPr id="14" name="Text 11"/>
          <p:cNvSpPr/>
          <p:nvPr/>
        </p:nvSpPr>
        <p:spPr>
          <a:xfrm>
            <a:off x="6492240" y="2084832"/>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96%</a:t>
            </a:r>
            <a:endParaRPr lang="en-US" sz="900" dirty="0"/>
          </a:p>
        </p:txBody>
      </p:sp>
      <p:sp>
        <p:nvSpPr>
          <p:cNvPr id="15" name="Text 12"/>
          <p:cNvSpPr/>
          <p:nvPr/>
        </p:nvSpPr>
        <p:spPr>
          <a:xfrm>
            <a:off x="1773936" y="2377440"/>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85%</a:t>
            </a:r>
            <a:endParaRPr lang="en-US" sz="700" dirty="0"/>
          </a:p>
        </p:txBody>
      </p:sp>
      <p:sp>
        <p:nvSpPr>
          <p:cNvPr id="16" name="Text 13"/>
          <p:cNvSpPr/>
          <p:nvPr/>
        </p:nvSpPr>
        <p:spPr>
          <a:xfrm>
            <a:off x="658368" y="2871216"/>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Completion</a:t>
            </a:r>
            <a:endParaRPr lang="en-US" sz="1000" dirty="0"/>
          </a:p>
        </p:txBody>
      </p:sp>
      <p:sp>
        <p:nvSpPr>
          <p:cNvPr id="17" name="Shape 14"/>
          <p:cNvSpPr/>
          <p:nvPr/>
        </p:nvSpPr>
        <p:spPr>
          <a:xfrm>
            <a:off x="1773936" y="2898648"/>
            <a:ext cx="4626864" cy="164592"/>
          </a:xfrm>
          <a:prstGeom prst="roundRect">
            <a:avLst>
              <a:gd name="adj" fmla="val 22222"/>
            </a:avLst>
          </a:prstGeom>
          <a:solidFill>
            <a:srgbClr val="E2E8F0"/>
          </a:solidFill>
          <a:ln w="12700">
            <a:solidFill>
              <a:srgbClr val="E2E8F0">
                <a:alpha val="0"/>
              </a:srgbClr>
            </a:solidFill>
            <a:prstDash val="solid"/>
          </a:ln>
        </p:spPr>
      </p:sp>
      <p:sp>
        <p:nvSpPr>
          <p:cNvPr id="18" name="Shape 15"/>
          <p:cNvSpPr/>
          <p:nvPr/>
        </p:nvSpPr>
        <p:spPr>
          <a:xfrm>
            <a:off x="1773936" y="2898648"/>
            <a:ext cx="4626864" cy="164592"/>
          </a:xfrm>
          <a:prstGeom prst="roundRect">
            <a:avLst>
              <a:gd name="adj" fmla="val 22222"/>
            </a:avLst>
          </a:prstGeom>
          <a:solidFill>
            <a:srgbClr val="047857"/>
          </a:solidFill>
          <a:ln w="12700">
            <a:solidFill>
              <a:srgbClr val="047857">
                <a:alpha val="0"/>
              </a:srgbClr>
            </a:solidFill>
            <a:prstDash val="solid"/>
          </a:ln>
        </p:spPr>
      </p:sp>
      <p:sp>
        <p:nvSpPr>
          <p:cNvPr id="19" name="Shape 16"/>
          <p:cNvSpPr/>
          <p:nvPr/>
        </p:nvSpPr>
        <p:spPr>
          <a:xfrm>
            <a:off x="5938114" y="2862072"/>
            <a:ext cx="0" cy="256032"/>
          </a:xfrm>
          <a:prstGeom prst="line">
            <a:avLst/>
          </a:prstGeom>
          <a:noFill/>
          <a:ln w="12700">
            <a:solidFill>
              <a:srgbClr val="0B1220">
                <a:alpha val="85000"/>
              </a:srgbClr>
            </a:solidFill>
            <a:prstDash val="solid"/>
          </a:ln>
        </p:spPr>
      </p:sp>
      <p:sp>
        <p:nvSpPr>
          <p:cNvPr id="20" name="Text 17"/>
          <p:cNvSpPr/>
          <p:nvPr/>
        </p:nvSpPr>
        <p:spPr>
          <a:xfrm>
            <a:off x="6492240" y="2871216"/>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100%</a:t>
            </a:r>
            <a:endParaRPr lang="en-US" sz="900" dirty="0"/>
          </a:p>
        </p:txBody>
      </p:sp>
      <p:sp>
        <p:nvSpPr>
          <p:cNvPr id="21" name="Text 18"/>
          <p:cNvSpPr/>
          <p:nvPr/>
        </p:nvSpPr>
        <p:spPr>
          <a:xfrm>
            <a:off x="1773936" y="3163824"/>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90%</a:t>
            </a:r>
            <a:endParaRPr lang="en-US" sz="700" dirty="0"/>
          </a:p>
        </p:txBody>
      </p:sp>
      <p:sp>
        <p:nvSpPr>
          <p:cNvPr id="22" name="Text 19"/>
          <p:cNvSpPr/>
          <p:nvPr/>
        </p:nvSpPr>
        <p:spPr>
          <a:xfrm>
            <a:off x="658368" y="3657600"/>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Pass rate</a:t>
            </a:r>
            <a:endParaRPr lang="en-US" sz="1000" dirty="0"/>
          </a:p>
        </p:txBody>
      </p:sp>
      <p:sp>
        <p:nvSpPr>
          <p:cNvPr id="23" name="Shape 20"/>
          <p:cNvSpPr/>
          <p:nvPr/>
        </p:nvSpPr>
        <p:spPr>
          <a:xfrm>
            <a:off x="1773936" y="3685032"/>
            <a:ext cx="4626864" cy="164592"/>
          </a:xfrm>
          <a:prstGeom prst="roundRect">
            <a:avLst>
              <a:gd name="adj" fmla="val 22222"/>
            </a:avLst>
          </a:prstGeom>
          <a:solidFill>
            <a:srgbClr val="E2E8F0"/>
          </a:solidFill>
          <a:ln w="12700">
            <a:solidFill>
              <a:srgbClr val="E2E8F0">
                <a:alpha val="0"/>
              </a:srgbClr>
            </a:solidFill>
            <a:prstDash val="solid"/>
          </a:ln>
        </p:spPr>
      </p:sp>
      <p:sp>
        <p:nvSpPr>
          <p:cNvPr id="24" name="Shape 21"/>
          <p:cNvSpPr/>
          <p:nvPr/>
        </p:nvSpPr>
        <p:spPr>
          <a:xfrm>
            <a:off x="1773936" y="3685032"/>
            <a:ext cx="4626864" cy="164592"/>
          </a:xfrm>
          <a:prstGeom prst="roundRect">
            <a:avLst>
              <a:gd name="adj" fmla="val 22222"/>
            </a:avLst>
          </a:prstGeom>
          <a:solidFill>
            <a:srgbClr val="047857"/>
          </a:solidFill>
          <a:ln w="12700">
            <a:solidFill>
              <a:srgbClr val="047857">
                <a:alpha val="0"/>
              </a:srgbClr>
            </a:solidFill>
            <a:prstDash val="solid"/>
          </a:ln>
        </p:spPr>
      </p:sp>
      <p:sp>
        <p:nvSpPr>
          <p:cNvPr id="25" name="Shape 22"/>
          <p:cNvSpPr/>
          <p:nvPr/>
        </p:nvSpPr>
        <p:spPr>
          <a:xfrm>
            <a:off x="5475427" y="3648456"/>
            <a:ext cx="0" cy="256032"/>
          </a:xfrm>
          <a:prstGeom prst="line">
            <a:avLst/>
          </a:prstGeom>
          <a:noFill/>
          <a:ln w="12700">
            <a:solidFill>
              <a:srgbClr val="0B1220">
                <a:alpha val="85000"/>
              </a:srgbClr>
            </a:solidFill>
            <a:prstDash val="solid"/>
          </a:ln>
        </p:spPr>
      </p:sp>
      <p:sp>
        <p:nvSpPr>
          <p:cNvPr id="26" name="Text 23"/>
          <p:cNvSpPr/>
          <p:nvPr/>
        </p:nvSpPr>
        <p:spPr>
          <a:xfrm>
            <a:off x="6492240" y="3657600"/>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100%</a:t>
            </a:r>
            <a:endParaRPr lang="en-US" sz="900" dirty="0"/>
          </a:p>
        </p:txBody>
      </p:sp>
      <p:sp>
        <p:nvSpPr>
          <p:cNvPr id="27" name="Text 24"/>
          <p:cNvSpPr/>
          <p:nvPr/>
        </p:nvSpPr>
        <p:spPr>
          <a:xfrm>
            <a:off x="1773936" y="3950208"/>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80%</a:t>
            </a:r>
            <a:endParaRPr lang="en-US" sz="700" dirty="0"/>
          </a:p>
        </p:txBody>
      </p:sp>
      <p:sp>
        <p:nvSpPr>
          <p:cNvPr id="28" name="Shape 25"/>
          <p:cNvSpPr/>
          <p:nvPr/>
        </p:nvSpPr>
        <p:spPr>
          <a:xfrm>
            <a:off x="7635240" y="1170432"/>
            <a:ext cx="3840480" cy="3611880"/>
          </a:xfrm>
          <a:prstGeom prst="roundRect">
            <a:avLst>
              <a:gd name="adj" fmla="val 2025"/>
            </a:avLst>
          </a:prstGeom>
          <a:solidFill>
            <a:srgbClr val="FFFFFF"/>
          </a:solidFill>
          <a:ln w="12700">
            <a:solidFill>
              <a:srgbClr val="CBD5E1"/>
            </a:solidFill>
            <a:prstDash val="solid"/>
          </a:ln>
        </p:spPr>
      </p:sp>
      <p:sp>
        <p:nvSpPr>
          <p:cNvPr id="29" name="Text 26"/>
          <p:cNvSpPr/>
          <p:nvPr/>
        </p:nvSpPr>
        <p:spPr>
          <a:xfrm>
            <a:off x="7936992" y="1481328"/>
            <a:ext cx="3246120" cy="182880"/>
          </a:xfrm>
          <a:prstGeom prst="rect">
            <a:avLst/>
          </a:prstGeom>
          <a:noFill/>
          <a:ln/>
        </p:spPr>
        <p:txBody>
          <a:bodyPr wrap="square" lIns="0" tIns="0" rIns="0" bIns="0" rtlCol="0" anchor="ctr"/>
          <a:lstStyle/>
          <a:p>
            <a:pPr algn="ctr" indent="0" marL="0">
              <a:buNone/>
            </a:pPr>
            <a:r>
              <a:rPr lang="en-US" sz="900" b="1" dirty="0">
                <a:solidFill>
                  <a:srgbClr val="64748B"/>
                </a:solidFill>
              </a:rPr>
              <a:t>EFFECTIVENESS</a:t>
            </a:r>
            <a:endParaRPr lang="en-US" sz="900" dirty="0"/>
          </a:p>
        </p:txBody>
      </p:sp>
      <p:sp>
        <p:nvSpPr>
          <p:cNvPr id="30" name="Shape 27"/>
          <p:cNvSpPr/>
          <p:nvPr/>
        </p:nvSpPr>
        <p:spPr>
          <a:xfrm>
            <a:off x="8549640" y="1828800"/>
            <a:ext cx="2011680" cy="2011680"/>
          </a:xfrm>
          <a:prstGeom prst="ellipse">
            <a:avLst/>
          </a:prstGeom>
          <a:solidFill>
            <a:srgbClr val="047857"/>
          </a:solidFill>
          <a:ln w="12700">
            <a:solidFill>
              <a:srgbClr val="047857">
                <a:alpha val="0"/>
              </a:srgbClr>
            </a:solidFill>
            <a:prstDash val="solid"/>
          </a:ln>
        </p:spPr>
      </p:sp>
      <p:sp>
        <p:nvSpPr>
          <p:cNvPr id="31" name="Shape 28"/>
          <p:cNvSpPr/>
          <p:nvPr/>
        </p:nvSpPr>
        <p:spPr>
          <a:xfrm>
            <a:off x="8897112" y="2176272"/>
            <a:ext cx="1316736" cy="1316736"/>
          </a:xfrm>
          <a:prstGeom prst="ellipse">
            <a:avLst/>
          </a:prstGeom>
          <a:solidFill>
            <a:srgbClr val="FFFFFF"/>
          </a:solidFill>
          <a:ln w="12700">
            <a:solidFill>
              <a:srgbClr val="FFFFFF">
                <a:alpha val="0"/>
              </a:srgbClr>
            </a:solidFill>
            <a:prstDash val="solid"/>
          </a:ln>
        </p:spPr>
      </p:sp>
      <p:sp>
        <p:nvSpPr>
          <p:cNvPr id="32" name="Text 29"/>
          <p:cNvSpPr/>
          <p:nvPr/>
        </p:nvSpPr>
        <p:spPr>
          <a:xfrm>
            <a:off x="8897112" y="2505456"/>
            <a:ext cx="1316736" cy="384048"/>
          </a:xfrm>
          <a:prstGeom prst="rect">
            <a:avLst/>
          </a:prstGeom>
          <a:noFill/>
          <a:ln/>
        </p:spPr>
        <p:txBody>
          <a:bodyPr wrap="square" lIns="0" tIns="0" rIns="0" bIns="0" rtlCol="0" anchor="ctr">
            <a:normAutofit/>
          </a:bodyPr>
          <a:lstStyle/>
          <a:p>
            <a:pPr algn="ctr" indent="0" marL="0">
              <a:buNone/>
            </a:pPr>
            <a:r>
              <a:rPr lang="en-US" sz="2200" b="1" dirty="0">
                <a:solidFill>
                  <a:srgbClr val="047857"/>
                </a:solidFill>
              </a:rPr>
              <a:t>92.28</a:t>
            </a:r>
            <a:endParaRPr lang="en-US" sz="2200" dirty="0"/>
          </a:p>
        </p:txBody>
      </p:sp>
      <p:sp>
        <p:nvSpPr>
          <p:cNvPr id="33" name="Text 30"/>
          <p:cNvSpPr/>
          <p:nvPr/>
        </p:nvSpPr>
        <p:spPr>
          <a:xfrm>
            <a:off x="9025128" y="2898648"/>
            <a:ext cx="1051560" cy="164592"/>
          </a:xfrm>
          <a:prstGeom prst="rect">
            <a:avLst/>
          </a:prstGeom>
          <a:noFill/>
          <a:ln/>
        </p:spPr>
        <p:txBody>
          <a:bodyPr wrap="square" lIns="0" tIns="0" rIns="0" bIns="0" rtlCol="0" anchor="ctr"/>
          <a:lstStyle/>
          <a:p>
            <a:pPr algn="ctr" indent="0" marL="0">
              <a:buNone/>
            </a:pPr>
            <a:r>
              <a:rPr lang="en-US" sz="800" dirty="0">
                <a:solidFill>
                  <a:srgbClr val="64748B"/>
                </a:solidFill>
              </a:rPr>
              <a:t>/ 100</a:t>
            </a:r>
            <a:endParaRPr lang="en-US" sz="800" dirty="0"/>
          </a:p>
        </p:txBody>
      </p:sp>
      <p:sp>
        <p:nvSpPr>
          <p:cNvPr id="34" name="Text 31"/>
          <p:cNvSpPr/>
          <p:nvPr/>
        </p:nvSpPr>
        <p:spPr>
          <a:xfrm>
            <a:off x="797356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LEARNERS</a:t>
            </a:r>
            <a:endParaRPr lang="en-US" sz="750" dirty="0"/>
          </a:p>
        </p:txBody>
      </p:sp>
      <p:sp>
        <p:nvSpPr>
          <p:cNvPr id="35" name="Text 32"/>
          <p:cNvSpPr/>
          <p:nvPr/>
        </p:nvSpPr>
        <p:spPr>
          <a:xfrm>
            <a:off x="797356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10</a:t>
            </a:r>
            <a:endParaRPr lang="en-US" sz="1500" dirty="0"/>
          </a:p>
        </p:txBody>
      </p:sp>
      <p:sp>
        <p:nvSpPr>
          <p:cNvPr id="36" name="Text 33"/>
          <p:cNvSpPr/>
          <p:nvPr/>
        </p:nvSpPr>
        <p:spPr>
          <a:xfrm>
            <a:off x="961948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AVG SCORE</a:t>
            </a:r>
            <a:endParaRPr lang="en-US" sz="750" dirty="0"/>
          </a:p>
        </p:txBody>
      </p:sp>
      <p:sp>
        <p:nvSpPr>
          <p:cNvPr id="37" name="Text 34"/>
          <p:cNvSpPr/>
          <p:nvPr/>
        </p:nvSpPr>
        <p:spPr>
          <a:xfrm>
            <a:off x="961948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7.89/10</a:t>
            </a:r>
            <a:endParaRPr lang="en-US" sz="1500" dirty="0"/>
          </a:p>
        </p:txBody>
      </p:sp>
      <p:sp>
        <p:nvSpPr>
          <p:cNvPr id="38" name="Text 35"/>
          <p:cNvSpPr/>
          <p:nvPr/>
        </p:nvSpPr>
        <p:spPr>
          <a:xfrm>
            <a:off x="621792" y="4919472"/>
            <a:ext cx="3108960" cy="228600"/>
          </a:xfrm>
          <a:prstGeom prst="rect">
            <a:avLst/>
          </a:prstGeom>
          <a:noFill/>
          <a:ln/>
        </p:spPr>
        <p:txBody>
          <a:bodyPr wrap="square" lIns="0" tIns="0" rIns="0" bIns="0" rtlCol="0" anchor="ctr"/>
          <a:lstStyle/>
          <a:p>
            <a:pPr indent="0" marL="0">
              <a:buNone/>
            </a:pPr>
            <a:r>
              <a:rPr lang="en-US" sz="1300" b="1" dirty="0">
                <a:solidFill>
                  <a:srgbClr val="0F172A"/>
                </a:solidFill>
              </a:rPr>
              <a:t>What leaders should notice</a:t>
            </a:r>
            <a:endParaRPr lang="en-US" sz="1300" dirty="0"/>
          </a:p>
        </p:txBody>
      </p:sp>
      <p:sp>
        <p:nvSpPr>
          <p:cNvPr id="39" name="Shape 36"/>
          <p:cNvSpPr/>
          <p:nvPr/>
        </p:nvSpPr>
        <p:spPr>
          <a:xfrm>
            <a:off x="621792" y="5285232"/>
            <a:ext cx="3429000" cy="868680"/>
          </a:xfrm>
          <a:prstGeom prst="roundRect">
            <a:avLst>
              <a:gd name="adj" fmla="val 8421"/>
            </a:avLst>
          </a:prstGeom>
          <a:solidFill>
            <a:srgbClr val="D1FAE5"/>
          </a:solidFill>
          <a:ln w="12700">
            <a:solidFill>
              <a:srgbClr val="D1FAE5"/>
            </a:solidFill>
            <a:prstDash val="solid"/>
          </a:ln>
        </p:spPr>
      </p:sp>
      <p:sp>
        <p:nvSpPr>
          <p:cNvPr id="40" name="Text 37"/>
          <p:cNvSpPr/>
          <p:nvPr/>
        </p:nvSpPr>
        <p:spPr>
          <a:xfrm>
            <a:off x="786384"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100%</a:t>
            </a:r>
            <a:endParaRPr lang="en-US" sz="1000" dirty="0"/>
          </a:p>
        </p:txBody>
      </p:sp>
      <p:sp>
        <p:nvSpPr>
          <p:cNvPr id="41" name="Shape 38"/>
          <p:cNvSpPr/>
          <p:nvPr/>
        </p:nvSpPr>
        <p:spPr>
          <a:xfrm>
            <a:off x="4352544" y="5285232"/>
            <a:ext cx="3429000" cy="868680"/>
          </a:xfrm>
          <a:prstGeom prst="roundRect">
            <a:avLst>
              <a:gd name="adj" fmla="val 8421"/>
            </a:avLst>
          </a:prstGeom>
          <a:solidFill>
            <a:srgbClr val="D1FAE5"/>
          </a:solidFill>
          <a:ln w="12700">
            <a:solidFill>
              <a:srgbClr val="D1FAE5"/>
            </a:solidFill>
            <a:prstDash val="solid"/>
          </a:ln>
        </p:spPr>
      </p:sp>
      <p:sp>
        <p:nvSpPr>
          <p:cNvPr id="42" name="Text 39"/>
          <p:cNvSpPr/>
          <p:nvPr/>
        </p:nvSpPr>
        <p:spPr>
          <a:xfrm>
            <a:off x="4517136"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92.28</a:t>
            </a:r>
            <a:endParaRPr lang="en-US" sz="1000" dirty="0"/>
          </a:p>
        </p:txBody>
      </p:sp>
      <p:sp>
        <p:nvSpPr>
          <p:cNvPr id="43" name="Shape 40"/>
          <p:cNvSpPr/>
          <p:nvPr/>
        </p:nvSpPr>
        <p:spPr>
          <a:xfrm>
            <a:off x="8083296" y="5285232"/>
            <a:ext cx="3429000" cy="868680"/>
          </a:xfrm>
          <a:prstGeom prst="roundRect">
            <a:avLst>
              <a:gd name="adj" fmla="val 8421"/>
            </a:avLst>
          </a:prstGeom>
          <a:solidFill>
            <a:srgbClr val="D1FAE5"/>
          </a:solidFill>
          <a:ln w="12700">
            <a:solidFill>
              <a:srgbClr val="D1FAE5"/>
            </a:solidFill>
            <a:prstDash val="solid"/>
          </a:ln>
        </p:spPr>
      </p:sp>
      <p:sp>
        <p:nvSpPr>
          <p:cNvPr id="44" name="Text 41"/>
          <p:cNvSpPr/>
          <p:nvPr/>
        </p:nvSpPr>
        <p:spPr>
          <a:xfrm>
            <a:off x="8247888"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DevOps Fundamentals: CI/CD, K8s, Monitoring has an effectiveness score of 92.28 in the selected scope.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D1FAE5"/>
          </a:solidFill>
          <a:ln w="12700">
            <a:solidFill>
              <a:srgbClr val="D1FAE5"/>
            </a:solidFill>
            <a:prstDash val="solid"/>
          </a:ln>
        </p:spPr>
      </p:sp>
      <p:sp>
        <p:nvSpPr>
          <p:cNvPr id="9" name="Text 7"/>
          <p:cNvSpPr/>
          <p:nvPr/>
        </p:nvSpPr>
        <p:spPr>
          <a:xfrm>
            <a:off x="81381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100%</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100%.</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43737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92.28</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96%, pass rate 100%, average score 7.89/10.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Effective.</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DevOps Fundamentals: CI/CD, K8s, Monitoring has an effectiveness score of 92.28 in the selected scope.</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D1FAE5"/>
          </a:solidFill>
          <a:ln w="12700">
            <a:solidFill>
              <a:srgbClr val="D1FAE5"/>
            </a:solidFill>
            <a:prstDash val="solid"/>
          </a:ln>
        </p:spPr>
      </p:sp>
      <p:sp>
        <p:nvSpPr>
          <p:cNvPr id="27" name="Text 25"/>
          <p:cNvSpPr/>
          <p:nvPr/>
        </p:nvSpPr>
        <p:spPr>
          <a:xfrm>
            <a:off x="643737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The course has successfully engaged all 10 trainees, resulting in a completion rate of 100% and a pass rate of</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Required sheets and columns were mapped from Teams, OneDrive, Forms, KPI, Rules and Template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37336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All selected courses are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D1FAE5"/>
          </a:solidFill>
          <a:ln w="12700">
            <a:solidFill>
              <a:srgbClr val="D1FAE5"/>
            </a:solidFill>
            <a:prstDash val="solid"/>
          </a:ln>
        </p:spPr>
      </p:sp>
      <p:sp>
        <p:nvSpPr>
          <p:cNvPr id="20" name="Text 18"/>
          <p:cNvSpPr/>
          <p:nvPr/>
        </p:nvSpPr>
        <p:spPr>
          <a:xfrm>
            <a:off x="79552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x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valid assessment and 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Row-level data quality</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Duplicate rows and numeric ranges were checked before metric generation.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Effective</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0</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758952" y="294436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N/A</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 NORM flags | N/A</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No governance flags triggered.</a:t>
            </a:r>
            <a:endParaRPr lang="en-US" sz="860" dirty="0"/>
          </a:p>
        </p:txBody>
      </p:sp>
      <p:sp>
        <p:nvSpPr>
          <p:cNvPr id="24" name="Shape 22"/>
          <p:cNvSpPr/>
          <p:nvPr/>
        </p:nvSpPr>
        <p:spPr>
          <a:xfrm>
            <a:off x="7699248" y="2788920"/>
            <a:ext cx="3767328" cy="1965960"/>
          </a:xfrm>
          <a:prstGeom prst="roundRect">
            <a:avLst>
              <a:gd name="adj" fmla="val 3721"/>
            </a:avLst>
          </a:prstGeom>
          <a:solidFill>
            <a:srgbClr val="D1FAE5"/>
          </a:solidFill>
          <a:ln w="12700">
            <a:solidFill>
              <a:srgbClr val="047857">
                <a:alpha val="65000"/>
              </a:srgbClr>
            </a:solidFill>
            <a:prstDash val="solid"/>
          </a:ln>
        </p:spPr>
      </p:sp>
      <p:sp>
        <p:nvSpPr>
          <p:cNvPr id="25" name="Text 23"/>
          <p:cNvSpPr/>
          <p:nvPr/>
        </p:nvSpPr>
        <p:spPr>
          <a:xfrm>
            <a:off x="7955280" y="3054096"/>
            <a:ext cx="3200400" cy="182880"/>
          </a:xfrm>
          <a:prstGeom prst="rect">
            <a:avLst/>
          </a:prstGeom>
          <a:noFill/>
          <a:ln/>
        </p:spPr>
        <p:txBody>
          <a:bodyPr wrap="square" lIns="0" tIns="0" rIns="0" bIns="0" rtlCol="0" anchor="ctr"/>
          <a:lstStyle/>
          <a:p>
            <a:pPr indent="0" marL="0">
              <a:buNone/>
            </a:pPr>
            <a:r>
              <a:rPr lang="en-US" sz="850" b="1" dirty="0">
                <a:solidFill>
                  <a:srgbClr val="047857"/>
                </a:solidFill>
              </a:rPr>
              <a:t>GOVERNANCE RESPONSE</a:t>
            </a:r>
            <a:endParaRPr lang="en-US" sz="850" dirty="0"/>
          </a:p>
        </p:txBody>
      </p:sp>
      <p:sp>
        <p:nvSpPr>
          <p:cNvPr id="26" name="Text 24"/>
          <p:cNvSpPr/>
          <p:nvPr/>
        </p:nvSpPr>
        <p:spPr>
          <a:xfrm>
            <a:off x="7955280" y="3493008"/>
            <a:ext cx="3218688" cy="658368"/>
          </a:xfrm>
          <a:prstGeom prst="rect">
            <a:avLst/>
          </a:prstGeom>
          <a:noFill/>
          <a:ln/>
        </p:spPr>
        <p:txBody>
          <a:bodyPr wrap="square" lIns="0" tIns="0" rIns="0" bIns="0" rtlCol="0" anchor="ctr">
            <a:normAutofit/>
          </a:bodyPr>
          <a:lstStyle/>
          <a:p>
            <a:pPr indent="0" marL="0">
              <a:buNone/>
            </a:pPr>
            <a:r>
              <a:rPr lang="en-US" sz="1200" b="1" dirty="0">
                <a:solidFill>
                  <a:srgbClr val="0F172A"/>
                </a:solidFill>
              </a:rPr>
              <a:t>Continue standard monitoring and preserve the validated audit trail.</a:t>
            </a:r>
            <a:endParaRPr lang="en-US" sz="1200" dirty="0"/>
          </a:p>
        </p:txBody>
      </p:sp>
      <p:sp>
        <p:nvSpPr>
          <p:cNvPr id="27" name="Text 25"/>
          <p:cNvSpPr/>
          <p:nvPr/>
        </p:nvSpPr>
        <p:spPr>
          <a:xfrm>
            <a:off x="7955280" y="4279392"/>
            <a:ext cx="3218688" cy="228600"/>
          </a:xfrm>
          <a:prstGeom prst="rect">
            <a:avLst/>
          </a:prstGeom>
          <a:noFill/>
          <a:ln/>
        </p:spPr>
        <p:txBody>
          <a:bodyPr wrap="square" lIns="0" tIns="0" rIns="0" bIns="0" rtlCol="0" anchor="ctr"/>
          <a:lstStyle/>
          <a:p>
            <a:pPr indent="0" marL="0">
              <a:buNone/>
            </a:pPr>
            <a:r>
              <a:rPr lang="en-US" sz="850" dirty="0">
                <a:solidFill>
                  <a:srgbClr val="64748B"/>
                </a:solidFill>
              </a:rPr>
              <a:t>No active NORM rule requires escalation.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F3C7"/>
          </a:solidFill>
          <a:ln w="12700">
            <a:solidFill>
              <a:srgbClr val="FEF3C7"/>
            </a:solidFill>
            <a:prstDash val="solid"/>
          </a:ln>
        </p:spPr>
      </p:sp>
      <p:sp>
        <p:nvSpPr>
          <p:cNvPr id="10" name="Text 8"/>
          <p:cNvSpPr/>
          <p:nvPr/>
        </p:nvSpPr>
        <p:spPr>
          <a:xfrm>
            <a:off x="1207008" y="1161288"/>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Maintain the current delivery model and reuse top-performing materials for future cohorts.</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F3C7"/>
          </a:solidFill>
          <a:ln w="12700">
            <a:solidFill>
              <a:srgbClr val="FEF3C7"/>
            </a:solidFill>
            <a:prstDash val="solid"/>
          </a:ln>
        </p:spPr>
      </p:sp>
      <p:sp>
        <p:nvSpPr>
          <p:cNvPr id="17" name="Text 15"/>
          <p:cNvSpPr/>
          <p:nvPr/>
        </p:nvSpPr>
        <p:spPr>
          <a:xfrm>
            <a:off x="1207008" y="2148840"/>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To further enhance the training effectiveness, consider implementing additional advanced modules or supplementary resources that could challenge trainees and potentially raise the average score.</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1207008" y="3136392"/>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Additionally, maintaining high engagement levels and exploring opportunities for mentorship roles for high-performing trainees could foster a culture of continuous learning and improvement.</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Shape 5"/>
          <p:cNvSpPr/>
          <p:nvPr/>
        </p:nvSpPr>
        <p:spPr>
          <a:xfrm>
            <a:off x="2394204" y="1490472"/>
            <a:ext cx="7418832" cy="0"/>
          </a:xfrm>
          <a:prstGeom prst="line">
            <a:avLst/>
          </a:prstGeom>
          <a:noFill/>
          <a:ln w="12700">
            <a:solidFill>
              <a:srgbClr val="93C5FD"/>
            </a:solidFill>
            <a:prstDash val="solid"/>
          </a:ln>
        </p:spPr>
      </p:sp>
      <p:sp>
        <p:nvSpPr>
          <p:cNvPr id="9" name="Shape 6"/>
          <p:cNvSpPr/>
          <p:nvPr/>
        </p:nvSpPr>
        <p:spPr>
          <a:xfrm>
            <a:off x="2138172" y="1234440"/>
            <a:ext cx="512064" cy="512064"/>
          </a:xfrm>
          <a:prstGeom prst="ellipse">
            <a:avLst/>
          </a:prstGeom>
          <a:solidFill>
            <a:srgbClr val="B45309"/>
          </a:solidFill>
          <a:ln w="12700">
            <a:solidFill>
              <a:srgbClr val="FFFFFF"/>
            </a:solidFill>
            <a:prstDash val="solid"/>
          </a:ln>
        </p:spPr>
      </p:sp>
      <p:sp>
        <p:nvSpPr>
          <p:cNvPr id="10" name="Text 7"/>
          <p:cNvSpPr/>
          <p:nvPr/>
        </p:nvSpPr>
        <p:spPr>
          <a:xfrm>
            <a:off x="2138172"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Shape 8"/>
          <p:cNvSpPr/>
          <p:nvPr/>
        </p:nvSpPr>
        <p:spPr>
          <a:xfrm>
            <a:off x="685800" y="1938528"/>
            <a:ext cx="3416808" cy="3364992"/>
          </a:xfrm>
          <a:prstGeom prst="roundRect">
            <a:avLst>
              <a:gd name="adj" fmla="val 2174"/>
            </a:avLst>
          </a:prstGeom>
          <a:solidFill>
            <a:srgbClr val="FFFFFF"/>
          </a:solidFill>
          <a:ln w="12700">
            <a:solidFill>
              <a:srgbClr val="CBD5E1"/>
            </a:solidFill>
            <a:prstDash val="solid"/>
          </a:ln>
        </p:spPr>
      </p:sp>
      <p:sp>
        <p:nvSpPr>
          <p:cNvPr id="12" name="Text 9"/>
          <p:cNvSpPr/>
          <p:nvPr/>
        </p:nvSpPr>
        <p:spPr>
          <a:xfrm>
            <a:off x="868680"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1</a:t>
            </a:r>
            <a:endParaRPr lang="en-US" sz="800" dirty="0"/>
          </a:p>
        </p:txBody>
      </p:sp>
      <p:sp>
        <p:nvSpPr>
          <p:cNvPr id="13" name="Shape 10"/>
          <p:cNvSpPr/>
          <p:nvPr/>
        </p:nvSpPr>
        <p:spPr>
          <a:xfrm>
            <a:off x="3142488" y="2148840"/>
            <a:ext cx="749808" cy="256032"/>
          </a:xfrm>
          <a:prstGeom prst="roundRect">
            <a:avLst>
              <a:gd name="adj" fmla="val 28571"/>
            </a:avLst>
          </a:prstGeom>
          <a:solidFill>
            <a:srgbClr val="FEF3C7"/>
          </a:solidFill>
          <a:ln w="12700">
            <a:solidFill>
              <a:srgbClr val="FEF3C7"/>
            </a:solidFill>
            <a:prstDash val="solid"/>
          </a:ln>
        </p:spPr>
      </p:sp>
      <p:sp>
        <p:nvSpPr>
          <p:cNvPr id="14" name="Text 11"/>
          <p:cNvSpPr/>
          <p:nvPr/>
        </p:nvSpPr>
        <p:spPr>
          <a:xfrm>
            <a:off x="3179064"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5" name="Text 12"/>
          <p:cNvSpPr/>
          <p:nvPr/>
        </p:nvSpPr>
        <p:spPr>
          <a:xfrm>
            <a:off x="868680"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16" name="Text 13"/>
          <p:cNvSpPr/>
          <p:nvPr/>
        </p:nvSpPr>
        <p:spPr>
          <a:xfrm>
            <a:off x="868680"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Maintain the current delivery model and reuse top-performing materials for future cohorts.</a:t>
            </a:r>
            <a:endParaRPr lang="en-US" sz="1050" dirty="0"/>
          </a:p>
        </p:txBody>
      </p:sp>
      <p:sp>
        <p:nvSpPr>
          <p:cNvPr id="17" name="Text 14"/>
          <p:cNvSpPr/>
          <p:nvPr/>
        </p:nvSpPr>
        <p:spPr>
          <a:xfrm>
            <a:off x="868680"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18" name="Text 15"/>
          <p:cNvSpPr/>
          <p:nvPr/>
        </p:nvSpPr>
        <p:spPr>
          <a:xfrm>
            <a:off x="868680"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19" name="Shape 16"/>
          <p:cNvSpPr/>
          <p:nvPr/>
        </p:nvSpPr>
        <p:spPr>
          <a:xfrm>
            <a:off x="5847588" y="1234440"/>
            <a:ext cx="512064" cy="512064"/>
          </a:xfrm>
          <a:prstGeom prst="ellipse">
            <a:avLst/>
          </a:prstGeom>
          <a:solidFill>
            <a:srgbClr val="B45309"/>
          </a:solidFill>
          <a:ln w="12700">
            <a:solidFill>
              <a:srgbClr val="FFFFFF"/>
            </a:solidFill>
            <a:prstDash val="solid"/>
          </a:ln>
        </p:spPr>
      </p:sp>
      <p:sp>
        <p:nvSpPr>
          <p:cNvPr id="20" name="Text 17"/>
          <p:cNvSpPr/>
          <p:nvPr/>
        </p:nvSpPr>
        <p:spPr>
          <a:xfrm>
            <a:off x="5847588"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1" name="Shape 18"/>
          <p:cNvSpPr/>
          <p:nvPr/>
        </p:nvSpPr>
        <p:spPr>
          <a:xfrm>
            <a:off x="4395216" y="1938528"/>
            <a:ext cx="3416808" cy="3364992"/>
          </a:xfrm>
          <a:prstGeom prst="roundRect">
            <a:avLst>
              <a:gd name="adj" fmla="val 2174"/>
            </a:avLst>
          </a:prstGeom>
          <a:solidFill>
            <a:srgbClr val="FFFFFF"/>
          </a:solidFill>
          <a:ln w="12700">
            <a:solidFill>
              <a:srgbClr val="CBD5E1"/>
            </a:solidFill>
            <a:prstDash val="solid"/>
          </a:ln>
        </p:spPr>
      </p:sp>
      <p:sp>
        <p:nvSpPr>
          <p:cNvPr id="22" name="Text 19"/>
          <p:cNvSpPr/>
          <p:nvPr/>
        </p:nvSpPr>
        <p:spPr>
          <a:xfrm>
            <a:off x="4578096"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2</a:t>
            </a:r>
            <a:endParaRPr lang="en-US" sz="800" dirty="0"/>
          </a:p>
        </p:txBody>
      </p:sp>
      <p:sp>
        <p:nvSpPr>
          <p:cNvPr id="23" name="Shape 20"/>
          <p:cNvSpPr/>
          <p:nvPr/>
        </p:nvSpPr>
        <p:spPr>
          <a:xfrm>
            <a:off x="6851904" y="2148840"/>
            <a:ext cx="749808" cy="256032"/>
          </a:xfrm>
          <a:prstGeom prst="roundRect">
            <a:avLst>
              <a:gd name="adj" fmla="val 28571"/>
            </a:avLst>
          </a:prstGeom>
          <a:solidFill>
            <a:srgbClr val="FEF3C7"/>
          </a:solidFill>
          <a:ln w="12700">
            <a:solidFill>
              <a:srgbClr val="FEF3C7"/>
            </a:solidFill>
            <a:prstDash val="solid"/>
          </a:ln>
        </p:spPr>
      </p:sp>
      <p:sp>
        <p:nvSpPr>
          <p:cNvPr id="24" name="Text 21"/>
          <p:cNvSpPr/>
          <p:nvPr/>
        </p:nvSpPr>
        <p:spPr>
          <a:xfrm>
            <a:off x="6888480"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25" name="Text 22"/>
          <p:cNvSpPr/>
          <p:nvPr/>
        </p:nvSpPr>
        <p:spPr>
          <a:xfrm>
            <a:off x="4578096"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26" name="Text 23"/>
          <p:cNvSpPr/>
          <p:nvPr/>
        </p:nvSpPr>
        <p:spPr>
          <a:xfrm>
            <a:off x="4578096"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To further enhance the training effectiveness, consider implementing additional advanced modules or supplementary resources that could challenge trainees and potentially raise the average score.</a:t>
            </a:r>
            <a:endParaRPr lang="en-US" sz="1050" dirty="0"/>
          </a:p>
        </p:txBody>
      </p:sp>
      <p:sp>
        <p:nvSpPr>
          <p:cNvPr id="27" name="Text 24"/>
          <p:cNvSpPr/>
          <p:nvPr/>
        </p:nvSpPr>
        <p:spPr>
          <a:xfrm>
            <a:off x="4578096"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28" name="Text 25"/>
          <p:cNvSpPr/>
          <p:nvPr/>
        </p:nvSpPr>
        <p:spPr>
          <a:xfrm>
            <a:off x="4578096"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29" name="Shape 26"/>
          <p:cNvSpPr/>
          <p:nvPr/>
        </p:nvSpPr>
        <p:spPr>
          <a:xfrm>
            <a:off x="9557004" y="1234440"/>
            <a:ext cx="512064" cy="512064"/>
          </a:xfrm>
          <a:prstGeom prst="ellipse">
            <a:avLst/>
          </a:prstGeom>
          <a:solidFill>
            <a:srgbClr val="B91C1C"/>
          </a:solidFill>
          <a:ln w="12700">
            <a:solidFill>
              <a:srgbClr val="FFFFFF"/>
            </a:solidFill>
            <a:prstDash val="solid"/>
          </a:ln>
        </p:spPr>
      </p:sp>
      <p:sp>
        <p:nvSpPr>
          <p:cNvPr id="30" name="Text 27"/>
          <p:cNvSpPr/>
          <p:nvPr/>
        </p:nvSpPr>
        <p:spPr>
          <a:xfrm>
            <a:off x="9557004"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31" name="Shape 28"/>
          <p:cNvSpPr/>
          <p:nvPr/>
        </p:nvSpPr>
        <p:spPr>
          <a:xfrm>
            <a:off x="8104632" y="1938528"/>
            <a:ext cx="3416808" cy="3364992"/>
          </a:xfrm>
          <a:prstGeom prst="roundRect">
            <a:avLst>
              <a:gd name="adj" fmla="val 2174"/>
            </a:avLst>
          </a:prstGeom>
          <a:solidFill>
            <a:srgbClr val="FFFFFF"/>
          </a:solidFill>
          <a:ln w="12700">
            <a:solidFill>
              <a:srgbClr val="CBD5E1"/>
            </a:solidFill>
            <a:prstDash val="solid"/>
          </a:ln>
        </p:spPr>
      </p:sp>
      <p:sp>
        <p:nvSpPr>
          <p:cNvPr id="32" name="Text 29"/>
          <p:cNvSpPr/>
          <p:nvPr/>
        </p:nvSpPr>
        <p:spPr>
          <a:xfrm>
            <a:off x="8287512"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3</a:t>
            </a:r>
            <a:endParaRPr lang="en-US" sz="800" dirty="0"/>
          </a:p>
        </p:txBody>
      </p:sp>
      <p:sp>
        <p:nvSpPr>
          <p:cNvPr id="33" name="Shape 30"/>
          <p:cNvSpPr/>
          <p:nvPr/>
        </p:nvSpPr>
        <p:spPr>
          <a:xfrm>
            <a:off x="10561320" y="2148840"/>
            <a:ext cx="749808" cy="256032"/>
          </a:xfrm>
          <a:prstGeom prst="roundRect">
            <a:avLst>
              <a:gd name="adj" fmla="val 28571"/>
            </a:avLst>
          </a:prstGeom>
          <a:solidFill>
            <a:srgbClr val="FEE2E2"/>
          </a:solidFill>
          <a:ln w="12700">
            <a:solidFill>
              <a:srgbClr val="FEE2E2"/>
            </a:solidFill>
            <a:prstDash val="solid"/>
          </a:ln>
        </p:spPr>
      </p:sp>
      <p:sp>
        <p:nvSpPr>
          <p:cNvPr id="34" name="Text 31"/>
          <p:cNvSpPr/>
          <p:nvPr/>
        </p:nvSpPr>
        <p:spPr>
          <a:xfrm>
            <a:off x="10597896"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35" name="Text 32"/>
          <p:cNvSpPr/>
          <p:nvPr/>
        </p:nvSpPr>
        <p:spPr>
          <a:xfrm>
            <a:off x="8287512"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36" name="Text 33"/>
          <p:cNvSpPr/>
          <p:nvPr/>
        </p:nvSpPr>
        <p:spPr>
          <a:xfrm>
            <a:off x="8287512"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Additionally, maintaining high engagement levels and exploring opportunities for mentorship roles for high-performing trainees could foster a culture of continuous learning and improvement.</a:t>
            </a:r>
            <a:endParaRPr lang="en-US" sz="1050" dirty="0"/>
          </a:p>
        </p:txBody>
      </p:sp>
      <p:sp>
        <p:nvSpPr>
          <p:cNvPr id="37" name="Text 34"/>
          <p:cNvSpPr/>
          <p:nvPr/>
        </p:nvSpPr>
        <p:spPr>
          <a:xfrm>
            <a:off x="8287512"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38" name="Text 35"/>
          <p:cNvSpPr/>
          <p:nvPr/>
        </p:nvSpPr>
        <p:spPr>
          <a:xfrm>
            <a:off x="8287512"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rpt_393cf96f-cf13-4059-afb3-3f12fdd225fc</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ds_bb94525a36feae37</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mx_abff9840-c53e-428b-9302-6210c619196c</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ev_4855b204-d6a3-4c7c-b955-1a98c2cf89b0</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gv_f94bb6ad-fadd-4312-80ac-3ee9c963a945</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Devops</dc:title>
  <dc:subject>Training effectiveness is strong with validated evidence.</dc:subject>
  <dc:creator>SETA L&amp;D Reporting Agent</dc:creator>
  <cp:lastModifiedBy>SETA L&amp;D Reporting Agent</cp:lastModifiedBy>
  <cp:revision>1</cp:revision>
  <dcterms:created xsi:type="dcterms:W3CDTF">2026-06-22T09:05:22Z</dcterms:created>
  <dcterms:modified xsi:type="dcterms:W3CDTF">2026-06-22T09:05:22Z</dcterms:modified>
</cp:coreProperties>
</file>