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342900"/>
            <a:ext cx="108204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 sz="3000" b="1"/>
              <a:t>L&amp;D Training Effectiveness Report — AIAgent_05_2026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914400" y="1485900"/>
            <a:ext cx="10363200" cy="4800600"/>
          </a:xfrm>
          <a:prstGeom prst="rect">
            <a:avLst/>
          </a:prstGeom>
        </p:spPr>
        <p:txBody>
          <a:bodyPr wrap="square"/>
          <a:lstStyle/>
          <a:p>
            <a:pPr marL="342900" indent="-171450"/>
            <a:r>
              <a:rPr lang="en-US" sz="1800"/>
              <a:t>Scope: Period 2026-Q2 · Course AIAgent_05_2026 · Type full</a:t>
            </a:r>
          </a:p>
          <a:p>
            <a:pPr marL="342900" indent="-171450"/>
            <a:r>
              <a:rPr lang="en-US" sz="1600"/>
              <a:t>Evidence: PASS</a:t>
            </a:r>
          </a:p>
          <a:p>
            <a:pPr marL="342900" indent="-171450"/>
            <a:r>
              <a:rPr lang="en-US" sz="1600"/>
              <a:t>Classification: Risk</a:t>
            </a:r>
          </a:p>
          <a:p>
            <a:pPr marL="342900" indent="-171450"/>
            <a:r>
              <a:rPr lang="en-US" sz="1600"/>
              <a:t>Generated: 6/17/2026, 2:38:27 AM</a:t>
            </a:r>
          </a:p>
          <a:p>
            <a:pPr marL="342900" indent="-171450"/>
            <a:r>
              <a:rPr lang="en-US" sz="1600"/>
              <a:t>LLM usage: fallback deterministic mode (LLM narrative fallback: OpenAI request failed 429: {
    "error": {
        "message": "You exceeded your current quota, please check your plan and billing details. For more information on this error, read the docs: https://platform.openai.com/docs/guides/error-codes/api-errors.",
        "type": "insufficient_quota",
        "param": null,
        "code": "insufficient_quota"
    }
}
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342900"/>
            <a:ext cx="108204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 sz="3000" b="1"/>
              <a:t>SEC-01 Executive Summary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914400" y="1485900"/>
            <a:ext cx="10363200" cy="4800600"/>
          </a:xfrm>
          <a:prstGeom prst="rect">
            <a:avLst/>
          </a:prstGeom>
        </p:spPr>
        <p:txBody>
          <a:bodyPr wrap="square"/>
          <a:lstStyle/>
          <a:p>
            <a:pPr marL="342900" indent="-171450"/>
            <a:r>
              <a:rPr lang="en-US" sz="1800"/>
              <a:t>The selected scope contains 1 course(s), 1 completed course(s), and 13 trainee-course records. Overall attendance is 90.4%, completion is 100%, pass rate is 92.3%, and average score is 7.88/10. Total training hours are 188 and scaled cost is 9.6.</a:t>
            </a:r>
          </a:p>
          <a:p>
            <a:pPr marL="342900" indent="-171450"/>
            <a:r>
              <a:rPr lang="en-US" sz="1600"/>
              <a:t>Overall effectiveness classification is Risk.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342900"/>
            <a:ext cx="108204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 sz="3000" b="1"/>
              <a:t>SEC-02 Course-Level Metrics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914400" y="1485900"/>
            <a:ext cx="10363200" cy="4800600"/>
          </a:xfrm>
          <a:prstGeom prst="rect">
            <a:avLst/>
          </a:prstGeom>
        </p:spPr>
        <p:txBody>
          <a:bodyPr wrap="square"/>
          <a:lstStyle/>
          <a:p>
            <a:pPr marL="342900" indent="-171450"/>
            <a:r>
              <a:rPr lang="en-US" sz="1800"/>
              <a:t>Overall: 1 course(s), 1 completed, 13 trainee-course records.</a:t>
            </a:r>
          </a:p>
          <a:p>
            <a:pPr marL="342900" indent="-171450"/>
            <a:r>
              <a:rPr lang="en-US" sz="1600"/>
              <a:t>Attendance 90.4% · Completion 100% · Pass rate 92.3% · Avg score 7.88/10.</a:t>
            </a:r>
          </a:p>
          <a:p>
            <a:pPr marL="342900" indent="-171450"/>
            <a:r>
              <a:rPr lang="en-US" sz="1600"/>
              <a:t>Feedback 4.73/5 · Training hours 188 · Scaled cost 9.6 · ROI proxy 0.042.</a:t>
            </a:r>
          </a:p>
          <a:p>
            <a:pPr marL="342900" indent="-171450"/>
            <a:r>
              <a:rPr lang="en-US" sz="1600"/>
              <a:t>AI Agent &amp; LLM Application Development: 13 trainees, attendance 90.4%, completion 100%, pass 92.3%, score 7.88/10, effectiveness 89.47.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342900"/>
            <a:ext cx="108204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 sz="3000" b="1"/>
              <a:t>SEC-03 Trainee Highlights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914400" y="1485900"/>
            <a:ext cx="10363200" cy="4800600"/>
          </a:xfrm>
          <a:prstGeom prst="rect">
            <a:avLst/>
          </a:prstGeom>
        </p:spPr>
        <p:txBody>
          <a:bodyPr wrap="square"/>
          <a:lstStyle/>
          <a:p>
            <a:pPr marL="342900" indent="-171450"/>
            <a:r>
              <a:rPr lang="en-US" sz="1800"/>
              <a:t>Outstanding trainee count: 2. L&amp;D Manager view may show individual IDs.</a:t>
            </a:r>
          </a:p>
          <a:p>
            <a:pPr marL="342900" indent="-171450"/>
            <a:r>
              <a:rPr lang="en-US" sz="1600"/>
              <a:t>Outstanding: EMP-005 · AIAgent_05_2026 · score 9.4 · attendance 100%.</a:t>
            </a:r>
          </a:p>
          <a:p>
            <a:pPr marL="342900" indent="-171450"/>
            <a:r>
              <a:rPr lang="en-US" sz="1600"/>
              <a:t>Outstanding: EMP-119 · AIAgent_05_2026 · score 9.4 · attendance 100%.</a:t>
            </a:r>
          </a:p>
          <a:p>
            <a:pPr marL="342900" indent="-171450"/>
            <a:r>
              <a:rPr lang="en-US" sz="1600"/>
              <a:t>Support-needed group: AIAgent_05_2026 has 1 learner(s). Reason: At least one learner is below pass threshold or attendance policy..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342900"/>
            <a:ext cx="108204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 sz="3000" b="1"/>
              <a:t>SEC-04 Trainee Evaluation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914400" y="1485900"/>
            <a:ext cx="10363200" cy="4800600"/>
          </a:xfrm>
          <a:prstGeom prst="rect">
            <a:avLst/>
          </a:prstGeom>
        </p:spPr>
        <p:txBody>
          <a:bodyPr wrap="square"/>
          <a:lstStyle/>
          <a:p>
            <a:pPr marL="342900" indent="-171450"/>
            <a:r>
              <a:rPr lang="en-US" sz="1800"/>
              <a:t>Overall pass rate: 92.3%.</a:t>
            </a:r>
          </a:p>
          <a:p>
            <a:pPr marL="342900" indent="-171450"/>
            <a:r>
              <a:rPr lang="en-US" sz="1600"/>
              <a:t>Average assessment score: 7.88/10.</a:t>
            </a:r>
          </a:p>
          <a:p>
            <a:pPr marL="342900" indent="-171450"/>
            <a:r>
              <a:rPr lang="en-US" sz="1600"/>
              <a:t>AI Agent &amp; LLM Application Development: pass 92.3%, avg score 7.88/10.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342900"/>
            <a:ext cx="108204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 sz="3000" b="1"/>
              <a:t>SEC-05 Attendance Analysis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914400" y="1485900"/>
            <a:ext cx="10363200" cy="4800600"/>
          </a:xfrm>
          <a:prstGeom prst="rect">
            <a:avLst/>
          </a:prstGeom>
        </p:spPr>
        <p:txBody>
          <a:bodyPr wrap="square"/>
          <a:lstStyle/>
          <a:p>
            <a:pPr marL="342900" indent="-171450"/>
            <a:r>
              <a:rPr lang="en-US" sz="1800"/>
              <a:t>Overall attendance rate: 90.4%.</a:t>
            </a:r>
          </a:p>
          <a:p>
            <a:pPr marL="342900" indent="-171450"/>
            <a:r>
              <a:rPr lang="en-US" sz="1600"/>
              <a:t>Total attended training hours: 188.</a:t>
            </a:r>
          </a:p>
          <a:p>
            <a:pPr marL="342900" indent="-171450"/>
            <a:r>
              <a:rPr lang="en-US" sz="1600"/>
              <a:t>AI Agent &amp; LLM Application Development: attendance 90.4%, hours 188.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342900"/>
            <a:ext cx="108204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 sz="3000" b="1"/>
              <a:t>SEC-06 Effectiveness Analysis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914400" y="1485900"/>
            <a:ext cx="10363200" cy="4800600"/>
          </a:xfrm>
          <a:prstGeom prst="rect">
            <a:avLst/>
          </a:prstGeom>
        </p:spPr>
        <p:txBody>
          <a:bodyPr wrap="square"/>
          <a:lstStyle/>
          <a:p>
            <a:pPr marL="342900" indent="-171450"/>
            <a:r>
              <a:rPr lang="en-US" sz="1800"/>
              <a:t>Overall effectiveness classification: Risk.</a:t>
            </a:r>
          </a:p>
          <a:p>
            <a:pPr marL="342900" indent="-171450"/>
            <a:r>
              <a:rPr lang="en-US" sz="1600"/>
              <a:t>Effectiveness score: 89.47.</a:t>
            </a:r>
          </a:p>
          <a:p>
            <a:pPr marL="342900" indent="-171450"/>
            <a:r>
              <a:rPr lang="en-US" sz="1600"/>
              <a:t>NORM flags: 1; high-priority flags: 1.</a:t>
            </a:r>
          </a:p>
          <a:p>
            <a:pPr marL="342900" indent="-171450"/>
            <a:r>
              <a:rPr lang="en-US" sz="1600"/>
              <a:t>AI Agent &amp; LLM Application Development has the strongest effectiveness score (89.47) in the selected scope.</a:t>
            </a:r>
          </a:p>
          <a:p>
            <a:pPr marL="342900" indent="-171450"/>
            <a:r>
              <a:rPr lang="en-US" sz="1600"/>
              <a:t>2 outstanding trainee(s) meet the star learner rule: score &gt;= 9.0 and full attendance.</a:t>
            </a:r>
          </a:p>
          <a:p>
            <a:pPr marL="342900" indent="-171450"/>
            <a:r>
              <a:rPr lang="en-US" sz="1600"/>
              <a:t>1 course group(s) contain learners who need support based on score or attendance policy.</a:t>
            </a:r>
          </a:p>
          <a:p>
            <a:pPr marL="342900" indent="-171450"/>
            <a:r>
              <a:rPr lang="en-US" sz="1600"/>
              <a:t>1 high-priority L&amp;D NORM flag(s) were triggered.</a:t>
            </a:r>
          </a:p>
          <a:p>
            <a:pPr marL="342900" indent="-171450"/>
            <a:r>
              <a:rPr lang="en-US" sz="1600"/>
              <a:t>NORM-07 · High: Trainee needs 1:1 support.. Action: Flag for coaching; assign buddy or practice resources.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342900"/>
            <a:ext cx="108204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 sz="3000" b="1"/>
              <a:t>SEC-08 Data Quality Flags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914400" y="1485900"/>
            <a:ext cx="10363200" cy="4800600"/>
          </a:xfrm>
          <a:prstGeom prst="rect">
            <a:avLst/>
          </a:prstGeom>
        </p:spPr>
        <p:txBody>
          <a:bodyPr wrap="square"/>
          <a:lstStyle/>
          <a:p>
            <a:pPr marL="342900" indent="-171450"/>
            <a:r>
              <a:rPr lang="en-US" sz="1800"/>
              <a:t>Evidence status: PASS.</a:t>
            </a:r>
          </a:p>
          <a:p>
            <a:pPr marL="342900" indent="-171450"/>
            <a:r>
              <a:rPr lang="en-US" sz="1600"/>
              <a:t>Final conclusion allowed: Yes.</a:t>
            </a:r>
          </a:p>
          <a:p>
            <a:pPr marL="342900" indent="-171450"/>
            <a:r>
              <a:rPr lang="en-US" sz="1600"/>
              <a:t>Missing/warning evidence items: 0.</a:t>
            </a:r>
          </a:p>
          <a:p>
            <a:pPr marL="342900" indent="-171450"/>
            <a:r>
              <a:rPr lang="en-US" sz="1600"/>
              <a:t>Source availability and required columns: PASS — Teams, OneDrive, Forms, KPI, Rules and Template sheets were mapped to simulated sources.</a:t>
            </a:r>
          </a:p>
          <a:p>
            <a:pPr marL="342900" indent="-171450"/>
            <a:r>
              <a:rPr lang="en-US" sz="1600"/>
              <a:t>Course status: PASS — All selected courses are completed.</a:t>
            </a:r>
          </a:p>
          <a:p>
            <a:pPr marL="342900" indent="-171450"/>
            <a:r>
              <a:rPr lang="en-US" sz="1600"/>
              <a:t>Attendance completeness: PASS — Expected attendance rows are trainee count × total sessions. Late is retained for metrics as partial attendance.</a:t>
            </a:r>
          </a:p>
          <a:p>
            <a:pPr marL="342900" indent="-171450"/>
            <a:r>
              <a:rPr lang="en-US" sz="1600"/>
              <a:t>Assessment completeness: PASS — Completed courses require one assessment/pass-status row per trainee.</a:t>
            </a:r>
          </a:p>
          <a:p>
            <a:pPr marL="342900" indent="-171450"/>
            <a:r>
              <a:rPr lang="en-US" sz="1600"/>
              <a:t>Feedback completeness: PASS — NORM-14 requires at least 60% feedback response rate for valid analysis.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342900"/>
            <a:ext cx="108204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 sz="3000" b="1"/>
              <a:t>SEC-09 Recommendations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914400" y="1485900"/>
            <a:ext cx="10363200" cy="4800600"/>
          </a:xfrm>
          <a:prstGeom prst="rect">
            <a:avLst/>
          </a:prstGeom>
        </p:spPr>
        <p:txBody>
          <a:bodyPr wrap="square"/>
          <a:lstStyle/>
          <a:p>
            <a:pPr marL="342900" indent="-171450"/>
            <a:r>
              <a:rPr lang="en-US" sz="1800"/>
              <a:t>Flag for coaching; assign buddy or practice resources</a:t>
            </a:r>
          </a:p>
          <a:p>
            <a:pPr marL="342900" indent="-171450"/>
            <a:r>
              <a:rPr lang="en-US" sz="1600"/>
              <a:t>Create a coaching plan for support-needed learners and review attendance issues with direct managers.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342900"/>
            <a:ext cx="108204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 sz="3000" b="1"/>
              <a:t>Human Review &amp; Finalize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914400" y="1485900"/>
            <a:ext cx="10363200" cy="4800600"/>
          </a:xfrm>
          <a:prstGeom prst="rect">
            <a:avLst/>
          </a:prstGeom>
        </p:spPr>
        <p:txBody>
          <a:bodyPr wrap="square"/>
          <a:lstStyle/>
          <a:p>
            <a:pPr marL="342900" indent="-171450"/>
            <a:r>
              <a:rPr lang="en-US" sz="1800"/>
              <a:t>Report status: DRAFT</a:t>
            </a:r>
          </a:p>
          <a:p>
            <a:pPr marL="342900" indent="-171450"/>
            <a:r>
              <a:rPr lang="en-US" sz="1600"/>
              <a:t>Quality status: PASS</a:t>
            </a:r>
          </a:p>
          <a:p>
            <a:pPr marL="342900" indent="-171450"/>
            <a:r>
              <a:rPr lang="en-US" sz="1600"/>
              <a:t>Quality issues: 0</a:t>
            </a:r>
          </a:p>
          <a:p>
            <a:pPr marL="342900" indent="-171450"/>
            <a:r>
              <a:rPr lang="en-US" sz="1600"/>
              <a:t>Approval decision: Pending</a:t>
            </a:r>
          </a:p>
          <a:p>
            <a:pPr marL="342900" indent="-171450"/>
            <a:r>
              <a:rPr lang="en-US" sz="1600"/>
              <a:t>Approval note: N/A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342900"/>
            <a:ext cx="108204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 sz="3000" b="1"/>
              <a:t>SEC-10 Appendix — Raw Data Summary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914400" y="1485900"/>
            <a:ext cx="10363200" cy="4800600"/>
          </a:xfrm>
          <a:prstGeom prst="rect">
            <a:avLst/>
          </a:prstGeom>
        </p:spPr>
        <p:txBody>
          <a:bodyPr wrap="square"/>
          <a:lstStyle/>
          <a:p>
            <a:pPr marL="342900" indent="-171450"/>
            <a:r>
              <a:rPr lang="en-US" sz="1800"/>
              <a:t>Report ID: rpt_73c67a42-0c63-4744-8e7d-42d1eb64bc7a.</a:t>
            </a:r>
          </a:p>
          <a:p>
            <a:pPr marL="342900" indent="-171450"/>
            <a:r>
              <a:rPr lang="en-US" sz="1600"/>
              <a:t>Dataset ID: ds_c46cf28789967af4.</a:t>
            </a:r>
          </a:p>
          <a:p>
            <a:pPr marL="342900" indent="-171450"/>
            <a:r>
              <a:rPr lang="en-US" sz="1600"/>
              <a:t>Metrics snapshot ID: mx_f3484dbc-d59e-4455-8e12-09fc4d4770ae.</a:t>
            </a:r>
          </a:p>
          <a:p>
            <a:pPr marL="342900" indent="-171450"/>
            <a:r>
              <a:rPr lang="en-US" sz="1600"/>
              <a:t>Evidence decision ID: ev_5c9a3341-6bbe-4f22-bdf1-2b2abf9e447d.</a:t>
            </a:r>
          </a:p>
          <a:p>
            <a:pPr marL="342900" indent="-171450"/>
            <a:r>
              <a:rPr lang="en-US" sz="1600"/>
              <a:t>Governance view ID: gv_60c7d449-bce2-46de-bc92-fcc9f6cd0d22.</a:t>
            </a:r>
          </a:p>
          <a:p>
            <a:pPr marL="342900" indent="-171450"/>
            <a:r>
              <a:rPr lang="en-US" sz="1600"/>
              <a:t>RBAC role: LND_MANAGER; masked: no.</a:t>
            </a:r>
          </a:p>
          <a:p>
            <a:pPr marL="342900" indent="-171450"/>
            <a:r>
              <a:rPr lang="en-US" sz="1600"/>
              <a:t>LLM enabled: no; model: gpt-4o-mini.</a:t>
            </a:r>
          </a:p>
        </p:txBody>
      </p:sp>
    </p:spTree>
  </p:cSld>
  <p:clrMapOvr>
    <a:masterClrMapping/>
  </p:clrMapOvr>
</p:sld>
</file>

<file path=docProps/app.xml><?xml version="1.0" encoding="utf-8"?>
<Properties xmlns="http://schemas.openxmlformats.org/officeDocument/2006/extended-properties" xmlns:vt="http://schemas.openxmlformats.org/officeDocument/2006/docPropsVTypes">
  <Application>L&amp;D Reporting PPTX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— AIAgent_05_2026</dc:title>
  <dc:creator>SETA L&amp;D Reporting Agent</dc:creator>
  <cp:lastModifiedBy>SETA L&amp;D Reporting Agent</cp:lastModifiedBy>
  <dcterms:created xsi:type="dcterms:W3CDTF">2026-06-16T19:38:28.438Z</dcterms:created>
  <dcterms:modified xsi:type="dcterms:W3CDTF">2026-06-16T19:38:28.438Z</dcterms:modified>
</cp:coreProperties>
</file>