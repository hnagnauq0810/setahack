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L&amp;D Training Effectiveness Report — AIAgent_05_2026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Scope: Period 2026-Q1 · Course AIAgent_05_2026 · Type full</a:t>
            </a:r>
          </a:p>
          <a:p>
            <a:pPr marL="342900" indent="-171450"/>
            <a:r>
              <a:rPr lang="en-US" sz="1600"/>
              <a:t>Evidence: PASS</a:t>
            </a:r>
          </a:p>
          <a:p>
            <a:pPr marL="342900" indent="-171450"/>
            <a:r>
              <a:rPr lang="en-US" sz="1600"/>
              <a:t>Classification: Risk</a:t>
            </a:r>
          </a:p>
          <a:p>
            <a:pPr marL="342900" indent="-171450"/>
            <a:r>
              <a:rPr lang="en-US" sz="1600"/>
              <a:t>Generated: 6/17/2026, 1:22:16 PM</a:t>
            </a:r>
          </a:p>
          <a:p>
            <a:pPr marL="342900" indent="-171450"/>
            <a:r>
              <a:rPr lang="en-US" sz="1600"/>
              <a:t>LLM usage: fallback deterministic mode (LLM narrative fallback: [
  {
    "expected": "array",
    "code": "invalid_type",
    "path": [
      "insights"
    ],
    "message": "Invalid input: expected array, received string"
  },
  {
    "origin": "string",
    "code": "too_big",
    "maximum": 8,
    "inclusive": true,
    "path": [
      "insights"
    ],
    "message": "Too big: expected string to have &lt;=8 characters"
  },
  {
    "expected": "array",
    "code": "invalid_type",
    "path": [
      "recommendations"
    ],
    "message": "Invalid input: expected array, received string"
  },
  {
    "origin": "string",
    "code": "too_big",
    "maximum": 8,
    "inclusive": true,
    "path": [
      "recommendations"
    ],
    "message": "Too big: expected string to have &lt;=8 characters"
  }
]).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SEC-01 Executive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The selected scope contains 0 course(s), 0 completed course(s), and 0 trainee-course records. Overall attendance is N/A, completion is N/A, pass rate is N/A, and average score is N/A/10. Total training hours are 0 and scaled cost is 0.</a:t>
            </a:r>
          </a:p>
          <a:p>
            <a:pPr marL="342900" indent="-171450"/>
            <a:r>
              <a:rPr lang="en-US" sz="1600"/>
              <a:t>Overall effectiveness classification is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SEC-02 Course-Level Metrics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Overall: 0 course(s), 0 completed, 0 trainee-course records.</a:t>
            </a:r>
          </a:p>
          <a:p>
            <a:pPr marL="342900" indent="-171450"/>
            <a:r>
              <a:rPr lang="en-US" sz="1600"/>
              <a:t>Attendance N/A · Completion N/A · Pass rate N/A · Avg score N/A/10.</a:t>
            </a:r>
          </a:p>
          <a:p>
            <a:pPr marL="342900" indent="-171450"/>
            <a:r>
              <a:rPr lang="en-US" sz="1600"/>
              <a:t>Feedback N/A/5 · Training hours 0 · Scaled cost 0 · ROI proxy N/A.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SEC-03 Trainee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Outstanding trainee count: 0. L&amp;D Manager view may show individual IDs.</a:t>
            </a:r>
          </a:p>
          <a:p>
            <a:pPr marL="342900" indent="-171450"/>
            <a:r>
              <a:rPr lang="en-US" sz="1600"/>
              <a:t>No support-needed learner groups were identified in the selected scope.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SEC-04 Trainee Evaluation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pass rate: N/A.</a:t>
            </a:r>
          </a:p>
          <a:p>
            <a:pPr marL="342900" indent="-171450"/>
            <a:r>
              <a:rPr lang="en-US" sz="1600"/>
              <a:t>Average assessment score: N/A/10.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SEC-05 Attendance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attendance rate: N/A.</a:t>
            </a:r>
          </a:p>
          <a:p>
            <a:pPr marL="342900" indent="-171450"/>
            <a:r>
              <a:rPr lang="en-US" sz="1600"/>
              <a:t>Total attended training hours: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SEC-06 Effectiveness Analysis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Overall effectiveness classification: Risk.</a:t>
            </a:r>
          </a:p>
          <a:p>
            <a:pPr marL="342900" indent="-171450"/>
            <a:r>
              <a:rPr lang="en-US" sz="1600"/>
              <a:t>Effectiveness score: N/A.</a:t>
            </a:r>
          </a:p>
          <a:p>
            <a:pPr marL="342900" indent="-171450"/>
            <a:r>
              <a:rPr lang="en-US" sz="1600"/>
              <a:t>NORM flags: 0; high-priority flags: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SEC-08 Data Quality Flags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Evidence status: PASS.</a:t>
            </a:r>
          </a:p>
          <a:p>
            <a:pPr marL="342900" indent="-171450"/>
            <a:r>
              <a:rPr lang="en-US" sz="1600"/>
              <a:t>Final conclusion allowed: Yes.</a:t>
            </a:r>
          </a:p>
          <a:p>
            <a:pPr marL="342900" indent="-171450"/>
            <a:r>
              <a:rPr lang="en-US" sz="1600"/>
              <a:t>Missing/warning evidence items: 0.</a:t>
            </a:r>
          </a:p>
          <a:p>
            <a:pPr marL="342900" indent="-171450"/>
            <a:r>
              <a:rPr lang="en-US" sz="1600"/>
              <a:t>Source availability and required columns: PASS — Teams, OneDrive, Forms, KPI, Rules and Template sheets were mapped to simulated sources.</a:t>
            </a:r>
          </a:p>
          <a:p>
            <a:pPr marL="342900" indent="-171450"/>
            <a:r>
              <a:rPr lang="en-US" sz="1600"/>
              <a:t>Course status: PASS — All selected courses are completed.</a:t>
            </a:r>
          </a:p>
          <a:p>
            <a:pPr marL="342900" indent="-171450"/>
            <a:r>
              <a:rPr lang="en-US" sz="1600"/>
              <a:t>Attendance completeness: PASS — Expected attendance rows are trainee count × total sessions. Late is retained for metrics as partial attendance.</a:t>
            </a:r>
          </a:p>
          <a:p>
            <a:pPr marL="342900" indent="-171450"/>
            <a:r>
              <a:rPr lang="en-US" sz="1600"/>
              <a:t>Assessment completeness: PASS — Completed courses require one assessment/pass-status row per trainee.</a:t>
            </a:r>
          </a:p>
          <a:p>
            <a:pPr marL="342900" indent="-171450"/>
            <a:r>
              <a:rPr lang="en-US" sz="1600"/>
              <a:t>Feedback completeness: PASS — NORM-14 requires at least 60% feedback response rate for valid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SEC-09 Recommendations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Maintain the current delivery model and reuse top-performing materials for future cohorts.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Human Review &amp; Finalize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status: DRAFT</a:t>
            </a:r>
          </a:p>
          <a:p>
            <a:pPr marL="342900" indent="-171450"/>
            <a:r>
              <a:rPr lang="en-US" sz="1600"/>
              <a:t>Quality status: PASS</a:t>
            </a:r>
          </a:p>
          <a:p>
            <a:pPr marL="342900" indent="-171450"/>
            <a:r>
              <a:rPr lang="en-US" sz="1600"/>
              <a:t>Quality issues: 0</a:t>
            </a:r>
          </a:p>
          <a:p>
            <a:pPr marL="342900" indent="-171450"/>
            <a:r>
              <a:rPr lang="en-US" sz="1600"/>
              <a:t>Approval decision: Pending</a:t>
            </a:r>
          </a:p>
          <a:p>
            <a:pPr marL="342900" indent="-171450"/>
            <a:r>
              <a:rPr lang="en-US" sz="1600"/>
              <a:t>Approval note: N/A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429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000" b="1"/>
              <a:t>SEC-10 Appendix — Raw Data 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914400" y="1485900"/>
            <a:ext cx="10363200" cy="4800600"/>
          </a:xfrm>
          <a:prstGeom prst="rect">
            <a:avLst/>
          </a:prstGeom>
        </p:spPr>
        <p:txBody>
          <a:bodyPr wrap="square"/>
          <a:lstStyle/>
          <a:p>
            <a:pPr marL="342900" indent="-171450"/>
            <a:r>
              <a:rPr lang="en-US" sz="1800"/>
              <a:t>Report ID: rpt_046bedcc-7cc3-4391-9b70-5e7b1f6bcea0.</a:t>
            </a:r>
          </a:p>
          <a:p>
            <a:pPr marL="342900" indent="-171450"/>
            <a:r>
              <a:rPr lang="en-US" sz="1600"/>
              <a:t>Dataset ID: ds_d730aabd6bd7875b.</a:t>
            </a:r>
          </a:p>
          <a:p>
            <a:pPr marL="342900" indent="-171450"/>
            <a:r>
              <a:rPr lang="en-US" sz="1600"/>
              <a:t>Metrics snapshot ID: mx_646bdb4e-6b3b-44fc-9286-7cbd361bbf07.</a:t>
            </a:r>
          </a:p>
          <a:p>
            <a:pPr marL="342900" indent="-171450"/>
            <a:r>
              <a:rPr lang="en-US" sz="1600"/>
              <a:t>Evidence decision ID: ev_7055c5ad-4d71-4237-84b5-2e3c10cbcdf5.</a:t>
            </a:r>
          </a:p>
          <a:p>
            <a:pPr marL="342900" indent="-171450"/>
            <a:r>
              <a:rPr lang="en-US" sz="1600"/>
              <a:t>Governance view ID: gv_303ec499-c50a-40bb-ab95-52aad6383482.</a:t>
            </a:r>
          </a:p>
          <a:p>
            <a:pPr marL="342900" indent="-171450"/>
            <a:r>
              <a:rPr lang="en-US" sz="1600"/>
              <a:t>RBAC role: LND_MANAGER; masked: no.</a:t>
            </a:r>
          </a:p>
          <a:p>
            <a:pPr marL="342900" indent="-171450"/>
            <a:r>
              <a:rPr lang="en-US" sz="1600"/>
              <a:t>LLM enabled: no; model: gpt-4o-mini.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L&amp;D Reporting 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creator>SETA L&amp;D Reporting Agent</dc:creator>
  <cp:lastModifiedBy>SETA L&amp;D Reporting Agent</cp:lastModifiedBy>
  <dcterms:created xsi:type="dcterms:W3CDTF">2026-06-17T06:22:19.159Z</dcterms:created>
  <dcterms:modified xsi:type="dcterms:W3CDTF">2026-06-17T06:22:19.159Z</dcterms:modified>
</cp:coreProperties>
</file>