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Governance flags by priority</c:v>
                </c:pt>
              </c:strCache>
            </c:strRef>
          </c:tx>
          <c:spPr>
            <a:solidFill>
              <a:schemeClr val="accent1"/>
            </a:solidFill>
            <a:ln w="9525" cap="flat">
              <a:solidFill>
                <a:srgbClr val="F9F9F9"/>
              </a:solidFill>
              <a:prstDash val="solid"/>
              <a:round/>
            </a:ln>
            <a:effectLst/>
          </c:spPr>
          <c:dPt>
            <c:idx val="0"/>
            <c:bubble3D val="0"/>
            <c:spPr>
              <a:solidFill>
                <a:srgbClr val="B91C1C"/>
              </a:solidFill>
              <a:effectLst/>
            </c:spPr>
          </c:dPt>
          <c:dPt>
            <c:idx val="1"/>
            <c:bubble3D val="0"/>
            <c:spPr>
              <a:solidFill>
                <a:srgbClr val="B45309"/>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High</c:v>
                </c:pt>
                <c:pt idx="1">
                  <c:v>Medium</c:v>
                </c:pt>
              </c:strCache>
            </c:strRef>
          </c:cat>
          <c:val>
            <c:numRef>
              <c:f>Sheet1!$B$2:$B$3</c:f>
              <c:numCache>
                <c:ptCount val="2"/>
                <c:pt idx="0">
                  <c:v>10</c:v>
                </c:pt>
                <c:pt idx="1">
                  <c:v>1</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executive summary
The selected scope contains 1 course(s), 0 completed course(s), and 8 trainee-course records. Overall attendance is 47.9%, completion is 0%, pass rate is 0%, and average score is N/A/10. Total training hours are 34.5 and scaled cost is 4.8. Final effectiveness conclusion is blocked because required evidence is incomplete or course status is not completed. Management interpretation: The course 'Technical Leadership &amp; Communication' is currently in progress with no completions reported. Attendance stands at 47.9% with no trainees having completed the course, resulting in a completion and pass rate of 0%. The average score is not applicable due to the lack of assessments. The feedback rating is relatively high at 4.8 out of 5, indicating positive perceptions of the course content thus far. However, the overall effectiveness conclusion is blocked due to incomplete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performance profile
Technical Leadership &amp; Communication
Learners: 8
Attendance: 47.9%
Completion: 0%
Pass rate: 0%
Average score: N/A/10
Effectiveness: 25.58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delivery sequence
1. Flag course for content review; notify L&amp;D manager
Owner: Team Manager + L&amp;D
Outcome: Improve training effectiveness and repeatability.
2. Mark as Incomplete; recommend re-enrollment in next cohort
Owner: L&amp;D Manager
Outcome: Improve training effectiveness and repeatability.
3. Block final conclusion; flag data incomplete
Owner: L&amp;D Manager
Outcome: Improve training effectiveness and repeatability.
4. Do not publish a final effectiveness conclusion until blocked evidence items are resolved.
Owner: L&amp;D Manager
Outcome: Improve training effectiveness and repeatability.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0"/>
            <a:ext cx="164592" cy="6858000"/>
          </a:xfrm>
          <a:prstGeom prst="rect">
            <a:avLst/>
          </a:prstGeom>
          <a:solidFill>
            <a:srgbClr val="2563EB"/>
          </a:solidFill>
          <a:ln w="12700">
            <a:solidFill>
              <a:srgbClr val="2563EB"/>
            </a:solidFill>
            <a:prstDash val="solid"/>
          </a:ln>
        </p:spPr>
      </p:sp>
      <p:sp>
        <p:nvSpPr>
          <p:cNvPr id="4" name="Text 2"/>
          <p:cNvSpPr/>
          <p:nvPr/>
        </p:nvSpPr>
        <p:spPr>
          <a:xfrm>
            <a:off x="640080" y="594360"/>
            <a:ext cx="6217920" cy="320040"/>
          </a:xfrm>
          <a:prstGeom prst="rect">
            <a:avLst/>
          </a:prstGeom>
          <a:noFill/>
          <a:ln/>
        </p:spPr>
        <p:txBody>
          <a:bodyPr wrap="square" rtlCol="0" anchor="ctr"/>
          <a:lstStyle/>
          <a:p>
            <a:pPr indent="0" marL="0">
              <a:buNone/>
            </a:pPr>
            <a:r>
              <a:rPr lang="en-US" sz="1400" b="1" dirty="0">
                <a:solidFill>
                  <a:srgbClr val="93C5FD"/>
                </a:solidFill>
              </a:rPr>
              <a:t>Training Effectiveness Agent</a:t>
            </a:r>
            <a:endParaRPr lang="en-US" sz="1400" dirty="0"/>
          </a:p>
        </p:txBody>
      </p:sp>
      <p:sp>
        <p:nvSpPr>
          <p:cNvPr id="5" name="Text 3"/>
          <p:cNvSpPr/>
          <p:nvPr/>
        </p:nvSpPr>
        <p:spPr>
          <a:xfrm>
            <a:off x="640080" y="1143000"/>
            <a:ext cx="8046720" cy="1234440"/>
          </a:xfrm>
          <a:prstGeom prst="rect">
            <a:avLst/>
          </a:prstGeom>
          <a:noFill/>
          <a:ln/>
        </p:spPr>
        <p:txBody>
          <a:bodyPr wrap="square" lIns="254" tIns="254" rIns="254" bIns="254" rtlCol="0" anchor="ctr">
            <a:normAutofit/>
          </a:bodyPr>
          <a:lstStyle/>
          <a:p>
            <a:pPr indent="0" marL="0">
              <a:buNone/>
            </a:pPr>
            <a:r>
              <a:rPr lang="en-US" sz="3400" b="1" dirty="0">
                <a:solidFill>
                  <a:srgbClr val="FFFFFF"/>
                </a:solidFill>
              </a:rPr>
              <a:t>L&amp;D Training Effectiveness Report - Technical Leadership &amp; Communication</a:t>
            </a:r>
            <a:endParaRPr lang="en-US" sz="3400" dirty="0"/>
          </a:p>
        </p:txBody>
      </p:sp>
      <p:sp>
        <p:nvSpPr>
          <p:cNvPr id="6" name="Text 4"/>
          <p:cNvSpPr/>
          <p:nvPr/>
        </p:nvSpPr>
        <p:spPr>
          <a:xfrm>
            <a:off x="658368" y="2606040"/>
            <a:ext cx="7772400" cy="594360"/>
          </a:xfrm>
          <a:prstGeom prst="rect">
            <a:avLst/>
          </a:prstGeom>
          <a:noFill/>
          <a:ln/>
        </p:spPr>
        <p:txBody>
          <a:bodyPr wrap="square" lIns="254" tIns="254" rIns="254" bIns="254" rtlCol="0" anchor="ctr">
            <a:normAutofit/>
          </a:bodyPr>
          <a:lstStyle/>
          <a:p>
            <a:pPr indent="0" marL="0">
              <a:buNone/>
            </a:pPr>
            <a:r>
              <a:rPr lang="en-US" sz="1800" dirty="0">
                <a:solidFill>
                  <a:srgbClr val="CBD5E1"/>
                </a:solidFill>
              </a:rPr>
              <a:t>Evidence gaps block a final effectiveness conclusion.</a:t>
            </a:r>
            <a:endParaRPr lang="en-US" sz="1800" dirty="0"/>
          </a:p>
        </p:txBody>
      </p:sp>
      <p:sp>
        <p:nvSpPr>
          <p:cNvPr id="7" name="Text 5"/>
          <p:cNvSpPr/>
          <p:nvPr/>
        </p:nvSpPr>
        <p:spPr>
          <a:xfrm>
            <a:off x="8732520" y="960120"/>
            <a:ext cx="2560320" cy="201168"/>
          </a:xfrm>
          <a:prstGeom prst="rect">
            <a:avLst/>
          </a:prstGeom>
          <a:noFill/>
          <a:ln/>
        </p:spPr>
        <p:txBody>
          <a:bodyPr wrap="square" lIns="0" tIns="0" rIns="0" bIns="0" rtlCol="0" anchor="ctr"/>
          <a:lstStyle/>
          <a:p>
            <a:pPr algn="ctr" indent="0" marL="0">
              <a:buNone/>
            </a:pPr>
            <a:r>
              <a:rPr lang="en-US" sz="900" b="1" dirty="0">
                <a:solidFill>
                  <a:srgbClr val="93C5FD"/>
                </a:solidFill>
              </a:rPr>
              <a:t>VALIDATED PERFORMANCE</a:t>
            </a:r>
            <a:endParaRPr lang="en-US" sz="900" dirty="0"/>
          </a:p>
        </p:txBody>
      </p:sp>
      <p:sp>
        <p:nvSpPr>
          <p:cNvPr id="8" name="Shape 6"/>
          <p:cNvSpPr/>
          <p:nvPr/>
        </p:nvSpPr>
        <p:spPr>
          <a:xfrm>
            <a:off x="8887968" y="1325880"/>
            <a:ext cx="2240280" cy="2240280"/>
          </a:xfrm>
          <a:prstGeom prst="ellipse">
            <a:avLst/>
          </a:prstGeom>
          <a:solidFill>
            <a:srgbClr val="B91C1C">
              <a:alpha val="95000"/>
            </a:srgbClr>
          </a:solidFill>
          <a:ln w="12700">
            <a:solidFill>
              <a:srgbClr val="60A5FA">
                <a:alpha val="80000"/>
              </a:srgbClr>
            </a:solidFill>
            <a:prstDash val="solid"/>
          </a:ln>
        </p:spPr>
      </p:sp>
      <p:sp>
        <p:nvSpPr>
          <p:cNvPr id="9" name="Shape 7"/>
          <p:cNvSpPr/>
          <p:nvPr/>
        </p:nvSpPr>
        <p:spPr>
          <a:xfrm>
            <a:off x="9281160" y="1719072"/>
            <a:ext cx="1453896" cy="1453896"/>
          </a:xfrm>
          <a:prstGeom prst="ellipse">
            <a:avLst/>
          </a:prstGeom>
          <a:solidFill>
            <a:srgbClr val="0B1220"/>
          </a:solidFill>
          <a:ln w="12700">
            <a:solidFill>
              <a:srgbClr val="0B1220">
                <a:alpha val="0"/>
              </a:srgbClr>
            </a:solidFill>
            <a:prstDash val="solid"/>
          </a:ln>
        </p:spPr>
      </p:sp>
      <p:sp>
        <p:nvSpPr>
          <p:cNvPr id="10" name="Text 8"/>
          <p:cNvSpPr/>
          <p:nvPr/>
        </p:nvSpPr>
        <p:spPr>
          <a:xfrm>
            <a:off x="9363456" y="2148840"/>
            <a:ext cx="1298448" cy="347472"/>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rPr>
              <a:t>25.6/100</a:t>
            </a:r>
            <a:endParaRPr lang="en-US" sz="2200" dirty="0"/>
          </a:p>
        </p:txBody>
      </p:sp>
      <p:sp>
        <p:nvSpPr>
          <p:cNvPr id="11" name="Text 9"/>
          <p:cNvSpPr/>
          <p:nvPr/>
        </p:nvSpPr>
        <p:spPr>
          <a:xfrm>
            <a:off x="8851392" y="3749040"/>
            <a:ext cx="2331720" cy="25603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Not reportable</a:t>
            </a:r>
            <a:endParaRPr lang="en-US" sz="1100" dirty="0"/>
          </a:p>
        </p:txBody>
      </p:sp>
      <p:sp>
        <p:nvSpPr>
          <p:cNvPr id="12" name="Text 10"/>
          <p:cNvSpPr/>
          <p:nvPr/>
        </p:nvSpPr>
        <p:spPr>
          <a:xfrm>
            <a:off x="8668512" y="4315968"/>
            <a:ext cx="868680" cy="146304"/>
          </a:xfrm>
          <a:prstGeom prst="rect">
            <a:avLst/>
          </a:prstGeom>
          <a:noFill/>
          <a:ln/>
        </p:spPr>
        <p:txBody>
          <a:bodyPr wrap="square" lIns="0" tIns="0" rIns="0" bIns="0" rtlCol="0" anchor="ctr"/>
          <a:lstStyle/>
          <a:p>
            <a:pPr indent="0" marL="0">
              <a:buNone/>
            </a:pPr>
            <a:r>
              <a:rPr lang="en-US" sz="750" dirty="0">
                <a:solidFill>
                  <a:srgbClr val="CBD5E1"/>
                </a:solidFill>
              </a:rPr>
              <a:t>Attendance</a:t>
            </a:r>
            <a:endParaRPr lang="en-US" sz="750" dirty="0"/>
          </a:p>
        </p:txBody>
      </p:sp>
      <p:sp>
        <p:nvSpPr>
          <p:cNvPr id="13" name="Shape 11"/>
          <p:cNvSpPr/>
          <p:nvPr/>
        </p:nvSpPr>
        <p:spPr>
          <a:xfrm>
            <a:off x="9555480" y="4334256"/>
            <a:ext cx="1097280" cy="91440"/>
          </a:xfrm>
          <a:prstGeom prst="rect">
            <a:avLst/>
          </a:prstGeom>
          <a:solidFill>
            <a:srgbClr val="334155"/>
          </a:solidFill>
          <a:ln w="12700">
            <a:solidFill>
              <a:srgbClr val="334155">
                <a:alpha val="0"/>
              </a:srgbClr>
            </a:solidFill>
            <a:prstDash val="solid"/>
          </a:ln>
        </p:spPr>
      </p:sp>
      <p:sp>
        <p:nvSpPr>
          <p:cNvPr id="14" name="Shape 12"/>
          <p:cNvSpPr/>
          <p:nvPr/>
        </p:nvSpPr>
        <p:spPr>
          <a:xfrm>
            <a:off x="9555480" y="4334256"/>
            <a:ext cx="525597" cy="91440"/>
          </a:xfrm>
          <a:prstGeom prst="rect">
            <a:avLst/>
          </a:prstGeom>
          <a:solidFill>
            <a:srgbClr val="B91C1C"/>
          </a:solidFill>
          <a:ln w="12700">
            <a:solidFill>
              <a:srgbClr val="B91C1C">
                <a:alpha val="0"/>
              </a:srgbClr>
            </a:solidFill>
            <a:prstDash val="solid"/>
          </a:ln>
        </p:spPr>
      </p:sp>
      <p:sp>
        <p:nvSpPr>
          <p:cNvPr id="15" name="Text 13"/>
          <p:cNvSpPr/>
          <p:nvPr/>
        </p:nvSpPr>
        <p:spPr>
          <a:xfrm>
            <a:off x="10716768" y="43068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47.9%</a:t>
            </a:r>
            <a:endParaRPr lang="en-US" sz="750" dirty="0"/>
          </a:p>
        </p:txBody>
      </p:sp>
      <p:sp>
        <p:nvSpPr>
          <p:cNvPr id="16" name="Text 14"/>
          <p:cNvSpPr/>
          <p:nvPr/>
        </p:nvSpPr>
        <p:spPr>
          <a:xfrm>
            <a:off x="8668512" y="4773168"/>
            <a:ext cx="868680" cy="146304"/>
          </a:xfrm>
          <a:prstGeom prst="rect">
            <a:avLst/>
          </a:prstGeom>
          <a:noFill/>
          <a:ln/>
        </p:spPr>
        <p:txBody>
          <a:bodyPr wrap="square" lIns="0" tIns="0" rIns="0" bIns="0" rtlCol="0" anchor="ctr"/>
          <a:lstStyle/>
          <a:p>
            <a:pPr indent="0" marL="0">
              <a:buNone/>
            </a:pPr>
            <a:r>
              <a:rPr lang="en-US" sz="750" dirty="0">
                <a:solidFill>
                  <a:srgbClr val="CBD5E1"/>
                </a:solidFill>
              </a:rPr>
              <a:t>Completion</a:t>
            </a:r>
            <a:endParaRPr lang="en-US" sz="750" dirty="0"/>
          </a:p>
        </p:txBody>
      </p:sp>
      <p:sp>
        <p:nvSpPr>
          <p:cNvPr id="17" name="Shape 15"/>
          <p:cNvSpPr/>
          <p:nvPr/>
        </p:nvSpPr>
        <p:spPr>
          <a:xfrm>
            <a:off x="9555480" y="4791456"/>
            <a:ext cx="1097280" cy="91440"/>
          </a:xfrm>
          <a:prstGeom prst="rect">
            <a:avLst/>
          </a:prstGeom>
          <a:solidFill>
            <a:srgbClr val="334155"/>
          </a:solidFill>
          <a:ln w="12700">
            <a:solidFill>
              <a:srgbClr val="334155">
                <a:alpha val="0"/>
              </a:srgbClr>
            </a:solidFill>
            <a:prstDash val="solid"/>
          </a:ln>
        </p:spPr>
      </p:sp>
      <p:sp>
        <p:nvSpPr>
          <p:cNvPr id="18" name="Shape 16"/>
          <p:cNvSpPr/>
          <p:nvPr/>
        </p:nvSpPr>
        <p:spPr>
          <a:xfrm>
            <a:off x="9555480" y="4791456"/>
            <a:ext cx="0" cy="91440"/>
          </a:xfrm>
          <a:prstGeom prst="rect">
            <a:avLst/>
          </a:prstGeom>
          <a:solidFill>
            <a:srgbClr val="B91C1C"/>
          </a:solidFill>
          <a:ln w="12700">
            <a:solidFill>
              <a:srgbClr val="B91C1C">
                <a:alpha val="0"/>
              </a:srgbClr>
            </a:solidFill>
            <a:prstDash val="solid"/>
          </a:ln>
        </p:spPr>
      </p:sp>
      <p:sp>
        <p:nvSpPr>
          <p:cNvPr id="19" name="Text 17"/>
          <p:cNvSpPr/>
          <p:nvPr/>
        </p:nvSpPr>
        <p:spPr>
          <a:xfrm>
            <a:off x="10716768" y="47640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0%</a:t>
            </a:r>
            <a:endParaRPr lang="en-US" sz="750" dirty="0"/>
          </a:p>
        </p:txBody>
      </p:sp>
      <p:sp>
        <p:nvSpPr>
          <p:cNvPr id="20" name="Text 18"/>
          <p:cNvSpPr/>
          <p:nvPr/>
        </p:nvSpPr>
        <p:spPr>
          <a:xfrm>
            <a:off x="8668512" y="5230368"/>
            <a:ext cx="868680" cy="146304"/>
          </a:xfrm>
          <a:prstGeom prst="rect">
            <a:avLst/>
          </a:prstGeom>
          <a:noFill/>
          <a:ln/>
        </p:spPr>
        <p:txBody>
          <a:bodyPr wrap="square" lIns="0" tIns="0" rIns="0" bIns="0" rtlCol="0" anchor="ctr"/>
          <a:lstStyle/>
          <a:p>
            <a:pPr indent="0" marL="0">
              <a:buNone/>
            </a:pPr>
            <a:r>
              <a:rPr lang="en-US" sz="750" dirty="0">
                <a:solidFill>
                  <a:srgbClr val="CBD5E1"/>
                </a:solidFill>
              </a:rPr>
              <a:t>Pass rate</a:t>
            </a:r>
            <a:endParaRPr lang="en-US" sz="750" dirty="0"/>
          </a:p>
        </p:txBody>
      </p:sp>
      <p:sp>
        <p:nvSpPr>
          <p:cNvPr id="21" name="Shape 19"/>
          <p:cNvSpPr/>
          <p:nvPr/>
        </p:nvSpPr>
        <p:spPr>
          <a:xfrm>
            <a:off x="9555480" y="5248656"/>
            <a:ext cx="1097280" cy="91440"/>
          </a:xfrm>
          <a:prstGeom prst="rect">
            <a:avLst/>
          </a:prstGeom>
          <a:solidFill>
            <a:srgbClr val="334155"/>
          </a:solidFill>
          <a:ln w="12700">
            <a:solidFill>
              <a:srgbClr val="334155">
                <a:alpha val="0"/>
              </a:srgbClr>
            </a:solidFill>
            <a:prstDash val="solid"/>
          </a:ln>
        </p:spPr>
      </p:sp>
      <p:sp>
        <p:nvSpPr>
          <p:cNvPr id="22" name="Shape 20"/>
          <p:cNvSpPr/>
          <p:nvPr/>
        </p:nvSpPr>
        <p:spPr>
          <a:xfrm>
            <a:off x="9555480" y="5248656"/>
            <a:ext cx="0" cy="91440"/>
          </a:xfrm>
          <a:prstGeom prst="rect">
            <a:avLst/>
          </a:prstGeom>
          <a:solidFill>
            <a:srgbClr val="B91C1C"/>
          </a:solidFill>
          <a:ln w="12700">
            <a:solidFill>
              <a:srgbClr val="B91C1C">
                <a:alpha val="0"/>
              </a:srgbClr>
            </a:solidFill>
            <a:prstDash val="solid"/>
          </a:ln>
        </p:spPr>
      </p:sp>
      <p:sp>
        <p:nvSpPr>
          <p:cNvPr id="23" name="Text 21"/>
          <p:cNvSpPr/>
          <p:nvPr/>
        </p:nvSpPr>
        <p:spPr>
          <a:xfrm>
            <a:off x="10716768" y="52212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0%</a:t>
            </a:r>
            <a:endParaRPr lang="en-US" sz="750" dirty="0"/>
          </a:p>
        </p:txBody>
      </p:sp>
      <p:sp>
        <p:nvSpPr>
          <p:cNvPr id="24" name="Shape 22"/>
          <p:cNvSpPr/>
          <p:nvPr/>
        </p:nvSpPr>
        <p:spPr>
          <a:xfrm>
            <a:off x="658368" y="3703320"/>
            <a:ext cx="1143000" cy="256032"/>
          </a:xfrm>
          <a:prstGeom prst="roundRect">
            <a:avLst>
              <a:gd name="adj" fmla="val 28571"/>
            </a:avLst>
          </a:prstGeom>
          <a:solidFill>
            <a:srgbClr val="FEE2E2"/>
          </a:solidFill>
          <a:ln w="12700">
            <a:solidFill>
              <a:srgbClr val="FEE2E2"/>
            </a:solidFill>
            <a:prstDash val="solid"/>
          </a:ln>
        </p:spPr>
      </p:sp>
      <p:sp>
        <p:nvSpPr>
          <p:cNvPr id="25" name="Text 23"/>
          <p:cNvSpPr/>
          <p:nvPr/>
        </p:nvSpPr>
        <p:spPr>
          <a:xfrm>
            <a:off x="694944"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Blocked</a:t>
            </a:r>
            <a:endParaRPr lang="en-US" sz="740" dirty="0"/>
          </a:p>
        </p:txBody>
      </p:sp>
      <p:sp>
        <p:nvSpPr>
          <p:cNvPr id="26" name="Shape 24"/>
          <p:cNvSpPr/>
          <p:nvPr/>
        </p:nvSpPr>
        <p:spPr>
          <a:xfrm>
            <a:off x="2057400" y="3703320"/>
            <a:ext cx="1143000" cy="256032"/>
          </a:xfrm>
          <a:prstGeom prst="roundRect">
            <a:avLst>
              <a:gd name="adj" fmla="val 28571"/>
            </a:avLst>
          </a:prstGeom>
          <a:solidFill>
            <a:srgbClr val="E2E8F0"/>
          </a:solidFill>
          <a:ln w="12700">
            <a:solidFill>
              <a:srgbClr val="E2E8F0"/>
            </a:solidFill>
            <a:prstDash val="solid"/>
          </a:ln>
        </p:spPr>
      </p:sp>
      <p:sp>
        <p:nvSpPr>
          <p:cNvPr id="27" name="Text 25"/>
          <p:cNvSpPr/>
          <p:nvPr/>
        </p:nvSpPr>
        <p:spPr>
          <a:xfrm>
            <a:off x="2093976"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Draft</a:t>
            </a:r>
            <a:endParaRPr lang="en-US" sz="740" dirty="0"/>
          </a:p>
        </p:txBody>
      </p:sp>
      <p:sp>
        <p:nvSpPr>
          <p:cNvPr id="28" name="Shape 26"/>
          <p:cNvSpPr/>
          <p:nvPr/>
        </p:nvSpPr>
        <p:spPr>
          <a:xfrm>
            <a:off x="3291840" y="3703320"/>
            <a:ext cx="1143000" cy="256032"/>
          </a:xfrm>
          <a:prstGeom prst="roundRect">
            <a:avLst>
              <a:gd name="adj" fmla="val 28571"/>
            </a:avLst>
          </a:prstGeom>
          <a:solidFill>
            <a:srgbClr val="E2E8F0"/>
          </a:solidFill>
          <a:ln w="12700">
            <a:solidFill>
              <a:srgbClr val="E2E8F0"/>
            </a:solidFill>
            <a:prstDash val="solid"/>
          </a:ln>
        </p:spPr>
      </p:sp>
      <p:sp>
        <p:nvSpPr>
          <p:cNvPr id="29" name="Text 27"/>
          <p:cNvSpPr/>
          <p:nvPr/>
        </p:nvSpPr>
        <p:spPr>
          <a:xfrm>
            <a:off x="3328416"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L&amp;D Manager</a:t>
            </a:r>
            <a:endParaRPr lang="en-US" sz="740" dirty="0"/>
          </a:p>
        </p:txBody>
      </p:sp>
      <p:sp>
        <p:nvSpPr>
          <p:cNvPr id="30" name="Text 28"/>
          <p:cNvSpPr/>
          <p:nvPr/>
        </p:nvSpPr>
        <p:spPr>
          <a:xfrm>
            <a:off x="658368" y="5440680"/>
            <a:ext cx="5669280" cy="274320"/>
          </a:xfrm>
          <a:prstGeom prst="rect">
            <a:avLst/>
          </a:prstGeom>
          <a:noFill/>
          <a:ln/>
        </p:spPr>
        <p:txBody>
          <a:bodyPr wrap="square" rtlCol="0" anchor="ctr"/>
          <a:lstStyle/>
          <a:p>
            <a:pPr indent="0" marL="0">
              <a:buNone/>
            </a:pPr>
            <a:r>
              <a:rPr lang="en-US" sz="1200" dirty="0">
                <a:solidFill>
                  <a:srgbClr val="CBD5E1"/>
                </a:solidFill>
              </a:rPr>
              <a:t>Course Leadership_06_2026 | Type readiness</a:t>
            </a:r>
            <a:endParaRPr lang="en-US" sz="1200" dirty="0"/>
          </a:p>
        </p:txBody>
      </p:sp>
      <p:sp>
        <p:nvSpPr>
          <p:cNvPr id="31" name="Text 29"/>
          <p:cNvSpPr/>
          <p:nvPr/>
        </p:nvSpPr>
        <p:spPr>
          <a:xfrm>
            <a:off x="658368" y="5779008"/>
            <a:ext cx="3840480" cy="274320"/>
          </a:xfrm>
          <a:prstGeom prst="rect">
            <a:avLst/>
          </a:prstGeom>
          <a:noFill/>
          <a:ln/>
        </p:spPr>
        <p:txBody>
          <a:bodyPr wrap="square" rtlCol="0" anchor="ctr"/>
          <a:lstStyle/>
          <a:p>
            <a:pPr indent="0" marL="0">
              <a:buNone/>
            </a:pPr>
            <a:r>
              <a:rPr lang="en-US" sz="1100" dirty="0">
                <a:solidFill>
                  <a:srgbClr val="94A3B8"/>
                </a:solidFill>
              </a:rPr>
              <a:t>6/21/2026, 6:48:00 PM</a:t>
            </a:r>
            <a:endParaRPr lang="en-US" sz="1100" dirty="0"/>
          </a:p>
        </p:txBody>
      </p:sp>
      <p:sp>
        <p:nvSpPr>
          <p:cNvPr id="32" name="Text 30"/>
          <p:cNvSpPr/>
          <p:nvPr/>
        </p:nvSpPr>
        <p:spPr>
          <a:xfrm>
            <a:off x="9418320" y="6144768"/>
            <a:ext cx="2011680" cy="228600"/>
          </a:xfrm>
          <a:prstGeom prst="rect">
            <a:avLst/>
          </a:prstGeom>
          <a:noFill/>
          <a:ln/>
        </p:spPr>
        <p:txBody>
          <a:bodyPr wrap="square" rtlCol="0" anchor="ctr"/>
          <a:lstStyle/>
          <a:p>
            <a:pPr algn="r" indent="0" marL="0">
              <a:buNone/>
            </a:pPr>
            <a:r>
              <a:rPr lang="en-US" sz="1000" dirty="0">
                <a:solidFill>
                  <a:srgbClr val="94A3B8"/>
                </a:solidFill>
              </a:rPr>
              <a:t>SETA L&amp;D Reporting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Executive snapshot</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Text 5"/>
          <p:cNvSpPr/>
          <p:nvPr/>
        </p:nvSpPr>
        <p:spPr>
          <a:xfrm>
            <a:off x="594360" y="1051560"/>
            <a:ext cx="6766560" cy="566928"/>
          </a:xfrm>
          <a:prstGeom prst="rect">
            <a:avLst/>
          </a:prstGeom>
          <a:noFill/>
          <a:ln/>
        </p:spPr>
        <p:txBody>
          <a:bodyPr wrap="square" rtlCol="0" anchor="ctr">
            <a:normAutofit/>
          </a:bodyPr>
          <a:lstStyle/>
          <a:p>
            <a:pPr indent="0" marL="0">
              <a:buNone/>
            </a:pPr>
            <a:r>
              <a:rPr lang="en-US" sz="2100" b="1" dirty="0">
                <a:solidFill>
                  <a:srgbClr val="0F172A"/>
                </a:solidFill>
              </a:rPr>
              <a:t>Evidence gaps block a final effectiveness conclusion.</a:t>
            </a:r>
            <a:endParaRPr lang="en-US" sz="2100" dirty="0"/>
          </a:p>
        </p:txBody>
      </p:sp>
      <p:sp>
        <p:nvSpPr>
          <p:cNvPr id="9" name="Shape 6"/>
          <p:cNvSpPr/>
          <p:nvPr/>
        </p:nvSpPr>
        <p:spPr>
          <a:xfrm>
            <a:off x="621792" y="1828800"/>
            <a:ext cx="310896" cy="310896"/>
          </a:xfrm>
          <a:prstGeom prst="ellipse">
            <a:avLst/>
          </a:prstGeom>
          <a:solidFill>
            <a:srgbClr val="DBEAFE"/>
          </a:solidFill>
          <a:ln w="12700">
            <a:solidFill>
              <a:srgbClr val="93C5FD"/>
            </a:solidFill>
            <a:prstDash val="solid"/>
          </a:ln>
        </p:spPr>
      </p:sp>
      <p:sp>
        <p:nvSpPr>
          <p:cNvPr id="10" name="Text 7"/>
          <p:cNvSpPr/>
          <p:nvPr/>
        </p:nvSpPr>
        <p:spPr>
          <a:xfrm>
            <a:off x="621792" y="1828800"/>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1</a:t>
            </a:r>
            <a:endParaRPr lang="en-US" sz="850" dirty="0"/>
          </a:p>
        </p:txBody>
      </p:sp>
      <p:sp>
        <p:nvSpPr>
          <p:cNvPr id="11" name="Text 8"/>
          <p:cNvSpPr/>
          <p:nvPr/>
        </p:nvSpPr>
        <p:spPr>
          <a:xfrm>
            <a:off x="1097280" y="1783080"/>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The selected scope contains 1 course(s), 0 completed course(s), and 8 trainee-course records.</a:t>
            </a:r>
            <a:endParaRPr lang="en-US" sz="1120" dirty="0"/>
          </a:p>
        </p:txBody>
      </p:sp>
      <p:sp>
        <p:nvSpPr>
          <p:cNvPr id="12" name="Shape 9"/>
          <p:cNvSpPr/>
          <p:nvPr/>
        </p:nvSpPr>
        <p:spPr>
          <a:xfrm>
            <a:off x="621792" y="2487168"/>
            <a:ext cx="310896" cy="310896"/>
          </a:xfrm>
          <a:prstGeom prst="ellipse">
            <a:avLst/>
          </a:prstGeom>
          <a:solidFill>
            <a:srgbClr val="DBEAFE"/>
          </a:solidFill>
          <a:ln w="12700">
            <a:solidFill>
              <a:srgbClr val="93C5FD"/>
            </a:solidFill>
            <a:prstDash val="solid"/>
          </a:ln>
        </p:spPr>
      </p:sp>
      <p:sp>
        <p:nvSpPr>
          <p:cNvPr id="13" name="Text 10"/>
          <p:cNvSpPr/>
          <p:nvPr/>
        </p:nvSpPr>
        <p:spPr>
          <a:xfrm>
            <a:off x="621792" y="2487168"/>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2</a:t>
            </a:r>
            <a:endParaRPr lang="en-US" sz="850" dirty="0"/>
          </a:p>
        </p:txBody>
      </p:sp>
      <p:sp>
        <p:nvSpPr>
          <p:cNvPr id="14" name="Text 11"/>
          <p:cNvSpPr/>
          <p:nvPr/>
        </p:nvSpPr>
        <p:spPr>
          <a:xfrm>
            <a:off x="1097280" y="2441448"/>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Overall attendance is 47.9%, completion is 0%, pass rate is 0%, and average score is N/A/10.</a:t>
            </a:r>
            <a:endParaRPr lang="en-US" sz="1120" dirty="0"/>
          </a:p>
        </p:txBody>
      </p:sp>
      <p:sp>
        <p:nvSpPr>
          <p:cNvPr id="15" name="Shape 12"/>
          <p:cNvSpPr/>
          <p:nvPr/>
        </p:nvSpPr>
        <p:spPr>
          <a:xfrm>
            <a:off x="621792" y="3145536"/>
            <a:ext cx="310896" cy="310896"/>
          </a:xfrm>
          <a:prstGeom prst="ellipse">
            <a:avLst/>
          </a:prstGeom>
          <a:solidFill>
            <a:srgbClr val="DBEAFE"/>
          </a:solidFill>
          <a:ln w="12700">
            <a:solidFill>
              <a:srgbClr val="93C5FD"/>
            </a:solidFill>
            <a:prstDash val="solid"/>
          </a:ln>
        </p:spPr>
      </p:sp>
      <p:sp>
        <p:nvSpPr>
          <p:cNvPr id="16" name="Text 13"/>
          <p:cNvSpPr/>
          <p:nvPr/>
        </p:nvSpPr>
        <p:spPr>
          <a:xfrm>
            <a:off x="621792" y="3145536"/>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3</a:t>
            </a:r>
            <a:endParaRPr lang="en-US" sz="850" dirty="0"/>
          </a:p>
        </p:txBody>
      </p:sp>
      <p:sp>
        <p:nvSpPr>
          <p:cNvPr id="17" name="Text 14"/>
          <p:cNvSpPr/>
          <p:nvPr/>
        </p:nvSpPr>
        <p:spPr>
          <a:xfrm>
            <a:off x="1097280" y="3099816"/>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Total training hours are 34.5 and scaled cost is 4.8.</a:t>
            </a:r>
            <a:endParaRPr lang="en-US" sz="1120" dirty="0"/>
          </a:p>
        </p:txBody>
      </p:sp>
      <p:sp>
        <p:nvSpPr>
          <p:cNvPr id="18" name="Shape 15"/>
          <p:cNvSpPr/>
          <p:nvPr/>
        </p:nvSpPr>
        <p:spPr>
          <a:xfrm>
            <a:off x="7818120" y="1005840"/>
            <a:ext cx="3611880" cy="2194560"/>
          </a:xfrm>
          <a:prstGeom prst="roundRect">
            <a:avLst>
              <a:gd name="adj" fmla="val 3333"/>
            </a:avLst>
          </a:prstGeom>
          <a:solidFill>
            <a:srgbClr val="FFFFFF"/>
          </a:solidFill>
          <a:ln w="12700">
            <a:solidFill>
              <a:srgbClr val="CBD5E1"/>
            </a:solidFill>
            <a:prstDash val="solid"/>
          </a:ln>
        </p:spPr>
      </p:sp>
      <p:sp>
        <p:nvSpPr>
          <p:cNvPr id="19" name="Text 16"/>
          <p:cNvSpPr/>
          <p:nvPr/>
        </p:nvSpPr>
        <p:spPr>
          <a:xfrm>
            <a:off x="8046720" y="1234440"/>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20" name="Shape 17"/>
          <p:cNvSpPr/>
          <p:nvPr/>
        </p:nvSpPr>
        <p:spPr>
          <a:xfrm>
            <a:off x="8046720" y="1645920"/>
            <a:ext cx="1143000" cy="256032"/>
          </a:xfrm>
          <a:prstGeom prst="roundRect">
            <a:avLst>
              <a:gd name="adj" fmla="val 28571"/>
            </a:avLst>
          </a:prstGeom>
          <a:solidFill>
            <a:srgbClr val="FEE2E2"/>
          </a:solidFill>
          <a:ln w="12700">
            <a:solidFill>
              <a:srgbClr val="FEE2E2"/>
            </a:solidFill>
            <a:prstDash val="solid"/>
          </a:ln>
        </p:spPr>
      </p:sp>
      <p:sp>
        <p:nvSpPr>
          <p:cNvPr id="21" name="Text 18"/>
          <p:cNvSpPr/>
          <p:nvPr/>
        </p:nvSpPr>
        <p:spPr>
          <a:xfrm>
            <a:off x="8083296" y="16459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Blocked</a:t>
            </a:r>
            <a:endParaRPr lang="en-US" sz="740" dirty="0"/>
          </a:p>
        </p:txBody>
      </p:sp>
      <p:sp>
        <p:nvSpPr>
          <p:cNvPr id="22" name="Text 19"/>
          <p:cNvSpPr/>
          <p:nvPr/>
        </p:nvSpPr>
        <p:spPr>
          <a:xfrm>
            <a:off x="8046720" y="2121408"/>
            <a:ext cx="2286000" cy="228600"/>
          </a:xfrm>
          <a:prstGeom prst="rect">
            <a:avLst/>
          </a:prstGeom>
          <a:noFill/>
          <a:ln/>
        </p:spPr>
        <p:txBody>
          <a:bodyPr wrap="square" rtlCol="0" anchor="ctr"/>
          <a:lstStyle/>
          <a:p>
            <a:pPr indent="0" marL="0">
              <a:buNone/>
            </a:pPr>
            <a:r>
              <a:rPr lang="en-US" sz="1100" dirty="0">
                <a:solidFill>
                  <a:srgbClr val="0F172A"/>
                </a:solidFill>
              </a:rPr>
              <a:t>Missing evidence: 1</a:t>
            </a:r>
            <a:endParaRPr lang="en-US" sz="1100" dirty="0"/>
          </a:p>
        </p:txBody>
      </p:sp>
      <p:sp>
        <p:nvSpPr>
          <p:cNvPr id="23" name="Text 20"/>
          <p:cNvSpPr/>
          <p:nvPr/>
        </p:nvSpPr>
        <p:spPr>
          <a:xfrm>
            <a:off x="8046720" y="2423160"/>
            <a:ext cx="2286000" cy="228600"/>
          </a:xfrm>
          <a:prstGeom prst="rect">
            <a:avLst/>
          </a:prstGeom>
          <a:noFill/>
          <a:ln/>
        </p:spPr>
        <p:txBody>
          <a:bodyPr wrap="square" rtlCol="0" anchor="ctr"/>
          <a:lstStyle/>
          <a:p>
            <a:pPr indent="0" marL="0">
              <a:buNone/>
            </a:pPr>
            <a:r>
              <a:rPr lang="en-US" sz="1100" dirty="0">
                <a:solidFill>
                  <a:srgbClr val="0F172A"/>
                </a:solidFill>
              </a:rPr>
              <a:t>Warnings: 1</a:t>
            </a:r>
            <a:endParaRPr lang="en-US" sz="1100" dirty="0"/>
          </a:p>
        </p:txBody>
      </p:sp>
      <p:sp>
        <p:nvSpPr>
          <p:cNvPr id="24" name="Text 21"/>
          <p:cNvSpPr/>
          <p:nvPr/>
        </p:nvSpPr>
        <p:spPr>
          <a:xfrm>
            <a:off x="8046720" y="2743200"/>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blocked until required evidence is resolved.</a:t>
            </a:r>
            <a:endParaRPr lang="en-US" sz="950" dirty="0"/>
          </a:p>
        </p:txBody>
      </p:sp>
      <p:sp>
        <p:nvSpPr>
          <p:cNvPr id="25" name="Shape 22"/>
          <p:cNvSpPr/>
          <p:nvPr/>
        </p:nvSpPr>
        <p:spPr>
          <a:xfrm>
            <a:off x="594360" y="4160520"/>
            <a:ext cx="2514600" cy="1143000"/>
          </a:xfrm>
          <a:prstGeom prst="roundRect">
            <a:avLst>
              <a:gd name="adj" fmla="val 6400"/>
            </a:avLst>
          </a:prstGeom>
          <a:solidFill>
            <a:srgbClr val="FFFFFF"/>
          </a:solidFill>
          <a:ln w="12700">
            <a:solidFill>
              <a:srgbClr val="CBD5E1"/>
            </a:solidFill>
            <a:prstDash val="solid"/>
          </a:ln>
        </p:spPr>
      </p:sp>
      <p:sp>
        <p:nvSpPr>
          <p:cNvPr id="26" name="Text 23"/>
          <p:cNvSpPr/>
          <p:nvPr/>
        </p:nvSpPr>
        <p:spPr>
          <a:xfrm>
            <a:off x="75895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27" name="Text 24"/>
          <p:cNvSpPr/>
          <p:nvPr/>
        </p:nvSpPr>
        <p:spPr>
          <a:xfrm>
            <a:off x="75895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47.9%</a:t>
            </a:r>
            <a:endParaRPr lang="en-US" sz="2100" dirty="0"/>
          </a:p>
        </p:txBody>
      </p:sp>
      <p:sp>
        <p:nvSpPr>
          <p:cNvPr id="28" name="Text 25"/>
          <p:cNvSpPr/>
          <p:nvPr/>
        </p:nvSpPr>
        <p:spPr>
          <a:xfrm>
            <a:off x="75895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29" name="Shape 26"/>
          <p:cNvSpPr/>
          <p:nvPr/>
        </p:nvSpPr>
        <p:spPr>
          <a:xfrm>
            <a:off x="2167128" y="4946904"/>
            <a:ext cx="777240" cy="256032"/>
          </a:xfrm>
          <a:prstGeom prst="roundRect">
            <a:avLst>
              <a:gd name="adj" fmla="val 28571"/>
            </a:avLst>
          </a:prstGeom>
          <a:solidFill>
            <a:srgbClr val="FEE2E2"/>
          </a:solidFill>
          <a:ln w="12700">
            <a:solidFill>
              <a:srgbClr val="FEE2E2"/>
            </a:solidFill>
            <a:prstDash val="solid"/>
          </a:ln>
        </p:spPr>
      </p:sp>
      <p:sp>
        <p:nvSpPr>
          <p:cNvPr id="30" name="Text 27"/>
          <p:cNvSpPr/>
          <p:nvPr/>
        </p:nvSpPr>
        <p:spPr>
          <a:xfrm>
            <a:off x="220370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Risk</a:t>
            </a:r>
            <a:endParaRPr lang="en-US" sz="740" dirty="0"/>
          </a:p>
        </p:txBody>
      </p:sp>
      <p:sp>
        <p:nvSpPr>
          <p:cNvPr id="31" name="Shape 28"/>
          <p:cNvSpPr/>
          <p:nvPr/>
        </p:nvSpPr>
        <p:spPr>
          <a:xfrm>
            <a:off x="3383280" y="4160520"/>
            <a:ext cx="2514600" cy="1143000"/>
          </a:xfrm>
          <a:prstGeom prst="roundRect">
            <a:avLst>
              <a:gd name="adj" fmla="val 6400"/>
            </a:avLst>
          </a:prstGeom>
          <a:solidFill>
            <a:srgbClr val="FFFFFF"/>
          </a:solidFill>
          <a:ln w="12700">
            <a:solidFill>
              <a:srgbClr val="CBD5E1"/>
            </a:solidFill>
            <a:prstDash val="solid"/>
          </a:ln>
        </p:spPr>
      </p:sp>
      <p:sp>
        <p:nvSpPr>
          <p:cNvPr id="32" name="Text 29"/>
          <p:cNvSpPr/>
          <p:nvPr/>
        </p:nvSpPr>
        <p:spPr>
          <a:xfrm>
            <a:off x="354787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33" name="Text 30"/>
          <p:cNvSpPr/>
          <p:nvPr/>
        </p:nvSpPr>
        <p:spPr>
          <a:xfrm>
            <a:off x="354787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a:t>
            </a:r>
            <a:endParaRPr lang="en-US" sz="2100" dirty="0"/>
          </a:p>
        </p:txBody>
      </p:sp>
      <p:sp>
        <p:nvSpPr>
          <p:cNvPr id="34" name="Text 31"/>
          <p:cNvSpPr/>
          <p:nvPr/>
        </p:nvSpPr>
        <p:spPr>
          <a:xfrm>
            <a:off x="354787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35" name="Shape 32"/>
          <p:cNvSpPr/>
          <p:nvPr/>
        </p:nvSpPr>
        <p:spPr>
          <a:xfrm>
            <a:off x="4956048" y="4946904"/>
            <a:ext cx="777240" cy="256032"/>
          </a:xfrm>
          <a:prstGeom prst="roundRect">
            <a:avLst>
              <a:gd name="adj" fmla="val 28571"/>
            </a:avLst>
          </a:prstGeom>
          <a:solidFill>
            <a:srgbClr val="FEE2E2"/>
          </a:solidFill>
          <a:ln w="12700">
            <a:solidFill>
              <a:srgbClr val="FEE2E2"/>
            </a:solidFill>
            <a:prstDash val="solid"/>
          </a:ln>
        </p:spPr>
      </p:sp>
      <p:sp>
        <p:nvSpPr>
          <p:cNvPr id="36" name="Text 33"/>
          <p:cNvSpPr/>
          <p:nvPr/>
        </p:nvSpPr>
        <p:spPr>
          <a:xfrm>
            <a:off x="499262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Risk</a:t>
            </a:r>
            <a:endParaRPr lang="en-US" sz="740" dirty="0"/>
          </a:p>
        </p:txBody>
      </p:sp>
      <p:sp>
        <p:nvSpPr>
          <p:cNvPr id="37" name="Shape 34"/>
          <p:cNvSpPr/>
          <p:nvPr/>
        </p:nvSpPr>
        <p:spPr>
          <a:xfrm>
            <a:off x="6172200" y="4160520"/>
            <a:ext cx="2514600" cy="1143000"/>
          </a:xfrm>
          <a:prstGeom prst="roundRect">
            <a:avLst>
              <a:gd name="adj" fmla="val 6400"/>
            </a:avLst>
          </a:prstGeom>
          <a:solidFill>
            <a:srgbClr val="FFFFFF"/>
          </a:solidFill>
          <a:ln w="12700">
            <a:solidFill>
              <a:srgbClr val="CBD5E1"/>
            </a:solidFill>
            <a:prstDash val="solid"/>
          </a:ln>
        </p:spPr>
      </p:sp>
      <p:sp>
        <p:nvSpPr>
          <p:cNvPr id="38" name="Text 35"/>
          <p:cNvSpPr/>
          <p:nvPr/>
        </p:nvSpPr>
        <p:spPr>
          <a:xfrm>
            <a:off x="633679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39" name="Text 36"/>
          <p:cNvSpPr/>
          <p:nvPr/>
        </p:nvSpPr>
        <p:spPr>
          <a:xfrm>
            <a:off x="633679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a:t>
            </a:r>
            <a:endParaRPr lang="en-US" sz="2100" dirty="0"/>
          </a:p>
        </p:txBody>
      </p:sp>
      <p:sp>
        <p:nvSpPr>
          <p:cNvPr id="40" name="Text 37"/>
          <p:cNvSpPr/>
          <p:nvPr/>
        </p:nvSpPr>
        <p:spPr>
          <a:xfrm>
            <a:off x="633679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41" name="Shape 38"/>
          <p:cNvSpPr/>
          <p:nvPr/>
        </p:nvSpPr>
        <p:spPr>
          <a:xfrm>
            <a:off x="7744968" y="4946904"/>
            <a:ext cx="777240" cy="256032"/>
          </a:xfrm>
          <a:prstGeom prst="roundRect">
            <a:avLst>
              <a:gd name="adj" fmla="val 28571"/>
            </a:avLst>
          </a:prstGeom>
          <a:solidFill>
            <a:srgbClr val="FEE2E2"/>
          </a:solidFill>
          <a:ln w="12700">
            <a:solidFill>
              <a:srgbClr val="FEE2E2"/>
            </a:solidFill>
            <a:prstDash val="solid"/>
          </a:ln>
        </p:spPr>
      </p:sp>
      <p:sp>
        <p:nvSpPr>
          <p:cNvPr id="42" name="Text 39"/>
          <p:cNvSpPr/>
          <p:nvPr/>
        </p:nvSpPr>
        <p:spPr>
          <a:xfrm>
            <a:off x="778154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Risk</a:t>
            </a:r>
            <a:endParaRPr lang="en-US" sz="740" dirty="0"/>
          </a:p>
        </p:txBody>
      </p:sp>
      <p:sp>
        <p:nvSpPr>
          <p:cNvPr id="43" name="Shape 40"/>
          <p:cNvSpPr/>
          <p:nvPr/>
        </p:nvSpPr>
        <p:spPr>
          <a:xfrm>
            <a:off x="8961120" y="4160520"/>
            <a:ext cx="2514600" cy="1143000"/>
          </a:xfrm>
          <a:prstGeom prst="roundRect">
            <a:avLst>
              <a:gd name="adj" fmla="val 6400"/>
            </a:avLst>
          </a:prstGeom>
          <a:solidFill>
            <a:srgbClr val="FFFFFF"/>
          </a:solidFill>
          <a:ln w="12700">
            <a:solidFill>
              <a:srgbClr val="CBD5E1"/>
            </a:solidFill>
            <a:prstDash val="solid"/>
          </a:ln>
        </p:spPr>
      </p:sp>
      <p:sp>
        <p:nvSpPr>
          <p:cNvPr id="44" name="Text 41"/>
          <p:cNvSpPr/>
          <p:nvPr/>
        </p:nvSpPr>
        <p:spPr>
          <a:xfrm>
            <a:off x="912571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45" name="Text 42"/>
          <p:cNvSpPr/>
          <p:nvPr/>
        </p:nvSpPr>
        <p:spPr>
          <a:xfrm>
            <a:off x="912571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N/A/10</a:t>
            </a:r>
            <a:endParaRPr lang="en-US" sz="2100" dirty="0"/>
          </a:p>
        </p:txBody>
      </p:sp>
      <p:sp>
        <p:nvSpPr>
          <p:cNvPr id="46" name="Text 43"/>
          <p:cNvSpPr/>
          <p:nvPr/>
        </p:nvSpPr>
        <p:spPr>
          <a:xfrm>
            <a:off x="912571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47" name="Shape 44"/>
          <p:cNvSpPr/>
          <p:nvPr/>
        </p:nvSpPr>
        <p:spPr>
          <a:xfrm>
            <a:off x="10533888" y="4946904"/>
            <a:ext cx="777240" cy="256032"/>
          </a:xfrm>
          <a:prstGeom prst="roundRect">
            <a:avLst>
              <a:gd name="adj" fmla="val 28571"/>
            </a:avLst>
          </a:prstGeom>
          <a:solidFill>
            <a:srgbClr val="E2E8F0"/>
          </a:solidFill>
          <a:ln w="12700">
            <a:solidFill>
              <a:srgbClr val="E2E8F0"/>
            </a:solidFill>
            <a:prstDash val="solid"/>
          </a:ln>
        </p:spPr>
      </p:sp>
      <p:sp>
        <p:nvSpPr>
          <p:cNvPr id="48" name="Text 45"/>
          <p:cNvSpPr/>
          <p:nvPr/>
        </p:nvSpPr>
        <p:spPr>
          <a:xfrm>
            <a:off x="1057046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Decision readiness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24128"/>
            <a:ext cx="3611880" cy="2194560"/>
          </a:xfrm>
          <a:prstGeom prst="roundRect">
            <a:avLst>
              <a:gd name="adj" fmla="val 3333"/>
            </a:avLst>
          </a:prstGeom>
          <a:solidFill>
            <a:srgbClr val="FFFFFF"/>
          </a:solidFill>
          <a:ln w="12700">
            <a:solidFill>
              <a:srgbClr val="CBD5E1"/>
            </a:solidFill>
            <a:prstDash val="solid"/>
          </a:ln>
        </p:spPr>
      </p:sp>
      <p:sp>
        <p:nvSpPr>
          <p:cNvPr id="8" name="Text 6"/>
          <p:cNvSpPr/>
          <p:nvPr/>
        </p:nvSpPr>
        <p:spPr>
          <a:xfrm>
            <a:off x="822960" y="1252728"/>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9" name="Shape 7"/>
          <p:cNvSpPr/>
          <p:nvPr/>
        </p:nvSpPr>
        <p:spPr>
          <a:xfrm>
            <a:off x="822960" y="1664208"/>
            <a:ext cx="1143000" cy="256032"/>
          </a:xfrm>
          <a:prstGeom prst="roundRect">
            <a:avLst>
              <a:gd name="adj" fmla="val 28571"/>
            </a:avLst>
          </a:prstGeom>
          <a:solidFill>
            <a:srgbClr val="FEE2E2"/>
          </a:solidFill>
          <a:ln w="12700">
            <a:solidFill>
              <a:srgbClr val="FEE2E2"/>
            </a:solidFill>
            <a:prstDash val="solid"/>
          </a:ln>
        </p:spPr>
      </p:sp>
      <p:sp>
        <p:nvSpPr>
          <p:cNvPr id="10" name="Text 8"/>
          <p:cNvSpPr/>
          <p:nvPr/>
        </p:nvSpPr>
        <p:spPr>
          <a:xfrm>
            <a:off x="859536" y="1664208"/>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Blocked</a:t>
            </a:r>
            <a:endParaRPr lang="en-US" sz="740" dirty="0"/>
          </a:p>
        </p:txBody>
      </p:sp>
      <p:sp>
        <p:nvSpPr>
          <p:cNvPr id="11" name="Text 9"/>
          <p:cNvSpPr/>
          <p:nvPr/>
        </p:nvSpPr>
        <p:spPr>
          <a:xfrm>
            <a:off x="822960" y="2139696"/>
            <a:ext cx="2286000" cy="228600"/>
          </a:xfrm>
          <a:prstGeom prst="rect">
            <a:avLst/>
          </a:prstGeom>
          <a:noFill/>
          <a:ln/>
        </p:spPr>
        <p:txBody>
          <a:bodyPr wrap="square" rtlCol="0" anchor="ctr"/>
          <a:lstStyle/>
          <a:p>
            <a:pPr indent="0" marL="0">
              <a:buNone/>
            </a:pPr>
            <a:r>
              <a:rPr lang="en-US" sz="1100" dirty="0">
                <a:solidFill>
                  <a:srgbClr val="0F172A"/>
                </a:solidFill>
              </a:rPr>
              <a:t>Missing evidence: 1</a:t>
            </a:r>
            <a:endParaRPr lang="en-US" sz="1100" dirty="0"/>
          </a:p>
        </p:txBody>
      </p:sp>
      <p:sp>
        <p:nvSpPr>
          <p:cNvPr id="12" name="Text 10"/>
          <p:cNvSpPr/>
          <p:nvPr/>
        </p:nvSpPr>
        <p:spPr>
          <a:xfrm>
            <a:off x="822960" y="2441448"/>
            <a:ext cx="2286000" cy="228600"/>
          </a:xfrm>
          <a:prstGeom prst="rect">
            <a:avLst/>
          </a:prstGeom>
          <a:noFill/>
          <a:ln/>
        </p:spPr>
        <p:txBody>
          <a:bodyPr wrap="square" rtlCol="0" anchor="ctr"/>
          <a:lstStyle/>
          <a:p>
            <a:pPr indent="0" marL="0">
              <a:buNone/>
            </a:pPr>
            <a:r>
              <a:rPr lang="en-US" sz="1100" dirty="0">
                <a:solidFill>
                  <a:srgbClr val="0F172A"/>
                </a:solidFill>
              </a:rPr>
              <a:t>Warnings: 1</a:t>
            </a:r>
            <a:endParaRPr lang="en-US" sz="1100" dirty="0"/>
          </a:p>
        </p:txBody>
      </p:sp>
      <p:sp>
        <p:nvSpPr>
          <p:cNvPr id="13" name="Text 11"/>
          <p:cNvSpPr/>
          <p:nvPr/>
        </p:nvSpPr>
        <p:spPr>
          <a:xfrm>
            <a:off x="822960" y="2761488"/>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blocked until required evidence is resolved.</a:t>
            </a:r>
            <a:endParaRPr lang="en-US" sz="950" dirty="0"/>
          </a:p>
        </p:txBody>
      </p:sp>
      <p:sp>
        <p:nvSpPr>
          <p:cNvPr id="14" name="Text 12"/>
          <p:cNvSpPr/>
          <p:nvPr/>
        </p:nvSpPr>
        <p:spPr>
          <a:xfrm>
            <a:off x="4617720" y="1078992"/>
            <a:ext cx="6583680" cy="566928"/>
          </a:xfrm>
          <a:prstGeom prst="rect">
            <a:avLst/>
          </a:prstGeom>
          <a:noFill/>
          <a:ln/>
        </p:spPr>
        <p:txBody>
          <a:bodyPr wrap="square" rtlCol="0" anchor="ctr">
            <a:normAutofit/>
          </a:bodyPr>
          <a:lstStyle/>
          <a:p>
            <a:pPr indent="0" marL="0">
              <a:buNone/>
            </a:pPr>
            <a:r>
              <a:rPr lang="en-US" sz="1600" b="1" dirty="0">
                <a:solidFill>
                  <a:srgbClr val="0F172A"/>
                </a:solidFill>
              </a:rPr>
              <a:t>Final conclusion is blocked until required evidence is resolved.</a:t>
            </a:r>
            <a:endParaRPr lang="en-US" sz="1600" dirty="0"/>
          </a:p>
        </p:txBody>
      </p:sp>
      <p:sp>
        <p:nvSpPr>
          <p:cNvPr id="15" name="Text 13"/>
          <p:cNvSpPr/>
          <p:nvPr/>
        </p:nvSpPr>
        <p:spPr>
          <a:xfrm>
            <a:off x="4617720" y="1993392"/>
            <a:ext cx="2926080" cy="237744"/>
          </a:xfrm>
          <a:prstGeom prst="rect">
            <a:avLst/>
          </a:prstGeom>
          <a:noFill/>
          <a:ln/>
        </p:spPr>
        <p:txBody>
          <a:bodyPr wrap="square" rtlCol="0" anchor="ctr"/>
          <a:lstStyle/>
          <a:p>
            <a:pPr indent="0" marL="0">
              <a:buNone/>
            </a:pPr>
            <a:r>
              <a:rPr lang="en-US" sz="1400" b="1" dirty="0">
                <a:solidFill>
                  <a:srgbClr val="0F172A"/>
                </a:solidFill>
              </a:rPr>
              <a:t>Validated gate checks</a:t>
            </a:r>
            <a:endParaRPr lang="en-US" sz="1400" dirty="0"/>
          </a:p>
        </p:txBody>
      </p:sp>
      <p:sp>
        <p:nvSpPr>
          <p:cNvPr id="16" name="Shape 14"/>
          <p:cNvSpPr/>
          <p:nvPr/>
        </p:nvSpPr>
        <p:spPr>
          <a:xfrm>
            <a:off x="4617720" y="2423160"/>
            <a:ext cx="6583680" cy="566928"/>
          </a:xfrm>
          <a:prstGeom prst="roundRect">
            <a:avLst>
              <a:gd name="adj" fmla="val 9677"/>
            </a:avLst>
          </a:prstGeom>
          <a:solidFill>
            <a:srgbClr val="FFFFFF"/>
          </a:solidFill>
          <a:ln w="12700">
            <a:solidFill>
              <a:srgbClr val="CBD5E1"/>
            </a:solidFill>
            <a:prstDash val="solid"/>
          </a:ln>
        </p:spPr>
      </p:sp>
      <p:sp>
        <p:nvSpPr>
          <p:cNvPr id="17" name="Shape 15"/>
          <p:cNvSpPr/>
          <p:nvPr/>
        </p:nvSpPr>
        <p:spPr>
          <a:xfrm>
            <a:off x="4745736" y="2578608"/>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782312" y="25786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9" name="Text 17"/>
          <p:cNvSpPr/>
          <p:nvPr/>
        </p:nvSpPr>
        <p:spPr>
          <a:xfrm>
            <a:off x="5623560" y="2532888"/>
            <a:ext cx="2148840" cy="146304"/>
          </a:xfrm>
          <a:prstGeom prst="rect">
            <a:avLst/>
          </a:prstGeom>
          <a:noFill/>
          <a:ln/>
        </p:spPr>
        <p:txBody>
          <a:bodyPr wrap="square" rtlCol="0" anchor="ctr">
            <a:normAutofit/>
          </a:bodyPr>
          <a:lstStyle/>
          <a:p>
            <a:pPr indent="0" marL="0">
              <a:buNone/>
            </a:pPr>
            <a:r>
              <a:rPr lang="en-US" sz="930" b="1" dirty="0">
                <a:solidFill>
                  <a:srgbClr val="0F172A"/>
                </a:solidFill>
              </a:rPr>
              <a:t>Source availability and required columns</a:t>
            </a:r>
            <a:endParaRPr lang="en-US" sz="930" dirty="0"/>
          </a:p>
        </p:txBody>
      </p:sp>
      <p:sp>
        <p:nvSpPr>
          <p:cNvPr id="20" name="Text 18"/>
          <p:cNvSpPr/>
          <p:nvPr/>
        </p:nvSpPr>
        <p:spPr>
          <a:xfrm>
            <a:off x="7863840" y="2514600"/>
            <a:ext cx="3063240" cy="219456"/>
          </a:xfrm>
          <a:prstGeom prst="rect">
            <a:avLst/>
          </a:prstGeom>
          <a:noFill/>
          <a:ln/>
        </p:spPr>
        <p:txBody>
          <a:bodyPr wrap="square" rtlCol="0" anchor="ctr">
            <a:normAutofit/>
          </a:bodyPr>
          <a:lstStyle/>
          <a:p>
            <a:pPr indent="0" marL="0">
              <a:buNone/>
            </a:pPr>
            <a:r>
              <a:rPr lang="en-US" sz="860" dirty="0">
                <a:solidFill>
                  <a:srgbClr val="64748B"/>
                </a:solidFill>
              </a:rPr>
              <a:t>Required sheets and columns were mapped from Teams, OneDrive, Forms, KPI, Rules and Template sources.</a:t>
            </a:r>
            <a:endParaRPr lang="en-US" sz="860" dirty="0"/>
          </a:p>
        </p:txBody>
      </p:sp>
      <p:sp>
        <p:nvSpPr>
          <p:cNvPr id="21" name="Shape 19"/>
          <p:cNvSpPr/>
          <p:nvPr/>
        </p:nvSpPr>
        <p:spPr>
          <a:xfrm>
            <a:off x="4617720" y="3108960"/>
            <a:ext cx="6583680" cy="566928"/>
          </a:xfrm>
          <a:prstGeom prst="roundRect">
            <a:avLst>
              <a:gd name="adj" fmla="val 9677"/>
            </a:avLst>
          </a:prstGeom>
          <a:solidFill>
            <a:srgbClr val="FFFFFF"/>
          </a:solidFill>
          <a:ln w="12700">
            <a:solidFill>
              <a:srgbClr val="CBD5E1"/>
            </a:solidFill>
            <a:prstDash val="solid"/>
          </a:ln>
        </p:spPr>
      </p:sp>
      <p:sp>
        <p:nvSpPr>
          <p:cNvPr id="22" name="Shape 20"/>
          <p:cNvSpPr/>
          <p:nvPr/>
        </p:nvSpPr>
        <p:spPr>
          <a:xfrm>
            <a:off x="4745736" y="3264408"/>
            <a:ext cx="777240" cy="256032"/>
          </a:xfrm>
          <a:prstGeom prst="roundRect">
            <a:avLst>
              <a:gd name="adj" fmla="val 28571"/>
            </a:avLst>
          </a:prstGeom>
          <a:solidFill>
            <a:srgbClr val="FEE2E2"/>
          </a:solidFill>
          <a:ln w="12700">
            <a:solidFill>
              <a:srgbClr val="FEE2E2"/>
            </a:solidFill>
            <a:prstDash val="solid"/>
          </a:ln>
        </p:spPr>
      </p:sp>
      <p:sp>
        <p:nvSpPr>
          <p:cNvPr id="23" name="Text 21"/>
          <p:cNvSpPr/>
          <p:nvPr/>
        </p:nvSpPr>
        <p:spPr>
          <a:xfrm>
            <a:off x="4782312" y="32644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Blocked</a:t>
            </a:r>
            <a:endParaRPr lang="en-US" sz="740" dirty="0"/>
          </a:p>
        </p:txBody>
      </p:sp>
      <p:sp>
        <p:nvSpPr>
          <p:cNvPr id="24" name="Text 22"/>
          <p:cNvSpPr/>
          <p:nvPr/>
        </p:nvSpPr>
        <p:spPr>
          <a:xfrm>
            <a:off x="5623560" y="3218688"/>
            <a:ext cx="2148840" cy="146304"/>
          </a:xfrm>
          <a:prstGeom prst="rect">
            <a:avLst/>
          </a:prstGeom>
          <a:noFill/>
          <a:ln/>
        </p:spPr>
        <p:txBody>
          <a:bodyPr wrap="square" rtlCol="0" anchor="ctr">
            <a:normAutofit/>
          </a:bodyPr>
          <a:lstStyle/>
          <a:p>
            <a:pPr indent="0" marL="0">
              <a:buNone/>
            </a:pPr>
            <a:r>
              <a:rPr lang="en-US" sz="930" b="1" dirty="0">
                <a:solidFill>
                  <a:srgbClr val="0F172A"/>
                </a:solidFill>
              </a:rPr>
              <a:t>Course status</a:t>
            </a:r>
            <a:endParaRPr lang="en-US" sz="930" dirty="0"/>
          </a:p>
        </p:txBody>
      </p:sp>
      <p:sp>
        <p:nvSpPr>
          <p:cNvPr id="25" name="Text 23"/>
          <p:cNvSpPr/>
          <p:nvPr/>
        </p:nvSpPr>
        <p:spPr>
          <a:xfrm>
            <a:off x="7863840" y="3200400"/>
            <a:ext cx="3063240" cy="219456"/>
          </a:xfrm>
          <a:prstGeom prst="rect">
            <a:avLst/>
          </a:prstGeom>
          <a:noFill/>
          <a:ln/>
        </p:spPr>
        <p:txBody>
          <a:bodyPr wrap="square" rtlCol="0" anchor="ctr">
            <a:normAutofit/>
          </a:bodyPr>
          <a:lstStyle/>
          <a:p>
            <a:pPr indent="0" marL="0">
              <a:buNone/>
            </a:pPr>
            <a:r>
              <a:rPr lang="en-US" sz="860" dirty="0">
                <a:solidFill>
                  <a:srgbClr val="64748B"/>
                </a:solidFill>
              </a:rPr>
              <a:t>1 selected course(s) are not completed.</a:t>
            </a:r>
            <a:endParaRPr lang="en-US" sz="860" dirty="0"/>
          </a:p>
        </p:txBody>
      </p:sp>
      <p:sp>
        <p:nvSpPr>
          <p:cNvPr id="26" name="Shape 24"/>
          <p:cNvSpPr/>
          <p:nvPr/>
        </p:nvSpPr>
        <p:spPr>
          <a:xfrm>
            <a:off x="4617720" y="3794760"/>
            <a:ext cx="6583680" cy="566928"/>
          </a:xfrm>
          <a:prstGeom prst="roundRect">
            <a:avLst>
              <a:gd name="adj" fmla="val 9677"/>
            </a:avLst>
          </a:prstGeom>
          <a:solidFill>
            <a:srgbClr val="FFFFFF"/>
          </a:solidFill>
          <a:ln w="12700">
            <a:solidFill>
              <a:srgbClr val="CBD5E1"/>
            </a:solidFill>
            <a:prstDash val="solid"/>
          </a:ln>
        </p:spPr>
      </p:sp>
      <p:sp>
        <p:nvSpPr>
          <p:cNvPr id="27" name="Shape 25"/>
          <p:cNvSpPr/>
          <p:nvPr/>
        </p:nvSpPr>
        <p:spPr>
          <a:xfrm>
            <a:off x="4745736" y="3950208"/>
            <a:ext cx="777240" cy="256032"/>
          </a:xfrm>
          <a:prstGeom prst="roundRect">
            <a:avLst>
              <a:gd name="adj" fmla="val 28571"/>
            </a:avLst>
          </a:prstGeom>
          <a:solidFill>
            <a:srgbClr val="FEF3C7"/>
          </a:solidFill>
          <a:ln w="12700">
            <a:solidFill>
              <a:srgbClr val="FEF3C7"/>
            </a:solidFill>
            <a:prstDash val="solid"/>
          </a:ln>
        </p:spPr>
      </p:sp>
      <p:sp>
        <p:nvSpPr>
          <p:cNvPr id="28" name="Text 26"/>
          <p:cNvSpPr/>
          <p:nvPr/>
        </p:nvSpPr>
        <p:spPr>
          <a:xfrm>
            <a:off x="4782312" y="39502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Warning</a:t>
            </a:r>
            <a:endParaRPr lang="en-US" sz="740" dirty="0"/>
          </a:p>
        </p:txBody>
      </p:sp>
      <p:sp>
        <p:nvSpPr>
          <p:cNvPr id="29" name="Text 27"/>
          <p:cNvSpPr/>
          <p:nvPr/>
        </p:nvSpPr>
        <p:spPr>
          <a:xfrm>
            <a:off x="5623560" y="39044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Attendance completeness</a:t>
            </a:r>
            <a:endParaRPr lang="en-US" sz="930" dirty="0"/>
          </a:p>
        </p:txBody>
      </p:sp>
      <p:sp>
        <p:nvSpPr>
          <p:cNvPr id="30" name="Text 28"/>
          <p:cNvSpPr/>
          <p:nvPr/>
        </p:nvSpPr>
        <p:spPr>
          <a:xfrm>
            <a:off x="7863840" y="3886200"/>
            <a:ext cx="3063240" cy="219456"/>
          </a:xfrm>
          <a:prstGeom prst="rect">
            <a:avLst/>
          </a:prstGeom>
          <a:noFill/>
          <a:ln/>
        </p:spPr>
        <p:txBody>
          <a:bodyPr wrap="square" rtlCol="0" anchor="ctr">
            <a:normAutofit/>
          </a:bodyPr>
          <a:lstStyle/>
          <a:p>
            <a:pPr indent="0" marL="0">
              <a:buNone/>
            </a:pPr>
            <a:r>
              <a:rPr lang="en-US" sz="860" dirty="0">
                <a:solidFill>
                  <a:srgbClr val="64748B"/>
                </a:solidFill>
              </a:rPr>
              <a:t>Expected attendance rows are trainee count x total sessions. Late is retained for metrics as partial attendance.</a:t>
            </a:r>
            <a:endParaRPr lang="en-US" sz="860" dirty="0"/>
          </a:p>
        </p:txBody>
      </p:sp>
      <p:sp>
        <p:nvSpPr>
          <p:cNvPr id="31" name="Shape 29"/>
          <p:cNvSpPr/>
          <p:nvPr/>
        </p:nvSpPr>
        <p:spPr>
          <a:xfrm>
            <a:off x="4617720" y="4480560"/>
            <a:ext cx="6583680" cy="566928"/>
          </a:xfrm>
          <a:prstGeom prst="roundRect">
            <a:avLst>
              <a:gd name="adj" fmla="val 9677"/>
            </a:avLst>
          </a:prstGeom>
          <a:solidFill>
            <a:srgbClr val="FFFFFF"/>
          </a:solidFill>
          <a:ln w="12700">
            <a:solidFill>
              <a:srgbClr val="CBD5E1"/>
            </a:solidFill>
            <a:prstDash val="solid"/>
          </a:ln>
        </p:spPr>
      </p:sp>
      <p:sp>
        <p:nvSpPr>
          <p:cNvPr id="32" name="Shape 30"/>
          <p:cNvSpPr/>
          <p:nvPr/>
        </p:nvSpPr>
        <p:spPr>
          <a:xfrm>
            <a:off x="4745736" y="4636008"/>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4782312" y="46360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4" name="Text 32"/>
          <p:cNvSpPr/>
          <p:nvPr/>
        </p:nvSpPr>
        <p:spPr>
          <a:xfrm>
            <a:off x="5623560" y="45902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Assessment completeness</a:t>
            </a:r>
            <a:endParaRPr lang="en-US" sz="930" dirty="0"/>
          </a:p>
        </p:txBody>
      </p:sp>
      <p:sp>
        <p:nvSpPr>
          <p:cNvPr id="35" name="Text 33"/>
          <p:cNvSpPr/>
          <p:nvPr/>
        </p:nvSpPr>
        <p:spPr>
          <a:xfrm>
            <a:off x="7863840" y="4572000"/>
            <a:ext cx="3063240" cy="219456"/>
          </a:xfrm>
          <a:prstGeom prst="rect">
            <a:avLst/>
          </a:prstGeom>
          <a:noFill/>
          <a:ln/>
        </p:spPr>
        <p:txBody>
          <a:bodyPr wrap="square" rtlCol="0" anchor="ctr">
            <a:normAutofit/>
          </a:bodyPr>
          <a:lstStyle/>
          <a:p>
            <a:pPr indent="0" marL="0">
              <a:buNone/>
            </a:pPr>
            <a:r>
              <a:rPr lang="en-US" sz="860" dirty="0">
                <a:solidFill>
                  <a:srgbClr val="64748B"/>
                </a:solidFill>
              </a:rPr>
              <a:t>Completed courses require one valid assessment and pass-status row per trainee.</a:t>
            </a:r>
            <a:endParaRPr lang="en-US" sz="860" dirty="0"/>
          </a:p>
        </p:txBody>
      </p:sp>
      <p:sp>
        <p:nvSpPr>
          <p:cNvPr id="36" name="Shape 34"/>
          <p:cNvSpPr/>
          <p:nvPr/>
        </p:nvSpPr>
        <p:spPr>
          <a:xfrm>
            <a:off x="4617720" y="5166360"/>
            <a:ext cx="6583680" cy="566928"/>
          </a:xfrm>
          <a:prstGeom prst="roundRect">
            <a:avLst>
              <a:gd name="adj" fmla="val 9677"/>
            </a:avLst>
          </a:prstGeom>
          <a:solidFill>
            <a:srgbClr val="FFFFFF"/>
          </a:solidFill>
          <a:ln w="12700">
            <a:solidFill>
              <a:srgbClr val="CBD5E1"/>
            </a:solidFill>
            <a:prstDash val="solid"/>
          </a:ln>
        </p:spPr>
      </p:sp>
      <p:sp>
        <p:nvSpPr>
          <p:cNvPr id="37" name="Shape 35"/>
          <p:cNvSpPr/>
          <p:nvPr/>
        </p:nvSpPr>
        <p:spPr>
          <a:xfrm>
            <a:off x="4745736" y="5321808"/>
            <a:ext cx="77724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4782312" y="53218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9" name="Text 37"/>
          <p:cNvSpPr/>
          <p:nvPr/>
        </p:nvSpPr>
        <p:spPr>
          <a:xfrm>
            <a:off x="5623560" y="5276088"/>
            <a:ext cx="2148840" cy="146304"/>
          </a:xfrm>
          <a:prstGeom prst="rect">
            <a:avLst/>
          </a:prstGeom>
          <a:noFill/>
          <a:ln/>
        </p:spPr>
        <p:txBody>
          <a:bodyPr wrap="square" rtlCol="0" anchor="ctr">
            <a:normAutofit/>
          </a:bodyPr>
          <a:lstStyle/>
          <a:p>
            <a:pPr indent="0" marL="0">
              <a:buNone/>
            </a:pPr>
            <a:r>
              <a:rPr lang="en-US" sz="930" b="1" dirty="0">
                <a:solidFill>
                  <a:srgbClr val="0F172A"/>
                </a:solidFill>
              </a:rPr>
              <a:t>Feedback completeness</a:t>
            </a:r>
            <a:endParaRPr lang="en-US" sz="930" dirty="0"/>
          </a:p>
        </p:txBody>
      </p:sp>
      <p:sp>
        <p:nvSpPr>
          <p:cNvPr id="40" name="Text 38"/>
          <p:cNvSpPr/>
          <p:nvPr/>
        </p:nvSpPr>
        <p:spPr>
          <a:xfrm>
            <a:off x="7863840" y="5257800"/>
            <a:ext cx="3063240" cy="219456"/>
          </a:xfrm>
          <a:prstGeom prst="rect">
            <a:avLst/>
          </a:prstGeom>
          <a:noFill/>
          <a:ln/>
        </p:spPr>
        <p:txBody>
          <a:bodyPr wrap="square" rtlCol="0" anchor="ctr">
            <a:normAutofit/>
          </a:bodyPr>
          <a:lstStyle/>
          <a:p>
            <a:pPr indent="0" marL="0">
              <a:buNone/>
            </a:pPr>
            <a:r>
              <a:rPr lang="en-US" sz="860" dirty="0">
                <a:solidFill>
                  <a:srgbClr val="64748B"/>
                </a:solidFill>
              </a:rPr>
              <a:t>NORM-14 requires at least 60% feedback response rate for valid analysis.</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Performance scorecard</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417320"/>
          </a:xfrm>
          <a:prstGeom prst="roundRect">
            <a:avLst>
              <a:gd name="adj" fmla="val 5161"/>
            </a:avLst>
          </a:prstGeom>
          <a:solidFill>
            <a:srgbClr val="FFFFFF"/>
          </a:solidFill>
          <a:ln w="12700">
            <a:solidFill>
              <a:srgbClr val="CBD5E1"/>
            </a:solidFill>
            <a:prstDash val="solid"/>
          </a:ln>
        </p:spPr>
      </p:sp>
      <p:sp>
        <p:nvSpPr>
          <p:cNvPr id="8" name="Text 6"/>
          <p:cNvSpPr/>
          <p:nvPr/>
        </p:nvSpPr>
        <p:spPr>
          <a:xfrm>
            <a:off x="75895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9" name="Text 7"/>
          <p:cNvSpPr/>
          <p:nvPr/>
        </p:nvSpPr>
        <p:spPr>
          <a:xfrm>
            <a:off x="75895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47.9%</a:t>
            </a:r>
            <a:endParaRPr lang="en-US" sz="2100" dirty="0"/>
          </a:p>
        </p:txBody>
      </p:sp>
      <p:sp>
        <p:nvSpPr>
          <p:cNvPr id="10" name="Text 8"/>
          <p:cNvSpPr/>
          <p:nvPr/>
        </p:nvSpPr>
        <p:spPr>
          <a:xfrm>
            <a:off x="75895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11" name="Shape 9"/>
          <p:cNvSpPr/>
          <p:nvPr/>
        </p:nvSpPr>
        <p:spPr>
          <a:xfrm>
            <a:off x="2167128" y="2112264"/>
            <a:ext cx="777240" cy="256032"/>
          </a:xfrm>
          <a:prstGeom prst="roundRect">
            <a:avLst>
              <a:gd name="adj" fmla="val 28571"/>
            </a:avLst>
          </a:prstGeom>
          <a:solidFill>
            <a:srgbClr val="FEE2E2"/>
          </a:solidFill>
          <a:ln w="12700">
            <a:solidFill>
              <a:srgbClr val="FEE2E2"/>
            </a:solidFill>
            <a:prstDash val="solid"/>
          </a:ln>
        </p:spPr>
      </p:sp>
      <p:sp>
        <p:nvSpPr>
          <p:cNvPr id="12" name="Text 10"/>
          <p:cNvSpPr/>
          <p:nvPr/>
        </p:nvSpPr>
        <p:spPr>
          <a:xfrm>
            <a:off x="220370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Risk</a:t>
            </a:r>
            <a:endParaRPr lang="en-US" sz="740" dirty="0"/>
          </a:p>
        </p:txBody>
      </p:sp>
      <p:sp>
        <p:nvSpPr>
          <p:cNvPr id="13" name="Shape 11"/>
          <p:cNvSpPr/>
          <p:nvPr/>
        </p:nvSpPr>
        <p:spPr>
          <a:xfrm>
            <a:off x="3383280" y="1051560"/>
            <a:ext cx="2514600" cy="1417320"/>
          </a:xfrm>
          <a:prstGeom prst="roundRect">
            <a:avLst>
              <a:gd name="adj" fmla="val 5161"/>
            </a:avLst>
          </a:prstGeom>
          <a:solidFill>
            <a:srgbClr val="FFFFFF"/>
          </a:solidFill>
          <a:ln w="12700">
            <a:solidFill>
              <a:srgbClr val="CBD5E1"/>
            </a:solidFill>
            <a:prstDash val="solid"/>
          </a:ln>
        </p:spPr>
      </p:sp>
      <p:sp>
        <p:nvSpPr>
          <p:cNvPr id="14" name="Text 12"/>
          <p:cNvSpPr/>
          <p:nvPr/>
        </p:nvSpPr>
        <p:spPr>
          <a:xfrm>
            <a:off x="354787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15" name="Text 13"/>
          <p:cNvSpPr/>
          <p:nvPr/>
        </p:nvSpPr>
        <p:spPr>
          <a:xfrm>
            <a:off x="354787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a:t>
            </a:r>
            <a:endParaRPr lang="en-US" sz="2100" dirty="0"/>
          </a:p>
        </p:txBody>
      </p:sp>
      <p:sp>
        <p:nvSpPr>
          <p:cNvPr id="16" name="Text 14"/>
          <p:cNvSpPr/>
          <p:nvPr/>
        </p:nvSpPr>
        <p:spPr>
          <a:xfrm>
            <a:off x="354787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17" name="Shape 15"/>
          <p:cNvSpPr/>
          <p:nvPr/>
        </p:nvSpPr>
        <p:spPr>
          <a:xfrm>
            <a:off x="4956048" y="2112264"/>
            <a:ext cx="777240" cy="256032"/>
          </a:xfrm>
          <a:prstGeom prst="roundRect">
            <a:avLst>
              <a:gd name="adj" fmla="val 28571"/>
            </a:avLst>
          </a:prstGeom>
          <a:solidFill>
            <a:srgbClr val="FEE2E2"/>
          </a:solidFill>
          <a:ln w="12700">
            <a:solidFill>
              <a:srgbClr val="FEE2E2"/>
            </a:solidFill>
            <a:prstDash val="solid"/>
          </a:ln>
        </p:spPr>
      </p:sp>
      <p:sp>
        <p:nvSpPr>
          <p:cNvPr id="18" name="Text 16"/>
          <p:cNvSpPr/>
          <p:nvPr/>
        </p:nvSpPr>
        <p:spPr>
          <a:xfrm>
            <a:off x="499262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Risk</a:t>
            </a:r>
            <a:endParaRPr lang="en-US" sz="740" dirty="0"/>
          </a:p>
        </p:txBody>
      </p:sp>
      <p:sp>
        <p:nvSpPr>
          <p:cNvPr id="19" name="Shape 17"/>
          <p:cNvSpPr/>
          <p:nvPr/>
        </p:nvSpPr>
        <p:spPr>
          <a:xfrm>
            <a:off x="6172200" y="1051560"/>
            <a:ext cx="2514600" cy="1417320"/>
          </a:xfrm>
          <a:prstGeom prst="roundRect">
            <a:avLst>
              <a:gd name="adj" fmla="val 5161"/>
            </a:avLst>
          </a:prstGeom>
          <a:solidFill>
            <a:srgbClr val="FFFFFF"/>
          </a:solidFill>
          <a:ln w="12700">
            <a:solidFill>
              <a:srgbClr val="CBD5E1"/>
            </a:solidFill>
            <a:prstDash val="solid"/>
          </a:ln>
        </p:spPr>
      </p:sp>
      <p:sp>
        <p:nvSpPr>
          <p:cNvPr id="20" name="Text 18"/>
          <p:cNvSpPr/>
          <p:nvPr/>
        </p:nvSpPr>
        <p:spPr>
          <a:xfrm>
            <a:off x="633679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21" name="Text 19"/>
          <p:cNvSpPr/>
          <p:nvPr/>
        </p:nvSpPr>
        <p:spPr>
          <a:xfrm>
            <a:off x="633679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a:t>
            </a:r>
            <a:endParaRPr lang="en-US" sz="2100" dirty="0"/>
          </a:p>
        </p:txBody>
      </p:sp>
      <p:sp>
        <p:nvSpPr>
          <p:cNvPr id="22" name="Text 20"/>
          <p:cNvSpPr/>
          <p:nvPr/>
        </p:nvSpPr>
        <p:spPr>
          <a:xfrm>
            <a:off x="633679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23" name="Shape 21"/>
          <p:cNvSpPr/>
          <p:nvPr/>
        </p:nvSpPr>
        <p:spPr>
          <a:xfrm>
            <a:off x="7744968" y="2112264"/>
            <a:ext cx="777240" cy="256032"/>
          </a:xfrm>
          <a:prstGeom prst="roundRect">
            <a:avLst>
              <a:gd name="adj" fmla="val 28571"/>
            </a:avLst>
          </a:prstGeom>
          <a:solidFill>
            <a:srgbClr val="FEE2E2"/>
          </a:solidFill>
          <a:ln w="12700">
            <a:solidFill>
              <a:srgbClr val="FEE2E2"/>
            </a:solidFill>
            <a:prstDash val="solid"/>
          </a:ln>
        </p:spPr>
      </p:sp>
      <p:sp>
        <p:nvSpPr>
          <p:cNvPr id="24" name="Text 22"/>
          <p:cNvSpPr/>
          <p:nvPr/>
        </p:nvSpPr>
        <p:spPr>
          <a:xfrm>
            <a:off x="778154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Risk</a:t>
            </a:r>
            <a:endParaRPr lang="en-US" sz="740" dirty="0"/>
          </a:p>
        </p:txBody>
      </p:sp>
      <p:sp>
        <p:nvSpPr>
          <p:cNvPr id="25" name="Shape 23"/>
          <p:cNvSpPr/>
          <p:nvPr/>
        </p:nvSpPr>
        <p:spPr>
          <a:xfrm>
            <a:off x="8961120" y="1051560"/>
            <a:ext cx="2514600" cy="1417320"/>
          </a:xfrm>
          <a:prstGeom prst="roundRect">
            <a:avLst>
              <a:gd name="adj" fmla="val 5161"/>
            </a:avLst>
          </a:prstGeom>
          <a:solidFill>
            <a:srgbClr val="FFFFFF"/>
          </a:solidFill>
          <a:ln w="12700">
            <a:solidFill>
              <a:srgbClr val="CBD5E1"/>
            </a:solidFill>
            <a:prstDash val="solid"/>
          </a:ln>
        </p:spPr>
      </p:sp>
      <p:sp>
        <p:nvSpPr>
          <p:cNvPr id="26" name="Text 24"/>
          <p:cNvSpPr/>
          <p:nvPr/>
        </p:nvSpPr>
        <p:spPr>
          <a:xfrm>
            <a:off x="912571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27" name="Text 25"/>
          <p:cNvSpPr/>
          <p:nvPr/>
        </p:nvSpPr>
        <p:spPr>
          <a:xfrm>
            <a:off x="912571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N/A/10</a:t>
            </a:r>
            <a:endParaRPr lang="en-US" sz="2100" dirty="0"/>
          </a:p>
        </p:txBody>
      </p:sp>
      <p:sp>
        <p:nvSpPr>
          <p:cNvPr id="28" name="Text 26"/>
          <p:cNvSpPr/>
          <p:nvPr/>
        </p:nvSpPr>
        <p:spPr>
          <a:xfrm>
            <a:off x="912571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29" name="Shape 27"/>
          <p:cNvSpPr/>
          <p:nvPr/>
        </p:nvSpPr>
        <p:spPr>
          <a:xfrm>
            <a:off x="10533888" y="2112264"/>
            <a:ext cx="777240" cy="256032"/>
          </a:xfrm>
          <a:prstGeom prst="roundRect">
            <a:avLst>
              <a:gd name="adj" fmla="val 28571"/>
            </a:avLst>
          </a:prstGeom>
          <a:solidFill>
            <a:srgbClr val="E2E8F0"/>
          </a:solidFill>
          <a:ln w="12700">
            <a:solidFill>
              <a:srgbClr val="E2E8F0"/>
            </a:solidFill>
            <a:prstDash val="solid"/>
          </a:ln>
        </p:spPr>
      </p:sp>
      <p:sp>
        <p:nvSpPr>
          <p:cNvPr id="30" name="Text 28"/>
          <p:cNvSpPr/>
          <p:nvPr/>
        </p:nvSpPr>
        <p:spPr>
          <a:xfrm>
            <a:off x="1057046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31" name="Shape 29"/>
          <p:cNvSpPr/>
          <p:nvPr/>
        </p:nvSpPr>
        <p:spPr>
          <a:xfrm>
            <a:off x="594360" y="2926080"/>
            <a:ext cx="2514600" cy="1417320"/>
          </a:xfrm>
          <a:prstGeom prst="roundRect">
            <a:avLst>
              <a:gd name="adj" fmla="val 5161"/>
            </a:avLst>
          </a:prstGeom>
          <a:solidFill>
            <a:srgbClr val="FFFFFF"/>
          </a:solidFill>
          <a:ln w="12700">
            <a:solidFill>
              <a:srgbClr val="CBD5E1"/>
            </a:solidFill>
            <a:prstDash val="solid"/>
          </a:ln>
        </p:spPr>
      </p:sp>
      <p:sp>
        <p:nvSpPr>
          <p:cNvPr id="32" name="Text 30"/>
          <p:cNvSpPr/>
          <p:nvPr/>
        </p:nvSpPr>
        <p:spPr>
          <a:xfrm>
            <a:off x="75895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SATISFACTION</a:t>
            </a:r>
            <a:endParaRPr lang="en-US" sz="850" dirty="0"/>
          </a:p>
        </p:txBody>
      </p:sp>
      <p:sp>
        <p:nvSpPr>
          <p:cNvPr id="33" name="Text 31"/>
          <p:cNvSpPr/>
          <p:nvPr/>
        </p:nvSpPr>
        <p:spPr>
          <a:xfrm>
            <a:off x="75895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4.8/5</a:t>
            </a:r>
            <a:endParaRPr lang="en-US" sz="2100" dirty="0"/>
          </a:p>
        </p:txBody>
      </p:sp>
      <p:sp>
        <p:nvSpPr>
          <p:cNvPr id="34" name="Text 32"/>
          <p:cNvSpPr/>
          <p:nvPr/>
        </p:nvSpPr>
        <p:spPr>
          <a:xfrm>
            <a:off x="75895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4.0</a:t>
            </a:r>
            <a:endParaRPr lang="en-US" sz="850" dirty="0"/>
          </a:p>
        </p:txBody>
      </p:sp>
      <p:sp>
        <p:nvSpPr>
          <p:cNvPr id="35" name="Shape 33"/>
          <p:cNvSpPr/>
          <p:nvPr/>
        </p:nvSpPr>
        <p:spPr>
          <a:xfrm>
            <a:off x="2167128" y="3986784"/>
            <a:ext cx="777240" cy="256032"/>
          </a:xfrm>
          <a:prstGeom prst="roundRect">
            <a:avLst>
              <a:gd name="adj" fmla="val 28571"/>
            </a:avLst>
          </a:prstGeom>
          <a:solidFill>
            <a:srgbClr val="D1FAE5"/>
          </a:solidFill>
          <a:ln w="12700">
            <a:solidFill>
              <a:srgbClr val="D1FAE5"/>
            </a:solidFill>
            <a:prstDash val="solid"/>
          </a:ln>
        </p:spPr>
      </p:sp>
      <p:sp>
        <p:nvSpPr>
          <p:cNvPr id="36" name="Text 34"/>
          <p:cNvSpPr/>
          <p:nvPr/>
        </p:nvSpPr>
        <p:spPr>
          <a:xfrm>
            <a:off x="220370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7" name="Shape 35"/>
          <p:cNvSpPr/>
          <p:nvPr/>
        </p:nvSpPr>
        <p:spPr>
          <a:xfrm>
            <a:off x="3383280" y="2926080"/>
            <a:ext cx="2514600" cy="1417320"/>
          </a:xfrm>
          <a:prstGeom prst="roundRect">
            <a:avLst>
              <a:gd name="adj" fmla="val 5161"/>
            </a:avLst>
          </a:prstGeom>
          <a:solidFill>
            <a:srgbClr val="FFFFFF"/>
          </a:solidFill>
          <a:ln w="12700">
            <a:solidFill>
              <a:srgbClr val="CBD5E1"/>
            </a:solidFill>
            <a:prstDash val="solid"/>
          </a:ln>
        </p:spPr>
      </p:sp>
      <p:sp>
        <p:nvSpPr>
          <p:cNvPr id="38" name="Text 36"/>
          <p:cNvSpPr/>
          <p:nvPr/>
        </p:nvSpPr>
        <p:spPr>
          <a:xfrm>
            <a:off x="354787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TRAINING HOURS</a:t>
            </a:r>
            <a:endParaRPr lang="en-US" sz="850" dirty="0"/>
          </a:p>
        </p:txBody>
      </p:sp>
      <p:sp>
        <p:nvSpPr>
          <p:cNvPr id="39" name="Text 37"/>
          <p:cNvSpPr/>
          <p:nvPr/>
        </p:nvSpPr>
        <p:spPr>
          <a:xfrm>
            <a:off x="354787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34.5</a:t>
            </a:r>
            <a:endParaRPr lang="en-US" sz="2100" dirty="0"/>
          </a:p>
        </p:txBody>
      </p:sp>
      <p:sp>
        <p:nvSpPr>
          <p:cNvPr id="40" name="Text 38"/>
          <p:cNvSpPr/>
          <p:nvPr/>
        </p:nvSpPr>
        <p:spPr>
          <a:xfrm>
            <a:off x="354787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Tracked</a:t>
            </a:r>
            <a:endParaRPr lang="en-US" sz="850" dirty="0"/>
          </a:p>
        </p:txBody>
      </p:sp>
      <p:sp>
        <p:nvSpPr>
          <p:cNvPr id="41" name="Shape 39"/>
          <p:cNvSpPr/>
          <p:nvPr/>
        </p:nvSpPr>
        <p:spPr>
          <a:xfrm>
            <a:off x="4956048" y="3986784"/>
            <a:ext cx="777240" cy="256032"/>
          </a:xfrm>
          <a:prstGeom prst="roundRect">
            <a:avLst>
              <a:gd name="adj" fmla="val 28571"/>
            </a:avLst>
          </a:prstGeom>
          <a:solidFill>
            <a:srgbClr val="E2E8F0"/>
          </a:solidFill>
          <a:ln w="12700">
            <a:solidFill>
              <a:srgbClr val="E2E8F0"/>
            </a:solidFill>
            <a:prstDash val="solid"/>
          </a:ln>
        </p:spPr>
      </p:sp>
      <p:sp>
        <p:nvSpPr>
          <p:cNvPr id="42" name="Text 40"/>
          <p:cNvSpPr/>
          <p:nvPr/>
        </p:nvSpPr>
        <p:spPr>
          <a:xfrm>
            <a:off x="499262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43" name="Shape 41"/>
          <p:cNvSpPr/>
          <p:nvPr/>
        </p:nvSpPr>
        <p:spPr>
          <a:xfrm>
            <a:off x="6172200" y="2926080"/>
            <a:ext cx="2514600" cy="1417320"/>
          </a:xfrm>
          <a:prstGeom prst="roundRect">
            <a:avLst>
              <a:gd name="adj" fmla="val 5161"/>
            </a:avLst>
          </a:prstGeom>
          <a:solidFill>
            <a:srgbClr val="FFFFFF"/>
          </a:solidFill>
          <a:ln w="12700">
            <a:solidFill>
              <a:srgbClr val="CBD5E1"/>
            </a:solidFill>
            <a:prstDash val="solid"/>
          </a:ln>
        </p:spPr>
      </p:sp>
      <p:sp>
        <p:nvSpPr>
          <p:cNvPr id="44" name="Text 42"/>
          <p:cNvSpPr/>
          <p:nvPr/>
        </p:nvSpPr>
        <p:spPr>
          <a:xfrm>
            <a:off x="633679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COST</a:t>
            </a:r>
            <a:endParaRPr lang="en-US" sz="850" dirty="0"/>
          </a:p>
        </p:txBody>
      </p:sp>
      <p:sp>
        <p:nvSpPr>
          <p:cNvPr id="45" name="Text 43"/>
          <p:cNvSpPr/>
          <p:nvPr/>
        </p:nvSpPr>
        <p:spPr>
          <a:xfrm>
            <a:off x="633679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4.8</a:t>
            </a:r>
            <a:endParaRPr lang="en-US" sz="2100" dirty="0"/>
          </a:p>
        </p:txBody>
      </p:sp>
      <p:sp>
        <p:nvSpPr>
          <p:cNvPr id="46" name="Text 44"/>
          <p:cNvSpPr/>
          <p:nvPr/>
        </p:nvSpPr>
        <p:spPr>
          <a:xfrm>
            <a:off x="633679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Scaled cost</a:t>
            </a:r>
            <a:endParaRPr lang="en-US" sz="850" dirty="0"/>
          </a:p>
        </p:txBody>
      </p:sp>
      <p:sp>
        <p:nvSpPr>
          <p:cNvPr id="47" name="Shape 45"/>
          <p:cNvSpPr/>
          <p:nvPr/>
        </p:nvSpPr>
        <p:spPr>
          <a:xfrm>
            <a:off x="7744968" y="3986784"/>
            <a:ext cx="777240" cy="256032"/>
          </a:xfrm>
          <a:prstGeom prst="roundRect">
            <a:avLst>
              <a:gd name="adj" fmla="val 28571"/>
            </a:avLst>
          </a:prstGeom>
          <a:solidFill>
            <a:srgbClr val="E2E8F0"/>
          </a:solidFill>
          <a:ln w="12700">
            <a:solidFill>
              <a:srgbClr val="E2E8F0"/>
            </a:solidFill>
            <a:prstDash val="solid"/>
          </a:ln>
        </p:spPr>
      </p:sp>
      <p:sp>
        <p:nvSpPr>
          <p:cNvPr id="48" name="Text 46"/>
          <p:cNvSpPr/>
          <p:nvPr/>
        </p:nvSpPr>
        <p:spPr>
          <a:xfrm>
            <a:off x="778154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49" name="Shape 47"/>
          <p:cNvSpPr/>
          <p:nvPr/>
        </p:nvSpPr>
        <p:spPr>
          <a:xfrm>
            <a:off x="8961120" y="2926080"/>
            <a:ext cx="2514600" cy="1417320"/>
          </a:xfrm>
          <a:prstGeom prst="roundRect">
            <a:avLst>
              <a:gd name="adj" fmla="val 5161"/>
            </a:avLst>
          </a:prstGeom>
          <a:solidFill>
            <a:srgbClr val="FFFFFF"/>
          </a:solidFill>
          <a:ln w="12700">
            <a:solidFill>
              <a:srgbClr val="CBD5E1"/>
            </a:solidFill>
            <a:prstDash val="solid"/>
          </a:ln>
        </p:spPr>
      </p:sp>
      <p:sp>
        <p:nvSpPr>
          <p:cNvPr id="50" name="Text 48"/>
          <p:cNvSpPr/>
          <p:nvPr/>
        </p:nvSpPr>
        <p:spPr>
          <a:xfrm>
            <a:off x="912571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ROI PROXY</a:t>
            </a:r>
            <a:endParaRPr lang="en-US" sz="850" dirty="0"/>
          </a:p>
        </p:txBody>
      </p:sp>
      <p:sp>
        <p:nvSpPr>
          <p:cNvPr id="51" name="Text 49"/>
          <p:cNvSpPr/>
          <p:nvPr/>
        </p:nvSpPr>
        <p:spPr>
          <a:xfrm>
            <a:off x="912571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a:t>
            </a:r>
            <a:endParaRPr lang="en-US" sz="2100" dirty="0"/>
          </a:p>
        </p:txBody>
      </p:sp>
      <p:sp>
        <p:nvSpPr>
          <p:cNvPr id="52" name="Text 50"/>
          <p:cNvSpPr/>
          <p:nvPr/>
        </p:nvSpPr>
        <p:spPr>
          <a:xfrm>
            <a:off x="912571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Relative KPI</a:t>
            </a:r>
            <a:endParaRPr lang="en-US" sz="850" dirty="0"/>
          </a:p>
        </p:txBody>
      </p:sp>
      <p:sp>
        <p:nvSpPr>
          <p:cNvPr id="53" name="Shape 51"/>
          <p:cNvSpPr/>
          <p:nvPr/>
        </p:nvSpPr>
        <p:spPr>
          <a:xfrm>
            <a:off x="10533888" y="3986784"/>
            <a:ext cx="777240" cy="256032"/>
          </a:xfrm>
          <a:prstGeom prst="roundRect">
            <a:avLst>
              <a:gd name="adj" fmla="val 28571"/>
            </a:avLst>
          </a:prstGeom>
          <a:solidFill>
            <a:srgbClr val="E2E8F0"/>
          </a:solidFill>
          <a:ln w="12700">
            <a:solidFill>
              <a:srgbClr val="E2E8F0"/>
            </a:solidFill>
            <a:prstDash val="solid"/>
          </a:ln>
        </p:spPr>
      </p:sp>
      <p:sp>
        <p:nvSpPr>
          <p:cNvPr id="54" name="Text 52"/>
          <p:cNvSpPr/>
          <p:nvPr/>
        </p:nvSpPr>
        <p:spPr>
          <a:xfrm>
            <a:off x="1057046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55" name="Text 53"/>
          <p:cNvSpPr/>
          <p:nvPr/>
        </p:nvSpPr>
        <p:spPr>
          <a:xfrm>
            <a:off x="594360" y="5989320"/>
            <a:ext cx="9875520" cy="228600"/>
          </a:xfrm>
          <a:prstGeom prst="rect">
            <a:avLst/>
          </a:prstGeom>
          <a:noFill/>
          <a:ln/>
        </p:spPr>
        <p:txBody>
          <a:bodyPr wrap="square" rtlCol="0" anchor="ctr"/>
          <a:lstStyle/>
          <a:p>
            <a:pPr indent="0" marL="0">
              <a:buNone/>
            </a:pPr>
            <a:r>
              <a:rPr lang="en-US" sz="950" dirty="0">
                <a:solidFill>
                  <a:srgbClr val="64748B"/>
                </a:solidFill>
              </a:rPr>
              <a:t>Completion is attendance-based (&gt;= 70%) and is intentionally separate from pass rate.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Visual analytics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5440680" cy="4892040"/>
          </a:xfrm>
          <a:prstGeom prst="roundRect">
            <a:avLst>
              <a:gd name="adj" fmla="val 1495"/>
            </a:avLst>
          </a:prstGeom>
          <a:solidFill>
            <a:srgbClr val="FFFFFF"/>
          </a:solidFill>
          <a:ln w="12700">
            <a:solidFill>
              <a:srgbClr val="CBD5E1"/>
            </a:solidFill>
            <a:prstDash val="solid"/>
          </a:ln>
        </p:spPr>
      </p:sp>
      <p:sp>
        <p:nvSpPr>
          <p:cNvPr id="8" name="Text 6"/>
          <p:cNvSpPr/>
          <p:nvPr/>
        </p:nvSpPr>
        <p:spPr>
          <a:xfrm>
            <a:off x="795528" y="1234440"/>
            <a:ext cx="5038344" cy="219456"/>
          </a:xfrm>
          <a:prstGeom prst="rect">
            <a:avLst/>
          </a:prstGeom>
          <a:noFill/>
          <a:ln/>
        </p:spPr>
        <p:txBody>
          <a:bodyPr wrap="square" rtlCol="0" anchor="ctr">
            <a:normAutofit/>
          </a:bodyPr>
          <a:lstStyle/>
          <a:p>
            <a:pPr indent="0" marL="0">
              <a:buNone/>
            </a:pPr>
            <a:r>
              <a:rPr lang="en-US" sz="1250" b="1" dirty="0">
                <a:solidFill>
                  <a:srgbClr val="0F172A"/>
                </a:solidFill>
              </a:rPr>
              <a:t>Overall KPI vs target</a:t>
            </a:r>
            <a:endParaRPr lang="en-US" sz="1250" dirty="0"/>
          </a:p>
        </p:txBody>
      </p:sp>
      <p:sp>
        <p:nvSpPr>
          <p:cNvPr id="9" name="Text 7"/>
          <p:cNvSpPr/>
          <p:nvPr/>
        </p:nvSpPr>
        <p:spPr>
          <a:xfrm>
            <a:off x="795528" y="1527048"/>
            <a:ext cx="5038344" cy="201168"/>
          </a:xfrm>
          <a:prstGeom prst="rect">
            <a:avLst/>
          </a:prstGeom>
          <a:noFill/>
          <a:ln/>
        </p:spPr>
        <p:txBody>
          <a:bodyPr wrap="square" rtlCol="0" anchor="ctr">
            <a:normAutofit/>
          </a:bodyPr>
          <a:lstStyle/>
          <a:p>
            <a:pPr indent="0" marL="0">
              <a:buNone/>
            </a:pPr>
            <a:r>
              <a:rPr lang="en-US" sz="780" dirty="0">
                <a:solidFill>
                  <a:srgbClr val="64748B"/>
                </a:solidFill>
              </a:rPr>
              <a:t>Validated performance metrics compared with L&amp;D operating thresholds.</a:t>
            </a:r>
            <a:endParaRPr lang="en-US" sz="780" dirty="0"/>
          </a:p>
        </p:txBody>
      </p:sp>
      <p:sp>
        <p:nvSpPr>
          <p:cNvPr id="10" name="Text 8"/>
          <p:cNvSpPr/>
          <p:nvPr/>
        </p:nvSpPr>
        <p:spPr>
          <a:xfrm>
            <a:off x="795528" y="1920240"/>
            <a:ext cx="1508760" cy="164592"/>
          </a:xfrm>
          <a:prstGeom prst="rect">
            <a:avLst/>
          </a:prstGeom>
          <a:noFill/>
          <a:ln/>
        </p:spPr>
        <p:txBody>
          <a:bodyPr wrap="square" rtlCol="0" anchor="ctr">
            <a:normAutofit/>
          </a:bodyPr>
          <a:lstStyle/>
          <a:p>
            <a:pPr indent="0" marL="0">
              <a:buNone/>
            </a:pPr>
            <a:r>
              <a:rPr lang="en-US" sz="780" dirty="0">
                <a:solidFill>
                  <a:srgbClr val="0F172A"/>
                </a:solidFill>
              </a:rPr>
              <a:t>Attendance</a:t>
            </a:r>
            <a:endParaRPr lang="en-US" sz="780" dirty="0"/>
          </a:p>
        </p:txBody>
      </p:sp>
      <p:sp>
        <p:nvSpPr>
          <p:cNvPr id="11" name="Shape 9"/>
          <p:cNvSpPr/>
          <p:nvPr/>
        </p:nvSpPr>
        <p:spPr>
          <a:xfrm>
            <a:off x="2395728" y="2066544"/>
            <a:ext cx="2596896" cy="201168"/>
          </a:xfrm>
          <a:prstGeom prst="rect">
            <a:avLst/>
          </a:prstGeom>
          <a:solidFill>
            <a:srgbClr val="E2E8F0"/>
          </a:solidFill>
          <a:ln w="12700">
            <a:solidFill>
              <a:srgbClr val="E2E8F0">
                <a:alpha val="0"/>
              </a:srgbClr>
            </a:solidFill>
            <a:prstDash val="solid"/>
          </a:ln>
        </p:spPr>
      </p:sp>
      <p:sp>
        <p:nvSpPr>
          <p:cNvPr id="12" name="Shape 10"/>
          <p:cNvSpPr/>
          <p:nvPr/>
        </p:nvSpPr>
        <p:spPr>
          <a:xfrm>
            <a:off x="2395728" y="2066544"/>
            <a:ext cx="1243913" cy="201168"/>
          </a:xfrm>
          <a:prstGeom prst="rect">
            <a:avLst/>
          </a:prstGeom>
          <a:solidFill>
            <a:srgbClr val="B91C1C"/>
          </a:solidFill>
          <a:ln w="12700">
            <a:solidFill>
              <a:srgbClr val="B91C1C">
                <a:alpha val="0"/>
              </a:srgbClr>
            </a:solidFill>
            <a:prstDash val="solid"/>
          </a:ln>
        </p:spPr>
      </p:sp>
      <p:sp>
        <p:nvSpPr>
          <p:cNvPr id="13" name="Shape 11"/>
          <p:cNvSpPr/>
          <p:nvPr/>
        </p:nvSpPr>
        <p:spPr>
          <a:xfrm>
            <a:off x="4603090" y="2020824"/>
            <a:ext cx="0" cy="292608"/>
          </a:xfrm>
          <a:prstGeom prst="line">
            <a:avLst/>
          </a:prstGeom>
          <a:noFill/>
          <a:ln w="12700">
            <a:solidFill>
              <a:srgbClr val="0B1220">
                <a:alpha val="80000"/>
              </a:srgbClr>
            </a:solidFill>
            <a:prstDash val="solid"/>
          </a:ln>
        </p:spPr>
      </p:sp>
      <p:sp>
        <p:nvSpPr>
          <p:cNvPr id="14" name="Text 12"/>
          <p:cNvSpPr/>
          <p:nvPr/>
        </p:nvSpPr>
        <p:spPr>
          <a:xfrm>
            <a:off x="5065776" y="191109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47.9%</a:t>
            </a:r>
            <a:endParaRPr lang="en-US" sz="700" dirty="0"/>
          </a:p>
        </p:txBody>
      </p:sp>
      <p:sp>
        <p:nvSpPr>
          <p:cNvPr id="15" name="Text 13"/>
          <p:cNvSpPr/>
          <p:nvPr/>
        </p:nvSpPr>
        <p:spPr>
          <a:xfrm>
            <a:off x="795528" y="2868930"/>
            <a:ext cx="1508760" cy="164592"/>
          </a:xfrm>
          <a:prstGeom prst="rect">
            <a:avLst/>
          </a:prstGeom>
          <a:noFill/>
          <a:ln/>
        </p:spPr>
        <p:txBody>
          <a:bodyPr wrap="square" rtlCol="0" anchor="ctr">
            <a:normAutofit/>
          </a:bodyPr>
          <a:lstStyle/>
          <a:p>
            <a:pPr indent="0" marL="0">
              <a:buNone/>
            </a:pPr>
            <a:r>
              <a:rPr lang="en-US" sz="780" dirty="0">
                <a:solidFill>
                  <a:srgbClr val="0F172A"/>
                </a:solidFill>
              </a:rPr>
              <a:t>Completion</a:t>
            </a:r>
            <a:endParaRPr lang="en-US" sz="780" dirty="0"/>
          </a:p>
        </p:txBody>
      </p:sp>
      <p:sp>
        <p:nvSpPr>
          <p:cNvPr id="16" name="Shape 14"/>
          <p:cNvSpPr/>
          <p:nvPr/>
        </p:nvSpPr>
        <p:spPr>
          <a:xfrm>
            <a:off x="2395728" y="3015234"/>
            <a:ext cx="2596896" cy="201168"/>
          </a:xfrm>
          <a:prstGeom prst="rect">
            <a:avLst/>
          </a:prstGeom>
          <a:solidFill>
            <a:srgbClr val="E2E8F0"/>
          </a:solidFill>
          <a:ln w="12700">
            <a:solidFill>
              <a:srgbClr val="E2E8F0">
                <a:alpha val="0"/>
              </a:srgbClr>
            </a:solidFill>
            <a:prstDash val="solid"/>
          </a:ln>
        </p:spPr>
      </p:sp>
      <p:sp>
        <p:nvSpPr>
          <p:cNvPr id="17" name="Shape 15"/>
          <p:cNvSpPr/>
          <p:nvPr/>
        </p:nvSpPr>
        <p:spPr>
          <a:xfrm>
            <a:off x="2395728" y="3015234"/>
            <a:ext cx="27432" cy="201168"/>
          </a:xfrm>
          <a:prstGeom prst="rect">
            <a:avLst/>
          </a:prstGeom>
          <a:solidFill>
            <a:srgbClr val="B91C1C"/>
          </a:solidFill>
          <a:ln w="12700">
            <a:solidFill>
              <a:srgbClr val="B91C1C">
                <a:alpha val="0"/>
              </a:srgbClr>
            </a:solidFill>
            <a:prstDash val="solid"/>
          </a:ln>
        </p:spPr>
      </p:sp>
      <p:sp>
        <p:nvSpPr>
          <p:cNvPr id="18" name="Shape 16"/>
          <p:cNvSpPr/>
          <p:nvPr/>
        </p:nvSpPr>
        <p:spPr>
          <a:xfrm>
            <a:off x="4732934" y="2969514"/>
            <a:ext cx="0" cy="292608"/>
          </a:xfrm>
          <a:prstGeom prst="line">
            <a:avLst/>
          </a:prstGeom>
          <a:noFill/>
          <a:ln w="12700">
            <a:solidFill>
              <a:srgbClr val="0B1220">
                <a:alpha val="80000"/>
              </a:srgbClr>
            </a:solidFill>
            <a:prstDash val="solid"/>
          </a:ln>
        </p:spPr>
      </p:sp>
      <p:sp>
        <p:nvSpPr>
          <p:cNvPr id="19" name="Text 17"/>
          <p:cNvSpPr/>
          <p:nvPr/>
        </p:nvSpPr>
        <p:spPr>
          <a:xfrm>
            <a:off x="5065776" y="285978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0%</a:t>
            </a:r>
            <a:endParaRPr lang="en-US" sz="700" dirty="0"/>
          </a:p>
        </p:txBody>
      </p:sp>
      <p:sp>
        <p:nvSpPr>
          <p:cNvPr id="20" name="Text 18"/>
          <p:cNvSpPr/>
          <p:nvPr/>
        </p:nvSpPr>
        <p:spPr>
          <a:xfrm>
            <a:off x="795528" y="3817620"/>
            <a:ext cx="1508760" cy="164592"/>
          </a:xfrm>
          <a:prstGeom prst="rect">
            <a:avLst/>
          </a:prstGeom>
          <a:noFill/>
          <a:ln/>
        </p:spPr>
        <p:txBody>
          <a:bodyPr wrap="square" rtlCol="0" anchor="ctr">
            <a:normAutofit/>
          </a:bodyPr>
          <a:lstStyle/>
          <a:p>
            <a:pPr indent="0" marL="0">
              <a:buNone/>
            </a:pPr>
            <a:r>
              <a:rPr lang="en-US" sz="780" dirty="0">
                <a:solidFill>
                  <a:srgbClr val="0F172A"/>
                </a:solidFill>
              </a:rPr>
              <a:t>Pass rate</a:t>
            </a:r>
            <a:endParaRPr lang="en-US" sz="780" dirty="0"/>
          </a:p>
        </p:txBody>
      </p:sp>
      <p:sp>
        <p:nvSpPr>
          <p:cNvPr id="21" name="Shape 19"/>
          <p:cNvSpPr/>
          <p:nvPr/>
        </p:nvSpPr>
        <p:spPr>
          <a:xfrm>
            <a:off x="2395728" y="3963924"/>
            <a:ext cx="2596896" cy="201168"/>
          </a:xfrm>
          <a:prstGeom prst="rect">
            <a:avLst/>
          </a:prstGeom>
          <a:solidFill>
            <a:srgbClr val="E2E8F0"/>
          </a:solidFill>
          <a:ln w="12700">
            <a:solidFill>
              <a:srgbClr val="E2E8F0">
                <a:alpha val="0"/>
              </a:srgbClr>
            </a:solidFill>
            <a:prstDash val="solid"/>
          </a:ln>
        </p:spPr>
      </p:sp>
      <p:sp>
        <p:nvSpPr>
          <p:cNvPr id="22" name="Shape 20"/>
          <p:cNvSpPr/>
          <p:nvPr/>
        </p:nvSpPr>
        <p:spPr>
          <a:xfrm>
            <a:off x="2395728" y="3963924"/>
            <a:ext cx="27432" cy="201168"/>
          </a:xfrm>
          <a:prstGeom prst="rect">
            <a:avLst/>
          </a:prstGeom>
          <a:solidFill>
            <a:srgbClr val="B91C1C"/>
          </a:solidFill>
          <a:ln w="12700">
            <a:solidFill>
              <a:srgbClr val="B91C1C">
                <a:alpha val="0"/>
              </a:srgbClr>
            </a:solidFill>
            <a:prstDash val="solid"/>
          </a:ln>
        </p:spPr>
      </p:sp>
      <p:sp>
        <p:nvSpPr>
          <p:cNvPr id="23" name="Shape 21"/>
          <p:cNvSpPr/>
          <p:nvPr/>
        </p:nvSpPr>
        <p:spPr>
          <a:xfrm>
            <a:off x="4473245" y="3918204"/>
            <a:ext cx="0" cy="292608"/>
          </a:xfrm>
          <a:prstGeom prst="line">
            <a:avLst/>
          </a:prstGeom>
          <a:noFill/>
          <a:ln w="12700">
            <a:solidFill>
              <a:srgbClr val="0B1220">
                <a:alpha val="80000"/>
              </a:srgbClr>
            </a:solidFill>
            <a:prstDash val="solid"/>
          </a:ln>
        </p:spPr>
      </p:sp>
      <p:sp>
        <p:nvSpPr>
          <p:cNvPr id="24" name="Text 22"/>
          <p:cNvSpPr/>
          <p:nvPr/>
        </p:nvSpPr>
        <p:spPr>
          <a:xfrm>
            <a:off x="5065776" y="380847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0%</a:t>
            </a:r>
            <a:endParaRPr lang="en-US" sz="700" dirty="0"/>
          </a:p>
        </p:txBody>
      </p:sp>
      <p:sp>
        <p:nvSpPr>
          <p:cNvPr id="25" name="Text 23"/>
          <p:cNvSpPr/>
          <p:nvPr/>
        </p:nvSpPr>
        <p:spPr>
          <a:xfrm>
            <a:off x="795528" y="4766310"/>
            <a:ext cx="1508760" cy="164592"/>
          </a:xfrm>
          <a:prstGeom prst="rect">
            <a:avLst/>
          </a:prstGeom>
          <a:noFill/>
          <a:ln/>
        </p:spPr>
        <p:txBody>
          <a:bodyPr wrap="square" rtlCol="0" anchor="ctr">
            <a:normAutofit/>
          </a:bodyPr>
          <a:lstStyle/>
          <a:p>
            <a:pPr indent="0" marL="0">
              <a:buNone/>
            </a:pPr>
            <a:r>
              <a:rPr lang="en-US" sz="780" dirty="0">
                <a:solidFill>
                  <a:srgbClr val="0F172A"/>
                </a:solidFill>
              </a:rPr>
              <a:t>Effectiveness</a:t>
            </a:r>
            <a:endParaRPr lang="en-US" sz="780" dirty="0"/>
          </a:p>
        </p:txBody>
      </p:sp>
      <p:sp>
        <p:nvSpPr>
          <p:cNvPr id="26" name="Shape 24"/>
          <p:cNvSpPr/>
          <p:nvPr/>
        </p:nvSpPr>
        <p:spPr>
          <a:xfrm>
            <a:off x="2395728" y="4912614"/>
            <a:ext cx="2596896" cy="201168"/>
          </a:xfrm>
          <a:prstGeom prst="rect">
            <a:avLst/>
          </a:prstGeom>
          <a:solidFill>
            <a:srgbClr val="E2E8F0"/>
          </a:solidFill>
          <a:ln w="12700">
            <a:solidFill>
              <a:srgbClr val="E2E8F0">
                <a:alpha val="0"/>
              </a:srgbClr>
            </a:solidFill>
            <a:prstDash val="solid"/>
          </a:ln>
        </p:spPr>
      </p:sp>
      <p:sp>
        <p:nvSpPr>
          <p:cNvPr id="27" name="Shape 25"/>
          <p:cNvSpPr/>
          <p:nvPr/>
        </p:nvSpPr>
        <p:spPr>
          <a:xfrm>
            <a:off x="2395728" y="4912614"/>
            <a:ext cx="664286" cy="201168"/>
          </a:xfrm>
          <a:prstGeom prst="rect">
            <a:avLst/>
          </a:prstGeom>
          <a:solidFill>
            <a:srgbClr val="B91C1C"/>
          </a:solidFill>
          <a:ln w="12700">
            <a:solidFill>
              <a:srgbClr val="B91C1C">
                <a:alpha val="0"/>
              </a:srgbClr>
            </a:solidFill>
            <a:prstDash val="solid"/>
          </a:ln>
        </p:spPr>
      </p:sp>
      <p:sp>
        <p:nvSpPr>
          <p:cNvPr id="28" name="Shape 26"/>
          <p:cNvSpPr/>
          <p:nvPr/>
        </p:nvSpPr>
        <p:spPr>
          <a:xfrm>
            <a:off x="4603090" y="4866894"/>
            <a:ext cx="0" cy="292608"/>
          </a:xfrm>
          <a:prstGeom prst="line">
            <a:avLst/>
          </a:prstGeom>
          <a:noFill/>
          <a:ln w="12700">
            <a:solidFill>
              <a:srgbClr val="0B1220">
                <a:alpha val="80000"/>
              </a:srgbClr>
            </a:solidFill>
            <a:prstDash val="solid"/>
          </a:ln>
        </p:spPr>
      </p:sp>
      <p:sp>
        <p:nvSpPr>
          <p:cNvPr id="29" name="Text 27"/>
          <p:cNvSpPr/>
          <p:nvPr/>
        </p:nvSpPr>
        <p:spPr>
          <a:xfrm>
            <a:off x="5065776" y="475716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25.6/100</a:t>
            </a:r>
            <a:endParaRPr lang="en-US" sz="700" dirty="0"/>
          </a:p>
        </p:txBody>
      </p:sp>
      <p:sp>
        <p:nvSpPr>
          <p:cNvPr id="30" name="Shape 28"/>
          <p:cNvSpPr/>
          <p:nvPr/>
        </p:nvSpPr>
        <p:spPr>
          <a:xfrm>
            <a:off x="6309360" y="1051560"/>
            <a:ext cx="5257800" cy="4892040"/>
          </a:xfrm>
          <a:prstGeom prst="roundRect">
            <a:avLst>
              <a:gd name="adj" fmla="val 1495"/>
            </a:avLst>
          </a:prstGeom>
          <a:solidFill>
            <a:srgbClr val="FFFFFF"/>
          </a:solidFill>
          <a:ln w="12700">
            <a:solidFill>
              <a:srgbClr val="CBD5E1"/>
            </a:solidFill>
            <a:prstDash val="solid"/>
          </a:ln>
        </p:spPr>
      </p:sp>
      <p:sp>
        <p:nvSpPr>
          <p:cNvPr id="31" name="Text 29"/>
          <p:cNvSpPr/>
          <p:nvPr/>
        </p:nvSpPr>
        <p:spPr>
          <a:xfrm>
            <a:off x="6510528" y="1234440"/>
            <a:ext cx="4855464" cy="219456"/>
          </a:xfrm>
          <a:prstGeom prst="rect">
            <a:avLst/>
          </a:prstGeom>
          <a:noFill/>
          <a:ln/>
        </p:spPr>
        <p:txBody>
          <a:bodyPr wrap="square" rtlCol="0" anchor="ctr">
            <a:normAutofit/>
          </a:bodyPr>
          <a:lstStyle/>
          <a:p>
            <a:pPr indent="0" marL="0">
              <a:buNone/>
            </a:pPr>
            <a:r>
              <a:rPr lang="en-US" sz="1250" b="1" dirty="0">
                <a:solidFill>
                  <a:srgbClr val="0F172A"/>
                </a:solidFill>
              </a:rPr>
              <a:t>Governance flags by priority</a:t>
            </a:r>
            <a:endParaRPr lang="en-US" sz="1250" dirty="0"/>
          </a:p>
        </p:txBody>
      </p:sp>
      <p:sp>
        <p:nvSpPr>
          <p:cNvPr id="32" name="Text 30"/>
          <p:cNvSpPr/>
          <p:nvPr/>
        </p:nvSpPr>
        <p:spPr>
          <a:xfrm>
            <a:off x="6510528" y="1527048"/>
            <a:ext cx="4855464" cy="201168"/>
          </a:xfrm>
          <a:prstGeom prst="rect">
            <a:avLst/>
          </a:prstGeom>
          <a:noFill/>
          <a:ln/>
        </p:spPr>
        <p:txBody>
          <a:bodyPr wrap="square" rtlCol="0" anchor="ctr">
            <a:normAutofit/>
          </a:bodyPr>
          <a:lstStyle/>
          <a:p>
            <a:pPr indent="0" marL="0">
              <a:buNone/>
            </a:pPr>
            <a:r>
              <a:rPr lang="en-US" sz="780" dirty="0">
                <a:solidFill>
                  <a:srgbClr val="64748B"/>
                </a:solidFill>
              </a:rPr>
              <a:t>NORM rule triggers grouped by business priority.</a:t>
            </a:r>
            <a:endParaRPr lang="en-US" sz="780" dirty="0"/>
          </a:p>
        </p:txBody>
      </p:sp>
      <p:graphicFrame>
        <p:nvGraphicFramePr>
          <p:cNvPr id="33" name="Chart 0" descr=""/>
          <p:cNvGraphicFramePr/>
          <p:nvPr/>
        </p:nvGraphicFramePr>
        <p:xfrm>
          <a:off x="6537960" y="1920240"/>
          <a:ext cx="2784348" cy="3749040"/>
        </p:xfrm>
        <a:graphic xmlns:a="http://schemas.openxmlformats.org/drawingml/2006/main">
          <a:graphicData uri="http://schemas.openxmlformats.org/drawingml/2006/chart">
            <c:chart xmlns:c="http://schemas.openxmlformats.org/drawingml/2006/chart" r:id="rId1"/>
          </a:graphicData>
        </a:graphic>
      </p:graphicFrame>
      <p:sp>
        <p:nvSpPr>
          <p:cNvPr id="34" name="Text 31"/>
          <p:cNvSpPr/>
          <p:nvPr/>
        </p:nvSpPr>
        <p:spPr>
          <a:xfrm>
            <a:off x="7345421" y="3372307"/>
            <a:ext cx="1169426" cy="347472"/>
          </a:xfrm>
          <a:prstGeom prst="rect">
            <a:avLst/>
          </a:prstGeom>
          <a:noFill/>
          <a:ln/>
        </p:spPr>
        <p:txBody>
          <a:bodyPr wrap="square" lIns="0" tIns="0" rIns="0" bIns="0" rtlCol="0" anchor="ctr"/>
          <a:lstStyle/>
          <a:p>
            <a:pPr algn="ctr" indent="0" marL="0">
              <a:buNone/>
            </a:pPr>
            <a:r>
              <a:rPr lang="en-US" sz="2200" b="1" dirty="0">
                <a:solidFill>
                  <a:srgbClr val="0F172A"/>
                </a:solidFill>
              </a:rPr>
              <a:t>11</a:t>
            </a:r>
            <a:endParaRPr lang="en-US" sz="2200" dirty="0"/>
          </a:p>
        </p:txBody>
      </p:sp>
      <p:sp>
        <p:nvSpPr>
          <p:cNvPr id="35" name="Text 32"/>
          <p:cNvSpPr/>
          <p:nvPr/>
        </p:nvSpPr>
        <p:spPr>
          <a:xfrm>
            <a:off x="7234047" y="3871570"/>
            <a:ext cx="1392174" cy="182880"/>
          </a:xfrm>
          <a:prstGeom prst="rect">
            <a:avLst/>
          </a:prstGeom>
          <a:noFill/>
          <a:ln/>
        </p:spPr>
        <p:txBody>
          <a:bodyPr wrap="square" lIns="0" tIns="0" rIns="0" bIns="0" rtlCol="0" anchor="ctr"/>
          <a:lstStyle/>
          <a:p>
            <a:pPr algn="ctr" indent="0" marL="0">
              <a:buNone/>
            </a:pPr>
            <a:r>
              <a:rPr lang="en-US" sz="800" dirty="0">
                <a:solidFill>
                  <a:srgbClr val="64748B"/>
                </a:solidFill>
              </a:rPr>
              <a:t>total flags</a:t>
            </a:r>
            <a:endParaRPr lang="en-US" sz="800" dirty="0"/>
          </a:p>
        </p:txBody>
      </p:sp>
      <p:sp>
        <p:nvSpPr>
          <p:cNvPr id="36" name="Shape 33"/>
          <p:cNvSpPr/>
          <p:nvPr/>
        </p:nvSpPr>
        <p:spPr>
          <a:xfrm>
            <a:off x="9486900" y="2286000"/>
            <a:ext cx="109728" cy="109728"/>
          </a:xfrm>
          <a:prstGeom prst="rect">
            <a:avLst/>
          </a:prstGeom>
          <a:solidFill>
            <a:srgbClr val="B91C1C"/>
          </a:solidFill>
          <a:ln w="12700">
            <a:solidFill>
              <a:srgbClr val="B91C1C">
                <a:alpha val="0"/>
              </a:srgbClr>
            </a:solidFill>
            <a:prstDash val="solid"/>
          </a:ln>
        </p:spPr>
      </p:sp>
      <p:sp>
        <p:nvSpPr>
          <p:cNvPr id="37" name="Text 34"/>
          <p:cNvSpPr/>
          <p:nvPr/>
        </p:nvSpPr>
        <p:spPr>
          <a:xfrm>
            <a:off x="9669780" y="2258568"/>
            <a:ext cx="992124" cy="182880"/>
          </a:xfrm>
          <a:prstGeom prst="rect">
            <a:avLst/>
          </a:prstGeom>
          <a:noFill/>
          <a:ln/>
        </p:spPr>
        <p:txBody>
          <a:bodyPr wrap="square" lIns="0" tIns="0" rIns="0" bIns="0" rtlCol="0" anchor="ctr"/>
          <a:lstStyle/>
          <a:p>
            <a:pPr indent="0" marL="0">
              <a:buNone/>
            </a:pPr>
            <a:r>
              <a:rPr lang="en-US" sz="900" b="1" dirty="0">
                <a:solidFill>
                  <a:srgbClr val="0F172A"/>
                </a:solidFill>
              </a:rPr>
              <a:t>High</a:t>
            </a:r>
            <a:endParaRPr lang="en-US" sz="900" dirty="0"/>
          </a:p>
        </p:txBody>
      </p:sp>
      <p:sp>
        <p:nvSpPr>
          <p:cNvPr id="38" name="Text 35"/>
          <p:cNvSpPr/>
          <p:nvPr/>
        </p:nvSpPr>
        <p:spPr>
          <a:xfrm>
            <a:off x="10643616" y="2258568"/>
            <a:ext cx="658368" cy="182880"/>
          </a:xfrm>
          <a:prstGeom prst="rect">
            <a:avLst/>
          </a:prstGeom>
          <a:noFill/>
          <a:ln/>
        </p:spPr>
        <p:txBody>
          <a:bodyPr wrap="square" lIns="0" tIns="0" rIns="0" bIns="0" rtlCol="0" anchor="ctr"/>
          <a:lstStyle/>
          <a:p>
            <a:pPr algn="r" indent="0" marL="0">
              <a:buNone/>
            </a:pPr>
            <a:r>
              <a:rPr lang="en-US" sz="800" dirty="0">
                <a:solidFill>
                  <a:srgbClr val="64748B"/>
                </a:solidFill>
              </a:rPr>
              <a:t>10 (91%)</a:t>
            </a:r>
            <a:endParaRPr lang="en-US" sz="800" dirty="0"/>
          </a:p>
        </p:txBody>
      </p:sp>
      <p:sp>
        <p:nvSpPr>
          <p:cNvPr id="39" name="Shape 36"/>
          <p:cNvSpPr/>
          <p:nvPr/>
        </p:nvSpPr>
        <p:spPr>
          <a:xfrm>
            <a:off x="9486900" y="2779776"/>
            <a:ext cx="109728" cy="109728"/>
          </a:xfrm>
          <a:prstGeom prst="rect">
            <a:avLst/>
          </a:prstGeom>
          <a:solidFill>
            <a:srgbClr val="B45309"/>
          </a:solidFill>
          <a:ln w="12700">
            <a:solidFill>
              <a:srgbClr val="B45309">
                <a:alpha val="0"/>
              </a:srgbClr>
            </a:solidFill>
            <a:prstDash val="solid"/>
          </a:ln>
        </p:spPr>
      </p:sp>
      <p:sp>
        <p:nvSpPr>
          <p:cNvPr id="40" name="Text 37"/>
          <p:cNvSpPr/>
          <p:nvPr/>
        </p:nvSpPr>
        <p:spPr>
          <a:xfrm>
            <a:off x="9669780" y="2752344"/>
            <a:ext cx="992124" cy="182880"/>
          </a:xfrm>
          <a:prstGeom prst="rect">
            <a:avLst/>
          </a:prstGeom>
          <a:noFill/>
          <a:ln/>
        </p:spPr>
        <p:txBody>
          <a:bodyPr wrap="square" lIns="0" tIns="0" rIns="0" bIns="0" rtlCol="0" anchor="ctr"/>
          <a:lstStyle/>
          <a:p>
            <a:pPr indent="0" marL="0">
              <a:buNone/>
            </a:pPr>
            <a:r>
              <a:rPr lang="en-US" sz="900" b="1" dirty="0">
                <a:solidFill>
                  <a:srgbClr val="0F172A"/>
                </a:solidFill>
              </a:rPr>
              <a:t>Medium</a:t>
            </a:r>
            <a:endParaRPr lang="en-US" sz="900" dirty="0"/>
          </a:p>
        </p:txBody>
      </p:sp>
      <p:sp>
        <p:nvSpPr>
          <p:cNvPr id="41" name="Text 38"/>
          <p:cNvSpPr/>
          <p:nvPr/>
        </p:nvSpPr>
        <p:spPr>
          <a:xfrm>
            <a:off x="10643616" y="2752344"/>
            <a:ext cx="658368" cy="182880"/>
          </a:xfrm>
          <a:prstGeom prst="rect">
            <a:avLst/>
          </a:prstGeom>
          <a:noFill/>
          <a:ln/>
        </p:spPr>
        <p:txBody>
          <a:bodyPr wrap="square" lIns="0" tIns="0" rIns="0" bIns="0" rtlCol="0" anchor="ctr"/>
          <a:lstStyle/>
          <a:p>
            <a:pPr algn="r" indent="0" marL="0">
              <a:buNone/>
            </a:pPr>
            <a:r>
              <a:rPr lang="en-US" sz="800" dirty="0">
                <a:solidFill>
                  <a:srgbClr val="64748B"/>
                </a:solidFill>
              </a:rPr>
              <a:t>1 (9%)</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Course performance</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Text 5"/>
          <p:cNvSpPr/>
          <p:nvPr/>
        </p:nvSpPr>
        <p:spPr>
          <a:xfrm>
            <a:off x="621792" y="1024128"/>
            <a:ext cx="2926080" cy="182880"/>
          </a:xfrm>
          <a:prstGeom prst="rect">
            <a:avLst/>
          </a:prstGeom>
          <a:noFill/>
          <a:ln/>
        </p:spPr>
        <p:txBody>
          <a:bodyPr wrap="square" lIns="0" tIns="0" rIns="0" bIns="0" rtlCol="0" anchor="ctr"/>
          <a:lstStyle/>
          <a:p>
            <a:pPr indent="0" marL="0">
              <a:buNone/>
            </a:pPr>
            <a:r>
              <a:rPr lang="en-US" sz="900" b="1" dirty="0">
                <a:solidFill>
                  <a:srgbClr val="2563EB"/>
                </a:solidFill>
              </a:rPr>
              <a:t>Course performance profile</a:t>
            </a:r>
            <a:endParaRPr lang="en-US" sz="900" dirty="0"/>
          </a:p>
        </p:txBody>
      </p:sp>
      <p:sp>
        <p:nvSpPr>
          <p:cNvPr id="9" name="Text 6"/>
          <p:cNvSpPr/>
          <p:nvPr/>
        </p:nvSpPr>
        <p:spPr>
          <a:xfrm>
            <a:off x="621792" y="1298448"/>
            <a:ext cx="6629400" cy="502920"/>
          </a:xfrm>
          <a:prstGeom prst="rect">
            <a:avLst/>
          </a:prstGeom>
          <a:noFill/>
          <a:ln/>
        </p:spPr>
        <p:txBody>
          <a:bodyPr wrap="square" lIns="0" tIns="0" rIns="0" bIns="0" rtlCol="0" anchor="ctr">
            <a:normAutofit/>
          </a:bodyPr>
          <a:lstStyle/>
          <a:p>
            <a:pPr indent="0" marL="0">
              <a:buNone/>
            </a:pPr>
            <a:r>
              <a:rPr lang="en-US" sz="2100" b="1" dirty="0">
                <a:solidFill>
                  <a:srgbClr val="0F172A"/>
                </a:solidFill>
              </a:rPr>
              <a:t>Technical Leadership &amp; Communication</a:t>
            </a:r>
            <a:endParaRPr lang="en-US" sz="2100" dirty="0"/>
          </a:p>
        </p:txBody>
      </p:sp>
      <p:sp>
        <p:nvSpPr>
          <p:cNvPr id="10" name="Text 7"/>
          <p:cNvSpPr/>
          <p:nvPr/>
        </p:nvSpPr>
        <p:spPr>
          <a:xfrm>
            <a:off x="658368" y="2084832"/>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Attendance</a:t>
            </a:r>
            <a:endParaRPr lang="en-US" sz="1000" dirty="0"/>
          </a:p>
        </p:txBody>
      </p:sp>
      <p:sp>
        <p:nvSpPr>
          <p:cNvPr id="11" name="Shape 8"/>
          <p:cNvSpPr/>
          <p:nvPr/>
        </p:nvSpPr>
        <p:spPr>
          <a:xfrm>
            <a:off x="1773936" y="2112264"/>
            <a:ext cx="4626864" cy="164592"/>
          </a:xfrm>
          <a:prstGeom prst="roundRect">
            <a:avLst>
              <a:gd name="adj" fmla="val 22222"/>
            </a:avLst>
          </a:prstGeom>
          <a:solidFill>
            <a:srgbClr val="E2E8F0"/>
          </a:solidFill>
          <a:ln w="12700">
            <a:solidFill>
              <a:srgbClr val="E2E8F0">
                <a:alpha val="0"/>
              </a:srgbClr>
            </a:solidFill>
            <a:prstDash val="solid"/>
          </a:ln>
        </p:spPr>
      </p:sp>
      <p:sp>
        <p:nvSpPr>
          <p:cNvPr id="12" name="Shape 9"/>
          <p:cNvSpPr/>
          <p:nvPr/>
        </p:nvSpPr>
        <p:spPr>
          <a:xfrm>
            <a:off x="1773936" y="2112264"/>
            <a:ext cx="2216268" cy="164592"/>
          </a:xfrm>
          <a:prstGeom prst="roundRect">
            <a:avLst>
              <a:gd name="adj" fmla="val 22222"/>
            </a:avLst>
          </a:prstGeom>
          <a:solidFill>
            <a:srgbClr val="B91C1C"/>
          </a:solidFill>
          <a:ln w="12700">
            <a:solidFill>
              <a:srgbClr val="B91C1C">
                <a:alpha val="0"/>
              </a:srgbClr>
            </a:solidFill>
            <a:prstDash val="solid"/>
          </a:ln>
        </p:spPr>
      </p:sp>
      <p:sp>
        <p:nvSpPr>
          <p:cNvPr id="13" name="Shape 10"/>
          <p:cNvSpPr/>
          <p:nvPr/>
        </p:nvSpPr>
        <p:spPr>
          <a:xfrm>
            <a:off x="5706770" y="2075688"/>
            <a:ext cx="0" cy="256032"/>
          </a:xfrm>
          <a:prstGeom prst="line">
            <a:avLst/>
          </a:prstGeom>
          <a:noFill/>
          <a:ln w="12700">
            <a:solidFill>
              <a:srgbClr val="0B1220">
                <a:alpha val="85000"/>
              </a:srgbClr>
            </a:solidFill>
            <a:prstDash val="solid"/>
          </a:ln>
        </p:spPr>
      </p:sp>
      <p:sp>
        <p:nvSpPr>
          <p:cNvPr id="14" name="Text 11"/>
          <p:cNvSpPr/>
          <p:nvPr/>
        </p:nvSpPr>
        <p:spPr>
          <a:xfrm>
            <a:off x="6492240" y="2084832"/>
            <a:ext cx="566928" cy="201168"/>
          </a:xfrm>
          <a:prstGeom prst="rect">
            <a:avLst/>
          </a:prstGeom>
          <a:noFill/>
          <a:ln/>
        </p:spPr>
        <p:txBody>
          <a:bodyPr wrap="square" lIns="0" tIns="0" rIns="0" bIns="0" rtlCol="0" anchor="ctr"/>
          <a:lstStyle/>
          <a:p>
            <a:pPr algn="r" indent="0" marL="0">
              <a:buNone/>
            </a:pPr>
            <a:r>
              <a:rPr lang="en-US" sz="900" b="1" dirty="0">
                <a:solidFill>
                  <a:srgbClr val="B91C1C"/>
                </a:solidFill>
              </a:rPr>
              <a:t>47.9%</a:t>
            </a:r>
            <a:endParaRPr lang="en-US" sz="900" dirty="0"/>
          </a:p>
        </p:txBody>
      </p:sp>
      <p:sp>
        <p:nvSpPr>
          <p:cNvPr id="15" name="Text 12"/>
          <p:cNvSpPr/>
          <p:nvPr/>
        </p:nvSpPr>
        <p:spPr>
          <a:xfrm>
            <a:off x="1773936" y="2377440"/>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85%</a:t>
            </a:r>
            <a:endParaRPr lang="en-US" sz="700" dirty="0"/>
          </a:p>
        </p:txBody>
      </p:sp>
      <p:sp>
        <p:nvSpPr>
          <p:cNvPr id="16" name="Text 13"/>
          <p:cNvSpPr/>
          <p:nvPr/>
        </p:nvSpPr>
        <p:spPr>
          <a:xfrm>
            <a:off x="658368" y="2871216"/>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Completion</a:t>
            </a:r>
            <a:endParaRPr lang="en-US" sz="1000" dirty="0"/>
          </a:p>
        </p:txBody>
      </p:sp>
      <p:sp>
        <p:nvSpPr>
          <p:cNvPr id="17" name="Shape 14"/>
          <p:cNvSpPr/>
          <p:nvPr/>
        </p:nvSpPr>
        <p:spPr>
          <a:xfrm>
            <a:off x="1773936" y="2898648"/>
            <a:ext cx="4626864" cy="164592"/>
          </a:xfrm>
          <a:prstGeom prst="roundRect">
            <a:avLst>
              <a:gd name="adj" fmla="val 22222"/>
            </a:avLst>
          </a:prstGeom>
          <a:solidFill>
            <a:srgbClr val="E2E8F0"/>
          </a:solidFill>
          <a:ln w="12700">
            <a:solidFill>
              <a:srgbClr val="E2E8F0">
                <a:alpha val="0"/>
              </a:srgbClr>
            </a:solidFill>
            <a:prstDash val="solid"/>
          </a:ln>
        </p:spPr>
      </p:sp>
      <p:sp>
        <p:nvSpPr>
          <p:cNvPr id="18" name="Shape 15"/>
          <p:cNvSpPr/>
          <p:nvPr/>
        </p:nvSpPr>
        <p:spPr>
          <a:xfrm>
            <a:off x="1773936" y="2898648"/>
            <a:ext cx="36576" cy="164592"/>
          </a:xfrm>
          <a:prstGeom prst="roundRect">
            <a:avLst>
              <a:gd name="adj" fmla="val 100000"/>
            </a:avLst>
          </a:prstGeom>
          <a:solidFill>
            <a:srgbClr val="B91C1C"/>
          </a:solidFill>
          <a:ln w="12700">
            <a:solidFill>
              <a:srgbClr val="B91C1C">
                <a:alpha val="0"/>
              </a:srgbClr>
            </a:solidFill>
            <a:prstDash val="solid"/>
          </a:ln>
        </p:spPr>
      </p:sp>
      <p:sp>
        <p:nvSpPr>
          <p:cNvPr id="19" name="Shape 16"/>
          <p:cNvSpPr/>
          <p:nvPr/>
        </p:nvSpPr>
        <p:spPr>
          <a:xfrm>
            <a:off x="5938114" y="2862072"/>
            <a:ext cx="0" cy="256032"/>
          </a:xfrm>
          <a:prstGeom prst="line">
            <a:avLst/>
          </a:prstGeom>
          <a:noFill/>
          <a:ln w="12700">
            <a:solidFill>
              <a:srgbClr val="0B1220">
                <a:alpha val="85000"/>
              </a:srgbClr>
            </a:solidFill>
            <a:prstDash val="solid"/>
          </a:ln>
        </p:spPr>
      </p:sp>
      <p:sp>
        <p:nvSpPr>
          <p:cNvPr id="20" name="Text 17"/>
          <p:cNvSpPr/>
          <p:nvPr/>
        </p:nvSpPr>
        <p:spPr>
          <a:xfrm>
            <a:off x="6492240" y="2871216"/>
            <a:ext cx="566928" cy="201168"/>
          </a:xfrm>
          <a:prstGeom prst="rect">
            <a:avLst/>
          </a:prstGeom>
          <a:noFill/>
          <a:ln/>
        </p:spPr>
        <p:txBody>
          <a:bodyPr wrap="square" lIns="0" tIns="0" rIns="0" bIns="0" rtlCol="0" anchor="ctr"/>
          <a:lstStyle/>
          <a:p>
            <a:pPr algn="r" indent="0" marL="0">
              <a:buNone/>
            </a:pPr>
            <a:r>
              <a:rPr lang="en-US" sz="900" b="1" dirty="0">
                <a:solidFill>
                  <a:srgbClr val="B91C1C"/>
                </a:solidFill>
              </a:rPr>
              <a:t>0%</a:t>
            </a:r>
            <a:endParaRPr lang="en-US" sz="900" dirty="0"/>
          </a:p>
        </p:txBody>
      </p:sp>
      <p:sp>
        <p:nvSpPr>
          <p:cNvPr id="21" name="Text 18"/>
          <p:cNvSpPr/>
          <p:nvPr/>
        </p:nvSpPr>
        <p:spPr>
          <a:xfrm>
            <a:off x="1773936" y="3163824"/>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90%</a:t>
            </a:r>
            <a:endParaRPr lang="en-US" sz="700" dirty="0"/>
          </a:p>
        </p:txBody>
      </p:sp>
      <p:sp>
        <p:nvSpPr>
          <p:cNvPr id="22" name="Text 19"/>
          <p:cNvSpPr/>
          <p:nvPr/>
        </p:nvSpPr>
        <p:spPr>
          <a:xfrm>
            <a:off x="658368" y="3657600"/>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Pass rate</a:t>
            </a:r>
            <a:endParaRPr lang="en-US" sz="1000" dirty="0"/>
          </a:p>
        </p:txBody>
      </p:sp>
      <p:sp>
        <p:nvSpPr>
          <p:cNvPr id="23" name="Shape 20"/>
          <p:cNvSpPr/>
          <p:nvPr/>
        </p:nvSpPr>
        <p:spPr>
          <a:xfrm>
            <a:off x="1773936" y="3685032"/>
            <a:ext cx="4626864" cy="164592"/>
          </a:xfrm>
          <a:prstGeom prst="roundRect">
            <a:avLst>
              <a:gd name="adj" fmla="val 22222"/>
            </a:avLst>
          </a:prstGeom>
          <a:solidFill>
            <a:srgbClr val="E2E8F0"/>
          </a:solidFill>
          <a:ln w="12700">
            <a:solidFill>
              <a:srgbClr val="E2E8F0">
                <a:alpha val="0"/>
              </a:srgbClr>
            </a:solidFill>
            <a:prstDash val="solid"/>
          </a:ln>
        </p:spPr>
      </p:sp>
      <p:sp>
        <p:nvSpPr>
          <p:cNvPr id="24" name="Shape 21"/>
          <p:cNvSpPr/>
          <p:nvPr/>
        </p:nvSpPr>
        <p:spPr>
          <a:xfrm>
            <a:off x="1773936" y="3685032"/>
            <a:ext cx="36576" cy="164592"/>
          </a:xfrm>
          <a:prstGeom prst="roundRect">
            <a:avLst>
              <a:gd name="adj" fmla="val 100000"/>
            </a:avLst>
          </a:prstGeom>
          <a:solidFill>
            <a:srgbClr val="B91C1C"/>
          </a:solidFill>
          <a:ln w="12700">
            <a:solidFill>
              <a:srgbClr val="B91C1C">
                <a:alpha val="0"/>
              </a:srgbClr>
            </a:solidFill>
            <a:prstDash val="solid"/>
          </a:ln>
        </p:spPr>
      </p:sp>
      <p:sp>
        <p:nvSpPr>
          <p:cNvPr id="25" name="Shape 22"/>
          <p:cNvSpPr/>
          <p:nvPr/>
        </p:nvSpPr>
        <p:spPr>
          <a:xfrm>
            <a:off x="5475427" y="3648456"/>
            <a:ext cx="0" cy="256032"/>
          </a:xfrm>
          <a:prstGeom prst="line">
            <a:avLst/>
          </a:prstGeom>
          <a:noFill/>
          <a:ln w="12700">
            <a:solidFill>
              <a:srgbClr val="0B1220">
                <a:alpha val="85000"/>
              </a:srgbClr>
            </a:solidFill>
            <a:prstDash val="solid"/>
          </a:ln>
        </p:spPr>
      </p:sp>
      <p:sp>
        <p:nvSpPr>
          <p:cNvPr id="26" name="Text 23"/>
          <p:cNvSpPr/>
          <p:nvPr/>
        </p:nvSpPr>
        <p:spPr>
          <a:xfrm>
            <a:off x="6492240" y="3657600"/>
            <a:ext cx="566928" cy="201168"/>
          </a:xfrm>
          <a:prstGeom prst="rect">
            <a:avLst/>
          </a:prstGeom>
          <a:noFill/>
          <a:ln/>
        </p:spPr>
        <p:txBody>
          <a:bodyPr wrap="square" lIns="0" tIns="0" rIns="0" bIns="0" rtlCol="0" anchor="ctr"/>
          <a:lstStyle/>
          <a:p>
            <a:pPr algn="r" indent="0" marL="0">
              <a:buNone/>
            </a:pPr>
            <a:r>
              <a:rPr lang="en-US" sz="900" b="1" dirty="0">
                <a:solidFill>
                  <a:srgbClr val="B91C1C"/>
                </a:solidFill>
              </a:rPr>
              <a:t>0%</a:t>
            </a:r>
            <a:endParaRPr lang="en-US" sz="900" dirty="0"/>
          </a:p>
        </p:txBody>
      </p:sp>
      <p:sp>
        <p:nvSpPr>
          <p:cNvPr id="27" name="Text 24"/>
          <p:cNvSpPr/>
          <p:nvPr/>
        </p:nvSpPr>
        <p:spPr>
          <a:xfrm>
            <a:off x="1773936" y="3950208"/>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80%</a:t>
            </a:r>
            <a:endParaRPr lang="en-US" sz="700" dirty="0"/>
          </a:p>
        </p:txBody>
      </p:sp>
      <p:sp>
        <p:nvSpPr>
          <p:cNvPr id="28" name="Shape 25"/>
          <p:cNvSpPr/>
          <p:nvPr/>
        </p:nvSpPr>
        <p:spPr>
          <a:xfrm>
            <a:off x="7635240" y="1170432"/>
            <a:ext cx="3840480" cy="3611880"/>
          </a:xfrm>
          <a:prstGeom prst="roundRect">
            <a:avLst>
              <a:gd name="adj" fmla="val 2025"/>
            </a:avLst>
          </a:prstGeom>
          <a:solidFill>
            <a:srgbClr val="FFFFFF"/>
          </a:solidFill>
          <a:ln w="12700">
            <a:solidFill>
              <a:srgbClr val="CBD5E1"/>
            </a:solidFill>
            <a:prstDash val="solid"/>
          </a:ln>
        </p:spPr>
      </p:sp>
      <p:sp>
        <p:nvSpPr>
          <p:cNvPr id="29" name="Text 26"/>
          <p:cNvSpPr/>
          <p:nvPr/>
        </p:nvSpPr>
        <p:spPr>
          <a:xfrm>
            <a:off x="7936992" y="1481328"/>
            <a:ext cx="3246120" cy="182880"/>
          </a:xfrm>
          <a:prstGeom prst="rect">
            <a:avLst/>
          </a:prstGeom>
          <a:noFill/>
          <a:ln/>
        </p:spPr>
        <p:txBody>
          <a:bodyPr wrap="square" lIns="0" tIns="0" rIns="0" bIns="0" rtlCol="0" anchor="ctr"/>
          <a:lstStyle/>
          <a:p>
            <a:pPr algn="ctr" indent="0" marL="0">
              <a:buNone/>
            </a:pPr>
            <a:r>
              <a:rPr lang="en-US" sz="900" b="1" dirty="0">
                <a:solidFill>
                  <a:srgbClr val="64748B"/>
                </a:solidFill>
              </a:rPr>
              <a:t>EFFECTIVENESS</a:t>
            </a:r>
            <a:endParaRPr lang="en-US" sz="900" dirty="0"/>
          </a:p>
        </p:txBody>
      </p:sp>
      <p:sp>
        <p:nvSpPr>
          <p:cNvPr id="30" name="Shape 27"/>
          <p:cNvSpPr/>
          <p:nvPr/>
        </p:nvSpPr>
        <p:spPr>
          <a:xfrm>
            <a:off x="8549640" y="1828800"/>
            <a:ext cx="2011680" cy="2011680"/>
          </a:xfrm>
          <a:prstGeom prst="ellipse">
            <a:avLst/>
          </a:prstGeom>
          <a:solidFill>
            <a:srgbClr val="B91C1C"/>
          </a:solidFill>
          <a:ln w="12700">
            <a:solidFill>
              <a:srgbClr val="B91C1C">
                <a:alpha val="0"/>
              </a:srgbClr>
            </a:solidFill>
            <a:prstDash val="solid"/>
          </a:ln>
        </p:spPr>
      </p:sp>
      <p:sp>
        <p:nvSpPr>
          <p:cNvPr id="31" name="Shape 28"/>
          <p:cNvSpPr/>
          <p:nvPr/>
        </p:nvSpPr>
        <p:spPr>
          <a:xfrm>
            <a:off x="8897112" y="2176272"/>
            <a:ext cx="1316736" cy="1316736"/>
          </a:xfrm>
          <a:prstGeom prst="ellipse">
            <a:avLst/>
          </a:prstGeom>
          <a:solidFill>
            <a:srgbClr val="FFFFFF"/>
          </a:solidFill>
          <a:ln w="12700">
            <a:solidFill>
              <a:srgbClr val="FFFFFF">
                <a:alpha val="0"/>
              </a:srgbClr>
            </a:solidFill>
            <a:prstDash val="solid"/>
          </a:ln>
        </p:spPr>
      </p:sp>
      <p:sp>
        <p:nvSpPr>
          <p:cNvPr id="32" name="Text 29"/>
          <p:cNvSpPr/>
          <p:nvPr/>
        </p:nvSpPr>
        <p:spPr>
          <a:xfrm>
            <a:off x="8897112" y="2505456"/>
            <a:ext cx="1316736" cy="384048"/>
          </a:xfrm>
          <a:prstGeom prst="rect">
            <a:avLst/>
          </a:prstGeom>
          <a:noFill/>
          <a:ln/>
        </p:spPr>
        <p:txBody>
          <a:bodyPr wrap="square" lIns="0" tIns="0" rIns="0" bIns="0" rtlCol="0" anchor="ctr">
            <a:normAutofit/>
          </a:bodyPr>
          <a:lstStyle/>
          <a:p>
            <a:pPr algn="ctr" indent="0" marL="0">
              <a:buNone/>
            </a:pPr>
            <a:r>
              <a:rPr lang="en-US" sz="2200" b="1" dirty="0">
                <a:solidFill>
                  <a:srgbClr val="B91C1C"/>
                </a:solidFill>
              </a:rPr>
              <a:t>25.58</a:t>
            </a:r>
            <a:endParaRPr lang="en-US" sz="2200" dirty="0"/>
          </a:p>
        </p:txBody>
      </p:sp>
      <p:sp>
        <p:nvSpPr>
          <p:cNvPr id="33" name="Text 30"/>
          <p:cNvSpPr/>
          <p:nvPr/>
        </p:nvSpPr>
        <p:spPr>
          <a:xfrm>
            <a:off x="9025128" y="2898648"/>
            <a:ext cx="1051560" cy="164592"/>
          </a:xfrm>
          <a:prstGeom prst="rect">
            <a:avLst/>
          </a:prstGeom>
          <a:noFill/>
          <a:ln/>
        </p:spPr>
        <p:txBody>
          <a:bodyPr wrap="square" lIns="0" tIns="0" rIns="0" bIns="0" rtlCol="0" anchor="ctr"/>
          <a:lstStyle/>
          <a:p>
            <a:pPr algn="ctr" indent="0" marL="0">
              <a:buNone/>
            </a:pPr>
            <a:r>
              <a:rPr lang="en-US" sz="800" dirty="0">
                <a:solidFill>
                  <a:srgbClr val="64748B"/>
                </a:solidFill>
              </a:rPr>
              <a:t>/ 100</a:t>
            </a:r>
            <a:endParaRPr lang="en-US" sz="800" dirty="0"/>
          </a:p>
        </p:txBody>
      </p:sp>
      <p:sp>
        <p:nvSpPr>
          <p:cNvPr id="34" name="Text 31"/>
          <p:cNvSpPr/>
          <p:nvPr/>
        </p:nvSpPr>
        <p:spPr>
          <a:xfrm>
            <a:off x="7973568" y="4096512"/>
            <a:ext cx="1417320" cy="128016"/>
          </a:xfrm>
          <a:prstGeom prst="rect">
            <a:avLst/>
          </a:prstGeom>
          <a:noFill/>
          <a:ln/>
        </p:spPr>
        <p:txBody>
          <a:bodyPr wrap="square" lIns="0" tIns="0" rIns="0" bIns="0" rtlCol="0" anchor="ctr"/>
          <a:lstStyle/>
          <a:p>
            <a:pPr algn="ctr" indent="0" marL="0">
              <a:buNone/>
            </a:pPr>
            <a:r>
              <a:rPr lang="en-US" sz="750" b="1" dirty="0">
                <a:solidFill>
                  <a:srgbClr val="64748B"/>
                </a:solidFill>
              </a:rPr>
              <a:t>LEARNERS</a:t>
            </a:r>
            <a:endParaRPr lang="en-US" sz="750" dirty="0"/>
          </a:p>
        </p:txBody>
      </p:sp>
      <p:sp>
        <p:nvSpPr>
          <p:cNvPr id="35" name="Text 32"/>
          <p:cNvSpPr/>
          <p:nvPr/>
        </p:nvSpPr>
        <p:spPr>
          <a:xfrm>
            <a:off x="7973568" y="4279392"/>
            <a:ext cx="1417320" cy="256032"/>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rPr>
              <a:t>8</a:t>
            </a:r>
            <a:endParaRPr lang="en-US" sz="1500" dirty="0"/>
          </a:p>
        </p:txBody>
      </p:sp>
      <p:sp>
        <p:nvSpPr>
          <p:cNvPr id="36" name="Text 33"/>
          <p:cNvSpPr/>
          <p:nvPr/>
        </p:nvSpPr>
        <p:spPr>
          <a:xfrm>
            <a:off x="9619488" y="4096512"/>
            <a:ext cx="1417320" cy="128016"/>
          </a:xfrm>
          <a:prstGeom prst="rect">
            <a:avLst/>
          </a:prstGeom>
          <a:noFill/>
          <a:ln/>
        </p:spPr>
        <p:txBody>
          <a:bodyPr wrap="square" lIns="0" tIns="0" rIns="0" bIns="0" rtlCol="0" anchor="ctr"/>
          <a:lstStyle/>
          <a:p>
            <a:pPr algn="ctr" indent="0" marL="0">
              <a:buNone/>
            </a:pPr>
            <a:r>
              <a:rPr lang="en-US" sz="750" b="1" dirty="0">
                <a:solidFill>
                  <a:srgbClr val="64748B"/>
                </a:solidFill>
              </a:rPr>
              <a:t>AVG SCORE</a:t>
            </a:r>
            <a:endParaRPr lang="en-US" sz="750" dirty="0"/>
          </a:p>
        </p:txBody>
      </p:sp>
      <p:sp>
        <p:nvSpPr>
          <p:cNvPr id="37" name="Text 34"/>
          <p:cNvSpPr/>
          <p:nvPr/>
        </p:nvSpPr>
        <p:spPr>
          <a:xfrm>
            <a:off x="9619488" y="4279392"/>
            <a:ext cx="1417320" cy="256032"/>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rPr>
              <a:t>N/A/10</a:t>
            </a:r>
            <a:endParaRPr lang="en-US" sz="1500" dirty="0"/>
          </a:p>
        </p:txBody>
      </p:sp>
      <p:sp>
        <p:nvSpPr>
          <p:cNvPr id="38" name="Text 35"/>
          <p:cNvSpPr/>
          <p:nvPr/>
        </p:nvSpPr>
        <p:spPr>
          <a:xfrm>
            <a:off x="621792" y="4919472"/>
            <a:ext cx="3108960" cy="228600"/>
          </a:xfrm>
          <a:prstGeom prst="rect">
            <a:avLst/>
          </a:prstGeom>
          <a:noFill/>
          <a:ln/>
        </p:spPr>
        <p:txBody>
          <a:bodyPr wrap="square" lIns="0" tIns="0" rIns="0" bIns="0" rtlCol="0" anchor="ctr"/>
          <a:lstStyle/>
          <a:p>
            <a:pPr indent="0" marL="0">
              <a:buNone/>
            </a:pPr>
            <a:r>
              <a:rPr lang="en-US" sz="1300" b="1" dirty="0">
                <a:solidFill>
                  <a:srgbClr val="0F172A"/>
                </a:solidFill>
              </a:rPr>
              <a:t>What leaders should notice</a:t>
            </a:r>
            <a:endParaRPr lang="en-US" sz="1300" dirty="0"/>
          </a:p>
        </p:txBody>
      </p:sp>
      <p:sp>
        <p:nvSpPr>
          <p:cNvPr id="39" name="Shape 36"/>
          <p:cNvSpPr/>
          <p:nvPr/>
        </p:nvSpPr>
        <p:spPr>
          <a:xfrm>
            <a:off x="621792" y="5285232"/>
            <a:ext cx="3429000" cy="868680"/>
          </a:xfrm>
          <a:prstGeom prst="roundRect">
            <a:avLst>
              <a:gd name="adj" fmla="val 8421"/>
            </a:avLst>
          </a:prstGeom>
          <a:solidFill>
            <a:srgbClr val="FEE2E2"/>
          </a:solidFill>
          <a:ln w="12700">
            <a:solidFill>
              <a:srgbClr val="FEE2E2"/>
            </a:solidFill>
            <a:prstDash val="solid"/>
          </a:ln>
        </p:spPr>
      </p:sp>
      <p:sp>
        <p:nvSpPr>
          <p:cNvPr id="40" name="Text 37"/>
          <p:cNvSpPr/>
          <p:nvPr/>
        </p:nvSpPr>
        <p:spPr>
          <a:xfrm>
            <a:off x="786384"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Strong completion outcome at 0%</a:t>
            </a:r>
            <a:endParaRPr lang="en-US" sz="1000" dirty="0"/>
          </a:p>
        </p:txBody>
      </p:sp>
      <p:sp>
        <p:nvSpPr>
          <p:cNvPr id="41" name="Shape 38"/>
          <p:cNvSpPr/>
          <p:nvPr/>
        </p:nvSpPr>
        <p:spPr>
          <a:xfrm>
            <a:off x="4352544" y="5285232"/>
            <a:ext cx="3429000" cy="868680"/>
          </a:xfrm>
          <a:prstGeom prst="roundRect">
            <a:avLst>
              <a:gd name="adj" fmla="val 8421"/>
            </a:avLst>
          </a:prstGeom>
          <a:solidFill>
            <a:srgbClr val="FEE2E2"/>
          </a:solidFill>
          <a:ln w="12700">
            <a:solidFill>
              <a:srgbClr val="FEE2E2"/>
            </a:solidFill>
            <a:prstDash val="solid"/>
          </a:ln>
        </p:spPr>
      </p:sp>
      <p:sp>
        <p:nvSpPr>
          <p:cNvPr id="42" name="Text 39"/>
          <p:cNvSpPr/>
          <p:nvPr/>
        </p:nvSpPr>
        <p:spPr>
          <a:xfrm>
            <a:off x="4517136"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Overall effectiveness score is 25.58</a:t>
            </a:r>
            <a:endParaRPr lang="en-US" sz="1000" dirty="0"/>
          </a:p>
        </p:txBody>
      </p:sp>
      <p:sp>
        <p:nvSpPr>
          <p:cNvPr id="43" name="Shape 40"/>
          <p:cNvSpPr/>
          <p:nvPr/>
        </p:nvSpPr>
        <p:spPr>
          <a:xfrm>
            <a:off x="8083296" y="5285232"/>
            <a:ext cx="3429000" cy="868680"/>
          </a:xfrm>
          <a:prstGeom prst="roundRect">
            <a:avLst>
              <a:gd name="adj" fmla="val 8421"/>
            </a:avLst>
          </a:prstGeom>
          <a:solidFill>
            <a:srgbClr val="D1FAE5"/>
          </a:solidFill>
          <a:ln w="12700">
            <a:solidFill>
              <a:srgbClr val="D1FAE5"/>
            </a:solidFill>
            <a:prstDash val="solid"/>
          </a:ln>
        </p:spPr>
      </p:sp>
      <p:sp>
        <p:nvSpPr>
          <p:cNvPr id="44" name="Text 41"/>
          <p:cNvSpPr/>
          <p:nvPr/>
        </p:nvSpPr>
        <p:spPr>
          <a:xfrm>
            <a:off x="8247888"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Technical Leadership &amp; Communication has an effectiveness score of 25.58 in the selected scope.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Key findings and implications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78992"/>
            <a:ext cx="5257800" cy="1783080"/>
          </a:xfrm>
          <a:prstGeom prst="roundRect">
            <a:avLst>
              <a:gd name="adj" fmla="val 4103"/>
            </a:avLst>
          </a:prstGeom>
          <a:solidFill>
            <a:srgbClr val="FFFFFF"/>
          </a:solidFill>
          <a:ln w="12700">
            <a:solidFill>
              <a:srgbClr val="CBD5E1"/>
            </a:solidFill>
            <a:prstDash val="solid"/>
          </a:ln>
        </p:spPr>
      </p:sp>
      <p:sp>
        <p:nvSpPr>
          <p:cNvPr id="8" name="Shape 6"/>
          <p:cNvSpPr/>
          <p:nvPr/>
        </p:nvSpPr>
        <p:spPr>
          <a:xfrm>
            <a:off x="777240" y="1261872"/>
            <a:ext cx="868680" cy="256032"/>
          </a:xfrm>
          <a:prstGeom prst="roundRect">
            <a:avLst>
              <a:gd name="adj" fmla="val 28571"/>
            </a:avLst>
          </a:prstGeom>
          <a:solidFill>
            <a:srgbClr val="FEE2E2"/>
          </a:solidFill>
          <a:ln w="12700">
            <a:solidFill>
              <a:srgbClr val="FEE2E2"/>
            </a:solidFill>
            <a:prstDash val="solid"/>
          </a:ln>
        </p:spPr>
      </p:sp>
      <p:sp>
        <p:nvSpPr>
          <p:cNvPr id="9" name="Text 7"/>
          <p:cNvSpPr/>
          <p:nvPr/>
        </p:nvSpPr>
        <p:spPr>
          <a:xfrm>
            <a:off x="813816" y="126187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Risk</a:t>
            </a:r>
            <a:endParaRPr lang="en-US" sz="740" dirty="0"/>
          </a:p>
        </p:txBody>
      </p:sp>
      <p:sp>
        <p:nvSpPr>
          <p:cNvPr id="10" name="Text 8"/>
          <p:cNvSpPr/>
          <p:nvPr/>
        </p:nvSpPr>
        <p:spPr>
          <a:xfrm>
            <a:off x="79552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Strong completion outcome at 0%</a:t>
            </a:r>
            <a:endParaRPr lang="en-US" sz="1300" dirty="0"/>
          </a:p>
        </p:txBody>
      </p:sp>
      <p:sp>
        <p:nvSpPr>
          <p:cNvPr id="11" name="Text 9"/>
          <p:cNvSpPr/>
          <p:nvPr/>
        </p:nvSpPr>
        <p:spPr>
          <a:xfrm>
            <a:off x="79552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Completion is calculated as attendance &gt;= 70%; pass rate is tracked separately at 0%.</a:t>
            </a:r>
            <a:endParaRPr lang="en-US" sz="850" dirty="0"/>
          </a:p>
        </p:txBody>
      </p:sp>
      <p:sp>
        <p:nvSpPr>
          <p:cNvPr id="12" name="Text 10"/>
          <p:cNvSpPr/>
          <p:nvPr/>
        </p:nvSpPr>
        <p:spPr>
          <a:xfrm>
            <a:off x="79552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Learners are completing the required session exposure, and assessment achievement is also healthy.</a:t>
            </a:r>
            <a:endParaRPr lang="en-US" sz="850" dirty="0"/>
          </a:p>
        </p:txBody>
      </p:sp>
      <p:sp>
        <p:nvSpPr>
          <p:cNvPr id="13" name="Shape 11"/>
          <p:cNvSpPr/>
          <p:nvPr/>
        </p:nvSpPr>
        <p:spPr>
          <a:xfrm>
            <a:off x="6217920" y="1078992"/>
            <a:ext cx="5257800" cy="1783080"/>
          </a:xfrm>
          <a:prstGeom prst="roundRect">
            <a:avLst>
              <a:gd name="adj" fmla="val 4103"/>
            </a:avLst>
          </a:prstGeom>
          <a:solidFill>
            <a:srgbClr val="FFFFFF"/>
          </a:solidFill>
          <a:ln w="12700">
            <a:solidFill>
              <a:srgbClr val="CBD5E1"/>
            </a:solidFill>
            <a:prstDash val="solid"/>
          </a:ln>
        </p:spPr>
      </p:sp>
      <p:sp>
        <p:nvSpPr>
          <p:cNvPr id="14" name="Shape 12"/>
          <p:cNvSpPr/>
          <p:nvPr/>
        </p:nvSpPr>
        <p:spPr>
          <a:xfrm>
            <a:off x="6400800" y="1261872"/>
            <a:ext cx="868680" cy="256032"/>
          </a:xfrm>
          <a:prstGeom prst="roundRect">
            <a:avLst>
              <a:gd name="adj" fmla="val 28571"/>
            </a:avLst>
          </a:prstGeom>
          <a:solidFill>
            <a:srgbClr val="FEE2E2"/>
          </a:solidFill>
          <a:ln w="12700">
            <a:solidFill>
              <a:srgbClr val="FEE2E2"/>
            </a:solidFill>
            <a:prstDash val="solid"/>
          </a:ln>
        </p:spPr>
      </p:sp>
      <p:sp>
        <p:nvSpPr>
          <p:cNvPr id="15" name="Text 13"/>
          <p:cNvSpPr/>
          <p:nvPr/>
        </p:nvSpPr>
        <p:spPr>
          <a:xfrm>
            <a:off x="6437376" y="126187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Risk</a:t>
            </a:r>
            <a:endParaRPr lang="en-US" sz="740" dirty="0"/>
          </a:p>
        </p:txBody>
      </p:sp>
      <p:sp>
        <p:nvSpPr>
          <p:cNvPr id="16" name="Text 14"/>
          <p:cNvSpPr/>
          <p:nvPr/>
        </p:nvSpPr>
        <p:spPr>
          <a:xfrm>
            <a:off x="641908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Overall effectiveness score is 25.58</a:t>
            </a:r>
            <a:endParaRPr lang="en-US" sz="1300" dirty="0"/>
          </a:p>
        </p:txBody>
      </p:sp>
      <p:sp>
        <p:nvSpPr>
          <p:cNvPr id="17" name="Text 15"/>
          <p:cNvSpPr/>
          <p:nvPr/>
        </p:nvSpPr>
        <p:spPr>
          <a:xfrm>
            <a:off x="641908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Attendance 47.9%, pass rate 0%, average score N/A/10.</a:t>
            </a:r>
            <a:endParaRPr lang="en-US" sz="850" dirty="0"/>
          </a:p>
        </p:txBody>
      </p:sp>
      <p:sp>
        <p:nvSpPr>
          <p:cNvPr id="18" name="Text 16"/>
          <p:cNvSpPr/>
          <p:nvPr/>
        </p:nvSpPr>
        <p:spPr>
          <a:xfrm>
            <a:off x="641908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The selected scope is classified as Not reportable.</a:t>
            </a:r>
            <a:endParaRPr lang="en-US" sz="850" dirty="0"/>
          </a:p>
        </p:txBody>
      </p:sp>
      <p:sp>
        <p:nvSpPr>
          <p:cNvPr id="19" name="Shape 17"/>
          <p:cNvSpPr/>
          <p:nvPr/>
        </p:nvSpPr>
        <p:spPr>
          <a:xfrm>
            <a:off x="594360" y="3227832"/>
            <a:ext cx="5257800" cy="1783080"/>
          </a:xfrm>
          <a:prstGeom prst="roundRect">
            <a:avLst>
              <a:gd name="adj" fmla="val 4103"/>
            </a:avLst>
          </a:prstGeom>
          <a:solidFill>
            <a:srgbClr val="FFFFFF"/>
          </a:solidFill>
          <a:ln w="12700">
            <a:solidFill>
              <a:srgbClr val="CBD5E1"/>
            </a:solidFill>
            <a:prstDash val="solid"/>
          </a:ln>
        </p:spPr>
      </p:sp>
      <p:sp>
        <p:nvSpPr>
          <p:cNvPr id="20" name="Shape 18"/>
          <p:cNvSpPr/>
          <p:nvPr/>
        </p:nvSpPr>
        <p:spPr>
          <a:xfrm>
            <a:off x="777240" y="3410712"/>
            <a:ext cx="86868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813816" y="341071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22" name="Text 20"/>
          <p:cNvSpPr/>
          <p:nvPr/>
        </p:nvSpPr>
        <p:spPr>
          <a:xfrm>
            <a:off x="79552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Technical Leadership &amp; Communication has an effectiveness score of 25.58 in the selected scope.</a:t>
            </a:r>
            <a:endParaRPr lang="en-US" sz="1300" dirty="0"/>
          </a:p>
        </p:txBody>
      </p:sp>
      <p:sp>
        <p:nvSpPr>
          <p:cNvPr id="23" name="Text 21"/>
          <p:cNvSpPr/>
          <p:nvPr/>
        </p:nvSpPr>
        <p:spPr>
          <a:xfrm>
            <a:off x="79552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24" name="Text 22"/>
          <p:cNvSpPr/>
          <p:nvPr/>
        </p:nvSpPr>
        <p:spPr>
          <a:xfrm>
            <a:off x="79552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
        <p:nvSpPr>
          <p:cNvPr id="25" name="Shape 23"/>
          <p:cNvSpPr/>
          <p:nvPr/>
        </p:nvSpPr>
        <p:spPr>
          <a:xfrm>
            <a:off x="6217920" y="3227832"/>
            <a:ext cx="5257800" cy="1783080"/>
          </a:xfrm>
          <a:prstGeom prst="roundRect">
            <a:avLst>
              <a:gd name="adj" fmla="val 4103"/>
            </a:avLst>
          </a:prstGeom>
          <a:solidFill>
            <a:srgbClr val="FFFFFF"/>
          </a:solidFill>
          <a:ln w="12700">
            <a:solidFill>
              <a:srgbClr val="CBD5E1"/>
            </a:solidFill>
            <a:prstDash val="solid"/>
          </a:ln>
        </p:spPr>
      </p:sp>
      <p:sp>
        <p:nvSpPr>
          <p:cNvPr id="26" name="Shape 24"/>
          <p:cNvSpPr/>
          <p:nvPr/>
        </p:nvSpPr>
        <p:spPr>
          <a:xfrm>
            <a:off x="6400800" y="3410712"/>
            <a:ext cx="868680" cy="256032"/>
          </a:xfrm>
          <a:prstGeom prst="roundRect">
            <a:avLst>
              <a:gd name="adj" fmla="val 28571"/>
            </a:avLst>
          </a:prstGeom>
          <a:solidFill>
            <a:srgbClr val="FEF3C7"/>
          </a:solidFill>
          <a:ln w="12700">
            <a:solidFill>
              <a:srgbClr val="FEF3C7"/>
            </a:solidFill>
            <a:prstDash val="solid"/>
          </a:ln>
        </p:spPr>
      </p:sp>
      <p:sp>
        <p:nvSpPr>
          <p:cNvPr id="27" name="Text 25"/>
          <p:cNvSpPr/>
          <p:nvPr/>
        </p:nvSpPr>
        <p:spPr>
          <a:xfrm>
            <a:off x="6437376" y="341071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Monitor</a:t>
            </a:r>
            <a:endParaRPr lang="en-US" sz="740" dirty="0"/>
          </a:p>
        </p:txBody>
      </p:sp>
      <p:sp>
        <p:nvSpPr>
          <p:cNvPr id="28" name="Text 26"/>
          <p:cNvSpPr/>
          <p:nvPr/>
        </p:nvSpPr>
        <p:spPr>
          <a:xfrm>
            <a:off x="641908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1 course group contained learners who need support based on score or attendance policy.</a:t>
            </a:r>
            <a:endParaRPr lang="en-US" sz="1300" dirty="0"/>
          </a:p>
        </p:txBody>
      </p:sp>
      <p:sp>
        <p:nvSpPr>
          <p:cNvPr id="29" name="Text 27"/>
          <p:cNvSpPr/>
          <p:nvPr/>
        </p:nvSpPr>
        <p:spPr>
          <a:xfrm>
            <a:off x="641908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30" name="Text 28"/>
          <p:cNvSpPr/>
          <p:nvPr/>
        </p:nvSpPr>
        <p:spPr>
          <a:xfrm>
            <a:off x="641908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Evidence traceability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42416"/>
            <a:ext cx="6858000" cy="310896"/>
          </a:xfrm>
          <a:prstGeom prst="rect">
            <a:avLst/>
          </a:prstGeom>
          <a:noFill/>
          <a:ln/>
        </p:spPr>
        <p:txBody>
          <a:bodyPr wrap="square" rtlCol="0" anchor="ctr"/>
          <a:lstStyle/>
          <a:p>
            <a:pPr indent="0" marL="0">
              <a:buNone/>
            </a:pPr>
            <a:r>
              <a:rPr lang="en-US" sz="1500" b="1" dirty="0">
                <a:solidFill>
                  <a:srgbClr val="0F172A"/>
                </a:solidFill>
              </a:rPr>
              <a:t>Every narrative claim is backed by validated artifacts before export.</a:t>
            </a:r>
            <a:endParaRPr lang="en-US" sz="1500" dirty="0"/>
          </a:p>
        </p:txBody>
      </p:sp>
      <p:sp>
        <p:nvSpPr>
          <p:cNvPr id="8" name="Shape 6"/>
          <p:cNvSpPr/>
          <p:nvPr/>
        </p:nvSpPr>
        <p:spPr>
          <a:xfrm>
            <a:off x="594360" y="1691640"/>
            <a:ext cx="5166360" cy="868680"/>
          </a:xfrm>
          <a:prstGeom prst="roundRect">
            <a:avLst>
              <a:gd name="adj" fmla="val 8421"/>
            </a:avLst>
          </a:prstGeom>
          <a:solidFill>
            <a:srgbClr val="FFFFFF"/>
          </a:solidFill>
          <a:ln w="12700">
            <a:solidFill>
              <a:srgbClr val="CBD5E1"/>
            </a:solidFill>
            <a:prstDash val="solid"/>
          </a:ln>
        </p:spPr>
      </p:sp>
      <p:sp>
        <p:nvSpPr>
          <p:cNvPr id="9" name="Shape 7"/>
          <p:cNvSpPr/>
          <p:nvPr/>
        </p:nvSpPr>
        <p:spPr>
          <a:xfrm>
            <a:off x="758952" y="1856232"/>
            <a:ext cx="841248"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795528" y="1856232"/>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1" name="Text 9"/>
          <p:cNvSpPr/>
          <p:nvPr/>
        </p:nvSpPr>
        <p:spPr>
          <a:xfrm>
            <a:off x="173736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Source availability and required columns</a:t>
            </a:r>
            <a:endParaRPr lang="en-US" sz="1000" dirty="0"/>
          </a:p>
        </p:txBody>
      </p:sp>
      <p:sp>
        <p:nvSpPr>
          <p:cNvPr id="12" name="Text 10"/>
          <p:cNvSpPr/>
          <p:nvPr/>
        </p:nvSpPr>
        <p:spPr>
          <a:xfrm>
            <a:off x="173736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Required sheets and columns were mapped from Teams, OneDrive, Forms, KPI, Rules and Template sources.</a:t>
            </a:r>
            <a:endParaRPr lang="en-US" sz="850" dirty="0"/>
          </a:p>
        </p:txBody>
      </p:sp>
      <p:sp>
        <p:nvSpPr>
          <p:cNvPr id="13" name="Shape 11"/>
          <p:cNvSpPr/>
          <p:nvPr/>
        </p:nvSpPr>
        <p:spPr>
          <a:xfrm>
            <a:off x="6172200" y="1691640"/>
            <a:ext cx="5166360" cy="868680"/>
          </a:xfrm>
          <a:prstGeom prst="roundRect">
            <a:avLst>
              <a:gd name="adj" fmla="val 8421"/>
            </a:avLst>
          </a:prstGeom>
          <a:solidFill>
            <a:srgbClr val="FFFFFF"/>
          </a:solidFill>
          <a:ln w="12700">
            <a:solidFill>
              <a:srgbClr val="CBD5E1"/>
            </a:solidFill>
            <a:prstDash val="solid"/>
          </a:ln>
        </p:spPr>
      </p:sp>
      <p:sp>
        <p:nvSpPr>
          <p:cNvPr id="14" name="Shape 12"/>
          <p:cNvSpPr/>
          <p:nvPr/>
        </p:nvSpPr>
        <p:spPr>
          <a:xfrm>
            <a:off x="6336792" y="1856232"/>
            <a:ext cx="841248" cy="256032"/>
          </a:xfrm>
          <a:prstGeom prst="roundRect">
            <a:avLst>
              <a:gd name="adj" fmla="val 28571"/>
            </a:avLst>
          </a:prstGeom>
          <a:solidFill>
            <a:srgbClr val="FEE2E2"/>
          </a:solidFill>
          <a:ln w="12700">
            <a:solidFill>
              <a:srgbClr val="FEE2E2"/>
            </a:solidFill>
            <a:prstDash val="solid"/>
          </a:ln>
        </p:spPr>
      </p:sp>
      <p:sp>
        <p:nvSpPr>
          <p:cNvPr id="15" name="Text 13"/>
          <p:cNvSpPr/>
          <p:nvPr/>
        </p:nvSpPr>
        <p:spPr>
          <a:xfrm>
            <a:off x="6373368" y="1856232"/>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Blocked</a:t>
            </a:r>
            <a:endParaRPr lang="en-US" sz="740" dirty="0"/>
          </a:p>
        </p:txBody>
      </p:sp>
      <p:sp>
        <p:nvSpPr>
          <p:cNvPr id="16" name="Text 14"/>
          <p:cNvSpPr/>
          <p:nvPr/>
        </p:nvSpPr>
        <p:spPr>
          <a:xfrm>
            <a:off x="731520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Course status</a:t>
            </a:r>
            <a:endParaRPr lang="en-US" sz="1000" dirty="0"/>
          </a:p>
        </p:txBody>
      </p:sp>
      <p:sp>
        <p:nvSpPr>
          <p:cNvPr id="17" name="Text 15"/>
          <p:cNvSpPr/>
          <p:nvPr/>
        </p:nvSpPr>
        <p:spPr>
          <a:xfrm>
            <a:off x="731520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1 selected course(s) are not completed.</a:t>
            </a:r>
            <a:endParaRPr lang="en-US" sz="850" dirty="0"/>
          </a:p>
        </p:txBody>
      </p:sp>
      <p:sp>
        <p:nvSpPr>
          <p:cNvPr id="18" name="Shape 16"/>
          <p:cNvSpPr/>
          <p:nvPr/>
        </p:nvSpPr>
        <p:spPr>
          <a:xfrm>
            <a:off x="594360" y="2862072"/>
            <a:ext cx="5166360" cy="868680"/>
          </a:xfrm>
          <a:prstGeom prst="roundRect">
            <a:avLst>
              <a:gd name="adj" fmla="val 8421"/>
            </a:avLst>
          </a:prstGeom>
          <a:solidFill>
            <a:srgbClr val="FFFFFF"/>
          </a:solidFill>
          <a:ln w="12700">
            <a:solidFill>
              <a:srgbClr val="CBD5E1"/>
            </a:solidFill>
            <a:prstDash val="solid"/>
          </a:ln>
        </p:spPr>
      </p:sp>
      <p:sp>
        <p:nvSpPr>
          <p:cNvPr id="19" name="Shape 17"/>
          <p:cNvSpPr/>
          <p:nvPr/>
        </p:nvSpPr>
        <p:spPr>
          <a:xfrm>
            <a:off x="758952" y="3026664"/>
            <a:ext cx="841248" cy="256032"/>
          </a:xfrm>
          <a:prstGeom prst="roundRect">
            <a:avLst>
              <a:gd name="adj" fmla="val 28571"/>
            </a:avLst>
          </a:prstGeom>
          <a:solidFill>
            <a:srgbClr val="FEF3C7"/>
          </a:solidFill>
          <a:ln w="12700">
            <a:solidFill>
              <a:srgbClr val="FEF3C7"/>
            </a:solidFill>
            <a:prstDash val="solid"/>
          </a:ln>
        </p:spPr>
      </p:sp>
      <p:sp>
        <p:nvSpPr>
          <p:cNvPr id="20" name="Text 18"/>
          <p:cNvSpPr/>
          <p:nvPr/>
        </p:nvSpPr>
        <p:spPr>
          <a:xfrm>
            <a:off x="795528" y="3026664"/>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Warning</a:t>
            </a:r>
            <a:endParaRPr lang="en-US" sz="740" dirty="0"/>
          </a:p>
        </p:txBody>
      </p:sp>
      <p:sp>
        <p:nvSpPr>
          <p:cNvPr id="21" name="Text 19"/>
          <p:cNvSpPr/>
          <p:nvPr/>
        </p:nvSpPr>
        <p:spPr>
          <a:xfrm>
            <a:off x="173736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Attendance completeness</a:t>
            </a:r>
            <a:endParaRPr lang="en-US" sz="1000" dirty="0"/>
          </a:p>
        </p:txBody>
      </p:sp>
      <p:sp>
        <p:nvSpPr>
          <p:cNvPr id="22" name="Text 20"/>
          <p:cNvSpPr/>
          <p:nvPr/>
        </p:nvSpPr>
        <p:spPr>
          <a:xfrm>
            <a:off x="173736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Expected attendance rows are trainee count x total sessions. Late is retained for metrics as partial attendance.</a:t>
            </a:r>
            <a:endParaRPr lang="en-US" sz="850" dirty="0"/>
          </a:p>
        </p:txBody>
      </p:sp>
      <p:sp>
        <p:nvSpPr>
          <p:cNvPr id="23" name="Shape 21"/>
          <p:cNvSpPr/>
          <p:nvPr/>
        </p:nvSpPr>
        <p:spPr>
          <a:xfrm>
            <a:off x="6172200" y="2862072"/>
            <a:ext cx="5166360" cy="868680"/>
          </a:xfrm>
          <a:prstGeom prst="roundRect">
            <a:avLst>
              <a:gd name="adj" fmla="val 8421"/>
            </a:avLst>
          </a:prstGeom>
          <a:solidFill>
            <a:srgbClr val="FFFFFF"/>
          </a:solidFill>
          <a:ln w="12700">
            <a:solidFill>
              <a:srgbClr val="CBD5E1"/>
            </a:solidFill>
            <a:prstDash val="solid"/>
          </a:ln>
        </p:spPr>
      </p:sp>
      <p:sp>
        <p:nvSpPr>
          <p:cNvPr id="24" name="Shape 22"/>
          <p:cNvSpPr/>
          <p:nvPr/>
        </p:nvSpPr>
        <p:spPr>
          <a:xfrm>
            <a:off x="6336792" y="3026664"/>
            <a:ext cx="841248"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373368" y="3026664"/>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6" name="Text 24"/>
          <p:cNvSpPr/>
          <p:nvPr/>
        </p:nvSpPr>
        <p:spPr>
          <a:xfrm>
            <a:off x="731520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Assessment completeness</a:t>
            </a:r>
            <a:endParaRPr lang="en-US" sz="1000" dirty="0"/>
          </a:p>
        </p:txBody>
      </p:sp>
      <p:sp>
        <p:nvSpPr>
          <p:cNvPr id="27" name="Text 25"/>
          <p:cNvSpPr/>
          <p:nvPr/>
        </p:nvSpPr>
        <p:spPr>
          <a:xfrm>
            <a:off x="731520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Completed courses require one valid assessment and pass-status row per trainee.</a:t>
            </a:r>
            <a:endParaRPr lang="en-US" sz="850" dirty="0"/>
          </a:p>
        </p:txBody>
      </p:sp>
      <p:sp>
        <p:nvSpPr>
          <p:cNvPr id="28" name="Shape 26"/>
          <p:cNvSpPr/>
          <p:nvPr/>
        </p:nvSpPr>
        <p:spPr>
          <a:xfrm>
            <a:off x="594360" y="4032504"/>
            <a:ext cx="5166360" cy="868680"/>
          </a:xfrm>
          <a:prstGeom prst="roundRect">
            <a:avLst>
              <a:gd name="adj" fmla="val 8421"/>
            </a:avLst>
          </a:prstGeom>
          <a:solidFill>
            <a:srgbClr val="FFFFFF"/>
          </a:solidFill>
          <a:ln w="12700">
            <a:solidFill>
              <a:srgbClr val="CBD5E1"/>
            </a:solidFill>
            <a:prstDash val="solid"/>
          </a:ln>
        </p:spPr>
      </p:sp>
      <p:sp>
        <p:nvSpPr>
          <p:cNvPr id="29" name="Shape 27"/>
          <p:cNvSpPr/>
          <p:nvPr/>
        </p:nvSpPr>
        <p:spPr>
          <a:xfrm>
            <a:off x="758952" y="4197096"/>
            <a:ext cx="841248"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795528" y="4197096"/>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1" name="Text 29"/>
          <p:cNvSpPr/>
          <p:nvPr/>
        </p:nvSpPr>
        <p:spPr>
          <a:xfrm>
            <a:off x="173736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Feedback completeness</a:t>
            </a:r>
            <a:endParaRPr lang="en-US" sz="1000" dirty="0"/>
          </a:p>
        </p:txBody>
      </p:sp>
      <p:sp>
        <p:nvSpPr>
          <p:cNvPr id="32" name="Text 30"/>
          <p:cNvSpPr/>
          <p:nvPr/>
        </p:nvSpPr>
        <p:spPr>
          <a:xfrm>
            <a:off x="173736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NORM-14 requires at least 60% feedback response rate for valid analysis.</a:t>
            </a:r>
            <a:endParaRPr lang="en-US" sz="850" dirty="0"/>
          </a:p>
        </p:txBody>
      </p:sp>
      <p:sp>
        <p:nvSpPr>
          <p:cNvPr id="33" name="Shape 31"/>
          <p:cNvSpPr/>
          <p:nvPr/>
        </p:nvSpPr>
        <p:spPr>
          <a:xfrm>
            <a:off x="6172200" y="4032504"/>
            <a:ext cx="5166360" cy="868680"/>
          </a:xfrm>
          <a:prstGeom prst="roundRect">
            <a:avLst>
              <a:gd name="adj" fmla="val 8421"/>
            </a:avLst>
          </a:prstGeom>
          <a:solidFill>
            <a:srgbClr val="FFFFFF"/>
          </a:solidFill>
          <a:ln w="12700">
            <a:solidFill>
              <a:srgbClr val="CBD5E1"/>
            </a:solidFill>
            <a:prstDash val="solid"/>
          </a:ln>
        </p:spPr>
      </p:sp>
      <p:sp>
        <p:nvSpPr>
          <p:cNvPr id="34" name="Shape 32"/>
          <p:cNvSpPr/>
          <p:nvPr/>
        </p:nvSpPr>
        <p:spPr>
          <a:xfrm>
            <a:off x="6336792" y="4197096"/>
            <a:ext cx="841248" cy="256032"/>
          </a:xfrm>
          <a:prstGeom prst="roundRect">
            <a:avLst>
              <a:gd name="adj" fmla="val 28571"/>
            </a:avLst>
          </a:prstGeom>
          <a:solidFill>
            <a:srgbClr val="D1FAE5"/>
          </a:solidFill>
          <a:ln w="12700">
            <a:solidFill>
              <a:srgbClr val="D1FAE5"/>
            </a:solidFill>
            <a:prstDash val="solid"/>
          </a:ln>
        </p:spPr>
      </p:sp>
      <p:sp>
        <p:nvSpPr>
          <p:cNvPr id="35" name="Text 33"/>
          <p:cNvSpPr/>
          <p:nvPr/>
        </p:nvSpPr>
        <p:spPr>
          <a:xfrm>
            <a:off x="6373368" y="4197096"/>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6" name="Text 34"/>
          <p:cNvSpPr/>
          <p:nvPr/>
        </p:nvSpPr>
        <p:spPr>
          <a:xfrm>
            <a:off x="731520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Row-level data quality</a:t>
            </a:r>
            <a:endParaRPr lang="en-US" sz="1000" dirty="0"/>
          </a:p>
        </p:txBody>
      </p:sp>
      <p:sp>
        <p:nvSpPr>
          <p:cNvPr id="37" name="Text 35"/>
          <p:cNvSpPr/>
          <p:nvPr/>
        </p:nvSpPr>
        <p:spPr>
          <a:xfrm>
            <a:off x="731520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Duplicate rows and numeric ranges were checked before metric generation.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Governance and access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078992"/>
          </a:xfrm>
          <a:prstGeom prst="roundRect">
            <a:avLst>
              <a:gd name="adj" fmla="val 6780"/>
            </a:avLst>
          </a:prstGeom>
          <a:solidFill>
            <a:srgbClr val="FFFFFF"/>
          </a:solidFill>
          <a:ln w="12700">
            <a:solidFill>
              <a:srgbClr val="CBD5E1"/>
            </a:solidFill>
            <a:prstDash val="solid"/>
          </a:ln>
        </p:spPr>
      </p:sp>
      <p:sp>
        <p:nvSpPr>
          <p:cNvPr id="8" name="Text 6"/>
          <p:cNvSpPr/>
          <p:nvPr/>
        </p:nvSpPr>
        <p:spPr>
          <a:xfrm>
            <a:off x="740664" y="1179576"/>
            <a:ext cx="2148840" cy="146304"/>
          </a:xfrm>
          <a:prstGeom prst="rect">
            <a:avLst/>
          </a:prstGeom>
          <a:noFill/>
          <a:ln/>
        </p:spPr>
        <p:txBody>
          <a:bodyPr wrap="square" rtlCol="0" anchor="ctr"/>
          <a:lstStyle/>
          <a:p>
            <a:pPr indent="0" marL="0">
              <a:buNone/>
            </a:pPr>
            <a:r>
              <a:rPr lang="en-US" sz="800" b="1" dirty="0">
                <a:solidFill>
                  <a:srgbClr val="64748B"/>
                </a:solidFill>
              </a:rPr>
              <a:t>CLASSIFICATION</a:t>
            </a:r>
            <a:endParaRPr lang="en-US" sz="800" dirty="0"/>
          </a:p>
        </p:txBody>
      </p:sp>
      <p:sp>
        <p:nvSpPr>
          <p:cNvPr id="9" name="Text 7"/>
          <p:cNvSpPr/>
          <p:nvPr/>
        </p:nvSpPr>
        <p:spPr>
          <a:xfrm>
            <a:off x="74066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Not reportable</a:t>
            </a:r>
            <a:endParaRPr lang="en-US" sz="1500" dirty="0"/>
          </a:p>
        </p:txBody>
      </p:sp>
      <p:sp>
        <p:nvSpPr>
          <p:cNvPr id="10" name="Shape 8"/>
          <p:cNvSpPr/>
          <p:nvPr/>
        </p:nvSpPr>
        <p:spPr>
          <a:xfrm>
            <a:off x="3383280" y="1051560"/>
            <a:ext cx="2514600" cy="1078992"/>
          </a:xfrm>
          <a:prstGeom prst="roundRect">
            <a:avLst>
              <a:gd name="adj" fmla="val 6780"/>
            </a:avLst>
          </a:prstGeom>
          <a:solidFill>
            <a:srgbClr val="FFFFFF"/>
          </a:solidFill>
          <a:ln w="12700">
            <a:solidFill>
              <a:srgbClr val="CBD5E1"/>
            </a:solidFill>
            <a:prstDash val="solid"/>
          </a:ln>
        </p:spPr>
      </p:sp>
      <p:sp>
        <p:nvSpPr>
          <p:cNvPr id="11" name="Text 9"/>
          <p:cNvSpPr/>
          <p:nvPr/>
        </p:nvSpPr>
        <p:spPr>
          <a:xfrm>
            <a:off x="3529584" y="1179576"/>
            <a:ext cx="2148840" cy="146304"/>
          </a:xfrm>
          <a:prstGeom prst="rect">
            <a:avLst/>
          </a:prstGeom>
          <a:noFill/>
          <a:ln/>
        </p:spPr>
        <p:txBody>
          <a:bodyPr wrap="square" rtlCol="0" anchor="ctr"/>
          <a:lstStyle/>
          <a:p>
            <a:pPr indent="0" marL="0">
              <a:buNone/>
            </a:pPr>
            <a:r>
              <a:rPr lang="en-US" sz="800" b="1" dirty="0">
                <a:solidFill>
                  <a:srgbClr val="64748B"/>
                </a:solidFill>
              </a:rPr>
              <a:t>SENSITIVE DETAILS</a:t>
            </a:r>
            <a:endParaRPr lang="en-US" sz="800" dirty="0"/>
          </a:p>
        </p:txBody>
      </p:sp>
      <p:sp>
        <p:nvSpPr>
          <p:cNvPr id="12" name="Text 10"/>
          <p:cNvSpPr/>
          <p:nvPr/>
        </p:nvSpPr>
        <p:spPr>
          <a:xfrm>
            <a:off x="352958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Visible</a:t>
            </a:r>
            <a:endParaRPr lang="en-US" sz="1500" dirty="0"/>
          </a:p>
        </p:txBody>
      </p:sp>
      <p:sp>
        <p:nvSpPr>
          <p:cNvPr id="13" name="Shape 11"/>
          <p:cNvSpPr/>
          <p:nvPr/>
        </p:nvSpPr>
        <p:spPr>
          <a:xfrm>
            <a:off x="6172200" y="1051560"/>
            <a:ext cx="2514600" cy="1078992"/>
          </a:xfrm>
          <a:prstGeom prst="roundRect">
            <a:avLst>
              <a:gd name="adj" fmla="val 6780"/>
            </a:avLst>
          </a:prstGeom>
          <a:solidFill>
            <a:srgbClr val="FFFFFF"/>
          </a:solidFill>
          <a:ln w="12700">
            <a:solidFill>
              <a:srgbClr val="CBD5E1"/>
            </a:solidFill>
            <a:prstDash val="solid"/>
          </a:ln>
        </p:spPr>
      </p:sp>
      <p:sp>
        <p:nvSpPr>
          <p:cNvPr id="14" name="Text 12"/>
          <p:cNvSpPr/>
          <p:nvPr/>
        </p:nvSpPr>
        <p:spPr>
          <a:xfrm>
            <a:off x="6318504" y="1179576"/>
            <a:ext cx="2148840" cy="146304"/>
          </a:xfrm>
          <a:prstGeom prst="rect">
            <a:avLst/>
          </a:prstGeom>
          <a:noFill/>
          <a:ln/>
        </p:spPr>
        <p:txBody>
          <a:bodyPr wrap="square" rtlCol="0" anchor="ctr"/>
          <a:lstStyle/>
          <a:p>
            <a:pPr indent="0" marL="0">
              <a:buNone/>
            </a:pPr>
            <a:r>
              <a:rPr lang="en-US" sz="800" b="1" dirty="0">
                <a:solidFill>
                  <a:srgbClr val="64748B"/>
                </a:solidFill>
              </a:rPr>
              <a:t>RAW APPENDIX</a:t>
            </a:r>
            <a:endParaRPr lang="en-US" sz="800" dirty="0"/>
          </a:p>
        </p:txBody>
      </p:sp>
      <p:sp>
        <p:nvSpPr>
          <p:cNvPr id="15" name="Text 13"/>
          <p:cNvSpPr/>
          <p:nvPr/>
        </p:nvSpPr>
        <p:spPr>
          <a:xfrm>
            <a:off x="631850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Allowed</a:t>
            </a:r>
            <a:endParaRPr lang="en-US" sz="1500" dirty="0"/>
          </a:p>
        </p:txBody>
      </p:sp>
      <p:sp>
        <p:nvSpPr>
          <p:cNvPr id="16" name="Shape 14"/>
          <p:cNvSpPr/>
          <p:nvPr/>
        </p:nvSpPr>
        <p:spPr>
          <a:xfrm>
            <a:off x="8961120" y="1051560"/>
            <a:ext cx="2514600" cy="1078992"/>
          </a:xfrm>
          <a:prstGeom prst="roundRect">
            <a:avLst>
              <a:gd name="adj" fmla="val 6780"/>
            </a:avLst>
          </a:prstGeom>
          <a:solidFill>
            <a:srgbClr val="FFFFFF"/>
          </a:solidFill>
          <a:ln w="12700">
            <a:solidFill>
              <a:srgbClr val="CBD5E1"/>
            </a:solidFill>
            <a:prstDash val="solid"/>
          </a:ln>
        </p:spPr>
      </p:sp>
      <p:sp>
        <p:nvSpPr>
          <p:cNvPr id="17" name="Text 15"/>
          <p:cNvSpPr/>
          <p:nvPr/>
        </p:nvSpPr>
        <p:spPr>
          <a:xfrm>
            <a:off x="9107424" y="1179576"/>
            <a:ext cx="2148840" cy="146304"/>
          </a:xfrm>
          <a:prstGeom prst="rect">
            <a:avLst/>
          </a:prstGeom>
          <a:noFill/>
          <a:ln/>
        </p:spPr>
        <p:txBody>
          <a:bodyPr wrap="square" rtlCol="0" anchor="ctr"/>
          <a:lstStyle/>
          <a:p>
            <a:pPr indent="0" marL="0">
              <a:buNone/>
            </a:pPr>
            <a:r>
              <a:rPr lang="en-US" sz="800" b="1" dirty="0">
                <a:solidFill>
                  <a:srgbClr val="64748B"/>
                </a:solidFill>
              </a:rPr>
              <a:t>HIGH-PRIORITY FLAGS</a:t>
            </a:r>
            <a:endParaRPr lang="en-US" sz="800" dirty="0"/>
          </a:p>
        </p:txBody>
      </p:sp>
      <p:sp>
        <p:nvSpPr>
          <p:cNvPr id="18" name="Text 16"/>
          <p:cNvSpPr/>
          <p:nvPr/>
        </p:nvSpPr>
        <p:spPr>
          <a:xfrm>
            <a:off x="910742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10</a:t>
            </a:r>
            <a:endParaRPr lang="en-US" sz="1500" dirty="0"/>
          </a:p>
        </p:txBody>
      </p:sp>
      <p:sp>
        <p:nvSpPr>
          <p:cNvPr id="19" name="Shape 17"/>
          <p:cNvSpPr/>
          <p:nvPr/>
        </p:nvSpPr>
        <p:spPr>
          <a:xfrm>
            <a:off x="594360" y="2788920"/>
            <a:ext cx="6812280" cy="566928"/>
          </a:xfrm>
          <a:prstGeom prst="roundRect">
            <a:avLst>
              <a:gd name="adj" fmla="val 9677"/>
            </a:avLst>
          </a:prstGeom>
          <a:solidFill>
            <a:srgbClr val="FFFFFF"/>
          </a:solidFill>
          <a:ln w="12700">
            <a:solidFill>
              <a:srgbClr val="CBD5E1"/>
            </a:solidFill>
            <a:prstDash val="solid"/>
          </a:ln>
        </p:spPr>
      </p:sp>
      <p:sp>
        <p:nvSpPr>
          <p:cNvPr id="20" name="Shape 18"/>
          <p:cNvSpPr/>
          <p:nvPr/>
        </p:nvSpPr>
        <p:spPr>
          <a:xfrm>
            <a:off x="722376" y="2944368"/>
            <a:ext cx="777240" cy="256032"/>
          </a:xfrm>
          <a:prstGeom prst="roundRect">
            <a:avLst>
              <a:gd name="adj" fmla="val 28571"/>
            </a:avLst>
          </a:prstGeom>
          <a:solidFill>
            <a:srgbClr val="FEE2E2"/>
          </a:solidFill>
          <a:ln w="12700">
            <a:solidFill>
              <a:srgbClr val="FEE2E2"/>
            </a:solidFill>
            <a:prstDash val="solid"/>
          </a:ln>
        </p:spPr>
      </p:sp>
      <p:sp>
        <p:nvSpPr>
          <p:cNvPr id="21" name="Text 19"/>
          <p:cNvSpPr/>
          <p:nvPr/>
        </p:nvSpPr>
        <p:spPr>
          <a:xfrm>
            <a:off x="758952" y="294436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22" name="Text 20"/>
          <p:cNvSpPr/>
          <p:nvPr/>
        </p:nvSpPr>
        <p:spPr>
          <a:xfrm>
            <a:off x="1600200" y="2898648"/>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NORM-01 | High</a:t>
            </a:r>
            <a:endParaRPr lang="en-US" sz="930" dirty="0"/>
          </a:p>
        </p:txBody>
      </p:sp>
      <p:sp>
        <p:nvSpPr>
          <p:cNvPr id="23" name="Text 21"/>
          <p:cNvSpPr/>
          <p:nvPr/>
        </p:nvSpPr>
        <p:spPr>
          <a:xfrm>
            <a:off x="3840480" y="2880360"/>
            <a:ext cx="3291840" cy="219456"/>
          </a:xfrm>
          <a:prstGeom prst="rect">
            <a:avLst/>
          </a:prstGeom>
          <a:noFill/>
          <a:ln/>
        </p:spPr>
        <p:txBody>
          <a:bodyPr wrap="square" rtlCol="0" anchor="ctr">
            <a:normAutofit/>
          </a:bodyPr>
          <a:lstStyle/>
          <a:p>
            <a:pPr indent="0" marL="0">
              <a:buNone/>
            </a:pPr>
            <a:r>
              <a:rPr lang="en-US" sz="860" dirty="0">
                <a:solidFill>
                  <a:srgbClr val="64748B"/>
                </a:solidFill>
              </a:rPr>
              <a:t>Pass rate is below 70%.</a:t>
            </a:r>
            <a:endParaRPr lang="en-US" sz="860" dirty="0"/>
          </a:p>
        </p:txBody>
      </p:sp>
      <p:sp>
        <p:nvSpPr>
          <p:cNvPr id="24" name="Shape 22"/>
          <p:cNvSpPr/>
          <p:nvPr/>
        </p:nvSpPr>
        <p:spPr>
          <a:xfrm>
            <a:off x="594360" y="3538728"/>
            <a:ext cx="6812280" cy="566928"/>
          </a:xfrm>
          <a:prstGeom prst="roundRect">
            <a:avLst>
              <a:gd name="adj" fmla="val 9677"/>
            </a:avLst>
          </a:prstGeom>
          <a:solidFill>
            <a:srgbClr val="FFFFFF"/>
          </a:solidFill>
          <a:ln w="12700">
            <a:solidFill>
              <a:srgbClr val="CBD5E1"/>
            </a:solidFill>
            <a:prstDash val="solid"/>
          </a:ln>
        </p:spPr>
      </p:sp>
      <p:sp>
        <p:nvSpPr>
          <p:cNvPr id="25" name="Shape 23"/>
          <p:cNvSpPr/>
          <p:nvPr/>
        </p:nvSpPr>
        <p:spPr>
          <a:xfrm>
            <a:off x="722376" y="3694176"/>
            <a:ext cx="777240" cy="256032"/>
          </a:xfrm>
          <a:prstGeom prst="roundRect">
            <a:avLst>
              <a:gd name="adj" fmla="val 28571"/>
            </a:avLst>
          </a:prstGeom>
          <a:solidFill>
            <a:srgbClr val="FEF3C7"/>
          </a:solidFill>
          <a:ln w="12700">
            <a:solidFill>
              <a:srgbClr val="FEF3C7"/>
            </a:solidFill>
            <a:prstDash val="solid"/>
          </a:ln>
        </p:spPr>
      </p:sp>
      <p:sp>
        <p:nvSpPr>
          <p:cNvPr id="26" name="Text 24"/>
          <p:cNvSpPr/>
          <p:nvPr/>
        </p:nvSpPr>
        <p:spPr>
          <a:xfrm>
            <a:off x="758952" y="3694176"/>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27" name="Text 25"/>
          <p:cNvSpPr/>
          <p:nvPr/>
        </p:nvSpPr>
        <p:spPr>
          <a:xfrm>
            <a:off x="1600200" y="3648456"/>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NORM-03 | Medium</a:t>
            </a:r>
            <a:endParaRPr lang="en-US" sz="930" dirty="0"/>
          </a:p>
        </p:txBody>
      </p:sp>
      <p:sp>
        <p:nvSpPr>
          <p:cNvPr id="28" name="Text 26"/>
          <p:cNvSpPr/>
          <p:nvPr/>
        </p:nvSpPr>
        <p:spPr>
          <a:xfrm>
            <a:off x="3840480" y="3630168"/>
            <a:ext cx="3291840" cy="219456"/>
          </a:xfrm>
          <a:prstGeom prst="rect">
            <a:avLst/>
          </a:prstGeom>
          <a:noFill/>
          <a:ln/>
        </p:spPr>
        <p:txBody>
          <a:bodyPr wrap="square" rtlCol="0" anchor="ctr">
            <a:normAutofit/>
          </a:bodyPr>
          <a:lstStyle/>
          <a:p>
            <a:pPr indent="0" marL="0">
              <a:buNone/>
            </a:pPr>
            <a:r>
              <a:rPr lang="en-US" sz="860" dirty="0">
                <a:solidFill>
                  <a:srgbClr val="64748B"/>
                </a:solidFill>
              </a:rPr>
              <a:t>Attendance rate is below 75%.</a:t>
            </a:r>
            <a:endParaRPr lang="en-US" sz="860" dirty="0"/>
          </a:p>
        </p:txBody>
      </p:sp>
      <p:sp>
        <p:nvSpPr>
          <p:cNvPr id="29" name="Shape 27"/>
          <p:cNvSpPr/>
          <p:nvPr/>
        </p:nvSpPr>
        <p:spPr>
          <a:xfrm>
            <a:off x="594360" y="4288536"/>
            <a:ext cx="6812280" cy="566928"/>
          </a:xfrm>
          <a:prstGeom prst="roundRect">
            <a:avLst>
              <a:gd name="adj" fmla="val 9677"/>
            </a:avLst>
          </a:prstGeom>
          <a:solidFill>
            <a:srgbClr val="FFFFFF"/>
          </a:solidFill>
          <a:ln w="12700">
            <a:solidFill>
              <a:srgbClr val="CBD5E1"/>
            </a:solidFill>
            <a:prstDash val="solid"/>
          </a:ln>
        </p:spPr>
      </p:sp>
      <p:sp>
        <p:nvSpPr>
          <p:cNvPr id="30" name="Shape 28"/>
          <p:cNvSpPr/>
          <p:nvPr/>
        </p:nvSpPr>
        <p:spPr>
          <a:xfrm>
            <a:off x="722376" y="4443984"/>
            <a:ext cx="777240" cy="256032"/>
          </a:xfrm>
          <a:prstGeom prst="roundRect">
            <a:avLst>
              <a:gd name="adj" fmla="val 28571"/>
            </a:avLst>
          </a:prstGeom>
          <a:solidFill>
            <a:srgbClr val="FEE2E2"/>
          </a:solidFill>
          <a:ln w="12700">
            <a:solidFill>
              <a:srgbClr val="FEE2E2"/>
            </a:solidFill>
            <a:prstDash val="solid"/>
          </a:ln>
        </p:spPr>
      </p:sp>
      <p:sp>
        <p:nvSpPr>
          <p:cNvPr id="31" name="Text 29"/>
          <p:cNvSpPr/>
          <p:nvPr/>
        </p:nvSpPr>
        <p:spPr>
          <a:xfrm>
            <a:off x="758952" y="44439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32" name="Text 30"/>
          <p:cNvSpPr/>
          <p:nvPr/>
        </p:nvSpPr>
        <p:spPr>
          <a:xfrm>
            <a:off x="1600200" y="4398264"/>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NORM-05 | High</a:t>
            </a:r>
            <a:endParaRPr lang="en-US" sz="930" dirty="0"/>
          </a:p>
        </p:txBody>
      </p:sp>
      <p:sp>
        <p:nvSpPr>
          <p:cNvPr id="33" name="Text 31"/>
          <p:cNvSpPr/>
          <p:nvPr/>
        </p:nvSpPr>
        <p:spPr>
          <a:xfrm>
            <a:off x="3840480" y="4379976"/>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has zero score or missing assessment.</a:t>
            </a:r>
            <a:endParaRPr lang="en-US" sz="860" dirty="0"/>
          </a:p>
        </p:txBody>
      </p:sp>
      <p:sp>
        <p:nvSpPr>
          <p:cNvPr id="34" name="Shape 32"/>
          <p:cNvSpPr/>
          <p:nvPr/>
        </p:nvSpPr>
        <p:spPr>
          <a:xfrm>
            <a:off x="594360" y="5038344"/>
            <a:ext cx="6812280" cy="566928"/>
          </a:xfrm>
          <a:prstGeom prst="roundRect">
            <a:avLst>
              <a:gd name="adj" fmla="val 9677"/>
            </a:avLst>
          </a:prstGeom>
          <a:solidFill>
            <a:srgbClr val="FFFFFF"/>
          </a:solidFill>
          <a:ln w="12700">
            <a:solidFill>
              <a:srgbClr val="CBD5E1"/>
            </a:solidFill>
            <a:prstDash val="solid"/>
          </a:ln>
        </p:spPr>
      </p:sp>
      <p:sp>
        <p:nvSpPr>
          <p:cNvPr id="35" name="Shape 33"/>
          <p:cNvSpPr/>
          <p:nvPr/>
        </p:nvSpPr>
        <p:spPr>
          <a:xfrm>
            <a:off x="722376" y="5193792"/>
            <a:ext cx="777240" cy="256032"/>
          </a:xfrm>
          <a:prstGeom prst="roundRect">
            <a:avLst>
              <a:gd name="adj" fmla="val 28571"/>
            </a:avLst>
          </a:prstGeom>
          <a:solidFill>
            <a:srgbClr val="FEE2E2"/>
          </a:solidFill>
          <a:ln w="12700">
            <a:solidFill>
              <a:srgbClr val="FEE2E2"/>
            </a:solidFill>
            <a:prstDash val="solid"/>
          </a:ln>
        </p:spPr>
      </p:sp>
      <p:sp>
        <p:nvSpPr>
          <p:cNvPr id="36" name="Text 34"/>
          <p:cNvSpPr/>
          <p:nvPr/>
        </p:nvSpPr>
        <p:spPr>
          <a:xfrm>
            <a:off x="758952" y="5193792"/>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37" name="Text 35"/>
          <p:cNvSpPr/>
          <p:nvPr/>
        </p:nvSpPr>
        <p:spPr>
          <a:xfrm>
            <a:off x="1600200" y="5148072"/>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NORM-05 | High</a:t>
            </a:r>
            <a:endParaRPr lang="en-US" sz="930" dirty="0"/>
          </a:p>
        </p:txBody>
      </p:sp>
      <p:sp>
        <p:nvSpPr>
          <p:cNvPr id="38" name="Text 36"/>
          <p:cNvSpPr/>
          <p:nvPr/>
        </p:nvSpPr>
        <p:spPr>
          <a:xfrm>
            <a:off x="3840480" y="5129784"/>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has zero score or missing assessment.</a:t>
            </a:r>
            <a:endParaRPr lang="en-US" sz="860" dirty="0"/>
          </a:p>
        </p:txBody>
      </p:sp>
      <p:sp>
        <p:nvSpPr>
          <p:cNvPr id="39" name="Shape 37"/>
          <p:cNvSpPr/>
          <p:nvPr/>
        </p:nvSpPr>
        <p:spPr>
          <a:xfrm>
            <a:off x="7699248" y="2788920"/>
            <a:ext cx="3767328" cy="1965960"/>
          </a:xfrm>
          <a:prstGeom prst="roundRect">
            <a:avLst>
              <a:gd name="adj" fmla="val 3721"/>
            </a:avLst>
          </a:prstGeom>
          <a:solidFill>
            <a:srgbClr val="FEE2E2"/>
          </a:solidFill>
          <a:ln w="12700">
            <a:solidFill>
              <a:srgbClr val="B91C1C">
                <a:alpha val="65000"/>
              </a:srgbClr>
            </a:solidFill>
            <a:prstDash val="solid"/>
          </a:ln>
        </p:spPr>
      </p:sp>
      <p:sp>
        <p:nvSpPr>
          <p:cNvPr id="40" name="Text 38"/>
          <p:cNvSpPr/>
          <p:nvPr/>
        </p:nvSpPr>
        <p:spPr>
          <a:xfrm>
            <a:off x="7955280" y="3054096"/>
            <a:ext cx="3200400" cy="182880"/>
          </a:xfrm>
          <a:prstGeom prst="rect">
            <a:avLst/>
          </a:prstGeom>
          <a:noFill/>
          <a:ln/>
        </p:spPr>
        <p:txBody>
          <a:bodyPr wrap="square" lIns="0" tIns="0" rIns="0" bIns="0" rtlCol="0" anchor="ctr"/>
          <a:lstStyle/>
          <a:p>
            <a:pPr indent="0" marL="0">
              <a:buNone/>
            </a:pPr>
            <a:r>
              <a:rPr lang="en-US" sz="850" b="1" dirty="0">
                <a:solidFill>
                  <a:srgbClr val="B91C1C"/>
                </a:solidFill>
              </a:rPr>
              <a:t>GOVERNANCE RESPONSE</a:t>
            </a:r>
            <a:endParaRPr lang="en-US" sz="850" dirty="0"/>
          </a:p>
        </p:txBody>
      </p:sp>
      <p:sp>
        <p:nvSpPr>
          <p:cNvPr id="41" name="Text 39"/>
          <p:cNvSpPr/>
          <p:nvPr/>
        </p:nvSpPr>
        <p:spPr>
          <a:xfrm>
            <a:off x="7955280" y="3493008"/>
            <a:ext cx="3218688" cy="658368"/>
          </a:xfrm>
          <a:prstGeom prst="rect">
            <a:avLst/>
          </a:prstGeom>
          <a:noFill/>
          <a:ln/>
        </p:spPr>
        <p:txBody>
          <a:bodyPr wrap="square" lIns="0" tIns="0" rIns="0" bIns="0" rtlCol="0" anchor="ctr">
            <a:normAutofit/>
          </a:bodyPr>
          <a:lstStyle/>
          <a:p>
            <a:pPr indent="0" marL="0">
              <a:buNone/>
            </a:pPr>
            <a:r>
              <a:rPr lang="en-US" sz="1200" b="1" dirty="0">
                <a:solidFill>
                  <a:srgbClr val="0F172A"/>
                </a:solidFill>
              </a:rPr>
              <a:t>Flag course for content review; notify L&amp;D manager</a:t>
            </a:r>
            <a:endParaRPr lang="en-US" sz="1200" dirty="0"/>
          </a:p>
        </p:txBody>
      </p:sp>
      <p:sp>
        <p:nvSpPr>
          <p:cNvPr id="42" name="Text 40"/>
          <p:cNvSpPr/>
          <p:nvPr/>
        </p:nvSpPr>
        <p:spPr>
          <a:xfrm>
            <a:off x="7955280" y="4279392"/>
            <a:ext cx="3218688" cy="228600"/>
          </a:xfrm>
          <a:prstGeom prst="rect">
            <a:avLst/>
          </a:prstGeom>
          <a:noFill/>
          <a:ln/>
        </p:spPr>
        <p:txBody>
          <a:bodyPr wrap="square" lIns="0" tIns="0" rIns="0" bIns="0" rtlCol="0" anchor="ctr"/>
          <a:lstStyle/>
          <a:p>
            <a:pPr indent="0" marL="0">
              <a:buNone/>
            </a:pPr>
            <a:r>
              <a:rPr lang="en-US" sz="850" dirty="0">
                <a:solidFill>
                  <a:srgbClr val="64748B"/>
                </a:solidFill>
              </a:rPr>
              <a:t>Triggered by NORM-01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Recommended action plan</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960120"/>
            <a:ext cx="10972800" cy="749808"/>
          </a:xfrm>
          <a:prstGeom prst="roundRect">
            <a:avLst>
              <a:gd name="adj" fmla="val 7317"/>
            </a:avLst>
          </a:prstGeom>
          <a:solidFill>
            <a:srgbClr val="FFFFFF"/>
          </a:solidFill>
          <a:ln w="12700">
            <a:solidFill>
              <a:srgbClr val="CBD5E1"/>
            </a:solidFill>
            <a:prstDash val="solid"/>
          </a:ln>
        </p:spPr>
      </p:sp>
      <p:sp>
        <p:nvSpPr>
          <p:cNvPr id="8" name="Text 6"/>
          <p:cNvSpPr/>
          <p:nvPr/>
        </p:nvSpPr>
        <p:spPr>
          <a:xfrm>
            <a:off x="768096" y="1179576"/>
            <a:ext cx="228600" cy="164592"/>
          </a:xfrm>
          <a:prstGeom prst="rect">
            <a:avLst/>
          </a:prstGeom>
          <a:noFill/>
          <a:ln/>
        </p:spPr>
        <p:txBody>
          <a:bodyPr wrap="square" rtlCol="0" anchor="ctr"/>
          <a:lstStyle/>
          <a:p>
            <a:pPr algn="ctr" indent="0" marL="0">
              <a:buNone/>
            </a:pPr>
            <a:r>
              <a:rPr lang="en-US" sz="1200" b="1" dirty="0">
                <a:solidFill>
                  <a:srgbClr val="0F172A"/>
                </a:solidFill>
              </a:rPr>
              <a:t>1</a:t>
            </a:r>
            <a:endParaRPr lang="en-US" sz="1200" dirty="0"/>
          </a:p>
        </p:txBody>
      </p:sp>
      <p:sp>
        <p:nvSpPr>
          <p:cNvPr id="9" name="Shape 7"/>
          <p:cNvSpPr/>
          <p:nvPr/>
        </p:nvSpPr>
        <p:spPr>
          <a:xfrm>
            <a:off x="1170432" y="1161288"/>
            <a:ext cx="822960" cy="256032"/>
          </a:xfrm>
          <a:prstGeom prst="roundRect">
            <a:avLst>
              <a:gd name="adj" fmla="val 28571"/>
            </a:avLst>
          </a:prstGeom>
          <a:solidFill>
            <a:srgbClr val="FEF3C7"/>
          </a:solidFill>
          <a:ln w="12700">
            <a:solidFill>
              <a:srgbClr val="FEF3C7"/>
            </a:solidFill>
            <a:prstDash val="solid"/>
          </a:ln>
        </p:spPr>
      </p:sp>
      <p:sp>
        <p:nvSpPr>
          <p:cNvPr id="10" name="Text 8"/>
          <p:cNvSpPr/>
          <p:nvPr/>
        </p:nvSpPr>
        <p:spPr>
          <a:xfrm>
            <a:off x="1207008" y="1161288"/>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11" name="Text 9"/>
          <p:cNvSpPr/>
          <p:nvPr/>
        </p:nvSpPr>
        <p:spPr>
          <a:xfrm>
            <a:off x="2121408" y="1124712"/>
            <a:ext cx="1508760" cy="201168"/>
          </a:xfrm>
          <a:prstGeom prst="rect">
            <a:avLst/>
          </a:prstGeom>
          <a:noFill/>
          <a:ln/>
        </p:spPr>
        <p:txBody>
          <a:bodyPr wrap="square" rtlCol="0" anchor="ctr">
            <a:normAutofit/>
          </a:bodyPr>
          <a:lstStyle/>
          <a:p>
            <a:pPr indent="0" marL="0">
              <a:buNone/>
            </a:pPr>
            <a:r>
              <a:rPr lang="en-US" sz="900" b="1" dirty="0">
                <a:solidFill>
                  <a:srgbClr val="0F172A"/>
                </a:solidFill>
              </a:rPr>
              <a:t>Team Manager + L&amp;D</a:t>
            </a:r>
            <a:endParaRPr lang="en-US" sz="900" dirty="0"/>
          </a:p>
        </p:txBody>
      </p:sp>
      <p:sp>
        <p:nvSpPr>
          <p:cNvPr id="12" name="Text 10"/>
          <p:cNvSpPr/>
          <p:nvPr/>
        </p:nvSpPr>
        <p:spPr>
          <a:xfrm>
            <a:off x="3794760" y="1069848"/>
            <a:ext cx="3840480" cy="256032"/>
          </a:xfrm>
          <a:prstGeom prst="rect">
            <a:avLst/>
          </a:prstGeom>
          <a:noFill/>
          <a:ln/>
        </p:spPr>
        <p:txBody>
          <a:bodyPr wrap="square" rtlCol="0" anchor="ctr">
            <a:normAutofit/>
          </a:bodyPr>
          <a:lstStyle/>
          <a:p>
            <a:pPr indent="0" marL="0">
              <a:buNone/>
            </a:pPr>
            <a:r>
              <a:rPr lang="en-US" sz="930" dirty="0">
                <a:solidFill>
                  <a:srgbClr val="0F172A"/>
                </a:solidFill>
              </a:rPr>
              <a:t>Flag course for content review; notify L&amp;D manager</a:t>
            </a:r>
            <a:endParaRPr lang="en-US" sz="930" dirty="0"/>
          </a:p>
        </p:txBody>
      </p:sp>
      <p:sp>
        <p:nvSpPr>
          <p:cNvPr id="13" name="Text 11"/>
          <p:cNvSpPr/>
          <p:nvPr/>
        </p:nvSpPr>
        <p:spPr>
          <a:xfrm>
            <a:off x="7863840" y="1069848"/>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14" name="Shape 12"/>
          <p:cNvSpPr/>
          <p:nvPr/>
        </p:nvSpPr>
        <p:spPr>
          <a:xfrm>
            <a:off x="594360" y="1947672"/>
            <a:ext cx="10972800" cy="749808"/>
          </a:xfrm>
          <a:prstGeom prst="roundRect">
            <a:avLst>
              <a:gd name="adj" fmla="val 7317"/>
            </a:avLst>
          </a:prstGeom>
          <a:solidFill>
            <a:srgbClr val="FFFFFF"/>
          </a:solidFill>
          <a:ln w="12700">
            <a:solidFill>
              <a:srgbClr val="CBD5E1"/>
            </a:solidFill>
            <a:prstDash val="solid"/>
          </a:ln>
        </p:spPr>
      </p:sp>
      <p:sp>
        <p:nvSpPr>
          <p:cNvPr id="15" name="Text 13"/>
          <p:cNvSpPr/>
          <p:nvPr/>
        </p:nvSpPr>
        <p:spPr>
          <a:xfrm>
            <a:off x="768096" y="2167128"/>
            <a:ext cx="228600" cy="164592"/>
          </a:xfrm>
          <a:prstGeom prst="rect">
            <a:avLst/>
          </a:prstGeom>
          <a:noFill/>
          <a:ln/>
        </p:spPr>
        <p:txBody>
          <a:bodyPr wrap="square" rtlCol="0" anchor="ctr"/>
          <a:lstStyle/>
          <a:p>
            <a:pPr algn="ctr" indent="0" marL="0">
              <a:buNone/>
            </a:pPr>
            <a:r>
              <a:rPr lang="en-US" sz="1200" b="1" dirty="0">
                <a:solidFill>
                  <a:srgbClr val="0F172A"/>
                </a:solidFill>
              </a:rPr>
              <a:t>2</a:t>
            </a:r>
            <a:endParaRPr lang="en-US" sz="1200" dirty="0"/>
          </a:p>
        </p:txBody>
      </p:sp>
      <p:sp>
        <p:nvSpPr>
          <p:cNvPr id="16" name="Shape 14"/>
          <p:cNvSpPr/>
          <p:nvPr/>
        </p:nvSpPr>
        <p:spPr>
          <a:xfrm>
            <a:off x="1170432" y="2148840"/>
            <a:ext cx="822960" cy="256032"/>
          </a:xfrm>
          <a:prstGeom prst="roundRect">
            <a:avLst>
              <a:gd name="adj" fmla="val 28571"/>
            </a:avLst>
          </a:prstGeom>
          <a:solidFill>
            <a:srgbClr val="FEE2E2"/>
          </a:solidFill>
          <a:ln w="12700">
            <a:solidFill>
              <a:srgbClr val="FEE2E2"/>
            </a:solidFill>
            <a:prstDash val="solid"/>
          </a:ln>
        </p:spPr>
      </p:sp>
      <p:sp>
        <p:nvSpPr>
          <p:cNvPr id="17" name="Text 15"/>
          <p:cNvSpPr/>
          <p:nvPr/>
        </p:nvSpPr>
        <p:spPr>
          <a:xfrm>
            <a:off x="1207008" y="2148840"/>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18" name="Text 16"/>
          <p:cNvSpPr/>
          <p:nvPr/>
        </p:nvSpPr>
        <p:spPr>
          <a:xfrm>
            <a:off x="2121408" y="2112264"/>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9" name="Text 17"/>
          <p:cNvSpPr/>
          <p:nvPr/>
        </p:nvSpPr>
        <p:spPr>
          <a:xfrm>
            <a:off x="3794760" y="2057400"/>
            <a:ext cx="3840480" cy="256032"/>
          </a:xfrm>
          <a:prstGeom prst="rect">
            <a:avLst/>
          </a:prstGeom>
          <a:noFill/>
          <a:ln/>
        </p:spPr>
        <p:txBody>
          <a:bodyPr wrap="square" rtlCol="0" anchor="ctr">
            <a:normAutofit/>
          </a:bodyPr>
          <a:lstStyle/>
          <a:p>
            <a:pPr indent="0" marL="0">
              <a:buNone/>
            </a:pPr>
            <a:r>
              <a:rPr lang="en-US" sz="930" dirty="0">
                <a:solidFill>
                  <a:srgbClr val="0F172A"/>
                </a:solidFill>
              </a:rPr>
              <a:t>Mark as Incomplete; recommend re-enrollment in next cohort</a:t>
            </a:r>
            <a:endParaRPr lang="en-US" sz="930" dirty="0"/>
          </a:p>
        </p:txBody>
      </p:sp>
      <p:sp>
        <p:nvSpPr>
          <p:cNvPr id="20" name="Text 18"/>
          <p:cNvSpPr/>
          <p:nvPr/>
        </p:nvSpPr>
        <p:spPr>
          <a:xfrm>
            <a:off x="7863840" y="2057400"/>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21" name="Shape 19"/>
          <p:cNvSpPr/>
          <p:nvPr/>
        </p:nvSpPr>
        <p:spPr>
          <a:xfrm>
            <a:off x="594360" y="2935224"/>
            <a:ext cx="10972800" cy="749808"/>
          </a:xfrm>
          <a:prstGeom prst="roundRect">
            <a:avLst>
              <a:gd name="adj" fmla="val 7317"/>
            </a:avLst>
          </a:prstGeom>
          <a:solidFill>
            <a:srgbClr val="FFFFFF"/>
          </a:solidFill>
          <a:ln w="12700">
            <a:solidFill>
              <a:srgbClr val="CBD5E1"/>
            </a:solidFill>
            <a:prstDash val="solid"/>
          </a:ln>
        </p:spPr>
      </p:sp>
      <p:sp>
        <p:nvSpPr>
          <p:cNvPr id="22" name="Text 20"/>
          <p:cNvSpPr/>
          <p:nvPr/>
        </p:nvSpPr>
        <p:spPr>
          <a:xfrm>
            <a:off x="768096" y="3154680"/>
            <a:ext cx="228600" cy="164592"/>
          </a:xfrm>
          <a:prstGeom prst="rect">
            <a:avLst/>
          </a:prstGeom>
          <a:noFill/>
          <a:ln/>
        </p:spPr>
        <p:txBody>
          <a:bodyPr wrap="square" rtlCol="0" anchor="ctr"/>
          <a:lstStyle/>
          <a:p>
            <a:pPr algn="ctr" indent="0" marL="0">
              <a:buNone/>
            </a:pPr>
            <a:r>
              <a:rPr lang="en-US" sz="1200" b="1" dirty="0">
                <a:solidFill>
                  <a:srgbClr val="0F172A"/>
                </a:solidFill>
              </a:rPr>
              <a:t>3</a:t>
            </a:r>
            <a:endParaRPr lang="en-US" sz="1200" dirty="0"/>
          </a:p>
        </p:txBody>
      </p:sp>
      <p:sp>
        <p:nvSpPr>
          <p:cNvPr id="23" name="Shape 21"/>
          <p:cNvSpPr/>
          <p:nvPr/>
        </p:nvSpPr>
        <p:spPr>
          <a:xfrm>
            <a:off x="1170432" y="3136392"/>
            <a:ext cx="822960" cy="256032"/>
          </a:xfrm>
          <a:prstGeom prst="roundRect">
            <a:avLst>
              <a:gd name="adj" fmla="val 28571"/>
            </a:avLst>
          </a:prstGeom>
          <a:solidFill>
            <a:srgbClr val="FEE2E2"/>
          </a:solidFill>
          <a:ln w="12700">
            <a:solidFill>
              <a:srgbClr val="FEE2E2"/>
            </a:solidFill>
            <a:prstDash val="solid"/>
          </a:ln>
        </p:spPr>
      </p:sp>
      <p:sp>
        <p:nvSpPr>
          <p:cNvPr id="24" name="Text 22"/>
          <p:cNvSpPr/>
          <p:nvPr/>
        </p:nvSpPr>
        <p:spPr>
          <a:xfrm>
            <a:off x="1207008" y="3136392"/>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25" name="Text 23"/>
          <p:cNvSpPr/>
          <p:nvPr/>
        </p:nvSpPr>
        <p:spPr>
          <a:xfrm>
            <a:off x="2121408" y="3099816"/>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26" name="Text 24"/>
          <p:cNvSpPr/>
          <p:nvPr/>
        </p:nvSpPr>
        <p:spPr>
          <a:xfrm>
            <a:off x="3794760" y="3044952"/>
            <a:ext cx="3840480" cy="256032"/>
          </a:xfrm>
          <a:prstGeom prst="rect">
            <a:avLst/>
          </a:prstGeom>
          <a:noFill/>
          <a:ln/>
        </p:spPr>
        <p:txBody>
          <a:bodyPr wrap="square" rtlCol="0" anchor="ctr">
            <a:normAutofit/>
          </a:bodyPr>
          <a:lstStyle/>
          <a:p>
            <a:pPr indent="0" marL="0">
              <a:buNone/>
            </a:pPr>
            <a:r>
              <a:rPr lang="en-US" sz="930" dirty="0">
                <a:solidFill>
                  <a:srgbClr val="0F172A"/>
                </a:solidFill>
              </a:rPr>
              <a:t>Block final conclusion; flag data incomplete</a:t>
            </a:r>
            <a:endParaRPr lang="en-US" sz="930" dirty="0"/>
          </a:p>
        </p:txBody>
      </p:sp>
      <p:sp>
        <p:nvSpPr>
          <p:cNvPr id="27" name="Text 25"/>
          <p:cNvSpPr/>
          <p:nvPr/>
        </p:nvSpPr>
        <p:spPr>
          <a:xfrm>
            <a:off x="7863840" y="3044952"/>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28" name="Shape 26"/>
          <p:cNvSpPr/>
          <p:nvPr/>
        </p:nvSpPr>
        <p:spPr>
          <a:xfrm>
            <a:off x="594360" y="3922776"/>
            <a:ext cx="10972800" cy="749808"/>
          </a:xfrm>
          <a:prstGeom prst="roundRect">
            <a:avLst>
              <a:gd name="adj" fmla="val 7317"/>
            </a:avLst>
          </a:prstGeom>
          <a:solidFill>
            <a:srgbClr val="FFFFFF"/>
          </a:solidFill>
          <a:ln w="12700">
            <a:solidFill>
              <a:srgbClr val="CBD5E1"/>
            </a:solidFill>
            <a:prstDash val="solid"/>
          </a:ln>
        </p:spPr>
      </p:sp>
      <p:sp>
        <p:nvSpPr>
          <p:cNvPr id="29" name="Text 27"/>
          <p:cNvSpPr/>
          <p:nvPr/>
        </p:nvSpPr>
        <p:spPr>
          <a:xfrm>
            <a:off x="768096" y="4142232"/>
            <a:ext cx="228600" cy="164592"/>
          </a:xfrm>
          <a:prstGeom prst="rect">
            <a:avLst/>
          </a:prstGeom>
          <a:noFill/>
          <a:ln/>
        </p:spPr>
        <p:txBody>
          <a:bodyPr wrap="square" rtlCol="0" anchor="ctr"/>
          <a:lstStyle/>
          <a:p>
            <a:pPr algn="ctr" indent="0" marL="0">
              <a:buNone/>
            </a:pPr>
            <a:r>
              <a:rPr lang="en-US" sz="1200" b="1" dirty="0">
                <a:solidFill>
                  <a:srgbClr val="0F172A"/>
                </a:solidFill>
              </a:rPr>
              <a:t>4</a:t>
            </a:r>
            <a:endParaRPr lang="en-US" sz="1200" dirty="0"/>
          </a:p>
        </p:txBody>
      </p:sp>
      <p:sp>
        <p:nvSpPr>
          <p:cNvPr id="30" name="Shape 28"/>
          <p:cNvSpPr/>
          <p:nvPr/>
        </p:nvSpPr>
        <p:spPr>
          <a:xfrm>
            <a:off x="1170432" y="4123944"/>
            <a:ext cx="822960" cy="256032"/>
          </a:xfrm>
          <a:prstGeom prst="roundRect">
            <a:avLst>
              <a:gd name="adj" fmla="val 28571"/>
            </a:avLst>
          </a:prstGeom>
          <a:solidFill>
            <a:srgbClr val="FEE2E2"/>
          </a:solidFill>
          <a:ln w="12700">
            <a:solidFill>
              <a:srgbClr val="FEE2E2"/>
            </a:solidFill>
            <a:prstDash val="solid"/>
          </a:ln>
        </p:spPr>
      </p:sp>
      <p:sp>
        <p:nvSpPr>
          <p:cNvPr id="31" name="Text 29"/>
          <p:cNvSpPr/>
          <p:nvPr/>
        </p:nvSpPr>
        <p:spPr>
          <a:xfrm>
            <a:off x="1207008" y="4123944"/>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32" name="Text 30"/>
          <p:cNvSpPr/>
          <p:nvPr/>
        </p:nvSpPr>
        <p:spPr>
          <a:xfrm>
            <a:off x="2121408" y="4087368"/>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33" name="Text 31"/>
          <p:cNvSpPr/>
          <p:nvPr/>
        </p:nvSpPr>
        <p:spPr>
          <a:xfrm>
            <a:off x="3794760" y="4032504"/>
            <a:ext cx="3840480" cy="256032"/>
          </a:xfrm>
          <a:prstGeom prst="rect">
            <a:avLst/>
          </a:prstGeom>
          <a:noFill/>
          <a:ln/>
        </p:spPr>
        <p:txBody>
          <a:bodyPr wrap="square" rtlCol="0" anchor="ctr">
            <a:normAutofit/>
          </a:bodyPr>
          <a:lstStyle/>
          <a:p>
            <a:pPr indent="0" marL="0">
              <a:buNone/>
            </a:pPr>
            <a:r>
              <a:rPr lang="en-US" sz="930" dirty="0">
                <a:solidFill>
                  <a:srgbClr val="0F172A"/>
                </a:solidFill>
              </a:rPr>
              <a:t>Do not publish a final effectiveness conclusion until blocked evidence items are resolved.</a:t>
            </a:r>
            <a:endParaRPr lang="en-US" sz="930" dirty="0"/>
          </a:p>
        </p:txBody>
      </p:sp>
      <p:sp>
        <p:nvSpPr>
          <p:cNvPr id="34" name="Text 32"/>
          <p:cNvSpPr/>
          <p:nvPr/>
        </p:nvSpPr>
        <p:spPr>
          <a:xfrm>
            <a:off x="7863840" y="4032504"/>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35" name="Shape 33"/>
          <p:cNvSpPr/>
          <p:nvPr/>
        </p:nvSpPr>
        <p:spPr>
          <a:xfrm>
            <a:off x="594360" y="4910328"/>
            <a:ext cx="10972800" cy="749808"/>
          </a:xfrm>
          <a:prstGeom prst="roundRect">
            <a:avLst>
              <a:gd name="adj" fmla="val 7317"/>
            </a:avLst>
          </a:prstGeom>
          <a:solidFill>
            <a:srgbClr val="FFFFFF"/>
          </a:solidFill>
          <a:ln w="12700">
            <a:solidFill>
              <a:srgbClr val="CBD5E1"/>
            </a:solidFill>
            <a:prstDash val="solid"/>
          </a:ln>
        </p:spPr>
      </p:sp>
      <p:sp>
        <p:nvSpPr>
          <p:cNvPr id="36" name="Text 34"/>
          <p:cNvSpPr/>
          <p:nvPr/>
        </p:nvSpPr>
        <p:spPr>
          <a:xfrm>
            <a:off x="768096" y="5129784"/>
            <a:ext cx="228600" cy="164592"/>
          </a:xfrm>
          <a:prstGeom prst="rect">
            <a:avLst/>
          </a:prstGeom>
          <a:noFill/>
          <a:ln/>
        </p:spPr>
        <p:txBody>
          <a:bodyPr wrap="square" rtlCol="0" anchor="ctr"/>
          <a:lstStyle/>
          <a:p>
            <a:pPr algn="ctr" indent="0" marL="0">
              <a:buNone/>
            </a:pPr>
            <a:r>
              <a:rPr lang="en-US" sz="1200" b="1" dirty="0">
                <a:solidFill>
                  <a:srgbClr val="0F172A"/>
                </a:solidFill>
              </a:rPr>
              <a:t>5</a:t>
            </a:r>
            <a:endParaRPr lang="en-US" sz="1200" dirty="0"/>
          </a:p>
        </p:txBody>
      </p:sp>
      <p:sp>
        <p:nvSpPr>
          <p:cNvPr id="37" name="Shape 35"/>
          <p:cNvSpPr/>
          <p:nvPr/>
        </p:nvSpPr>
        <p:spPr>
          <a:xfrm>
            <a:off x="1170432" y="5111496"/>
            <a:ext cx="82296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1207008" y="5111496"/>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Low</a:t>
            </a:r>
            <a:endParaRPr lang="en-US" sz="740" dirty="0"/>
          </a:p>
        </p:txBody>
      </p:sp>
      <p:sp>
        <p:nvSpPr>
          <p:cNvPr id="39" name="Text 37"/>
          <p:cNvSpPr/>
          <p:nvPr/>
        </p:nvSpPr>
        <p:spPr>
          <a:xfrm>
            <a:off x="2121408" y="5074920"/>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40" name="Text 38"/>
          <p:cNvSpPr/>
          <p:nvPr/>
        </p:nvSpPr>
        <p:spPr>
          <a:xfrm>
            <a:off x="3794760" y="5020056"/>
            <a:ext cx="3840480" cy="256032"/>
          </a:xfrm>
          <a:prstGeom prst="rect">
            <a:avLst/>
          </a:prstGeom>
          <a:noFill/>
          <a:ln/>
        </p:spPr>
        <p:txBody>
          <a:bodyPr wrap="square" rtlCol="0" anchor="ctr">
            <a:normAutofit/>
          </a:bodyPr>
          <a:lstStyle/>
          <a:p>
            <a:pPr indent="0" marL="0">
              <a:buNone/>
            </a:pPr>
            <a:r>
              <a:rPr lang="en-US" sz="930" dirty="0">
                <a:solidFill>
                  <a:srgbClr val="0F172A"/>
                </a:solidFill>
              </a:rPr>
              <a:t>Use this output as a preliminary readiness report and assign owners to missing evidence items.</a:t>
            </a:r>
            <a:endParaRPr lang="en-US" sz="930" dirty="0"/>
          </a:p>
        </p:txBody>
      </p:sp>
      <p:sp>
        <p:nvSpPr>
          <p:cNvPr id="41" name="Text 39"/>
          <p:cNvSpPr/>
          <p:nvPr/>
        </p:nvSpPr>
        <p:spPr>
          <a:xfrm>
            <a:off x="7863840" y="5020056"/>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Delivery roadmap</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Shape 5"/>
          <p:cNvSpPr/>
          <p:nvPr/>
        </p:nvSpPr>
        <p:spPr>
          <a:xfrm>
            <a:off x="1930527" y="1490472"/>
            <a:ext cx="8346186" cy="0"/>
          </a:xfrm>
          <a:prstGeom prst="line">
            <a:avLst/>
          </a:prstGeom>
          <a:noFill/>
          <a:ln w="12700">
            <a:solidFill>
              <a:srgbClr val="93C5FD"/>
            </a:solidFill>
            <a:prstDash val="solid"/>
          </a:ln>
        </p:spPr>
      </p:sp>
      <p:sp>
        <p:nvSpPr>
          <p:cNvPr id="9" name="Shape 6"/>
          <p:cNvSpPr/>
          <p:nvPr/>
        </p:nvSpPr>
        <p:spPr>
          <a:xfrm>
            <a:off x="1674495" y="1234440"/>
            <a:ext cx="512064" cy="512064"/>
          </a:xfrm>
          <a:prstGeom prst="ellipse">
            <a:avLst/>
          </a:prstGeom>
          <a:solidFill>
            <a:srgbClr val="B45309"/>
          </a:solidFill>
          <a:ln w="12700">
            <a:solidFill>
              <a:srgbClr val="FFFFFF"/>
            </a:solidFill>
            <a:prstDash val="solid"/>
          </a:ln>
        </p:spPr>
      </p:sp>
      <p:sp>
        <p:nvSpPr>
          <p:cNvPr id="10" name="Text 7"/>
          <p:cNvSpPr/>
          <p:nvPr/>
        </p:nvSpPr>
        <p:spPr>
          <a:xfrm>
            <a:off x="1674495"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Shape 8"/>
          <p:cNvSpPr/>
          <p:nvPr/>
        </p:nvSpPr>
        <p:spPr>
          <a:xfrm>
            <a:off x="685800" y="1938528"/>
            <a:ext cx="2489454" cy="3364992"/>
          </a:xfrm>
          <a:prstGeom prst="roundRect">
            <a:avLst>
              <a:gd name="adj" fmla="val 2938"/>
            </a:avLst>
          </a:prstGeom>
          <a:solidFill>
            <a:srgbClr val="FFFFFF"/>
          </a:solidFill>
          <a:ln w="12700">
            <a:solidFill>
              <a:srgbClr val="CBD5E1"/>
            </a:solidFill>
            <a:prstDash val="solid"/>
          </a:ln>
        </p:spPr>
      </p:sp>
      <p:sp>
        <p:nvSpPr>
          <p:cNvPr id="12" name="Text 9"/>
          <p:cNvSpPr/>
          <p:nvPr/>
        </p:nvSpPr>
        <p:spPr>
          <a:xfrm>
            <a:off x="868680" y="2212848"/>
            <a:ext cx="1346454" cy="164592"/>
          </a:xfrm>
          <a:prstGeom prst="rect">
            <a:avLst/>
          </a:prstGeom>
          <a:noFill/>
          <a:ln/>
        </p:spPr>
        <p:txBody>
          <a:bodyPr wrap="square" lIns="0" tIns="0" rIns="0" bIns="0" rtlCol="0" anchor="ctr"/>
          <a:lstStyle/>
          <a:p>
            <a:pPr indent="0" marL="0">
              <a:buNone/>
            </a:pPr>
            <a:r>
              <a:rPr lang="en-US" sz="800" b="1" dirty="0">
                <a:solidFill>
                  <a:srgbClr val="64748B"/>
                </a:solidFill>
              </a:rPr>
              <a:t>ACTION 1</a:t>
            </a:r>
            <a:endParaRPr lang="en-US" sz="800" dirty="0"/>
          </a:p>
        </p:txBody>
      </p:sp>
      <p:sp>
        <p:nvSpPr>
          <p:cNvPr id="13" name="Shape 10"/>
          <p:cNvSpPr/>
          <p:nvPr/>
        </p:nvSpPr>
        <p:spPr>
          <a:xfrm>
            <a:off x="2215134" y="2148840"/>
            <a:ext cx="749808" cy="256032"/>
          </a:xfrm>
          <a:prstGeom prst="roundRect">
            <a:avLst>
              <a:gd name="adj" fmla="val 28571"/>
            </a:avLst>
          </a:prstGeom>
          <a:solidFill>
            <a:srgbClr val="FEF3C7"/>
          </a:solidFill>
          <a:ln w="12700">
            <a:solidFill>
              <a:srgbClr val="FEF3C7"/>
            </a:solidFill>
            <a:prstDash val="solid"/>
          </a:ln>
        </p:spPr>
      </p:sp>
      <p:sp>
        <p:nvSpPr>
          <p:cNvPr id="14" name="Text 11"/>
          <p:cNvSpPr/>
          <p:nvPr/>
        </p:nvSpPr>
        <p:spPr>
          <a:xfrm>
            <a:off x="2251710"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15" name="Text 12"/>
          <p:cNvSpPr/>
          <p:nvPr/>
        </p:nvSpPr>
        <p:spPr>
          <a:xfrm>
            <a:off x="868680" y="2633472"/>
            <a:ext cx="2123694"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Team Manager + L&amp;D</a:t>
            </a:r>
            <a:endParaRPr lang="en-US" sz="1100" dirty="0"/>
          </a:p>
        </p:txBody>
      </p:sp>
      <p:sp>
        <p:nvSpPr>
          <p:cNvPr id="16" name="Text 13"/>
          <p:cNvSpPr/>
          <p:nvPr/>
        </p:nvSpPr>
        <p:spPr>
          <a:xfrm>
            <a:off x="868680" y="3090672"/>
            <a:ext cx="2123694"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Flag course for content review; notify L&amp;D manager</a:t>
            </a:r>
            <a:endParaRPr lang="en-US" sz="1050" dirty="0"/>
          </a:p>
        </p:txBody>
      </p:sp>
      <p:sp>
        <p:nvSpPr>
          <p:cNvPr id="17" name="Text 14"/>
          <p:cNvSpPr/>
          <p:nvPr/>
        </p:nvSpPr>
        <p:spPr>
          <a:xfrm>
            <a:off x="868680" y="4315968"/>
            <a:ext cx="2123694"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18" name="Text 15"/>
          <p:cNvSpPr/>
          <p:nvPr/>
        </p:nvSpPr>
        <p:spPr>
          <a:xfrm>
            <a:off x="868680" y="4590288"/>
            <a:ext cx="2123694"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19" name="Shape 16"/>
          <p:cNvSpPr/>
          <p:nvPr/>
        </p:nvSpPr>
        <p:spPr>
          <a:xfrm>
            <a:off x="4456557" y="1234440"/>
            <a:ext cx="512064" cy="512064"/>
          </a:xfrm>
          <a:prstGeom prst="ellipse">
            <a:avLst/>
          </a:prstGeom>
          <a:solidFill>
            <a:srgbClr val="B91C1C"/>
          </a:solidFill>
          <a:ln w="12700">
            <a:solidFill>
              <a:srgbClr val="FFFFFF"/>
            </a:solidFill>
            <a:prstDash val="solid"/>
          </a:ln>
        </p:spPr>
      </p:sp>
      <p:sp>
        <p:nvSpPr>
          <p:cNvPr id="20" name="Text 17"/>
          <p:cNvSpPr/>
          <p:nvPr/>
        </p:nvSpPr>
        <p:spPr>
          <a:xfrm>
            <a:off x="4456557"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1" name="Shape 18"/>
          <p:cNvSpPr/>
          <p:nvPr/>
        </p:nvSpPr>
        <p:spPr>
          <a:xfrm>
            <a:off x="3467862" y="1938528"/>
            <a:ext cx="2489454" cy="3364992"/>
          </a:xfrm>
          <a:prstGeom prst="roundRect">
            <a:avLst>
              <a:gd name="adj" fmla="val 2938"/>
            </a:avLst>
          </a:prstGeom>
          <a:solidFill>
            <a:srgbClr val="FFFFFF"/>
          </a:solidFill>
          <a:ln w="12700">
            <a:solidFill>
              <a:srgbClr val="CBD5E1"/>
            </a:solidFill>
            <a:prstDash val="solid"/>
          </a:ln>
        </p:spPr>
      </p:sp>
      <p:sp>
        <p:nvSpPr>
          <p:cNvPr id="22" name="Text 19"/>
          <p:cNvSpPr/>
          <p:nvPr/>
        </p:nvSpPr>
        <p:spPr>
          <a:xfrm>
            <a:off x="3650742" y="2212848"/>
            <a:ext cx="1346454" cy="164592"/>
          </a:xfrm>
          <a:prstGeom prst="rect">
            <a:avLst/>
          </a:prstGeom>
          <a:noFill/>
          <a:ln/>
        </p:spPr>
        <p:txBody>
          <a:bodyPr wrap="square" lIns="0" tIns="0" rIns="0" bIns="0" rtlCol="0" anchor="ctr"/>
          <a:lstStyle/>
          <a:p>
            <a:pPr indent="0" marL="0">
              <a:buNone/>
            </a:pPr>
            <a:r>
              <a:rPr lang="en-US" sz="800" b="1" dirty="0">
                <a:solidFill>
                  <a:srgbClr val="64748B"/>
                </a:solidFill>
              </a:rPr>
              <a:t>ACTION 2</a:t>
            </a:r>
            <a:endParaRPr lang="en-US" sz="800" dirty="0"/>
          </a:p>
        </p:txBody>
      </p:sp>
      <p:sp>
        <p:nvSpPr>
          <p:cNvPr id="23" name="Shape 20"/>
          <p:cNvSpPr/>
          <p:nvPr/>
        </p:nvSpPr>
        <p:spPr>
          <a:xfrm>
            <a:off x="4997196" y="2148840"/>
            <a:ext cx="749808" cy="256032"/>
          </a:xfrm>
          <a:prstGeom prst="roundRect">
            <a:avLst>
              <a:gd name="adj" fmla="val 28571"/>
            </a:avLst>
          </a:prstGeom>
          <a:solidFill>
            <a:srgbClr val="FEE2E2"/>
          </a:solidFill>
          <a:ln w="12700">
            <a:solidFill>
              <a:srgbClr val="FEE2E2"/>
            </a:solidFill>
            <a:prstDash val="solid"/>
          </a:ln>
        </p:spPr>
      </p:sp>
      <p:sp>
        <p:nvSpPr>
          <p:cNvPr id="24" name="Text 21"/>
          <p:cNvSpPr/>
          <p:nvPr/>
        </p:nvSpPr>
        <p:spPr>
          <a:xfrm>
            <a:off x="5033772"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25" name="Text 22"/>
          <p:cNvSpPr/>
          <p:nvPr/>
        </p:nvSpPr>
        <p:spPr>
          <a:xfrm>
            <a:off x="3650742" y="2633472"/>
            <a:ext cx="2123694"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26" name="Text 23"/>
          <p:cNvSpPr/>
          <p:nvPr/>
        </p:nvSpPr>
        <p:spPr>
          <a:xfrm>
            <a:off x="3650742" y="3090672"/>
            <a:ext cx="2123694"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Mark as Incomplete; recommend re-enrollment in next cohort</a:t>
            </a:r>
            <a:endParaRPr lang="en-US" sz="1050" dirty="0"/>
          </a:p>
        </p:txBody>
      </p:sp>
      <p:sp>
        <p:nvSpPr>
          <p:cNvPr id="27" name="Text 24"/>
          <p:cNvSpPr/>
          <p:nvPr/>
        </p:nvSpPr>
        <p:spPr>
          <a:xfrm>
            <a:off x="3650742" y="4315968"/>
            <a:ext cx="2123694"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28" name="Text 25"/>
          <p:cNvSpPr/>
          <p:nvPr/>
        </p:nvSpPr>
        <p:spPr>
          <a:xfrm>
            <a:off x="3650742" y="4590288"/>
            <a:ext cx="2123694"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29" name="Shape 26"/>
          <p:cNvSpPr/>
          <p:nvPr/>
        </p:nvSpPr>
        <p:spPr>
          <a:xfrm>
            <a:off x="7238619" y="1234440"/>
            <a:ext cx="512064" cy="512064"/>
          </a:xfrm>
          <a:prstGeom prst="ellipse">
            <a:avLst/>
          </a:prstGeom>
          <a:solidFill>
            <a:srgbClr val="B91C1C"/>
          </a:solidFill>
          <a:ln w="12700">
            <a:solidFill>
              <a:srgbClr val="FFFFFF"/>
            </a:solidFill>
            <a:prstDash val="solid"/>
          </a:ln>
        </p:spPr>
      </p:sp>
      <p:sp>
        <p:nvSpPr>
          <p:cNvPr id="30" name="Text 27"/>
          <p:cNvSpPr/>
          <p:nvPr/>
        </p:nvSpPr>
        <p:spPr>
          <a:xfrm>
            <a:off x="7238619"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31" name="Shape 28"/>
          <p:cNvSpPr/>
          <p:nvPr/>
        </p:nvSpPr>
        <p:spPr>
          <a:xfrm>
            <a:off x="6249924" y="1938528"/>
            <a:ext cx="2489454" cy="3364992"/>
          </a:xfrm>
          <a:prstGeom prst="roundRect">
            <a:avLst>
              <a:gd name="adj" fmla="val 2938"/>
            </a:avLst>
          </a:prstGeom>
          <a:solidFill>
            <a:srgbClr val="FFFFFF"/>
          </a:solidFill>
          <a:ln w="12700">
            <a:solidFill>
              <a:srgbClr val="CBD5E1"/>
            </a:solidFill>
            <a:prstDash val="solid"/>
          </a:ln>
        </p:spPr>
      </p:sp>
      <p:sp>
        <p:nvSpPr>
          <p:cNvPr id="32" name="Text 29"/>
          <p:cNvSpPr/>
          <p:nvPr/>
        </p:nvSpPr>
        <p:spPr>
          <a:xfrm>
            <a:off x="6432804" y="2212848"/>
            <a:ext cx="1346454" cy="164592"/>
          </a:xfrm>
          <a:prstGeom prst="rect">
            <a:avLst/>
          </a:prstGeom>
          <a:noFill/>
          <a:ln/>
        </p:spPr>
        <p:txBody>
          <a:bodyPr wrap="square" lIns="0" tIns="0" rIns="0" bIns="0" rtlCol="0" anchor="ctr"/>
          <a:lstStyle/>
          <a:p>
            <a:pPr indent="0" marL="0">
              <a:buNone/>
            </a:pPr>
            <a:r>
              <a:rPr lang="en-US" sz="800" b="1" dirty="0">
                <a:solidFill>
                  <a:srgbClr val="64748B"/>
                </a:solidFill>
              </a:rPr>
              <a:t>ACTION 3</a:t>
            </a:r>
            <a:endParaRPr lang="en-US" sz="800" dirty="0"/>
          </a:p>
        </p:txBody>
      </p:sp>
      <p:sp>
        <p:nvSpPr>
          <p:cNvPr id="33" name="Shape 30"/>
          <p:cNvSpPr/>
          <p:nvPr/>
        </p:nvSpPr>
        <p:spPr>
          <a:xfrm>
            <a:off x="7779258" y="2148840"/>
            <a:ext cx="749808" cy="256032"/>
          </a:xfrm>
          <a:prstGeom prst="roundRect">
            <a:avLst>
              <a:gd name="adj" fmla="val 28571"/>
            </a:avLst>
          </a:prstGeom>
          <a:solidFill>
            <a:srgbClr val="FEE2E2"/>
          </a:solidFill>
          <a:ln w="12700">
            <a:solidFill>
              <a:srgbClr val="FEE2E2"/>
            </a:solidFill>
            <a:prstDash val="solid"/>
          </a:ln>
        </p:spPr>
      </p:sp>
      <p:sp>
        <p:nvSpPr>
          <p:cNvPr id="34" name="Text 31"/>
          <p:cNvSpPr/>
          <p:nvPr/>
        </p:nvSpPr>
        <p:spPr>
          <a:xfrm>
            <a:off x="7815834"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35" name="Text 32"/>
          <p:cNvSpPr/>
          <p:nvPr/>
        </p:nvSpPr>
        <p:spPr>
          <a:xfrm>
            <a:off x="6432804" y="2633472"/>
            <a:ext cx="2123694"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36" name="Text 33"/>
          <p:cNvSpPr/>
          <p:nvPr/>
        </p:nvSpPr>
        <p:spPr>
          <a:xfrm>
            <a:off x="6432804" y="3090672"/>
            <a:ext cx="2123694"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Block final conclusion; flag data incomplete</a:t>
            </a:r>
            <a:endParaRPr lang="en-US" sz="1050" dirty="0"/>
          </a:p>
        </p:txBody>
      </p:sp>
      <p:sp>
        <p:nvSpPr>
          <p:cNvPr id="37" name="Text 34"/>
          <p:cNvSpPr/>
          <p:nvPr/>
        </p:nvSpPr>
        <p:spPr>
          <a:xfrm>
            <a:off x="6432804" y="4315968"/>
            <a:ext cx="2123694"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38" name="Text 35"/>
          <p:cNvSpPr/>
          <p:nvPr/>
        </p:nvSpPr>
        <p:spPr>
          <a:xfrm>
            <a:off x="6432804" y="4590288"/>
            <a:ext cx="2123694"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39" name="Shape 36"/>
          <p:cNvSpPr/>
          <p:nvPr/>
        </p:nvSpPr>
        <p:spPr>
          <a:xfrm>
            <a:off x="10020681" y="1234440"/>
            <a:ext cx="512064" cy="512064"/>
          </a:xfrm>
          <a:prstGeom prst="ellipse">
            <a:avLst/>
          </a:prstGeom>
          <a:solidFill>
            <a:srgbClr val="B91C1C"/>
          </a:solidFill>
          <a:ln w="12700">
            <a:solidFill>
              <a:srgbClr val="FFFFFF"/>
            </a:solidFill>
            <a:prstDash val="solid"/>
          </a:ln>
        </p:spPr>
      </p:sp>
      <p:sp>
        <p:nvSpPr>
          <p:cNvPr id="40" name="Text 37"/>
          <p:cNvSpPr/>
          <p:nvPr/>
        </p:nvSpPr>
        <p:spPr>
          <a:xfrm>
            <a:off x="10020681"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41" name="Shape 38"/>
          <p:cNvSpPr/>
          <p:nvPr/>
        </p:nvSpPr>
        <p:spPr>
          <a:xfrm>
            <a:off x="9031986" y="1938528"/>
            <a:ext cx="2489454" cy="3364992"/>
          </a:xfrm>
          <a:prstGeom prst="roundRect">
            <a:avLst>
              <a:gd name="adj" fmla="val 2938"/>
            </a:avLst>
          </a:prstGeom>
          <a:solidFill>
            <a:srgbClr val="FFFFFF"/>
          </a:solidFill>
          <a:ln w="12700">
            <a:solidFill>
              <a:srgbClr val="CBD5E1"/>
            </a:solidFill>
            <a:prstDash val="solid"/>
          </a:ln>
        </p:spPr>
      </p:sp>
      <p:sp>
        <p:nvSpPr>
          <p:cNvPr id="42" name="Text 39"/>
          <p:cNvSpPr/>
          <p:nvPr/>
        </p:nvSpPr>
        <p:spPr>
          <a:xfrm>
            <a:off x="9214866" y="2212848"/>
            <a:ext cx="1346454" cy="164592"/>
          </a:xfrm>
          <a:prstGeom prst="rect">
            <a:avLst/>
          </a:prstGeom>
          <a:noFill/>
          <a:ln/>
        </p:spPr>
        <p:txBody>
          <a:bodyPr wrap="square" lIns="0" tIns="0" rIns="0" bIns="0" rtlCol="0" anchor="ctr"/>
          <a:lstStyle/>
          <a:p>
            <a:pPr indent="0" marL="0">
              <a:buNone/>
            </a:pPr>
            <a:r>
              <a:rPr lang="en-US" sz="800" b="1" dirty="0">
                <a:solidFill>
                  <a:srgbClr val="64748B"/>
                </a:solidFill>
              </a:rPr>
              <a:t>ACTION 4</a:t>
            </a:r>
            <a:endParaRPr lang="en-US" sz="800" dirty="0"/>
          </a:p>
        </p:txBody>
      </p:sp>
      <p:sp>
        <p:nvSpPr>
          <p:cNvPr id="43" name="Shape 40"/>
          <p:cNvSpPr/>
          <p:nvPr/>
        </p:nvSpPr>
        <p:spPr>
          <a:xfrm>
            <a:off x="10561320" y="2148840"/>
            <a:ext cx="749808" cy="256032"/>
          </a:xfrm>
          <a:prstGeom prst="roundRect">
            <a:avLst>
              <a:gd name="adj" fmla="val 28571"/>
            </a:avLst>
          </a:prstGeom>
          <a:solidFill>
            <a:srgbClr val="FEE2E2"/>
          </a:solidFill>
          <a:ln w="12700">
            <a:solidFill>
              <a:srgbClr val="FEE2E2"/>
            </a:solidFill>
            <a:prstDash val="solid"/>
          </a:ln>
        </p:spPr>
      </p:sp>
      <p:sp>
        <p:nvSpPr>
          <p:cNvPr id="44" name="Text 41"/>
          <p:cNvSpPr/>
          <p:nvPr/>
        </p:nvSpPr>
        <p:spPr>
          <a:xfrm>
            <a:off x="10597896"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45" name="Text 42"/>
          <p:cNvSpPr/>
          <p:nvPr/>
        </p:nvSpPr>
        <p:spPr>
          <a:xfrm>
            <a:off x="9214866" y="2633472"/>
            <a:ext cx="2123694"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46" name="Text 43"/>
          <p:cNvSpPr/>
          <p:nvPr/>
        </p:nvSpPr>
        <p:spPr>
          <a:xfrm>
            <a:off x="9214866" y="3090672"/>
            <a:ext cx="2123694"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Do not publish a final effectiveness conclusion until blocked evidence items are resolved.</a:t>
            </a:r>
            <a:endParaRPr lang="en-US" sz="1050" dirty="0"/>
          </a:p>
        </p:txBody>
      </p:sp>
      <p:sp>
        <p:nvSpPr>
          <p:cNvPr id="47" name="Text 44"/>
          <p:cNvSpPr/>
          <p:nvPr/>
        </p:nvSpPr>
        <p:spPr>
          <a:xfrm>
            <a:off x="9214866" y="4315968"/>
            <a:ext cx="2123694"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48" name="Text 45"/>
          <p:cNvSpPr/>
          <p:nvPr/>
        </p:nvSpPr>
        <p:spPr>
          <a:xfrm>
            <a:off x="9214866" y="4590288"/>
            <a:ext cx="2123694"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Appendix and methodology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readiness</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2926080" cy="274320"/>
          </a:xfrm>
          <a:prstGeom prst="rect">
            <a:avLst/>
          </a:prstGeom>
          <a:noFill/>
          <a:ln/>
        </p:spPr>
        <p:txBody>
          <a:bodyPr wrap="square" rtlCol="0" anchor="ctr"/>
          <a:lstStyle/>
          <a:p>
            <a:pPr indent="0" marL="0">
              <a:buNone/>
            </a:pPr>
            <a:r>
              <a:rPr lang="en-US" sz="1600" b="1" dirty="0">
                <a:solidFill>
                  <a:srgbClr val="0F172A"/>
                </a:solidFill>
              </a:rPr>
              <a:t>Source traceability</a:t>
            </a:r>
            <a:endParaRPr lang="en-US" sz="1600" dirty="0"/>
          </a:p>
        </p:txBody>
      </p:sp>
      <p:sp>
        <p:nvSpPr>
          <p:cNvPr id="8" name="Text 6"/>
          <p:cNvSpPr/>
          <p:nvPr/>
        </p:nvSpPr>
        <p:spPr>
          <a:xfrm>
            <a:off x="731520" y="1481328"/>
            <a:ext cx="5120640" cy="219456"/>
          </a:xfrm>
          <a:prstGeom prst="rect">
            <a:avLst/>
          </a:prstGeom>
          <a:noFill/>
          <a:ln/>
        </p:spPr>
        <p:txBody>
          <a:bodyPr wrap="square" rtlCol="0" anchor="ctr">
            <a:normAutofit/>
          </a:bodyPr>
          <a:lstStyle/>
          <a:p>
            <a:pPr indent="0" marL="0">
              <a:buNone/>
            </a:pPr>
            <a:r>
              <a:rPr lang="en-US" sz="1050" dirty="0">
                <a:solidFill>
                  <a:srgbClr val="0F172A"/>
                </a:solidFill>
              </a:rPr>
              <a:t>Report ID: rpt_913a2be1-595c-4cde-86bc-ac47fb90eafc</a:t>
            </a:r>
            <a:endParaRPr lang="en-US" sz="1050" dirty="0"/>
          </a:p>
        </p:txBody>
      </p:sp>
      <p:sp>
        <p:nvSpPr>
          <p:cNvPr id="9" name="Text 7"/>
          <p:cNvSpPr/>
          <p:nvPr/>
        </p:nvSpPr>
        <p:spPr>
          <a:xfrm>
            <a:off x="731520" y="1792224"/>
            <a:ext cx="5120640" cy="219456"/>
          </a:xfrm>
          <a:prstGeom prst="rect">
            <a:avLst/>
          </a:prstGeom>
          <a:noFill/>
          <a:ln/>
        </p:spPr>
        <p:txBody>
          <a:bodyPr wrap="square" rtlCol="0" anchor="ctr">
            <a:normAutofit/>
          </a:bodyPr>
          <a:lstStyle/>
          <a:p>
            <a:pPr indent="0" marL="0">
              <a:buNone/>
            </a:pPr>
            <a:r>
              <a:rPr lang="en-US" sz="1050" dirty="0">
                <a:solidFill>
                  <a:srgbClr val="0F172A"/>
                </a:solidFill>
              </a:rPr>
              <a:t>Dataset ID: ds_6223fa1344b54e7e</a:t>
            </a:r>
            <a:endParaRPr lang="en-US" sz="1050" dirty="0"/>
          </a:p>
        </p:txBody>
      </p:sp>
      <p:sp>
        <p:nvSpPr>
          <p:cNvPr id="10" name="Text 8"/>
          <p:cNvSpPr/>
          <p:nvPr/>
        </p:nvSpPr>
        <p:spPr>
          <a:xfrm>
            <a:off x="731520" y="2103120"/>
            <a:ext cx="5120640" cy="219456"/>
          </a:xfrm>
          <a:prstGeom prst="rect">
            <a:avLst/>
          </a:prstGeom>
          <a:noFill/>
          <a:ln/>
        </p:spPr>
        <p:txBody>
          <a:bodyPr wrap="square" rtlCol="0" anchor="ctr">
            <a:normAutofit/>
          </a:bodyPr>
          <a:lstStyle/>
          <a:p>
            <a:pPr indent="0" marL="0">
              <a:buNone/>
            </a:pPr>
            <a:r>
              <a:rPr lang="en-US" sz="1050" dirty="0">
                <a:solidFill>
                  <a:srgbClr val="0F172A"/>
                </a:solidFill>
              </a:rPr>
              <a:t>Metrics snapshot ID: mx_c92a9c80-7a3d-4e01-a79c-c7ffa625abfe</a:t>
            </a:r>
            <a:endParaRPr lang="en-US" sz="1050" dirty="0"/>
          </a:p>
        </p:txBody>
      </p:sp>
      <p:sp>
        <p:nvSpPr>
          <p:cNvPr id="11" name="Text 9"/>
          <p:cNvSpPr/>
          <p:nvPr/>
        </p:nvSpPr>
        <p:spPr>
          <a:xfrm>
            <a:off x="731520" y="2414016"/>
            <a:ext cx="5120640" cy="219456"/>
          </a:xfrm>
          <a:prstGeom prst="rect">
            <a:avLst/>
          </a:prstGeom>
          <a:noFill/>
          <a:ln/>
        </p:spPr>
        <p:txBody>
          <a:bodyPr wrap="square" rtlCol="0" anchor="ctr">
            <a:normAutofit/>
          </a:bodyPr>
          <a:lstStyle/>
          <a:p>
            <a:pPr indent="0" marL="0">
              <a:buNone/>
            </a:pPr>
            <a:r>
              <a:rPr lang="en-US" sz="1050" dirty="0">
                <a:solidFill>
                  <a:srgbClr val="0F172A"/>
                </a:solidFill>
              </a:rPr>
              <a:t>Evidence decision ID: ev_fab84c83-0387-49cf-8cd6-9a989759ed13</a:t>
            </a:r>
            <a:endParaRPr lang="en-US" sz="1050" dirty="0"/>
          </a:p>
        </p:txBody>
      </p:sp>
      <p:sp>
        <p:nvSpPr>
          <p:cNvPr id="12" name="Text 10"/>
          <p:cNvSpPr/>
          <p:nvPr/>
        </p:nvSpPr>
        <p:spPr>
          <a:xfrm>
            <a:off x="731520" y="2724912"/>
            <a:ext cx="5120640" cy="219456"/>
          </a:xfrm>
          <a:prstGeom prst="rect">
            <a:avLst/>
          </a:prstGeom>
          <a:noFill/>
          <a:ln/>
        </p:spPr>
        <p:txBody>
          <a:bodyPr wrap="square" rtlCol="0" anchor="ctr">
            <a:normAutofit/>
          </a:bodyPr>
          <a:lstStyle/>
          <a:p>
            <a:pPr indent="0" marL="0">
              <a:buNone/>
            </a:pPr>
            <a:r>
              <a:rPr lang="en-US" sz="1050" dirty="0">
                <a:solidFill>
                  <a:srgbClr val="0F172A"/>
                </a:solidFill>
              </a:rPr>
              <a:t>Governance view ID: gv_d19f12f8-1c01-49b3-ae08-dc082c8ebe84</a:t>
            </a:r>
            <a:endParaRPr lang="en-US" sz="1050" dirty="0"/>
          </a:p>
        </p:txBody>
      </p:sp>
      <p:sp>
        <p:nvSpPr>
          <p:cNvPr id="13" name="Text 11"/>
          <p:cNvSpPr/>
          <p:nvPr/>
        </p:nvSpPr>
        <p:spPr>
          <a:xfrm>
            <a:off x="731520" y="3035808"/>
            <a:ext cx="5120640" cy="219456"/>
          </a:xfrm>
          <a:prstGeom prst="rect">
            <a:avLst/>
          </a:prstGeom>
          <a:noFill/>
          <a:ln/>
        </p:spPr>
        <p:txBody>
          <a:bodyPr wrap="square" rtlCol="0" anchor="ctr">
            <a:normAutofit/>
          </a:bodyPr>
          <a:lstStyle/>
          <a:p>
            <a:pPr indent="0" marL="0">
              <a:buNone/>
            </a:pPr>
            <a:r>
              <a:rPr lang="en-US" sz="1050" dirty="0">
                <a:solidFill>
                  <a:srgbClr val="0F172A"/>
                </a:solidFill>
              </a:rPr>
              <a:t>Role view: L&amp;D Manager</a:t>
            </a:r>
            <a:endParaRPr lang="en-US" sz="1050" dirty="0"/>
          </a:p>
        </p:txBody>
      </p:sp>
      <p:sp>
        <p:nvSpPr>
          <p:cNvPr id="14" name="Text 12"/>
          <p:cNvSpPr/>
          <p:nvPr/>
        </p:nvSpPr>
        <p:spPr>
          <a:xfrm>
            <a:off x="731520" y="3346704"/>
            <a:ext cx="5120640" cy="219456"/>
          </a:xfrm>
          <a:prstGeom prst="rect">
            <a:avLst/>
          </a:prstGeom>
          <a:noFill/>
          <a:ln/>
        </p:spPr>
        <p:txBody>
          <a:bodyPr wrap="square" rtlCol="0" anchor="ctr">
            <a:normAutofit/>
          </a:bodyPr>
          <a:lstStyle/>
          <a:p>
            <a:pPr indent="0" marL="0">
              <a:buNone/>
            </a:pPr>
            <a:r>
              <a:rPr lang="en-US" sz="1050" dirty="0">
                <a:solidFill>
                  <a:srgbClr val="0F172A"/>
                </a:solidFill>
              </a:rPr>
              <a:t>Sensitive details: visible</a:t>
            </a:r>
            <a:endParaRPr lang="en-US" sz="1050" dirty="0"/>
          </a:p>
        </p:txBody>
      </p:sp>
      <p:sp>
        <p:nvSpPr>
          <p:cNvPr id="15" name="Text 13"/>
          <p:cNvSpPr/>
          <p:nvPr/>
        </p:nvSpPr>
        <p:spPr>
          <a:xfrm>
            <a:off x="6492240" y="1051560"/>
            <a:ext cx="2926080" cy="274320"/>
          </a:xfrm>
          <a:prstGeom prst="rect">
            <a:avLst/>
          </a:prstGeom>
          <a:noFill/>
          <a:ln/>
        </p:spPr>
        <p:txBody>
          <a:bodyPr wrap="square" rtlCol="0" anchor="ctr"/>
          <a:lstStyle/>
          <a:p>
            <a:pPr indent="0" marL="0">
              <a:buNone/>
            </a:pPr>
            <a:r>
              <a:rPr lang="en-US" sz="1600" b="1" dirty="0">
                <a:solidFill>
                  <a:srgbClr val="0F172A"/>
                </a:solidFill>
              </a:rPr>
              <a:t>LLM disclosure</a:t>
            </a:r>
            <a:endParaRPr lang="en-US" sz="1600" dirty="0"/>
          </a:p>
        </p:txBody>
      </p:sp>
      <p:sp>
        <p:nvSpPr>
          <p:cNvPr id="16" name="Shape 14"/>
          <p:cNvSpPr/>
          <p:nvPr/>
        </p:nvSpPr>
        <p:spPr>
          <a:xfrm>
            <a:off x="6492240" y="1463040"/>
            <a:ext cx="4983480" cy="1371600"/>
          </a:xfrm>
          <a:prstGeom prst="roundRect">
            <a:avLst>
              <a:gd name="adj" fmla="val 5333"/>
            </a:avLst>
          </a:prstGeom>
          <a:solidFill>
            <a:srgbClr val="F8FAFC"/>
          </a:solidFill>
          <a:ln w="12700">
            <a:solidFill>
              <a:srgbClr val="CBD5E1"/>
            </a:solidFill>
            <a:prstDash val="solid"/>
          </a:ln>
        </p:spPr>
      </p:sp>
      <p:sp>
        <p:nvSpPr>
          <p:cNvPr id="17" name="Text 15"/>
          <p:cNvSpPr/>
          <p:nvPr/>
        </p:nvSpPr>
        <p:spPr>
          <a:xfrm>
            <a:off x="6720840" y="1700784"/>
            <a:ext cx="4480560" cy="777240"/>
          </a:xfrm>
          <a:prstGeom prst="rect">
            <a:avLst/>
          </a:prstGeom>
          <a:noFill/>
          <a:ln/>
        </p:spPr>
        <p:txBody>
          <a:bodyPr wrap="square" rtlCol="0" anchor="ctr">
            <a:normAutofit/>
          </a:bodyPr>
          <a:lstStyle/>
          <a:p>
            <a:pPr indent="0" marL="0">
              <a:buNone/>
            </a:pPr>
            <a:r>
              <a:rPr lang="en-US" sz="1150" dirty="0">
                <a:solidFill>
                  <a:srgbClr val="0F172A"/>
                </a:solidFill>
              </a:rPr>
              <a:t>OpenAI gpt-4o-mini enriched narrative fields. Numeric metrics remain deterministic.</a:t>
            </a:r>
            <a:endParaRPr lang="en-US" sz="1150" dirty="0"/>
          </a:p>
        </p:txBody>
      </p:sp>
      <p:sp>
        <p:nvSpPr>
          <p:cNvPr id="18" name="Text 16"/>
          <p:cNvSpPr/>
          <p:nvPr/>
        </p:nvSpPr>
        <p:spPr>
          <a:xfrm>
            <a:off x="6492240" y="3246120"/>
            <a:ext cx="2926080" cy="274320"/>
          </a:xfrm>
          <a:prstGeom prst="rect">
            <a:avLst/>
          </a:prstGeom>
          <a:noFill/>
          <a:ln/>
        </p:spPr>
        <p:txBody>
          <a:bodyPr wrap="square" rtlCol="0" anchor="ctr"/>
          <a:lstStyle/>
          <a:p>
            <a:pPr indent="0" marL="0">
              <a:buNone/>
            </a:pPr>
            <a:r>
              <a:rPr lang="en-US" sz="1600" b="1" dirty="0">
                <a:solidFill>
                  <a:srgbClr val="0F172A"/>
                </a:solidFill>
              </a:rPr>
              <a:t>Business rule</a:t>
            </a:r>
            <a:endParaRPr lang="en-US" sz="1600" dirty="0"/>
          </a:p>
        </p:txBody>
      </p:sp>
      <p:sp>
        <p:nvSpPr>
          <p:cNvPr id="19" name="Text 17"/>
          <p:cNvSpPr/>
          <p:nvPr/>
        </p:nvSpPr>
        <p:spPr>
          <a:xfrm>
            <a:off x="6492240" y="3675888"/>
            <a:ext cx="4892040" cy="685800"/>
          </a:xfrm>
          <a:prstGeom prst="rect">
            <a:avLst/>
          </a:prstGeom>
          <a:noFill/>
          <a:ln/>
        </p:spPr>
        <p:txBody>
          <a:bodyPr wrap="square" rtlCol="0" anchor="ctr">
            <a:normAutofit/>
          </a:bodyPr>
          <a:lstStyle/>
          <a:p>
            <a:pPr indent="0" marL="0">
              <a:buNone/>
            </a:pPr>
            <a:r>
              <a:rPr lang="en-US" sz="1200" dirty="0">
                <a:solidFill>
                  <a:srgbClr val="0F172A"/>
                </a:solidFill>
              </a:rPr>
              <a:t>Completion rate is calculated from learner attendance &gt;= 70%. Pass rate is calculated independently from assessment pass status.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L&amp;D Training Effectiveness Report - Technical Leadership &amp; Communication</dc:title>
  <dc:subject>Evidence gaps block a final effectiveness conclusion.</dc:subject>
  <dc:creator>SETA L&amp;D Reporting Agent</dc:creator>
  <cp:lastModifiedBy>SETA L&amp;D Reporting Agent</cp:lastModifiedBy>
  <cp:revision>1</cp:revision>
  <dcterms:created xsi:type="dcterms:W3CDTF">2026-06-21T18:59:55Z</dcterms:created>
  <dcterms:modified xsi:type="dcterms:W3CDTF">2026-06-21T18:59:55Z</dcterms:modified>
</cp:coreProperties>
</file>