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Leadership_06_2026</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needs management attention.</a:t>
            </a:r>
            <a:endParaRPr lang="en-US" sz="1800" dirty="0"/>
          </a:p>
        </p:txBody>
      </p:sp>
      <p:sp>
        <p:nvSpPr>
          <p:cNvPr id="7" name="Shape 5"/>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8" name="Text 6"/>
          <p:cNvSpPr/>
          <p:nvPr/>
        </p:nvSpPr>
        <p:spPr>
          <a:xfrm>
            <a:off x="694944" y="3753612"/>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Passed</a:t>
            </a:r>
            <a:endParaRPr lang="en-US" sz="740" dirty="0"/>
          </a:p>
        </p:txBody>
      </p:sp>
      <p:sp>
        <p:nvSpPr>
          <p:cNvPr id="9" name="Shape 7"/>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10" name="Text 8"/>
          <p:cNvSpPr/>
          <p:nvPr/>
        </p:nvSpPr>
        <p:spPr>
          <a:xfrm>
            <a:off x="209397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Draft</a:t>
            </a:r>
            <a:endParaRPr lang="en-US" sz="740" dirty="0"/>
          </a:p>
        </p:txBody>
      </p:sp>
      <p:sp>
        <p:nvSpPr>
          <p:cNvPr id="11" name="Shape 9"/>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12" name="Text 10"/>
          <p:cNvSpPr/>
          <p:nvPr/>
        </p:nvSpPr>
        <p:spPr>
          <a:xfrm>
            <a:off x="332841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L&amp;D Manager</a:t>
            </a:r>
            <a:endParaRPr lang="en-US" sz="740" dirty="0"/>
          </a:p>
        </p:txBody>
      </p:sp>
      <p:sp>
        <p:nvSpPr>
          <p:cNvPr id="13" name="Text 11"/>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Period 2026-Q1 | Course Leadership_06_2026 | Type full</a:t>
            </a:r>
            <a:endParaRPr lang="en-US" sz="1200" dirty="0"/>
          </a:p>
        </p:txBody>
      </p:sp>
      <p:sp>
        <p:nvSpPr>
          <p:cNvPr id="14" name="Text 12"/>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6/21/2026, 4:52:51 PM</a:t>
            </a:r>
            <a:endParaRPr lang="en-US" sz="1100" dirty="0"/>
          </a:p>
        </p:txBody>
      </p:sp>
      <p:sp>
        <p:nvSpPr>
          <p:cNvPr id="15" name="Text 13"/>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6766560" cy="475488"/>
          </a:xfrm>
          <a:prstGeom prst="rect">
            <a:avLst/>
          </a:prstGeom>
          <a:noFill/>
          <a:ln/>
        </p:spPr>
        <p:txBody>
          <a:bodyPr wrap="square" rtlCol="0" anchor="ctr">
            <a:normAutofit/>
          </a:bodyPr>
          <a:lstStyle/>
          <a:p>
            <a:pPr indent="0" marL="0">
              <a:buNone/>
            </a:pPr>
            <a:r>
              <a:rPr lang="en-US" sz="2200" b="1" dirty="0">
                <a:solidFill>
                  <a:srgbClr val="0F172A"/>
                </a:solidFill>
              </a:rPr>
              <a:t>Training effectiveness needs management attention.</a:t>
            </a:r>
            <a:endParaRPr lang="en-US" sz="2200" dirty="0"/>
          </a:p>
        </p:txBody>
      </p:sp>
      <p:sp>
        <p:nvSpPr>
          <p:cNvPr id="8" name="Text 6"/>
          <p:cNvSpPr/>
          <p:nvPr/>
        </p:nvSpPr>
        <p:spPr>
          <a:xfrm>
            <a:off x="621792" y="1719072"/>
            <a:ext cx="6675120" cy="1554480"/>
          </a:xfrm>
          <a:prstGeom prst="rect">
            <a:avLst/>
          </a:prstGeom>
          <a:noFill/>
          <a:ln/>
        </p:spPr>
        <p:txBody>
          <a:bodyPr wrap="square" rtlCol="0" anchor="t">
            <a:normAutofit/>
          </a:bodyPr>
          <a:lstStyle/>
          <a:p>
            <a:pPr indent="0" marL="0">
              <a:buNone/>
            </a:pPr>
            <a:r>
              <a:rPr lang="en-US" sz="1300" dirty="0">
                <a:solidFill>
                  <a:srgbClr val="0F172A"/>
                </a:solidFill>
              </a:rPr>
              <a:t>The selected scope contains 0 course(s), 0 completed course(s), and 0 trainee-course records. Overall attendance is N/A, completion is N/A, pass rate is N/A, and average score is N/A/10. Total training hours are 0 and scaled cost is 0. Overall effectiveness classification is Risk. Management interpretation: The report indicates that there were no courses, completed courses, or trainee-course records within the selected scope for the specified period. Consequently, all key metrics related to attendance, completion, pass rates, and scores are not applicable, leading to an overall effectiveness classification of Risk.</a:t>
            </a:r>
            <a:endParaRPr lang="en-US" sz="1300" dirty="0"/>
          </a:p>
        </p:txBody>
      </p:sp>
      <p:sp>
        <p:nvSpPr>
          <p:cNvPr id="9" name="Shape 7"/>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0" name="Text 8"/>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11" name="Shape 9"/>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8083296" y="1696212"/>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Allowed</a:t>
            </a:r>
            <a:endParaRPr lang="en-US" sz="740" dirty="0"/>
          </a:p>
        </p:txBody>
      </p:sp>
      <p:sp>
        <p:nvSpPr>
          <p:cNvPr id="13" name="Text 11"/>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4" name="Text 12"/>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5" name="Text 13"/>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6" name="Shape 14"/>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17" name="Text 15"/>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18" name="Text 16"/>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19" name="Text 17"/>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0" name="Shape 18"/>
          <p:cNvSpPr/>
          <p:nvPr/>
        </p:nvSpPr>
        <p:spPr>
          <a:xfrm>
            <a:off x="2167128" y="4946904"/>
            <a:ext cx="777240" cy="256032"/>
          </a:xfrm>
          <a:prstGeom prst="roundRect">
            <a:avLst>
              <a:gd name="adj" fmla="val 28571"/>
            </a:avLst>
          </a:prstGeom>
          <a:solidFill>
            <a:srgbClr val="E2E8F0"/>
          </a:solidFill>
          <a:ln w="12700">
            <a:solidFill>
              <a:srgbClr val="E2E8F0"/>
            </a:solidFill>
            <a:prstDash val="solid"/>
          </a:ln>
        </p:spPr>
      </p:sp>
      <p:sp>
        <p:nvSpPr>
          <p:cNvPr id="21" name="Text 19"/>
          <p:cNvSpPr/>
          <p:nvPr/>
        </p:nvSpPr>
        <p:spPr>
          <a:xfrm>
            <a:off x="2203704" y="499719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22" name="Shape 20"/>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23" name="Text 21"/>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24" name="Text 22"/>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25" name="Text 23"/>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26" name="Shape 24"/>
          <p:cNvSpPr/>
          <p:nvPr/>
        </p:nvSpPr>
        <p:spPr>
          <a:xfrm>
            <a:off x="4956048" y="4946904"/>
            <a:ext cx="777240" cy="256032"/>
          </a:xfrm>
          <a:prstGeom prst="roundRect">
            <a:avLst>
              <a:gd name="adj" fmla="val 28571"/>
            </a:avLst>
          </a:prstGeom>
          <a:solidFill>
            <a:srgbClr val="E2E8F0"/>
          </a:solidFill>
          <a:ln w="12700">
            <a:solidFill>
              <a:srgbClr val="E2E8F0"/>
            </a:solidFill>
            <a:prstDash val="solid"/>
          </a:ln>
        </p:spPr>
      </p:sp>
      <p:sp>
        <p:nvSpPr>
          <p:cNvPr id="27" name="Text 25"/>
          <p:cNvSpPr/>
          <p:nvPr/>
        </p:nvSpPr>
        <p:spPr>
          <a:xfrm>
            <a:off x="4992624" y="499719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28" name="Shape 26"/>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29" name="Text 27"/>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0" name="Text 28"/>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31" name="Text 29"/>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32" name="Shape 30"/>
          <p:cNvSpPr/>
          <p:nvPr/>
        </p:nvSpPr>
        <p:spPr>
          <a:xfrm>
            <a:off x="7744968" y="4946904"/>
            <a:ext cx="777240" cy="256032"/>
          </a:xfrm>
          <a:prstGeom prst="roundRect">
            <a:avLst>
              <a:gd name="adj" fmla="val 28571"/>
            </a:avLst>
          </a:prstGeom>
          <a:solidFill>
            <a:srgbClr val="E2E8F0"/>
          </a:solidFill>
          <a:ln w="12700">
            <a:solidFill>
              <a:srgbClr val="E2E8F0"/>
            </a:solidFill>
            <a:prstDash val="solid"/>
          </a:ln>
        </p:spPr>
      </p:sp>
      <p:sp>
        <p:nvSpPr>
          <p:cNvPr id="33" name="Text 31"/>
          <p:cNvSpPr/>
          <p:nvPr/>
        </p:nvSpPr>
        <p:spPr>
          <a:xfrm>
            <a:off x="7781544" y="499719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34" name="Shape 32"/>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35" name="Text 33"/>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36" name="Text 34"/>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N/A/10</a:t>
            </a:r>
            <a:endParaRPr lang="en-US" sz="2100" dirty="0"/>
          </a:p>
        </p:txBody>
      </p:sp>
      <p:sp>
        <p:nvSpPr>
          <p:cNvPr id="37" name="Text 35"/>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38" name="Shape 36"/>
          <p:cNvSpPr/>
          <p:nvPr/>
        </p:nvSpPr>
        <p:spPr>
          <a:xfrm>
            <a:off x="10533888" y="4946904"/>
            <a:ext cx="777240" cy="256032"/>
          </a:xfrm>
          <a:prstGeom prst="roundRect">
            <a:avLst>
              <a:gd name="adj" fmla="val 28571"/>
            </a:avLst>
          </a:prstGeom>
          <a:solidFill>
            <a:srgbClr val="E2E8F0"/>
          </a:solidFill>
          <a:ln w="12700">
            <a:solidFill>
              <a:srgbClr val="E2E8F0"/>
            </a:solidFill>
            <a:prstDash val="solid"/>
          </a:ln>
        </p:spPr>
      </p:sp>
      <p:sp>
        <p:nvSpPr>
          <p:cNvPr id="39" name="Text 37"/>
          <p:cNvSpPr/>
          <p:nvPr/>
        </p:nvSpPr>
        <p:spPr>
          <a:xfrm>
            <a:off x="10570464" y="499719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714500"/>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Risk.</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6289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Teams, OneDrive, Forms, KPI, Rules and Template sheets were mapped to simulated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3147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40005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863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assessment/pass-status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721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E2E8F0"/>
          </a:solidFill>
          <a:ln w="12700">
            <a:solidFill>
              <a:srgbClr val="E2E8F0"/>
            </a:solidFill>
            <a:prstDash val="solid"/>
          </a:ln>
        </p:spPr>
      </p:sp>
      <p:sp>
        <p:nvSpPr>
          <p:cNvPr id="12" name="Text 10"/>
          <p:cNvSpPr/>
          <p:nvPr/>
        </p:nvSpPr>
        <p:spPr>
          <a:xfrm>
            <a:off x="2203704" y="216255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E2E8F0"/>
          </a:solidFill>
          <a:ln w="12700">
            <a:solidFill>
              <a:srgbClr val="E2E8F0"/>
            </a:solidFill>
            <a:prstDash val="solid"/>
          </a:ln>
        </p:spPr>
      </p:sp>
      <p:sp>
        <p:nvSpPr>
          <p:cNvPr id="18" name="Text 16"/>
          <p:cNvSpPr/>
          <p:nvPr/>
        </p:nvSpPr>
        <p:spPr>
          <a:xfrm>
            <a:off x="4992624" y="216255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E2E8F0"/>
          </a:solidFill>
          <a:ln w="12700">
            <a:solidFill>
              <a:srgbClr val="E2E8F0"/>
            </a:solidFill>
            <a:prstDash val="solid"/>
          </a:ln>
        </p:spPr>
      </p:sp>
      <p:sp>
        <p:nvSpPr>
          <p:cNvPr id="24" name="Text 22"/>
          <p:cNvSpPr/>
          <p:nvPr/>
        </p:nvSpPr>
        <p:spPr>
          <a:xfrm>
            <a:off x="7781544" y="216255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E2E8F0"/>
          </a:solidFill>
          <a:ln w="12700">
            <a:solidFill>
              <a:srgbClr val="E2E8F0"/>
            </a:solidFill>
            <a:prstDash val="solid"/>
          </a:ln>
        </p:spPr>
      </p:sp>
      <p:sp>
        <p:nvSpPr>
          <p:cNvPr id="30" name="Text 28"/>
          <p:cNvSpPr/>
          <p:nvPr/>
        </p:nvSpPr>
        <p:spPr>
          <a:xfrm>
            <a:off x="10570464" y="216255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E2E8F0"/>
          </a:solidFill>
          <a:ln w="12700">
            <a:solidFill>
              <a:srgbClr val="E2E8F0"/>
            </a:solidFill>
            <a:prstDash val="solid"/>
          </a:ln>
        </p:spPr>
      </p:sp>
      <p:sp>
        <p:nvSpPr>
          <p:cNvPr id="36" name="Text 34"/>
          <p:cNvSpPr/>
          <p:nvPr/>
        </p:nvSpPr>
        <p:spPr>
          <a:xfrm>
            <a:off x="220370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E2E8F0"/>
          </a:solidFill>
          <a:ln w="12700">
            <a:solidFill>
              <a:srgbClr val="E2E8F0"/>
            </a:solidFill>
            <a:prstDash val="solid"/>
          </a:ln>
        </p:spPr>
      </p:sp>
      <p:sp>
        <p:nvSpPr>
          <p:cNvPr id="54" name="Text 52"/>
          <p:cNvSpPr/>
          <p:nvPr/>
        </p:nvSpPr>
        <p:spPr>
          <a:xfrm>
            <a:off x="1057046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078992"/>
          <a:ext cx="10972800" cy="3063240"/>
        </p:xfrm>
        <a:graphic>
          <a:graphicData uri="http://schemas.openxmlformats.org/drawingml/2006/table">
            <a:tbl>
              <a:tblPr/>
              <a:tblGrid>
                <a:gridCol w="3017520"/>
                <a:gridCol w="914400"/>
                <a:gridCol w="1143000"/>
                <a:gridCol w="1143000"/>
                <a:gridCol w="1005840"/>
                <a:gridCol w="1005840"/>
                <a:gridCol w="1234440"/>
              </a:tblGrid>
              <a:tr h="411480">
                <a:tc>
                  <a:txBody>
                    <a:bodyPr/>
                    <a:lstStyle/>
                    <a:p>
                      <a:pPr indent="0" marL="0">
                        <a:buNone/>
                      </a:pPr>
                      <a:r>
                        <a:rPr lang="en-US" sz="1000" dirty="0">
                          <a:solidFill>
                            <a:srgbClr val="0F172A"/>
                          </a:solidFill>
                        </a:rPr>
                        <a:t>Course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Learners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Attend.</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Complete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Pass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Score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Effectiveness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Text 5"/>
          <p:cNvSpPr/>
          <p:nvPr/>
        </p:nvSpPr>
        <p:spPr>
          <a:xfrm>
            <a:off x="594360" y="4572000"/>
            <a:ext cx="2011680" cy="256032"/>
          </a:xfrm>
          <a:prstGeom prst="rect">
            <a:avLst/>
          </a:prstGeom>
          <a:noFill/>
          <a:ln/>
        </p:spPr>
        <p:txBody>
          <a:bodyPr wrap="square" rtlCol="0" anchor="ctr"/>
          <a:lstStyle/>
          <a:p>
            <a:pPr indent="0" marL="0">
              <a:buNone/>
            </a:pPr>
            <a:r>
              <a:rPr lang="en-US" sz="1400" b="1" dirty="0">
                <a:solidFill>
                  <a:srgbClr val="0F172A"/>
                </a:solidFill>
              </a:rPr>
              <a:t>What to notice</a:t>
            </a:r>
            <a:endParaRPr lang="en-US" sz="1400" dirty="0"/>
          </a:p>
        </p:txBody>
      </p:sp>
      <p:sp>
        <p:nvSpPr>
          <p:cNvPr id="9" name="Shape 6"/>
          <p:cNvSpPr/>
          <p:nvPr/>
        </p:nvSpPr>
        <p:spPr>
          <a:xfrm>
            <a:off x="594360" y="4956048"/>
            <a:ext cx="3429000" cy="868680"/>
          </a:xfrm>
          <a:prstGeom prst="roundRect">
            <a:avLst>
              <a:gd name="adj" fmla="val 8421"/>
            </a:avLst>
          </a:prstGeom>
          <a:solidFill>
            <a:srgbClr val="E2E8F0"/>
          </a:solidFill>
          <a:ln w="12700">
            <a:solidFill>
              <a:srgbClr val="E2E8F0"/>
            </a:solidFill>
            <a:prstDash val="solid"/>
          </a:ln>
        </p:spPr>
      </p:sp>
      <p:sp>
        <p:nvSpPr>
          <p:cNvPr id="10" name="Text 7"/>
          <p:cNvSpPr/>
          <p:nvPr/>
        </p:nvSpPr>
        <p:spPr>
          <a:xfrm>
            <a:off x="758952"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N/A</a:t>
            </a:r>
            <a:endParaRPr lang="en-US" sz="1000" dirty="0"/>
          </a:p>
        </p:txBody>
      </p:sp>
      <p:sp>
        <p:nvSpPr>
          <p:cNvPr id="11" name="Shape 8"/>
          <p:cNvSpPr/>
          <p:nvPr/>
        </p:nvSpPr>
        <p:spPr>
          <a:xfrm>
            <a:off x="4325112" y="4956048"/>
            <a:ext cx="3429000" cy="868680"/>
          </a:xfrm>
          <a:prstGeom prst="roundRect">
            <a:avLst>
              <a:gd name="adj" fmla="val 8421"/>
            </a:avLst>
          </a:prstGeom>
          <a:solidFill>
            <a:srgbClr val="FEE2E2"/>
          </a:solidFill>
          <a:ln w="12700">
            <a:solidFill>
              <a:srgbClr val="FEE2E2"/>
            </a:solidFill>
            <a:prstDash val="solid"/>
          </a:ln>
        </p:spPr>
      </p:sp>
      <p:sp>
        <p:nvSpPr>
          <p:cNvPr id="12" name="Text 9"/>
          <p:cNvSpPr/>
          <p:nvPr/>
        </p:nvSpPr>
        <p:spPr>
          <a:xfrm>
            <a:off x="4489704"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N/A</a:t>
            </a:r>
            <a:endParaRPr lang="en-US" sz="1000" dirty="0"/>
          </a:p>
        </p:txBody>
      </p:sp>
      <p:sp>
        <p:nvSpPr>
          <p:cNvPr id="13" name="Shape 10"/>
          <p:cNvSpPr/>
          <p:nvPr/>
        </p:nvSpPr>
        <p:spPr>
          <a:xfrm>
            <a:off x="8055864" y="4956048"/>
            <a:ext cx="3429000" cy="868680"/>
          </a:xfrm>
          <a:prstGeom prst="roundRect">
            <a:avLst>
              <a:gd name="adj" fmla="val 8421"/>
            </a:avLst>
          </a:prstGeom>
          <a:solidFill>
            <a:srgbClr val="D1FAE5"/>
          </a:solidFill>
          <a:ln w="12700">
            <a:solidFill>
              <a:srgbClr val="D1FAE5"/>
            </a:solidFill>
            <a:prstDash val="solid"/>
          </a:ln>
        </p:spPr>
      </p:sp>
      <p:sp>
        <p:nvSpPr>
          <p:cNvPr id="14" name="Text 11"/>
          <p:cNvSpPr/>
          <p:nvPr/>
        </p:nvSpPr>
        <p:spPr>
          <a:xfrm>
            <a:off x="8220456"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The absence of courses and trainee engagement in this reporting period highlights a significant gap in trainin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E2E8F0"/>
          </a:solidFill>
          <a:ln w="12700">
            <a:solidFill>
              <a:srgbClr val="E2E8F0"/>
            </a:solidFill>
            <a:prstDash val="solid"/>
          </a:ln>
        </p:spPr>
      </p:sp>
      <p:sp>
        <p:nvSpPr>
          <p:cNvPr id="9" name="Text 7"/>
          <p:cNvSpPr/>
          <p:nvPr/>
        </p:nvSpPr>
        <p:spPr>
          <a:xfrm>
            <a:off x="813816" y="1312164"/>
            <a:ext cx="79552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N/A</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N/A.</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437376" y="1312164"/>
            <a:ext cx="79552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N/A</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N/A, pass rate N/A, average score N/A/10.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Risk.</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6100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The absence of courses and trainee engagement in this reporting period highlights a significant gap in trainin</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6437376" y="346100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This situation may indicate potential issues in course scheduling, trainee enrollment, or resource allocation </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Teams, OneDrive, Forms, KPI, Rules and Template sheets were mapped to simulated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assessment/pass-status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Consistency: course ID, trainee ID, period</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Cross-source course IDs and pass-status logic were checked against the catalog.</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Risk</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0</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758952" y="299466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N/A</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 NORM flags | N/A</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No governance flags triggered.</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207008" y="1211580"/>
            <a:ext cx="74980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Maintain the current delivery model and reuse top-performing materials for future cohorts.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F3C7"/>
          </a:solidFill>
          <a:ln w="12700">
            <a:solidFill>
              <a:srgbClr val="FEF3C7"/>
            </a:solidFill>
            <a:prstDash val="solid"/>
          </a:ln>
        </p:spPr>
      </p:sp>
      <p:sp>
        <p:nvSpPr>
          <p:cNvPr id="17" name="Text 15"/>
          <p:cNvSpPr/>
          <p:nvPr/>
        </p:nvSpPr>
        <p:spPr>
          <a:xfrm>
            <a:off x="1207008" y="2199132"/>
            <a:ext cx="74980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It is recommended to conduct a thorough review of the training program's scheduling and enrollment processes to identify barriers to participation.</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F3C7"/>
          </a:solidFill>
          <a:ln w="12700">
            <a:solidFill>
              <a:srgbClr val="FEF3C7"/>
            </a:solidFill>
            <a:prstDash val="solid"/>
          </a:ln>
        </p:spPr>
      </p:sp>
      <p:sp>
        <p:nvSpPr>
          <p:cNvPr id="24" name="Text 22"/>
          <p:cNvSpPr/>
          <p:nvPr/>
        </p:nvSpPr>
        <p:spPr>
          <a:xfrm>
            <a:off x="1207008" y="3186684"/>
            <a:ext cx="74980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Additionally, consider implementing proactive measures to engage trainees and ensure that courses are available and accessible, thereby improving future training effectiveness.</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658368" y="1234440"/>
            <a:ext cx="2331720" cy="4251960"/>
          </a:xfrm>
          <a:prstGeom prst="roundRect">
            <a:avLst>
              <a:gd name="adj" fmla="val 3137"/>
            </a:avLst>
          </a:prstGeom>
          <a:solidFill>
            <a:srgbClr val="FFFFFF"/>
          </a:solidFill>
          <a:ln w="12700">
            <a:solidFill>
              <a:srgbClr val="CBD5E1"/>
            </a:solidFill>
            <a:prstDash val="solid"/>
          </a:ln>
        </p:spPr>
      </p:sp>
      <p:sp>
        <p:nvSpPr>
          <p:cNvPr id="8" name="Text 6"/>
          <p:cNvSpPr/>
          <p:nvPr/>
        </p:nvSpPr>
        <p:spPr>
          <a:xfrm>
            <a:off x="841248" y="1508760"/>
            <a:ext cx="1005840" cy="201168"/>
          </a:xfrm>
          <a:prstGeom prst="rect">
            <a:avLst/>
          </a:prstGeom>
          <a:noFill/>
          <a:ln/>
        </p:spPr>
        <p:txBody>
          <a:bodyPr wrap="square" rtlCol="0" anchor="ctr"/>
          <a:lstStyle/>
          <a:p>
            <a:pPr indent="0" marL="0">
              <a:buNone/>
            </a:pPr>
            <a:r>
              <a:rPr lang="en-US" sz="1000" b="1" dirty="0">
                <a:solidFill>
                  <a:srgbClr val="64748B"/>
                </a:solidFill>
              </a:rPr>
              <a:t>Step 1</a:t>
            </a:r>
            <a:endParaRPr lang="en-US" sz="1000" dirty="0"/>
          </a:p>
        </p:txBody>
      </p:sp>
      <p:sp>
        <p:nvSpPr>
          <p:cNvPr id="9" name="Shape 7"/>
          <p:cNvSpPr/>
          <p:nvPr/>
        </p:nvSpPr>
        <p:spPr>
          <a:xfrm>
            <a:off x="1892808" y="1481328"/>
            <a:ext cx="77724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929384" y="1531620"/>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84124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12" name="Text 10"/>
          <p:cNvSpPr/>
          <p:nvPr/>
        </p:nvSpPr>
        <p:spPr>
          <a:xfrm>
            <a:off x="84124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Maintain the current delivery model and reuse top-performing materials for future cohorts.</a:t>
            </a:r>
            <a:endParaRPr lang="en-US" sz="1050" dirty="0"/>
          </a:p>
        </p:txBody>
      </p:sp>
      <p:sp>
        <p:nvSpPr>
          <p:cNvPr id="13" name="Text 11"/>
          <p:cNvSpPr/>
          <p:nvPr/>
        </p:nvSpPr>
        <p:spPr>
          <a:xfrm>
            <a:off x="84124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14" name="Text 12"/>
          <p:cNvSpPr/>
          <p:nvPr/>
        </p:nvSpPr>
        <p:spPr>
          <a:xfrm>
            <a:off x="84124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15" name="Shape 13"/>
          <p:cNvSpPr/>
          <p:nvPr/>
        </p:nvSpPr>
        <p:spPr>
          <a:xfrm>
            <a:off x="3447288" y="1234440"/>
            <a:ext cx="2331720" cy="4251960"/>
          </a:xfrm>
          <a:prstGeom prst="roundRect">
            <a:avLst>
              <a:gd name="adj" fmla="val 3137"/>
            </a:avLst>
          </a:prstGeom>
          <a:solidFill>
            <a:srgbClr val="FFFFFF"/>
          </a:solidFill>
          <a:ln w="12700">
            <a:solidFill>
              <a:srgbClr val="CBD5E1"/>
            </a:solidFill>
            <a:prstDash val="solid"/>
          </a:ln>
        </p:spPr>
      </p:sp>
      <p:sp>
        <p:nvSpPr>
          <p:cNvPr id="16" name="Text 14"/>
          <p:cNvSpPr/>
          <p:nvPr/>
        </p:nvSpPr>
        <p:spPr>
          <a:xfrm>
            <a:off x="3630168" y="1508760"/>
            <a:ext cx="1005840" cy="201168"/>
          </a:xfrm>
          <a:prstGeom prst="rect">
            <a:avLst/>
          </a:prstGeom>
          <a:noFill/>
          <a:ln/>
        </p:spPr>
        <p:txBody>
          <a:bodyPr wrap="square" rtlCol="0" anchor="ctr"/>
          <a:lstStyle/>
          <a:p>
            <a:pPr indent="0" marL="0">
              <a:buNone/>
            </a:pPr>
            <a:r>
              <a:rPr lang="en-US" sz="1000" b="1" dirty="0">
                <a:solidFill>
                  <a:srgbClr val="64748B"/>
                </a:solidFill>
              </a:rPr>
              <a:t>Step 2</a:t>
            </a:r>
            <a:endParaRPr lang="en-US" sz="1000" dirty="0"/>
          </a:p>
        </p:txBody>
      </p:sp>
      <p:sp>
        <p:nvSpPr>
          <p:cNvPr id="17" name="Shape 15"/>
          <p:cNvSpPr/>
          <p:nvPr/>
        </p:nvSpPr>
        <p:spPr>
          <a:xfrm>
            <a:off x="4681728" y="1481328"/>
            <a:ext cx="777240" cy="256032"/>
          </a:xfrm>
          <a:prstGeom prst="roundRect">
            <a:avLst>
              <a:gd name="adj" fmla="val 28571"/>
            </a:avLst>
          </a:prstGeom>
          <a:solidFill>
            <a:srgbClr val="FEF3C7"/>
          </a:solidFill>
          <a:ln w="12700">
            <a:solidFill>
              <a:srgbClr val="FEF3C7"/>
            </a:solidFill>
            <a:prstDash val="solid"/>
          </a:ln>
        </p:spPr>
      </p:sp>
      <p:sp>
        <p:nvSpPr>
          <p:cNvPr id="18" name="Text 16"/>
          <p:cNvSpPr/>
          <p:nvPr/>
        </p:nvSpPr>
        <p:spPr>
          <a:xfrm>
            <a:off x="4718304" y="1531620"/>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19" name="Text 17"/>
          <p:cNvSpPr/>
          <p:nvPr/>
        </p:nvSpPr>
        <p:spPr>
          <a:xfrm>
            <a:off x="363016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0" name="Text 18"/>
          <p:cNvSpPr/>
          <p:nvPr/>
        </p:nvSpPr>
        <p:spPr>
          <a:xfrm>
            <a:off x="363016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It is recommended to conduct a thorough review of the training program's scheduling and enrollment processes to identify barriers to participation.</a:t>
            </a:r>
            <a:endParaRPr lang="en-US" sz="1050" dirty="0"/>
          </a:p>
        </p:txBody>
      </p:sp>
      <p:sp>
        <p:nvSpPr>
          <p:cNvPr id="21" name="Text 19"/>
          <p:cNvSpPr/>
          <p:nvPr/>
        </p:nvSpPr>
        <p:spPr>
          <a:xfrm>
            <a:off x="363016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22" name="Text 20"/>
          <p:cNvSpPr/>
          <p:nvPr/>
        </p:nvSpPr>
        <p:spPr>
          <a:xfrm>
            <a:off x="363016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3" name="Shape 21"/>
          <p:cNvSpPr/>
          <p:nvPr/>
        </p:nvSpPr>
        <p:spPr>
          <a:xfrm>
            <a:off x="6236208" y="1234440"/>
            <a:ext cx="2331720" cy="4251960"/>
          </a:xfrm>
          <a:prstGeom prst="roundRect">
            <a:avLst>
              <a:gd name="adj" fmla="val 3137"/>
            </a:avLst>
          </a:prstGeom>
          <a:solidFill>
            <a:srgbClr val="FFFFFF"/>
          </a:solidFill>
          <a:ln w="12700">
            <a:solidFill>
              <a:srgbClr val="CBD5E1"/>
            </a:solidFill>
            <a:prstDash val="solid"/>
          </a:ln>
        </p:spPr>
      </p:sp>
      <p:sp>
        <p:nvSpPr>
          <p:cNvPr id="24" name="Text 22"/>
          <p:cNvSpPr/>
          <p:nvPr/>
        </p:nvSpPr>
        <p:spPr>
          <a:xfrm>
            <a:off x="6419088" y="1508760"/>
            <a:ext cx="1005840" cy="201168"/>
          </a:xfrm>
          <a:prstGeom prst="rect">
            <a:avLst/>
          </a:prstGeom>
          <a:noFill/>
          <a:ln/>
        </p:spPr>
        <p:txBody>
          <a:bodyPr wrap="square" rtlCol="0" anchor="ctr"/>
          <a:lstStyle/>
          <a:p>
            <a:pPr indent="0" marL="0">
              <a:buNone/>
            </a:pPr>
            <a:r>
              <a:rPr lang="en-US" sz="1000" b="1" dirty="0">
                <a:solidFill>
                  <a:srgbClr val="64748B"/>
                </a:solidFill>
              </a:rPr>
              <a:t>Step 3</a:t>
            </a:r>
            <a:endParaRPr lang="en-US" sz="1000" dirty="0"/>
          </a:p>
        </p:txBody>
      </p:sp>
      <p:sp>
        <p:nvSpPr>
          <p:cNvPr id="25" name="Shape 23"/>
          <p:cNvSpPr/>
          <p:nvPr/>
        </p:nvSpPr>
        <p:spPr>
          <a:xfrm>
            <a:off x="7470648" y="1481328"/>
            <a:ext cx="777240" cy="256032"/>
          </a:xfrm>
          <a:prstGeom prst="roundRect">
            <a:avLst>
              <a:gd name="adj" fmla="val 28571"/>
            </a:avLst>
          </a:prstGeom>
          <a:solidFill>
            <a:srgbClr val="FEF3C7"/>
          </a:solidFill>
          <a:ln w="12700">
            <a:solidFill>
              <a:srgbClr val="FEF3C7"/>
            </a:solidFill>
            <a:prstDash val="solid"/>
          </a:ln>
        </p:spPr>
      </p:sp>
      <p:sp>
        <p:nvSpPr>
          <p:cNvPr id="26" name="Text 24"/>
          <p:cNvSpPr/>
          <p:nvPr/>
        </p:nvSpPr>
        <p:spPr>
          <a:xfrm>
            <a:off x="7507224" y="1531620"/>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27" name="Text 25"/>
          <p:cNvSpPr/>
          <p:nvPr/>
        </p:nvSpPr>
        <p:spPr>
          <a:xfrm>
            <a:off x="641908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8" name="Text 26"/>
          <p:cNvSpPr/>
          <p:nvPr/>
        </p:nvSpPr>
        <p:spPr>
          <a:xfrm>
            <a:off x="641908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Additionally, consider implementing proactive measures to engage trainees and ensure that courses are available and accessible, thereby improving future training effectiveness.</a:t>
            </a:r>
            <a:endParaRPr lang="en-US" sz="1050" dirty="0"/>
          </a:p>
        </p:txBody>
      </p:sp>
      <p:sp>
        <p:nvSpPr>
          <p:cNvPr id="29" name="Text 27"/>
          <p:cNvSpPr/>
          <p:nvPr/>
        </p:nvSpPr>
        <p:spPr>
          <a:xfrm>
            <a:off x="641908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0" name="Text 28"/>
          <p:cNvSpPr/>
          <p:nvPr/>
        </p:nvSpPr>
        <p:spPr>
          <a:xfrm>
            <a:off x="641908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rpt_7d1c48e3-a453-4ae3-ba37-d07725f25177</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ds_fe83213fabea6c3c</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mx_a7caf039-2be0-4f1c-b26c-c1255f3b3b25</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ev_f653458e-a8d5-44e6-ad5d-5e4f532ca18b</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gv_d3d54cca-52c8-442f-a1e2-a315bd837c9a</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Leadership_06_2026</dc:title>
  <dc:subject>Training effectiveness needs management attention.</dc:subject>
  <dc:creator>SETA L&amp;D Reporting Agent</dc:creator>
  <cp:lastModifiedBy>SETA L&amp;D Reporting Agent</cp:lastModifiedBy>
  <cp:revision>1</cp:revision>
  <dcterms:created xsi:type="dcterms:W3CDTF">2026-06-21T09:52:55Z</dcterms:created>
  <dcterms:modified xsi:type="dcterms:W3CDTF">2026-06-21T09:52:55Z</dcterms:modified>
</cp:coreProperties>
</file>