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executive summary
The selected scope contains 1 course(s), 1 completed course(s), and 10 trainee-course records. Overall attendance is 96%, completion is 100%, pass rate is 100%, and average score is 7.89/10. Total training hours are 216 and scaled cost is 15. Overall effectiveness classification is Effective. Management interpretation: The training course 'DevOps Fundamentals: CI/CD, K8s, Monitoring' has demonstrated strong performance metrics, with a completion rate of 100%, a pass rate of 100%, and an average score of 7.89 out of 10. The overall attendance rate stands at 96%, indicating high engagement among trainees. The effectiveness classification is rated as Effective, suggesting that the training met its intended objectives.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Course performance profile
DevOps Fundamentals: CI/CD, K8s, Monitoring
Learners: 10
Attendance: 96%
Completion: 100%
Pass rate: 100%
Average score: 7.89/10
Effectiveness: 92.28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Recommended delivery sequence
1. Maintain the current delivery model and reuse top-performing materials for future cohorts.
Owner: L&amp;D Manager
Outcome: Improve training effectiveness and repeatability.
2. To maintain and enhance the effectiveness of future training initiatives, it is recommended to continue leveraging successful course elements identified in this program.
Owner: L&amp;D Manager
Outcome: Improve training effectiveness and repeatability.
3. Additionally, consider implementing advanced training techniques or supplementary resources to further elevate trainee performance and engagement, particularly for those who may benefit from additional support.
Owner: L&amp;D Manager
Outcome: Improve learner recovery and reduce support-needed cases.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B1220"/>
          </a:solidFill>
          <a:ln w="12700">
            <a:solidFill>
              <a:srgbClr val="0B1220"/>
            </a:solidFill>
            <a:prstDash val="solid"/>
          </a:ln>
        </p:spPr>
      </p:sp>
      <p:sp>
        <p:nvSpPr>
          <p:cNvPr id="3" name="Shape 1"/>
          <p:cNvSpPr/>
          <p:nvPr/>
        </p:nvSpPr>
        <p:spPr>
          <a:xfrm>
            <a:off x="0" y="0"/>
            <a:ext cx="164592" cy="6858000"/>
          </a:xfrm>
          <a:prstGeom prst="rect">
            <a:avLst/>
          </a:prstGeom>
          <a:solidFill>
            <a:srgbClr val="2563EB"/>
          </a:solidFill>
          <a:ln w="12700">
            <a:solidFill>
              <a:srgbClr val="2563EB"/>
            </a:solidFill>
            <a:prstDash val="solid"/>
          </a:ln>
        </p:spPr>
      </p:sp>
      <p:sp>
        <p:nvSpPr>
          <p:cNvPr id="4" name="Text 2"/>
          <p:cNvSpPr/>
          <p:nvPr/>
        </p:nvSpPr>
        <p:spPr>
          <a:xfrm>
            <a:off x="640080" y="594360"/>
            <a:ext cx="6217920" cy="320040"/>
          </a:xfrm>
          <a:prstGeom prst="rect">
            <a:avLst/>
          </a:prstGeom>
          <a:noFill/>
          <a:ln/>
        </p:spPr>
        <p:txBody>
          <a:bodyPr wrap="square" rtlCol="0" anchor="ctr"/>
          <a:lstStyle/>
          <a:p>
            <a:pPr indent="0" marL="0">
              <a:buNone/>
            </a:pPr>
            <a:r>
              <a:rPr lang="en-US" sz="1400" b="1" dirty="0">
                <a:solidFill>
                  <a:srgbClr val="93C5FD"/>
                </a:solidFill>
              </a:rPr>
              <a:t>Training Effectiveness Agent</a:t>
            </a:r>
            <a:endParaRPr lang="en-US" sz="1400" dirty="0"/>
          </a:p>
        </p:txBody>
      </p:sp>
      <p:sp>
        <p:nvSpPr>
          <p:cNvPr id="5" name="Text 3"/>
          <p:cNvSpPr/>
          <p:nvPr/>
        </p:nvSpPr>
        <p:spPr>
          <a:xfrm>
            <a:off x="640080" y="1143000"/>
            <a:ext cx="8046720" cy="1234440"/>
          </a:xfrm>
          <a:prstGeom prst="rect">
            <a:avLst/>
          </a:prstGeom>
          <a:noFill/>
          <a:ln/>
        </p:spPr>
        <p:txBody>
          <a:bodyPr wrap="square" lIns="254" tIns="254" rIns="254" bIns="254" rtlCol="0" anchor="ctr">
            <a:normAutofit/>
          </a:bodyPr>
          <a:lstStyle/>
          <a:p>
            <a:pPr indent="0" marL="0">
              <a:buNone/>
            </a:pPr>
            <a:r>
              <a:rPr lang="en-US" sz="3400" b="1" dirty="0">
                <a:solidFill>
                  <a:srgbClr val="FFFFFF"/>
                </a:solidFill>
              </a:rPr>
              <a:t>L&amp;D Training Effectiveness Report - DevOps Fundamentals: CI/CD, K8s, Monitoring</a:t>
            </a:r>
            <a:endParaRPr lang="en-US" sz="3400" dirty="0"/>
          </a:p>
        </p:txBody>
      </p:sp>
      <p:sp>
        <p:nvSpPr>
          <p:cNvPr id="6" name="Text 4"/>
          <p:cNvSpPr/>
          <p:nvPr/>
        </p:nvSpPr>
        <p:spPr>
          <a:xfrm>
            <a:off x="658368" y="2606040"/>
            <a:ext cx="7772400" cy="594360"/>
          </a:xfrm>
          <a:prstGeom prst="rect">
            <a:avLst/>
          </a:prstGeom>
          <a:noFill/>
          <a:ln/>
        </p:spPr>
        <p:txBody>
          <a:bodyPr wrap="square" lIns="254" tIns="254" rIns="254" bIns="254" rtlCol="0" anchor="ctr">
            <a:normAutofit/>
          </a:bodyPr>
          <a:lstStyle/>
          <a:p>
            <a:pPr indent="0" marL="0">
              <a:buNone/>
            </a:pPr>
            <a:r>
              <a:rPr lang="en-US" sz="1800" dirty="0">
                <a:solidFill>
                  <a:srgbClr val="CBD5E1"/>
                </a:solidFill>
              </a:rPr>
              <a:t>Training effectiveness is strong with validated evidence.</a:t>
            </a:r>
            <a:endParaRPr lang="en-US" sz="1800" dirty="0"/>
          </a:p>
        </p:txBody>
      </p:sp>
      <p:sp>
        <p:nvSpPr>
          <p:cNvPr id="7" name="Text 5"/>
          <p:cNvSpPr/>
          <p:nvPr/>
        </p:nvSpPr>
        <p:spPr>
          <a:xfrm>
            <a:off x="8732520" y="960120"/>
            <a:ext cx="2560320" cy="201168"/>
          </a:xfrm>
          <a:prstGeom prst="rect">
            <a:avLst/>
          </a:prstGeom>
          <a:noFill/>
          <a:ln/>
        </p:spPr>
        <p:txBody>
          <a:bodyPr wrap="square" lIns="0" tIns="0" rIns="0" bIns="0" rtlCol="0" anchor="ctr"/>
          <a:lstStyle/>
          <a:p>
            <a:pPr algn="ctr" indent="0" marL="0">
              <a:buNone/>
            </a:pPr>
            <a:r>
              <a:rPr lang="en-US" sz="900" b="1" dirty="0">
                <a:solidFill>
                  <a:srgbClr val="93C5FD"/>
                </a:solidFill>
              </a:rPr>
              <a:t>VALIDATED PERFORMANCE</a:t>
            </a:r>
            <a:endParaRPr lang="en-US" sz="900" dirty="0"/>
          </a:p>
        </p:txBody>
      </p:sp>
      <p:sp>
        <p:nvSpPr>
          <p:cNvPr id="8" name="Shape 6"/>
          <p:cNvSpPr/>
          <p:nvPr/>
        </p:nvSpPr>
        <p:spPr>
          <a:xfrm>
            <a:off x="8887968" y="1325880"/>
            <a:ext cx="2240280" cy="2240280"/>
          </a:xfrm>
          <a:prstGeom prst="ellipse">
            <a:avLst/>
          </a:prstGeom>
          <a:solidFill>
            <a:srgbClr val="047857">
              <a:alpha val="95000"/>
            </a:srgbClr>
          </a:solidFill>
          <a:ln w="12700">
            <a:solidFill>
              <a:srgbClr val="60A5FA">
                <a:alpha val="80000"/>
              </a:srgbClr>
            </a:solidFill>
            <a:prstDash val="solid"/>
          </a:ln>
        </p:spPr>
      </p:sp>
      <p:sp>
        <p:nvSpPr>
          <p:cNvPr id="9" name="Shape 7"/>
          <p:cNvSpPr/>
          <p:nvPr/>
        </p:nvSpPr>
        <p:spPr>
          <a:xfrm>
            <a:off x="9281160" y="1719072"/>
            <a:ext cx="1453896" cy="1453896"/>
          </a:xfrm>
          <a:prstGeom prst="ellipse">
            <a:avLst/>
          </a:prstGeom>
          <a:solidFill>
            <a:srgbClr val="0B1220"/>
          </a:solidFill>
          <a:ln w="12700">
            <a:solidFill>
              <a:srgbClr val="0B1220">
                <a:alpha val="0"/>
              </a:srgbClr>
            </a:solidFill>
            <a:prstDash val="solid"/>
          </a:ln>
        </p:spPr>
      </p:sp>
      <p:sp>
        <p:nvSpPr>
          <p:cNvPr id="10" name="Text 8"/>
          <p:cNvSpPr/>
          <p:nvPr/>
        </p:nvSpPr>
        <p:spPr>
          <a:xfrm>
            <a:off x="9363456" y="2148840"/>
            <a:ext cx="1298448" cy="347472"/>
          </a:xfrm>
          <a:prstGeom prst="rect">
            <a:avLst/>
          </a:prstGeom>
          <a:noFill/>
          <a:ln/>
        </p:spPr>
        <p:txBody>
          <a:bodyPr wrap="square" lIns="0" tIns="0" rIns="0" bIns="0" rtlCol="0" anchor="ctr">
            <a:normAutofit/>
          </a:bodyPr>
          <a:lstStyle/>
          <a:p>
            <a:pPr algn="ctr" indent="0" marL="0">
              <a:buNone/>
            </a:pPr>
            <a:r>
              <a:rPr lang="en-US" sz="2200" b="1" dirty="0">
                <a:solidFill>
                  <a:srgbClr val="FFFFFF"/>
                </a:solidFill>
              </a:rPr>
              <a:t>92.3/100</a:t>
            </a:r>
            <a:endParaRPr lang="en-US" sz="2200" dirty="0"/>
          </a:p>
        </p:txBody>
      </p:sp>
      <p:sp>
        <p:nvSpPr>
          <p:cNvPr id="11" name="Text 9"/>
          <p:cNvSpPr/>
          <p:nvPr/>
        </p:nvSpPr>
        <p:spPr>
          <a:xfrm>
            <a:off x="8851392" y="3749040"/>
            <a:ext cx="2331720" cy="256032"/>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rPr>
              <a:t>Effective</a:t>
            </a:r>
            <a:endParaRPr lang="en-US" sz="1100" dirty="0"/>
          </a:p>
        </p:txBody>
      </p:sp>
      <p:sp>
        <p:nvSpPr>
          <p:cNvPr id="12" name="Text 10"/>
          <p:cNvSpPr/>
          <p:nvPr/>
        </p:nvSpPr>
        <p:spPr>
          <a:xfrm>
            <a:off x="8668512" y="4315968"/>
            <a:ext cx="868680" cy="146304"/>
          </a:xfrm>
          <a:prstGeom prst="rect">
            <a:avLst/>
          </a:prstGeom>
          <a:noFill/>
          <a:ln/>
        </p:spPr>
        <p:txBody>
          <a:bodyPr wrap="square" lIns="0" tIns="0" rIns="0" bIns="0" rtlCol="0" anchor="ctr"/>
          <a:lstStyle/>
          <a:p>
            <a:pPr indent="0" marL="0">
              <a:buNone/>
            </a:pPr>
            <a:r>
              <a:rPr lang="en-US" sz="750" dirty="0">
                <a:solidFill>
                  <a:srgbClr val="CBD5E1"/>
                </a:solidFill>
              </a:rPr>
              <a:t>Attendance</a:t>
            </a:r>
            <a:endParaRPr lang="en-US" sz="750" dirty="0"/>
          </a:p>
        </p:txBody>
      </p:sp>
      <p:sp>
        <p:nvSpPr>
          <p:cNvPr id="13" name="Shape 11"/>
          <p:cNvSpPr/>
          <p:nvPr/>
        </p:nvSpPr>
        <p:spPr>
          <a:xfrm>
            <a:off x="9555480" y="4334256"/>
            <a:ext cx="1097280" cy="91440"/>
          </a:xfrm>
          <a:prstGeom prst="rect">
            <a:avLst/>
          </a:prstGeom>
          <a:solidFill>
            <a:srgbClr val="334155"/>
          </a:solidFill>
          <a:ln w="12700">
            <a:solidFill>
              <a:srgbClr val="334155">
                <a:alpha val="0"/>
              </a:srgbClr>
            </a:solidFill>
            <a:prstDash val="solid"/>
          </a:ln>
        </p:spPr>
      </p:sp>
      <p:sp>
        <p:nvSpPr>
          <p:cNvPr id="14" name="Shape 12"/>
          <p:cNvSpPr/>
          <p:nvPr/>
        </p:nvSpPr>
        <p:spPr>
          <a:xfrm>
            <a:off x="9555480" y="4334256"/>
            <a:ext cx="1053389" cy="91440"/>
          </a:xfrm>
          <a:prstGeom prst="rect">
            <a:avLst/>
          </a:prstGeom>
          <a:solidFill>
            <a:srgbClr val="047857"/>
          </a:solidFill>
          <a:ln w="12700">
            <a:solidFill>
              <a:srgbClr val="047857">
                <a:alpha val="0"/>
              </a:srgbClr>
            </a:solidFill>
            <a:prstDash val="solid"/>
          </a:ln>
        </p:spPr>
      </p:sp>
      <p:sp>
        <p:nvSpPr>
          <p:cNvPr id="15" name="Text 13"/>
          <p:cNvSpPr/>
          <p:nvPr/>
        </p:nvSpPr>
        <p:spPr>
          <a:xfrm>
            <a:off x="10716768" y="4306824"/>
            <a:ext cx="566928" cy="164592"/>
          </a:xfrm>
          <a:prstGeom prst="rect">
            <a:avLst/>
          </a:prstGeom>
          <a:noFill/>
          <a:ln/>
        </p:spPr>
        <p:txBody>
          <a:bodyPr wrap="square" lIns="0" tIns="0" rIns="0" bIns="0" rtlCol="0" anchor="ctr">
            <a:normAutofit/>
          </a:bodyPr>
          <a:lstStyle/>
          <a:p>
            <a:pPr algn="r" indent="0" marL="0">
              <a:buNone/>
            </a:pPr>
            <a:r>
              <a:rPr lang="en-US" sz="750" b="1" dirty="0">
                <a:solidFill>
                  <a:srgbClr val="FFFFFF"/>
                </a:solidFill>
              </a:rPr>
              <a:t>96%</a:t>
            </a:r>
            <a:endParaRPr lang="en-US" sz="750" dirty="0"/>
          </a:p>
        </p:txBody>
      </p:sp>
      <p:sp>
        <p:nvSpPr>
          <p:cNvPr id="16" name="Text 14"/>
          <p:cNvSpPr/>
          <p:nvPr/>
        </p:nvSpPr>
        <p:spPr>
          <a:xfrm>
            <a:off x="8668512" y="4773168"/>
            <a:ext cx="868680" cy="146304"/>
          </a:xfrm>
          <a:prstGeom prst="rect">
            <a:avLst/>
          </a:prstGeom>
          <a:noFill/>
          <a:ln/>
        </p:spPr>
        <p:txBody>
          <a:bodyPr wrap="square" lIns="0" tIns="0" rIns="0" bIns="0" rtlCol="0" anchor="ctr"/>
          <a:lstStyle/>
          <a:p>
            <a:pPr indent="0" marL="0">
              <a:buNone/>
            </a:pPr>
            <a:r>
              <a:rPr lang="en-US" sz="750" dirty="0">
                <a:solidFill>
                  <a:srgbClr val="CBD5E1"/>
                </a:solidFill>
              </a:rPr>
              <a:t>Completion</a:t>
            </a:r>
            <a:endParaRPr lang="en-US" sz="750" dirty="0"/>
          </a:p>
        </p:txBody>
      </p:sp>
      <p:sp>
        <p:nvSpPr>
          <p:cNvPr id="17" name="Shape 15"/>
          <p:cNvSpPr/>
          <p:nvPr/>
        </p:nvSpPr>
        <p:spPr>
          <a:xfrm>
            <a:off x="9555480" y="4791456"/>
            <a:ext cx="1097280" cy="91440"/>
          </a:xfrm>
          <a:prstGeom prst="rect">
            <a:avLst/>
          </a:prstGeom>
          <a:solidFill>
            <a:srgbClr val="334155"/>
          </a:solidFill>
          <a:ln w="12700">
            <a:solidFill>
              <a:srgbClr val="334155">
                <a:alpha val="0"/>
              </a:srgbClr>
            </a:solidFill>
            <a:prstDash val="solid"/>
          </a:ln>
        </p:spPr>
      </p:sp>
      <p:sp>
        <p:nvSpPr>
          <p:cNvPr id="18" name="Shape 16"/>
          <p:cNvSpPr/>
          <p:nvPr/>
        </p:nvSpPr>
        <p:spPr>
          <a:xfrm>
            <a:off x="9555480" y="4791456"/>
            <a:ext cx="1097280" cy="91440"/>
          </a:xfrm>
          <a:prstGeom prst="rect">
            <a:avLst/>
          </a:prstGeom>
          <a:solidFill>
            <a:srgbClr val="047857"/>
          </a:solidFill>
          <a:ln w="12700">
            <a:solidFill>
              <a:srgbClr val="047857">
                <a:alpha val="0"/>
              </a:srgbClr>
            </a:solidFill>
            <a:prstDash val="solid"/>
          </a:ln>
        </p:spPr>
      </p:sp>
      <p:sp>
        <p:nvSpPr>
          <p:cNvPr id="19" name="Text 17"/>
          <p:cNvSpPr/>
          <p:nvPr/>
        </p:nvSpPr>
        <p:spPr>
          <a:xfrm>
            <a:off x="10716768" y="4764024"/>
            <a:ext cx="566928" cy="164592"/>
          </a:xfrm>
          <a:prstGeom prst="rect">
            <a:avLst/>
          </a:prstGeom>
          <a:noFill/>
          <a:ln/>
        </p:spPr>
        <p:txBody>
          <a:bodyPr wrap="square" lIns="0" tIns="0" rIns="0" bIns="0" rtlCol="0" anchor="ctr">
            <a:normAutofit/>
          </a:bodyPr>
          <a:lstStyle/>
          <a:p>
            <a:pPr algn="r" indent="0" marL="0">
              <a:buNone/>
            </a:pPr>
            <a:r>
              <a:rPr lang="en-US" sz="750" b="1" dirty="0">
                <a:solidFill>
                  <a:srgbClr val="FFFFFF"/>
                </a:solidFill>
              </a:rPr>
              <a:t>100%</a:t>
            </a:r>
            <a:endParaRPr lang="en-US" sz="750" dirty="0"/>
          </a:p>
        </p:txBody>
      </p:sp>
      <p:sp>
        <p:nvSpPr>
          <p:cNvPr id="20" name="Text 18"/>
          <p:cNvSpPr/>
          <p:nvPr/>
        </p:nvSpPr>
        <p:spPr>
          <a:xfrm>
            <a:off x="8668512" y="5230368"/>
            <a:ext cx="868680" cy="146304"/>
          </a:xfrm>
          <a:prstGeom prst="rect">
            <a:avLst/>
          </a:prstGeom>
          <a:noFill/>
          <a:ln/>
        </p:spPr>
        <p:txBody>
          <a:bodyPr wrap="square" lIns="0" tIns="0" rIns="0" bIns="0" rtlCol="0" anchor="ctr"/>
          <a:lstStyle/>
          <a:p>
            <a:pPr indent="0" marL="0">
              <a:buNone/>
            </a:pPr>
            <a:r>
              <a:rPr lang="en-US" sz="750" dirty="0">
                <a:solidFill>
                  <a:srgbClr val="CBD5E1"/>
                </a:solidFill>
              </a:rPr>
              <a:t>Pass rate</a:t>
            </a:r>
            <a:endParaRPr lang="en-US" sz="750" dirty="0"/>
          </a:p>
        </p:txBody>
      </p:sp>
      <p:sp>
        <p:nvSpPr>
          <p:cNvPr id="21" name="Shape 19"/>
          <p:cNvSpPr/>
          <p:nvPr/>
        </p:nvSpPr>
        <p:spPr>
          <a:xfrm>
            <a:off x="9555480" y="5248656"/>
            <a:ext cx="1097280" cy="91440"/>
          </a:xfrm>
          <a:prstGeom prst="rect">
            <a:avLst/>
          </a:prstGeom>
          <a:solidFill>
            <a:srgbClr val="334155"/>
          </a:solidFill>
          <a:ln w="12700">
            <a:solidFill>
              <a:srgbClr val="334155">
                <a:alpha val="0"/>
              </a:srgbClr>
            </a:solidFill>
            <a:prstDash val="solid"/>
          </a:ln>
        </p:spPr>
      </p:sp>
      <p:sp>
        <p:nvSpPr>
          <p:cNvPr id="22" name="Shape 20"/>
          <p:cNvSpPr/>
          <p:nvPr/>
        </p:nvSpPr>
        <p:spPr>
          <a:xfrm>
            <a:off x="9555480" y="5248656"/>
            <a:ext cx="1097280" cy="91440"/>
          </a:xfrm>
          <a:prstGeom prst="rect">
            <a:avLst/>
          </a:prstGeom>
          <a:solidFill>
            <a:srgbClr val="047857"/>
          </a:solidFill>
          <a:ln w="12700">
            <a:solidFill>
              <a:srgbClr val="047857">
                <a:alpha val="0"/>
              </a:srgbClr>
            </a:solidFill>
            <a:prstDash val="solid"/>
          </a:ln>
        </p:spPr>
      </p:sp>
      <p:sp>
        <p:nvSpPr>
          <p:cNvPr id="23" name="Text 21"/>
          <p:cNvSpPr/>
          <p:nvPr/>
        </p:nvSpPr>
        <p:spPr>
          <a:xfrm>
            <a:off x="10716768" y="5221224"/>
            <a:ext cx="566928" cy="164592"/>
          </a:xfrm>
          <a:prstGeom prst="rect">
            <a:avLst/>
          </a:prstGeom>
          <a:noFill/>
          <a:ln/>
        </p:spPr>
        <p:txBody>
          <a:bodyPr wrap="square" lIns="0" tIns="0" rIns="0" bIns="0" rtlCol="0" anchor="ctr">
            <a:normAutofit/>
          </a:bodyPr>
          <a:lstStyle/>
          <a:p>
            <a:pPr algn="r" indent="0" marL="0">
              <a:buNone/>
            </a:pPr>
            <a:r>
              <a:rPr lang="en-US" sz="750" b="1" dirty="0">
                <a:solidFill>
                  <a:srgbClr val="FFFFFF"/>
                </a:solidFill>
              </a:rPr>
              <a:t>100%</a:t>
            </a:r>
            <a:endParaRPr lang="en-US" sz="750" dirty="0"/>
          </a:p>
        </p:txBody>
      </p:sp>
      <p:sp>
        <p:nvSpPr>
          <p:cNvPr id="24" name="Shape 22"/>
          <p:cNvSpPr/>
          <p:nvPr/>
        </p:nvSpPr>
        <p:spPr>
          <a:xfrm>
            <a:off x="658368" y="3703320"/>
            <a:ext cx="1143000" cy="256032"/>
          </a:xfrm>
          <a:prstGeom prst="roundRect">
            <a:avLst>
              <a:gd name="adj" fmla="val 28571"/>
            </a:avLst>
          </a:prstGeom>
          <a:solidFill>
            <a:srgbClr val="D1FAE5"/>
          </a:solidFill>
          <a:ln w="12700">
            <a:solidFill>
              <a:srgbClr val="D1FAE5"/>
            </a:solidFill>
            <a:prstDash val="solid"/>
          </a:ln>
        </p:spPr>
      </p:sp>
      <p:sp>
        <p:nvSpPr>
          <p:cNvPr id="25" name="Text 23"/>
          <p:cNvSpPr/>
          <p:nvPr/>
        </p:nvSpPr>
        <p:spPr>
          <a:xfrm>
            <a:off x="694944" y="3703320"/>
            <a:ext cx="106984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Passed</a:t>
            </a:r>
            <a:endParaRPr lang="en-US" sz="740" dirty="0"/>
          </a:p>
        </p:txBody>
      </p:sp>
      <p:sp>
        <p:nvSpPr>
          <p:cNvPr id="26" name="Shape 24"/>
          <p:cNvSpPr/>
          <p:nvPr/>
        </p:nvSpPr>
        <p:spPr>
          <a:xfrm>
            <a:off x="2057400" y="3703320"/>
            <a:ext cx="1143000" cy="256032"/>
          </a:xfrm>
          <a:prstGeom prst="roundRect">
            <a:avLst>
              <a:gd name="adj" fmla="val 28571"/>
            </a:avLst>
          </a:prstGeom>
          <a:solidFill>
            <a:srgbClr val="E2E8F0"/>
          </a:solidFill>
          <a:ln w="12700">
            <a:solidFill>
              <a:srgbClr val="E2E8F0"/>
            </a:solidFill>
            <a:prstDash val="solid"/>
          </a:ln>
        </p:spPr>
      </p:sp>
      <p:sp>
        <p:nvSpPr>
          <p:cNvPr id="27" name="Text 25"/>
          <p:cNvSpPr/>
          <p:nvPr/>
        </p:nvSpPr>
        <p:spPr>
          <a:xfrm>
            <a:off x="2093976" y="3703320"/>
            <a:ext cx="1069848" cy="256032"/>
          </a:xfrm>
          <a:prstGeom prst="rect">
            <a:avLst/>
          </a:prstGeom>
          <a:noFill/>
          <a:ln/>
        </p:spPr>
        <p:txBody>
          <a:bodyPr wrap="square" lIns="127" tIns="127" rIns="127" bIns="127" rtlCol="0" anchor="ctr">
            <a:normAutofit/>
          </a:bodyPr>
          <a:lstStyle/>
          <a:p>
            <a:pPr algn="ctr" indent="0" marL="0">
              <a:buNone/>
            </a:pPr>
            <a:r>
              <a:rPr lang="en-US" sz="740" b="1" dirty="0">
                <a:solidFill>
                  <a:srgbClr val="64748B"/>
                </a:solidFill>
              </a:rPr>
              <a:t>Draft</a:t>
            </a:r>
            <a:endParaRPr lang="en-US" sz="740" dirty="0"/>
          </a:p>
        </p:txBody>
      </p:sp>
      <p:sp>
        <p:nvSpPr>
          <p:cNvPr id="28" name="Shape 26"/>
          <p:cNvSpPr/>
          <p:nvPr/>
        </p:nvSpPr>
        <p:spPr>
          <a:xfrm>
            <a:off x="3291840" y="3703320"/>
            <a:ext cx="1143000" cy="256032"/>
          </a:xfrm>
          <a:prstGeom prst="roundRect">
            <a:avLst>
              <a:gd name="adj" fmla="val 28571"/>
            </a:avLst>
          </a:prstGeom>
          <a:solidFill>
            <a:srgbClr val="E2E8F0"/>
          </a:solidFill>
          <a:ln w="12700">
            <a:solidFill>
              <a:srgbClr val="E2E8F0"/>
            </a:solidFill>
            <a:prstDash val="solid"/>
          </a:ln>
        </p:spPr>
      </p:sp>
      <p:sp>
        <p:nvSpPr>
          <p:cNvPr id="29" name="Text 27"/>
          <p:cNvSpPr/>
          <p:nvPr/>
        </p:nvSpPr>
        <p:spPr>
          <a:xfrm>
            <a:off x="3328416" y="3703320"/>
            <a:ext cx="1069848" cy="256032"/>
          </a:xfrm>
          <a:prstGeom prst="rect">
            <a:avLst/>
          </a:prstGeom>
          <a:noFill/>
          <a:ln/>
        </p:spPr>
        <p:txBody>
          <a:bodyPr wrap="square" lIns="127" tIns="127" rIns="127" bIns="127" rtlCol="0" anchor="ctr">
            <a:normAutofit/>
          </a:bodyPr>
          <a:lstStyle/>
          <a:p>
            <a:pPr algn="ctr" indent="0" marL="0">
              <a:buNone/>
            </a:pPr>
            <a:r>
              <a:rPr lang="en-US" sz="740" b="1" dirty="0">
                <a:solidFill>
                  <a:srgbClr val="64748B"/>
                </a:solidFill>
              </a:rPr>
              <a:t>L&amp;D Manager</a:t>
            </a:r>
            <a:endParaRPr lang="en-US" sz="740" dirty="0"/>
          </a:p>
        </p:txBody>
      </p:sp>
      <p:sp>
        <p:nvSpPr>
          <p:cNvPr id="30" name="Text 28"/>
          <p:cNvSpPr/>
          <p:nvPr/>
        </p:nvSpPr>
        <p:spPr>
          <a:xfrm>
            <a:off x="658368" y="5440680"/>
            <a:ext cx="5669280" cy="274320"/>
          </a:xfrm>
          <a:prstGeom prst="rect">
            <a:avLst/>
          </a:prstGeom>
          <a:noFill/>
          <a:ln/>
        </p:spPr>
        <p:txBody>
          <a:bodyPr wrap="square" rtlCol="0" anchor="ctr"/>
          <a:lstStyle/>
          <a:p>
            <a:pPr indent="0" marL="0">
              <a:buNone/>
            </a:pPr>
            <a:r>
              <a:rPr lang="en-US" sz="1200" dirty="0">
                <a:solidFill>
                  <a:srgbClr val="CBD5E1"/>
                </a:solidFill>
              </a:rPr>
              <a:t>Course DevOps_02_2026 | Type full</a:t>
            </a:r>
            <a:endParaRPr lang="en-US" sz="1200" dirty="0"/>
          </a:p>
        </p:txBody>
      </p:sp>
      <p:sp>
        <p:nvSpPr>
          <p:cNvPr id="31" name="Text 29"/>
          <p:cNvSpPr/>
          <p:nvPr/>
        </p:nvSpPr>
        <p:spPr>
          <a:xfrm>
            <a:off x="658368" y="5779008"/>
            <a:ext cx="3840480" cy="274320"/>
          </a:xfrm>
          <a:prstGeom prst="rect">
            <a:avLst/>
          </a:prstGeom>
          <a:noFill/>
          <a:ln/>
        </p:spPr>
        <p:txBody>
          <a:bodyPr wrap="square" rtlCol="0" anchor="ctr"/>
          <a:lstStyle/>
          <a:p>
            <a:pPr indent="0" marL="0">
              <a:buNone/>
            </a:pPr>
            <a:r>
              <a:rPr lang="en-US" sz="1100" dirty="0">
                <a:solidFill>
                  <a:srgbClr val="94A3B8"/>
                </a:solidFill>
              </a:rPr>
              <a:t>6/22/2026, 10:45:16 PM</a:t>
            </a:r>
            <a:endParaRPr lang="en-US" sz="1100" dirty="0"/>
          </a:p>
        </p:txBody>
      </p:sp>
      <p:sp>
        <p:nvSpPr>
          <p:cNvPr id="32" name="Text 30"/>
          <p:cNvSpPr/>
          <p:nvPr/>
        </p:nvSpPr>
        <p:spPr>
          <a:xfrm>
            <a:off x="9418320" y="6144768"/>
            <a:ext cx="2011680" cy="228600"/>
          </a:xfrm>
          <a:prstGeom prst="rect">
            <a:avLst/>
          </a:prstGeom>
          <a:noFill/>
          <a:ln/>
        </p:spPr>
        <p:txBody>
          <a:bodyPr wrap="square" rtlCol="0" anchor="ctr"/>
          <a:lstStyle/>
          <a:p>
            <a:pPr algn="r" indent="0" marL="0">
              <a:buNone/>
            </a:pPr>
            <a:r>
              <a:rPr lang="en-US" sz="1000" dirty="0">
                <a:solidFill>
                  <a:srgbClr val="94A3B8"/>
                </a:solidFill>
              </a:rPr>
              <a:t>SETA L&amp;D Reporting</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Executive snapshot</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Course DevOps_02_2026 | Type full</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Passed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8" name="Text 5"/>
          <p:cNvSpPr/>
          <p:nvPr/>
        </p:nvSpPr>
        <p:spPr>
          <a:xfrm>
            <a:off x="594360" y="1051560"/>
            <a:ext cx="6766560" cy="566928"/>
          </a:xfrm>
          <a:prstGeom prst="rect">
            <a:avLst/>
          </a:prstGeom>
          <a:noFill/>
          <a:ln/>
        </p:spPr>
        <p:txBody>
          <a:bodyPr wrap="square" rtlCol="0" anchor="ctr">
            <a:normAutofit/>
          </a:bodyPr>
          <a:lstStyle/>
          <a:p>
            <a:pPr indent="0" marL="0">
              <a:buNone/>
            </a:pPr>
            <a:r>
              <a:rPr lang="en-US" sz="2100" b="1" dirty="0">
                <a:solidFill>
                  <a:srgbClr val="0F172A"/>
                </a:solidFill>
              </a:rPr>
              <a:t>Training effectiveness is strong with validated evidence.</a:t>
            </a:r>
            <a:endParaRPr lang="en-US" sz="2100" dirty="0"/>
          </a:p>
        </p:txBody>
      </p:sp>
      <p:sp>
        <p:nvSpPr>
          <p:cNvPr id="9" name="Shape 6"/>
          <p:cNvSpPr/>
          <p:nvPr/>
        </p:nvSpPr>
        <p:spPr>
          <a:xfrm>
            <a:off x="621792" y="1828800"/>
            <a:ext cx="310896" cy="310896"/>
          </a:xfrm>
          <a:prstGeom prst="ellipse">
            <a:avLst/>
          </a:prstGeom>
          <a:solidFill>
            <a:srgbClr val="DBEAFE"/>
          </a:solidFill>
          <a:ln w="12700">
            <a:solidFill>
              <a:srgbClr val="93C5FD"/>
            </a:solidFill>
            <a:prstDash val="solid"/>
          </a:ln>
        </p:spPr>
      </p:sp>
      <p:sp>
        <p:nvSpPr>
          <p:cNvPr id="10" name="Text 7"/>
          <p:cNvSpPr/>
          <p:nvPr/>
        </p:nvSpPr>
        <p:spPr>
          <a:xfrm>
            <a:off x="621792" y="1828800"/>
            <a:ext cx="310896" cy="310896"/>
          </a:xfrm>
          <a:prstGeom prst="rect">
            <a:avLst/>
          </a:prstGeom>
          <a:noFill/>
          <a:ln/>
        </p:spPr>
        <p:txBody>
          <a:bodyPr wrap="square" lIns="0" tIns="0" rIns="0" bIns="0" rtlCol="0" anchor="ctr"/>
          <a:lstStyle/>
          <a:p>
            <a:pPr algn="ctr" indent="0" marL="0">
              <a:buNone/>
            </a:pPr>
            <a:r>
              <a:rPr lang="en-US" sz="850" b="1" dirty="0">
                <a:solidFill>
                  <a:srgbClr val="2563EB"/>
                </a:solidFill>
              </a:rPr>
              <a:t>1</a:t>
            </a:r>
            <a:endParaRPr lang="en-US" sz="850" dirty="0"/>
          </a:p>
        </p:txBody>
      </p:sp>
      <p:sp>
        <p:nvSpPr>
          <p:cNvPr id="11" name="Text 8"/>
          <p:cNvSpPr/>
          <p:nvPr/>
        </p:nvSpPr>
        <p:spPr>
          <a:xfrm>
            <a:off x="1097280" y="1783080"/>
            <a:ext cx="6153912" cy="438912"/>
          </a:xfrm>
          <a:prstGeom prst="rect">
            <a:avLst/>
          </a:prstGeom>
          <a:noFill/>
          <a:ln/>
        </p:spPr>
        <p:txBody>
          <a:bodyPr wrap="square" lIns="254" tIns="254" rIns="254" bIns="254" rtlCol="0" anchor="ctr">
            <a:normAutofit/>
          </a:bodyPr>
          <a:lstStyle/>
          <a:p>
            <a:pPr indent="0" marL="0">
              <a:buNone/>
            </a:pPr>
            <a:r>
              <a:rPr lang="en-US" sz="1120" dirty="0">
                <a:solidFill>
                  <a:srgbClr val="0F172A"/>
                </a:solidFill>
              </a:rPr>
              <a:t>The selected scope contains 1 course(s), 1 completed course(s), and 10 trainee-course records.</a:t>
            </a:r>
            <a:endParaRPr lang="en-US" sz="1120" dirty="0"/>
          </a:p>
        </p:txBody>
      </p:sp>
      <p:sp>
        <p:nvSpPr>
          <p:cNvPr id="12" name="Shape 9"/>
          <p:cNvSpPr/>
          <p:nvPr/>
        </p:nvSpPr>
        <p:spPr>
          <a:xfrm>
            <a:off x="621792" y="2487168"/>
            <a:ext cx="310896" cy="310896"/>
          </a:xfrm>
          <a:prstGeom prst="ellipse">
            <a:avLst/>
          </a:prstGeom>
          <a:solidFill>
            <a:srgbClr val="DBEAFE"/>
          </a:solidFill>
          <a:ln w="12700">
            <a:solidFill>
              <a:srgbClr val="93C5FD"/>
            </a:solidFill>
            <a:prstDash val="solid"/>
          </a:ln>
        </p:spPr>
      </p:sp>
      <p:sp>
        <p:nvSpPr>
          <p:cNvPr id="13" name="Text 10"/>
          <p:cNvSpPr/>
          <p:nvPr/>
        </p:nvSpPr>
        <p:spPr>
          <a:xfrm>
            <a:off x="621792" y="2487168"/>
            <a:ext cx="310896" cy="310896"/>
          </a:xfrm>
          <a:prstGeom prst="rect">
            <a:avLst/>
          </a:prstGeom>
          <a:noFill/>
          <a:ln/>
        </p:spPr>
        <p:txBody>
          <a:bodyPr wrap="square" lIns="0" tIns="0" rIns="0" bIns="0" rtlCol="0" anchor="ctr"/>
          <a:lstStyle/>
          <a:p>
            <a:pPr algn="ctr" indent="0" marL="0">
              <a:buNone/>
            </a:pPr>
            <a:r>
              <a:rPr lang="en-US" sz="850" b="1" dirty="0">
                <a:solidFill>
                  <a:srgbClr val="2563EB"/>
                </a:solidFill>
              </a:rPr>
              <a:t>2</a:t>
            </a:r>
            <a:endParaRPr lang="en-US" sz="850" dirty="0"/>
          </a:p>
        </p:txBody>
      </p:sp>
      <p:sp>
        <p:nvSpPr>
          <p:cNvPr id="14" name="Text 11"/>
          <p:cNvSpPr/>
          <p:nvPr/>
        </p:nvSpPr>
        <p:spPr>
          <a:xfrm>
            <a:off x="1097280" y="2441448"/>
            <a:ext cx="6153912" cy="438912"/>
          </a:xfrm>
          <a:prstGeom prst="rect">
            <a:avLst/>
          </a:prstGeom>
          <a:noFill/>
          <a:ln/>
        </p:spPr>
        <p:txBody>
          <a:bodyPr wrap="square" lIns="254" tIns="254" rIns="254" bIns="254" rtlCol="0" anchor="ctr">
            <a:normAutofit/>
          </a:bodyPr>
          <a:lstStyle/>
          <a:p>
            <a:pPr indent="0" marL="0">
              <a:buNone/>
            </a:pPr>
            <a:r>
              <a:rPr lang="en-US" sz="1120" dirty="0">
                <a:solidFill>
                  <a:srgbClr val="0F172A"/>
                </a:solidFill>
              </a:rPr>
              <a:t>Overall attendance is 96%, completion is 100%, pass rate is 100%, and average score is 7.89/10.</a:t>
            </a:r>
            <a:endParaRPr lang="en-US" sz="1120" dirty="0"/>
          </a:p>
        </p:txBody>
      </p:sp>
      <p:sp>
        <p:nvSpPr>
          <p:cNvPr id="15" name="Shape 12"/>
          <p:cNvSpPr/>
          <p:nvPr/>
        </p:nvSpPr>
        <p:spPr>
          <a:xfrm>
            <a:off x="621792" y="3145536"/>
            <a:ext cx="310896" cy="310896"/>
          </a:xfrm>
          <a:prstGeom prst="ellipse">
            <a:avLst/>
          </a:prstGeom>
          <a:solidFill>
            <a:srgbClr val="DBEAFE"/>
          </a:solidFill>
          <a:ln w="12700">
            <a:solidFill>
              <a:srgbClr val="93C5FD"/>
            </a:solidFill>
            <a:prstDash val="solid"/>
          </a:ln>
        </p:spPr>
      </p:sp>
      <p:sp>
        <p:nvSpPr>
          <p:cNvPr id="16" name="Text 13"/>
          <p:cNvSpPr/>
          <p:nvPr/>
        </p:nvSpPr>
        <p:spPr>
          <a:xfrm>
            <a:off x="621792" y="3145536"/>
            <a:ext cx="310896" cy="310896"/>
          </a:xfrm>
          <a:prstGeom prst="rect">
            <a:avLst/>
          </a:prstGeom>
          <a:noFill/>
          <a:ln/>
        </p:spPr>
        <p:txBody>
          <a:bodyPr wrap="square" lIns="0" tIns="0" rIns="0" bIns="0" rtlCol="0" anchor="ctr"/>
          <a:lstStyle/>
          <a:p>
            <a:pPr algn="ctr" indent="0" marL="0">
              <a:buNone/>
            </a:pPr>
            <a:r>
              <a:rPr lang="en-US" sz="850" b="1" dirty="0">
                <a:solidFill>
                  <a:srgbClr val="2563EB"/>
                </a:solidFill>
              </a:rPr>
              <a:t>3</a:t>
            </a:r>
            <a:endParaRPr lang="en-US" sz="850" dirty="0"/>
          </a:p>
        </p:txBody>
      </p:sp>
      <p:sp>
        <p:nvSpPr>
          <p:cNvPr id="17" name="Text 14"/>
          <p:cNvSpPr/>
          <p:nvPr/>
        </p:nvSpPr>
        <p:spPr>
          <a:xfrm>
            <a:off x="1097280" y="3099816"/>
            <a:ext cx="6153912" cy="438912"/>
          </a:xfrm>
          <a:prstGeom prst="rect">
            <a:avLst/>
          </a:prstGeom>
          <a:noFill/>
          <a:ln/>
        </p:spPr>
        <p:txBody>
          <a:bodyPr wrap="square" lIns="254" tIns="254" rIns="254" bIns="254" rtlCol="0" anchor="ctr">
            <a:normAutofit/>
          </a:bodyPr>
          <a:lstStyle/>
          <a:p>
            <a:pPr indent="0" marL="0">
              <a:buNone/>
            </a:pPr>
            <a:r>
              <a:rPr lang="en-US" sz="1120" dirty="0">
                <a:solidFill>
                  <a:srgbClr val="0F172A"/>
                </a:solidFill>
              </a:rPr>
              <a:t>Total training hours are 216 and scaled cost is 15.</a:t>
            </a:r>
            <a:endParaRPr lang="en-US" sz="1120" dirty="0"/>
          </a:p>
        </p:txBody>
      </p:sp>
      <p:sp>
        <p:nvSpPr>
          <p:cNvPr id="18" name="Shape 15"/>
          <p:cNvSpPr/>
          <p:nvPr/>
        </p:nvSpPr>
        <p:spPr>
          <a:xfrm>
            <a:off x="7818120" y="1005840"/>
            <a:ext cx="3611880" cy="2194560"/>
          </a:xfrm>
          <a:prstGeom prst="roundRect">
            <a:avLst>
              <a:gd name="adj" fmla="val 3333"/>
            </a:avLst>
          </a:prstGeom>
          <a:solidFill>
            <a:srgbClr val="FFFFFF"/>
          </a:solidFill>
          <a:ln w="12700">
            <a:solidFill>
              <a:srgbClr val="CBD5E1"/>
            </a:solidFill>
            <a:prstDash val="solid"/>
          </a:ln>
        </p:spPr>
      </p:sp>
      <p:sp>
        <p:nvSpPr>
          <p:cNvPr id="19" name="Text 16"/>
          <p:cNvSpPr/>
          <p:nvPr/>
        </p:nvSpPr>
        <p:spPr>
          <a:xfrm>
            <a:off x="8046720" y="1234440"/>
            <a:ext cx="2560320" cy="228600"/>
          </a:xfrm>
          <a:prstGeom prst="rect">
            <a:avLst/>
          </a:prstGeom>
          <a:noFill/>
          <a:ln/>
        </p:spPr>
        <p:txBody>
          <a:bodyPr wrap="square" rtlCol="0" anchor="ctr"/>
          <a:lstStyle/>
          <a:p>
            <a:pPr indent="0" marL="0">
              <a:buNone/>
            </a:pPr>
            <a:r>
              <a:rPr lang="en-US" sz="1300" b="1" dirty="0">
                <a:solidFill>
                  <a:srgbClr val="0F172A"/>
                </a:solidFill>
              </a:rPr>
              <a:t>Decision readiness</a:t>
            </a:r>
            <a:endParaRPr lang="en-US" sz="1300" dirty="0"/>
          </a:p>
        </p:txBody>
      </p:sp>
      <p:sp>
        <p:nvSpPr>
          <p:cNvPr id="20" name="Shape 17"/>
          <p:cNvSpPr/>
          <p:nvPr/>
        </p:nvSpPr>
        <p:spPr>
          <a:xfrm>
            <a:off x="8046720" y="1645920"/>
            <a:ext cx="1143000" cy="256032"/>
          </a:xfrm>
          <a:prstGeom prst="roundRect">
            <a:avLst>
              <a:gd name="adj" fmla="val 28571"/>
            </a:avLst>
          </a:prstGeom>
          <a:solidFill>
            <a:srgbClr val="D1FAE5"/>
          </a:solidFill>
          <a:ln w="12700">
            <a:solidFill>
              <a:srgbClr val="D1FAE5"/>
            </a:solidFill>
            <a:prstDash val="solid"/>
          </a:ln>
        </p:spPr>
      </p:sp>
      <p:sp>
        <p:nvSpPr>
          <p:cNvPr id="21" name="Text 18"/>
          <p:cNvSpPr/>
          <p:nvPr/>
        </p:nvSpPr>
        <p:spPr>
          <a:xfrm>
            <a:off x="8083296" y="1645920"/>
            <a:ext cx="106984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Allowed</a:t>
            </a:r>
            <a:endParaRPr lang="en-US" sz="740" dirty="0"/>
          </a:p>
        </p:txBody>
      </p:sp>
      <p:sp>
        <p:nvSpPr>
          <p:cNvPr id="22" name="Text 19"/>
          <p:cNvSpPr/>
          <p:nvPr/>
        </p:nvSpPr>
        <p:spPr>
          <a:xfrm>
            <a:off x="8046720" y="2121408"/>
            <a:ext cx="2286000" cy="228600"/>
          </a:xfrm>
          <a:prstGeom prst="rect">
            <a:avLst/>
          </a:prstGeom>
          <a:noFill/>
          <a:ln/>
        </p:spPr>
        <p:txBody>
          <a:bodyPr wrap="square" rtlCol="0" anchor="ctr"/>
          <a:lstStyle/>
          <a:p>
            <a:pPr indent="0" marL="0">
              <a:buNone/>
            </a:pPr>
            <a:r>
              <a:rPr lang="en-US" sz="1100" dirty="0">
                <a:solidFill>
                  <a:srgbClr val="0F172A"/>
                </a:solidFill>
              </a:rPr>
              <a:t>Missing evidence: 0</a:t>
            </a:r>
            <a:endParaRPr lang="en-US" sz="1100" dirty="0"/>
          </a:p>
        </p:txBody>
      </p:sp>
      <p:sp>
        <p:nvSpPr>
          <p:cNvPr id="23" name="Text 20"/>
          <p:cNvSpPr/>
          <p:nvPr/>
        </p:nvSpPr>
        <p:spPr>
          <a:xfrm>
            <a:off x="8046720" y="2423160"/>
            <a:ext cx="2286000" cy="228600"/>
          </a:xfrm>
          <a:prstGeom prst="rect">
            <a:avLst/>
          </a:prstGeom>
          <a:noFill/>
          <a:ln/>
        </p:spPr>
        <p:txBody>
          <a:bodyPr wrap="square" rtlCol="0" anchor="ctr"/>
          <a:lstStyle/>
          <a:p>
            <a:pPr indent="0" marL="0">
              <a:buNone/>
            </a:pPr>
            <a:r>
              <a:rPr lang="en-US" sz="1100" dirty="0">
                <a:solidFill>
                  <a:srgbClr val="0F172A"/>
                </a:solidFill>
              </a:rPr>
              <a:t>Warnings: 0</a:t>
            </a:r>
            <a:endParaRPr lang="en-US" sz="1100" dirty="0"/>
          </a:p>
        </p:txBody>
      </p:sp>
      <p:sp>
        <p:nvSpPr>
          <p:cNvPr id="24" name="Text 21"/>
          <p:cNvSpPr/>
          <p:nvPr/>
        </p:nvSpPr>
        <p:spPr>
          <a:xfrm>
            <a:off x="8046720" y="2743200"/>
            <a:ext cx="3063240" cy="292608"/>
          </a:xfrm>
          <a:prstGeom prst="rect">
            <a:avLst/>
          </a:prstGeom>
          <a:noFill/>
          <a:ln/>
        </p:spPr>
        <p:txBody>
          <a:bodyPr wrap="square" rtlCol="0" anchor="ctr">
            <a:normAutofit/>
          </a:bodyPr>
          <a:lstStyle/>
          <a:p>
            <a:pPr indent="0" marL="0">
              <a:buNone/>
            </a:pPr>
            <a:r>
              <a:rPr lang="en-US" sz="950" dirty="0">
                <a:solidFill>
                  <a:srgbClr val="64748B"/>
                </a:solidFill>
              </a:rPr>
              <a:t>Final conclusion is allowed. Overall classification is Effective.</a:t>
            </a:r>
            <a:endParaRPr lang="en-US" sz="950" dirty="0"/>
          </a:p>
        </p:txBody>
      </p:sp>
      <p:sp>
        <p:nvSpPr>
          <p:cNvPr id="25" name="Shape 22"/>
          <p:cNvSpPr/>
          <p:nvPr/>
        </p:nvSpPr>
        <p:spPr>
          <a:xfrm>
            <a:off x="594360" y="4160520"/>
            <a:ext cx="2514600" cy="1143000"/>
          </a:xfrm>
          <a:prstGeom prst="roundRect">
            <a:avLst>
              <a:gd name="adj" fmla="val 6400"/>
            </a:avLst>
          </a:prstGeom>
          <a:solidFill>
            <a:srgbClr val="FFFFFF"/>
          </a:solidFill>
          <a:ln w="12700">
            <a:solidFill>
              <a:srgbClr val="CBD5E1"/>
            </a:solidFill>
            <a:prstDash val="solid"/>
          </a:ln>
        </p:spPr>
      </p:sp>
      <p:sp>
        <p:nvSpPr>
          <p:cNvPr id="26" name="Text 23"/>
          <p:cNvSpPr/>
          <p:nvPr/>
        </p:nvSpPr>
        <p:spPr>
          <a:xfrm>
            <a:off x="758952" y="4306824"/>
            <a:ext cx="2194560" cy="164592"/>
          </a:xfrm>
          <a:prstGeom prst="rect">
            <a:avLst/>
          </a:prstGeom>
          <a:noFill/>
          <a:ln/>
        </p:spPr>
        <p:txBody>
          <a:bodyPr wrap="square" rtlCol="0" anchor="ctr">
            <a:normAutofit/>
          </a:bodyPr>
          <a:lstStyle/>
          <a:p>
            <a:pPr indent="0" marL="0">
              <a:buNone/>
            </a:pPr>
            <a:r>
              <a:rPr lang="en-US" sz="850" b="1" dirty="0">
                <a:solidFill>
                  <a:srgbClr val="64748B"/>
                </a:solidFill>
              </a:rPr>
              <a:t>ATTENDANCE</a:t>
            </a:r>
            <a:endParaRPr lang="en-US" sz="850" dirty="0"/>
          </a:p>
        </p:txBody>
      </p:sp>
      <p:sp>
        <p:nvSpPr>
          <p:cNvPr id="27" name="Text 24"/>
          <p:cNvSpPr/>
          <p:nvPr/>
        </p:nvSpPr>
        <p:spPr>
          <a:xfrm>
            <a:off x="758952" y="4544568"/>
            <a:ext cx="2194560" cy="329184"/>
          </a:xfrm>
          <a:prstGeom prst="rect">
            <a:avLst/>
          </a:prstGeom>
          <a:noFill/>
          <a:ln/>
        </p:spPr>
        <p:txBody>
          <a:bodyPr wrap="square" rtlCol="0" anchor="ctr">
            <a:normAutofit/>
          </a:bodyPr>
          <a:lstStyle/>
          <a:p>
            <a:pPr indent="0" marL="0">
              <a:buNone/>
            </a:pPr>
            <a:r>
              <a:rPr lang="en-US" sz="2100" b="1" dirty="0">
                <a:solidFill>
                  <a:srgbClr val="0F172A"/>
                </a:solidFill>
              </a:rPr>
              <a:t>96%</a:t>
            </a:r>
            <a:endParaRPr lang="en-US" sz="2100" dirty="0"/>
          </a:p>
        </p:txBody>
      </p:sp>
      <p:sp>
        <p:nvSpPr>
          <p:cNvPr id="28" name="Text 25"/>
          <p:cNvSpPr/>
          <p:nvPr/>
        </p:nvSpPr>
        <p:spPr>
          <a:xfrm>
            <a:off x="758952" y="4946904"/>
            <a:ext cx="1463040" cy="164592"/>
          </a:xfrm>
          <a:prstGeom prst="rect">
            <a:avLst/>
          </a:prstGeom>
          <a:noFill/>
          <a:ln/>
        </p:spPr>
        <p:txBody>
          <a:bodyPr wrap="square" rtlCol="0" anchor="ctr">
            <a:normAutofit/>
          </a:bodyPr>
          <a:lstStyle/>
          <a:p>
            <a:pPr indent="0" marL="0">
              <a:buNone/>
            </a:pPr>
            <a:r>
              <a:rPr lang="en-US" sz="850" dirty="0">
                <a:solidFill>
                  <a:srgbClr val="64748B"/>
                </a:solidFill>
              </a:rPr>
              <a:t>Target &gt;= 85%</a:t>
            </a:r>
            <a:endParaRPr lang="en-US" sz="850" dirty="0"/>
          </a:p>
        </p:txBody>
      </p:sp>
      <p:sp>
        <p:nvSpPr>
          <p:cNvPr id="29" name="Shape 26"/>
          <p:cNvSpPr/>
          <p:nvPr/>
        </p:nvSpPr>
        <p:spPr>
          <a:xfrm>
            <a:off x="2167128" y="4946904"/>
            <a:ext cx="777240" cy="256032"/>
          </a:xfrm>
          <a:prstGeom prst="roundRect">
            <a:avLst>
              <a:gd name="adj" fmla="val 28571"/>
            </a:avLst>
          </a:prstGeom>
          <a:solidFill>
            <a:srgbClr val="D1FAE5"/>
          </a:solidFill>
          <a:ln w="12700">
            <a:solidFill>
              <a:srgbClr val="D1FAE5"/>
            </a:solidFill>
            <a:prstDash val="solid"/>
          </a:ln>
        </p:spPr>
      </p:sp>
      <p:sp>
        <p:nvSpPr>
          <p:cNvPr id="30" name="Text 27"/>
          <p:cNvSpPr/>
          <p:nvPr/>
        </p:nvSpPr>
        <p:spPr>
          <a:xfrm>
            <a:off x="2203704" y="4946904"/>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Good</a:t>
            </a:r>
            <a:endParaRPr lang="en-US" sz="740" dirty="0"/>
          </a:p>
        </p:txBody>
      </p:sp>
      <p:sp>
        <p:nvSpPr>
          <p:cNvPr id="31" name="Shape 28"/>
          <p:cNvSpPr/>
          <p:nvPr/>
        </p:nvSpPr>
        <p:spPr>
          <a:xfrm>
            <a:off x="3383280" y="4160520"/>
            <a:ext cx="2514600" cy="1143000"/>
          </a:xfrm>
          <a:prstGeom prst="roundRect">
            <a:avLst>
              <a:gd name="adj" fmla="val 6400"/>
            </a:avLst>
          </a:prstGeom>
          <a:solidFill>
            <a:srgbClr val="FFFFFF"/>
          </a:solidFill>
          <a:ln w="12700">
            <a:solidFill>
              <a:srgbClr val="CBD5E1"/>
            </a:solidFill>
            <a:prstDash val="solid"/>
          </a:ln>
        </p:spPr>
      </p:sp>
      <p:sp>
        <p:nvSpPr>
          <p:cNvPr id="32" name="Text 29"/>
          <p:cNvSpPr/>
          <p:nvPr/>
        </p:nvSpPr>
        <p:spPr>
          <a:xfrm>
            <a:off x="3547872" y="4306824"/>
            <a:ext cx="2194560" cy="164592"/>
          </a:xfrm>
          <a:prstGeom prst="rect">
            <a:avLst/>
          </a:prstGeom>
          <a:noFill/>
          <a:ln/>
        </p:spPr>
        <p:txBody>
          <a:bodyPr wrap="square" rtlCol="0" anchor="ctr">
            <a:normAutofit/>
          </a:bodyPr>
          <a:lstStyle/>
          <a:p>
            <a:pPr indent="0" marL="0">
              <a:buNone/>
            </a:pPr>
            <a:r>
              <a:rPr lang="en-US" sz="850" b="1" dirty="0">
                <a:solidFill>
                  <a:srgbClr val="64748B"/>
                </a:solidFill>
              </a:rPr>
              <a:t>COMPLETION</a:t>
            </a:r>
            <a:endParaRPr lang="en-US" sz="850" dirty="0"/>
          </a:p>
        </p:txBody>
      </p:sp>
      <p:sp>
        <p:nvSpPr>
          <p:cNvPr id="33" name="Text 30"/>
          <p:cNvSpPr/>
          <p:nvPr/>
        </p:nvSpPr>
        <p:spPr>
          <a:xfrm>
            <a:off x="3547872" y="4544568"/>
            <a:ext cx="2194560" cy="329184"/>
          </a:xfrm>
          <a:prstGeom prst="rect">
            <a:avLst/>
          </a:prstGeom>
          <a:noFill/>
          <a:ln/>
        </p:spPr>
        <p:txBody>
          <a:bodyPr wrap="square" rtlCol="0" anchor="ctr">
            <a:normAutofit/>
          </a:bodyPr>
          <a:lstStyle/>
          <a:p>
            <a:pPr indent="0" marL="0">
              <a:buNone/>
            </a:pPr>
            <a:r>
              <a:rPr lang="en-US" sz="2100" b="1" dirty="0">
                <a:solidFill>
                  <a:srgbClr val="0F172A"/>
                </a:solidFill>
              </a:rPr>
              <a:t>100%</a:t>
            </a:r>
            <a:endParaRPr lang="en-US" sz="2100" dirty="0"/>
          </a:p>
        </p:txBody>
      </p:sp>
      <p:sp>
        <p:nvSpPr>
          <p:cNvPr id="34" name="Text 31"/>
          <p:cNvSpPr/>
          <p:nvPr/>
        </p:nvSpPr>
        <p:spPr>
          <a:xfrm>
            <a:off x="3547872" y="4946904"/>
            <a:ext cx="1463040" cy="164592"/>
          </a:xfrm>
          <a:prstGeom prst="rect">
            <a:avLst/>
          </a:prstGeom>
          <a:noFill/>
          <a:ln/>
        </p:spPr>
        <p:txBody>
          <a:bodyPr wrap="square" rtlCol="0" anchor="ctr">
            <a:normAutofit/>
          </a:bodyPr>
          <a:lstStyle/>
          <a:p>
            <a:pPr indent="0" marL="0">
              <a:buNone/>
            </a:pPr>
            <a:r>
              <a:rPr lang="en-US" sz="850" dirty="0">
                <a:solidFill>
                  <a:srgbClr val="64748B"/>
                </a:solidFill>
              </a:rPr>
              <a:t>Target &gt;= 90%</a:t>
            </a:r>
            <a:endParaRPr lang="en-US" sz="850" dirty="0"/>
          </a:p>
        </p:txBody>
      </p:sp>
      <p:sp>
        <p:nvSpPr>
          <p:cNvPr id="35" name="Shape 32"/>
          <p:cNvSpPr/>
          <p:nvPr/>
        </p:nvSpPr>
        <p:spPr>
          <a:xfrm>
            <a:off x="4956048" y="4946904"/>
            <a:ext cx="777240" cy="256032"/>
          </a:xfrm>
          <a:prstGeom prst="roundRect">
            <a:avLst>
              <a:gd name="adj" fmla="val 28571"/>
            </a:avLst>
          </a:prstGeom>
          <a:solidFill>
            <a:srgbClr val="D1FAE5"/>
          </a:solidFill>
          <a:ln w="12700">
            <a:solidFill>
              <a:srgbClr val="D1FAE5"/>
            </a:solidFill>
            <a:prstDash val="solid"/>
          </a:ln>
        </p:spPr>
      </p:sp>
      <p:sp>
        <p:nvSpPr>
          <p:cNvPr id="36" name="Text 33"/>
          <p:cNvSpPr/>
          <p:nvPr/>
        </p:nvSpPr>
        <p:spPr>
          <a:xfrm>
            <a:off x="4992624" y="4946904"/>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Excellent</a:t>
            </a:r>
            <a:endParaRPr lang="en-US" sz="740" dirty="0"/>
          </a:p>
        </p:txBody>
      </p:sp>
      <p:sp>
        <p:nvSpPr>
          <p:cNvPr id="37" name="Shape 34"/>
          <p:cNvSpPr/>
          <p:nvPr/>
        </p:nvSpPr>
        <p:spPr>
          <a:xfrm>
            <a:off x="6172200" y="4160520"/>
            <a:ext cx="2514600" cy="1143000"/>
          </a:xfrm>
          <a:prstGeom prst="roundRect">
            <a:avLst>
              <a:gd name="adj" fmla="val 6400"/>
            </a:avLst>
          </a:prstGeom>
          <a:solidFill>
            <a:srgbClr val="FFFFFF"/>
          </a:solidFill>
          <a:ln w="12700">
            <a:solidFill>
              <a:srgbClr val="CBD5E1"/>
            </a:solidFill>
            <a:prstDash val="solid"/>
          </a:ln>
        </p:spPr>
      </p:sp>
      <p:sp>
        <p:nvSpPr>
          <p:cNvPr id="38" name="Text 35"/>
          <p:cNvSpPr/>
          <p:nvPr/>
        </p:nvSpPr>
        <p:spPr>
          <a:xfrm>
            <a:off x="6336792" y="4306824"/>
            <a:ext cx="2194560" cy="164592"/>
          </a:xfrm>
          <a:prstGeom prst="rect">
            <a:avLst/>
          </a:prstGeom>
          <a:noFill/>
          <a:ln/>
        </p:spPr>
        <p:txBody>
          <a:bodyPr wrap="square" rtlCol="0" anchor="ctr">
            <a:normAutofit/>
          </a:bodyPr>
          <a:lstStyle/>
          <a:p>
            <a:pPr indent="0" marL="0">
              <a:buNone/>
            </a:pPr>
            <a:r>
              <a:rPr lang="en-US" sz="850" b="1" dirty="0">
                <a:solidFill>
                  <a:srgbClr val="64748B"/>
                </a:solidFill>
              </a:rPr>
              <a:t>PASS RATE</a:t>
            </a:r>
            <a:endParaRPr lang="en-US" sz="850" dirty="0"/>
          </a:p>
        </p:txBody>
      </p:sp>
      <p:sp>
        <p:nvSpPr>
          <p:cNvPr id="39" name="Text 36"/>
          <p:cNvSpPr/>
          <p:nvPr/>
        </p:nvSpPr>
        <p:spPr>
          <a:xfrm>
            <a:off x="6336792" y="4544568"/>
            <a:ext cx="2194560" cy="329184"/>
          </a:xfrm>
          <a:prstGeom prst="rect">
            <a:avLst/>
          </a:prstGeom>
          <a:noFill/>
          <a:ln/>
        </p:spPr>
        <p:txBody>
          <a:bodyPr wrap="square" rtlCol="0" anchor="ctr">
            <a:normAutofit/>
          </a:bodyPr>
          <a:lstStyle/>
          <a:p>
            <a:pPr indent="0" marL="0">
              <a:buNone/>
            </a:pPr>
            <a:r>
              <a:rPr lang="en-US" sz="2100" b="1" dirty="0">
                <a:solidFill>
                  <a:srgbClr val="0F172A"/>
                </a:solidFill>
              </a:rPr>
              <a:t>100%</a:t>
            </a:r>
            <a:endParaRPr lang="en-US" sz="2100" dirty="0"/>
          </a:p>
        </p:txBody>
      </p:sp>
      <p:sp>
        <p:nvSpPr>
          <p:cNvPr id="40" name="Text 37"/>
          <p:cNvSpPr/>
          <p:nvPr/>
        </p:nvSpPr>
        <p:spPr>
          <a:xfrm>
            <a:off x="6336792" y="4946904"/>
            <a:ext cx="1463040" cy="164592"/>
          </a:xfrm>
          <a:prstGeom prst="rect">
            <a:avLst/>
          </a:prstGeom>
          <a:noFill/>
          <a:ln/>
        </p:spPr>
        <p:txBody>
          <a:bodyPr wrap="square" rtlCol="0" anchor="ctr">
            <a:normAutofit/>
          </a:bodyPr>
          <a:lstStyle/>
          <a:p>
            <a:pPr indent="0" marL="0">
              <a:buNone/>
            </a:pPr>
            <a:r>
              <a:rPr lang="en-US" sz="850" dirty="0">
                <a:solidFill>
                  <a:srgbClr val="64748B"/>
                </a:solidFill>
              </a:rPr>
              <a:t>Target &gt;= 80%</a:t>
            </a:r>
            <a:endParaRPr lang="en-US" sz="850" dirty="0"/>
          </a:p>
        </p:txBody>
      </p:sp>
      <p:sp>
        <p:nvSpPr>
          <p:cNvPr id="41" name="Shape 38"/>
          <p:cNvSpPr/>
          <p:nvPr/>
        </p:nvSpPr>
        <p:spPr>
          <a:xfrm>
            <a:off x="7744968" y="4946904"/>
            <a:ext cx="777240" cy="256032"/>
          </a:xfrm>
          <a:prstGeom prst="roundRect">
            <a:avLst>
              <a:gd name="adj" fmla="val 28571"/>
            </a:avLst>
          </a:prstGeom>
          <a:solidFill>
            <a:srgbClr val="D1FAE5"/>
          </a:solidFill>
          <a:ln w="12700">
            <a:solidFill>
              <a:srgbClr val="D1FAE5"/>
            </a:solidFill>
            <a:prstDash val="solid"/>
          </a:ln>
        </p:spPr>
      </p:sp>
      <p:sp>
        <p:nvSpPr>
          <p:cNvPr id="42" name="Text 39"/>
          <p:cNvSpPr/>
          <p:nvPr/>
        </p:nvSpPr>
        <p:spPr>
          <a:xfrm>
            <a:off x="7781544" y="4946904"/>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Excellent</a:t>
            </a:r>
            <a:endParaRPr lang="en-US" sz="740" dirty="0"/>
          </a:p>
        </p:txBody>
      </p:sp>
      <p:sp>
        <p:nvSpPr>
          <p:cNvPr id="43" name="Shape 40"/>
          <p:cNvSpPr/>
          <p:nvPr/>
        </p:nvSpPr>
        <p:spPr>
          <a:xfrm>
            <a:off x="8961120" y="4160520"/>
            <a:ext cx="2514600" cy="1143000"/>
          </a:xfrm>
          <a:prstGeom prst="roundRect">
            <a:avLst>
              <a:gd name="adj" fmla="val 6400"/>
            </a:avLst>
          </a:prstGeom>
          <a:solidFill>
            <a:srgbClr val="FFFFFF"/>
          </a:solidFill>
          <a:ln w="12700">
            <a:solidFill>
              <a:srgbClr val="CBD5E1"/>
            </a:solidFill>
            <a:prstDash val="solid"/>
          </a:ln>
        </p:spPr>
      </p:sp>
      <p:sp>
        <p:nvSpPr>
          <p:cNvPr id="44" name="Text 41"/>
          <p:cNvSpPr/>
          <p:nvPr/>
        </p:nvSpPr>
        <p:spPr>
          <a:xfrm>
            <a:off x="9125712" y="4306824"/>
            <a:ext cx="2194560" cy="164592"/>
          </a:xfrm>
          <a:prstGeom prst="rect">
            <a:avLst/>
          </a:prstGeom>
          <a:noFill/>
          <a:ln/>
        </p:spPr>
        <p:txBody>
          <a:bodyPr wrap="square" rtlCol="0" anchor="ctr">
            <a:normAutofit/>
          </a:bodyPr>
          <a:lstStyle/>
          <a:p>
            <a:pPr indent="0" marL="0">
              <a:buNone/>
            </a:pPr>
            <a:r>
              <a:rPr lang="en-US" sz="850" b="1" dirty="0">
                <a:solidFill>
                  <a:srgbClr val="64748B"/>
                </a:solidFill>
              </a:rPr>
              <a:t>AVG SCORE</a:t>
            </a:r>
            <a:endParaRPr lang="en-US" sz="850" dirty="0"/>
          </a:p>
        </p:txBody>
      </p:sp>
      <p:sp>
        <p:nvSpPr>
          <p:cNvPr id="45" name="Text 42"/>
          <p:cNvSpPr/>
          <p:nvPr/>
        </p:nvSpPr>
        <p:spPr>
          <a:xfrm>
            <a:off x="9125712" y="4544568"/>
            <a:ext cx="2194560" cy="329184"/>
          </a:xfrm>
          <a:prstGeom prst="rect">
            <a:avLst/>
          </a:prstGeom>
          <a:noFill/>
          <a:ln/>
        </p:spPr>
        <p:txBody>
          <a:bodyPr wrap="square" rtlCol="0" anchor="ctr">
            <a:normAutofit/>
          </a:bodyPr>
          <a:lstStyle/>
          <a:p>
            <a:pPr indent="0" marL="0">
              <a:buNone/>
            </a:pPr>
            <a:r>
              <a:rPr lang="en-US" sz="2100" b="1" dirty="0">
                <a:solidFill>
                  <a:srgbClr val="0F172A"/>
                </a:solidFill>
              </a:rPr>
              <a:t>7.89/10</a:t>
            </a:r>
            <a:endParaRPr lang="en-US" sz="2100" dirty="0"/>
          </a:p>
        </p:txBody>
      </p:sp>
      <p:sp>
        <p:nvSpPr>
          <p:cNvPr id="46" name="Text 43"/>
          <p:cNvSpPr/>
          <p:nvPr/>
        </p:nvSpPr>
        <p:spPr>
          <a:xfrm>
            <a:off x="9125712" y="4946904"/>
            <a:ext cx="1463040" cy="164592"/>
          </a:xfrm>
          <a:prstGeom prst="rect">
            <a:avLst/>
          </a:prstGeom>
          <a:noFill/>
          <a:ln/>
        </p:spPr>
        <p:txBody>
          <a:bodyPr wrap="square" rtlCol="0" anchor="ctr">
            <a:normAutofit/>
          </a:bodyPr>
          <a:lstStyle/>
          <a:p>
            <a:pPr indent="0" marL="0">
              <a:buNone/>
            </a:pPr>
            <a:r>
              <a:rPr lang="en-US" sz="850" dirty="0">
                <a:solidFill>
                  <a:srgbClr val="64748B"/>
                </a:solidFill>
              </a:rPr>
              <a:t>Threshold 6.5</a:t>
            </a:r>
            <a:endParaRPr lang="en-US" sz="850" dirty="0"/>
          </a:p>
        </p:txBody>
      </p:sp>
      <p:sp>
        <p:nvSpPr>
          <p:cNvPr id="47" name="Shape 44"/>
          <p:cNvSpPr/>
          <p:nvPr/>
        </p:nvSpPr>
        <p:spPr>
          <a:xfrm>
            <a:off x="10533888" y="4946904"/>
            <a:ext cx="777240" cy="256032"/>
          </a:xfrm>
          <a:prstGeom prst="roundRect">
            <a:avLst>
              <a:gd name="adj" fmla="val 28571"/>
            </a:avLst>
          </a:prstGeom>
          <a:solidFill>
            <a:srgbClr val="D1FAE5"/>
          </a:solidFill>
          <a:ln w="12700">
            <a:solidFill>
              <a:srgbClr val="D1FAE5"/>
            </a:solidFill>
            <a:prstDash val="solid"/>
          </a:ln>
        </p:spPr>
      </p:sp>
      <p:sp>
        <p:nvSpPr>
          <p:cNvPr id="48" name="Text 45"/>
          <p:cNvSpPr/>
          <p:nvPr/>
        </p:nvSpPr>
        <p:spPr>
          <a:xfrm>
            <a:off x="10570464" y="4946904"/>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Excellent</a:t>
            </a:r>
            <a:endParaRPr lang="en-US" sz="74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Decision readiness</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Course DevOps_02_2026 | Type full</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Passed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7" name="Shape 5"/>
          <p:cNvSpPr/>
          <p:nvPr/>
        </p:nvSpPr>
        <p:spPr>
          <a:xfrm>
            <a:off x="594360" y="1024128"/>
            <a:ext cx="3611880" cy="2194560"/>
          </a:xfrm>
          <a:prstGeom prst="roundRect">
            <a:avLst>
              <a:gd name="adj" fmla="val 3333"/>
            </a:avLst>
          </a:prstGeom>
          <a:solidFill>
            <a:srgbClr val="FFFFFF"/>
          </a:solidFill>
          <a:ln w="12700">
            <a:solidFill>
              <a:srgbClr val="CBD5E1"/>
            </a:solidFill>
            <a:prstDash val="solid"/>
          </a:ln>
        </p:spPr>
      </p:sp>
      <p:sp>
        <p:nvSpPr>
          <p:cNvPr id="8" name="Text 6"/>
          <p:cNvSpPr/>
          <p:nvPr/>
        </p:nvSpPr>
        <p:spPr>
          <a:xfrm>
            <a:off x="822960" y="1252728"/>
            <a:ext cx="2560320" cy="228600"/>
          </a:xfrm>
          <a:prstGeom prst="rect">
            <a:avLst/>
          </a:prstGeom>
          <a:noFill/>
          <a:ln/>
        </p:spPr>
        <p:txBody>
          <a:bodyPr wrap="square" rtlCol="0" anchor="ctr"/>
          <a:lstStyle/>
          <a:p>
            <a:pPr indent="0" marL="0">
              <a:buNone/>
            </a:pPr>
            <a:r>
              <a:rPr lang="en-US" sz="1300" b="1" dirty="0">
                <a:solidFill>
                  <a:srgbClr val="0F172A"/>
                </a:solidFill>
              </a:rPr>
              <a:t>Decision readiness</a:t>
            </a:r>
            <a:endParaRPr lang="en-US" sz="1300" dirty="0"/>
          </a:p>
        </p:txBody>
      </p:sp>
      <p:sp>
        <p:nvSpPr>
          <p:cNvPr id="9" name="Shape 7"/>
          <p:cNvSpPr/>
          <p:nvPr/>
        </p:nvSpPr>
        <p:spPr>
          <a:xfrm>
            <a:off x="822960" y="1664208"/>
            <a:ext cx="1143000" cy="256032"/>
          </a:xfrm>
          <a:prstGeom prst="roundRect">
            <a:avLst>
              <a:gd name="adj" fmla="val 28571"/>
            </a:avLst>
          </a:prstGeom>
          <a:solidFill>
            <a:srgbClr val="D1FAE5"/>
          </a:solidFill>
          <a:ln w="12700">
            <a:solidFill>
              <a:srgbClr val="D1FAE5"/>
            </a:solidFill>
            <a:prstDash val="solid"/>
          </a:ln>
        </p:spPr>
      </p:sp>
      <p:sp>
        <p:nvSpPr>
          <p:cNvPr id="10" name="Text 8"/>
          <p:cNvSpPr/>
          <p:nvPr/>
        </p:nvSpPr>
        <p:spPr>
          <a:xfrm>
            <a:off x="859536" y="1664208"/>
            <a:ext cx="106984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Allowed</a:t>
            </a:r>
            <a:endParaRPr lang="en-US" sz="740" dirty="0"/>
          </a:p>
        </p:txBody>
      </p:sp>
      <p:sp>
        <p:nvSpPr>
          <p:cNvPr id="11" name="Text 9"/>
          <p:cNvSpPr/>
          <p:nvPr/>
        </p:nvSpPr>
        <p:spPr>
          <a:xfrm>
            <a:off x="822960" y="2139696"/>
            <a:ext cx="2286000" cy="228600"/>
          </a:xfrm>
          <a:prstGeom prst="rect">
            <a:avLst/>
          </a:prstGeom>
          <a:noFill/>
          <a:ln/>
        </p:spPr>
        <p:txBody>
          <a:bodyPr wrap="square" rtlCol="0" anchor="ctr"/>
          <a:lstStyle/>
          <a:p>
            <a:pPr indent="0" marL="0">
              <a:buNone/>
            </a:pPr>
            <a:r>
              <a:rPr lang="en-US" sz="1100" dirty="0">
                <a:solidFill>
                  <a:srgbClr val="0F172A"/>
                </a:solidFill>
              </a:rPr>
              <a:t>Missing evidence: 0</a:t>
            </a:r>
            <a:endParaRPr lang="en-US" sz="1100" dirty="0"/>
          </a:p>
        </p:txBody>
      </p:sp>
      <p:sp>
        <p:nvSpPr>
          <p:cNvPr id="12" name="Text 10"/>
          <p:cNvSpPr/>
          <p:nvPr/>
        </p:nvSpPr>
        <p:spPr>
          <a:xfrm>
            <a:off x="822960" y="2441448"/>
            <a:ext cx="2286000" cy="228600"/>
          </a:xfrm>
          <a:prstGeom prst="rect">
            <a:avLst/>
          </a:prstGeom>
          <a:noFill/>
          <a:ln/>
        </p:spPr>
        <p:txBody>
          <a:bodyPr wrap="square" rtlCol="0" anchor="ctr"/>
          <a:lstStyle/>
          <a:p>
            <a:pPr indent="0" marL="0">
              <a:buNone/>
            </a:pPr>
            <a:r>
              <a:rPr lang="en-US" sz="1100" dirty="0">
                <a:solidFill>
                  <a:srgbClr val="0F172A"/>
                </a:solidFill>
              </a:rPr>
              <a:t>Warnings: 0</a:t>
            </a:r>
            <a:endParaRPr lang="en-US" sz="1100" dirty="0"/>
          </a:p>
        </p:txBody>
      </p:sp>
      <p:sp>
        <p:nvSpPr>
          <p:cNvPr id="13" name="Text 11"/>
          <p:cNvSpPr/>
          <p:nvPr/>
        </p:nvSpPr>
        <p:spPr>
          <a:xfrm>
            <a:off x="822960" y="2761488"/>
            <a:ext cx="3063240" cy="292608"/>
          </a:xfrm>
          <a:prstGeom prst="rect">
            <a:avLst/>
          </a:prstGeom>
          <a:noFill/>
          <a:ln/>
        </p:spPr>
        <p:txBody>
          <a:bodyPr wrap="square" rtlCol="0" anchor="ctr">
            <a:normAutofit/>
          </a:bodyPr>
          <a:lstStyle/>
          <a:p>
            <a:pPr indent="0" marL="0">
              <a:buNone/>
            </a:pPr>
            <a:r>
              <a:rPr lang="en-US" sz="950" dirty="0">
                <a:solidFill>
                  <a:srgbClr val="64748B"/>
                </a:solidFill>
              </a:rPr>
              <a:t>Final conclusion is allowed. Overall classification is Effective.</a:t>
            </a:r>
            <a:endParaRPr lang="en-US" sz="950" dirty="0"/>
          </a:p>
        </p:txBody>
      </p:sp>
      <p:sp>
        <p:nvSpPr>
          <p:cNvPr id="14" name="Text 12"/>
          <p:cNvSpPr/>
          <p:nvPr/>
        </p:nvSpPr>
        <p:spPr>
          <a:xfrm>
            <a:off x="4617720" y="1078992"/>
            <a:ext cx="6583680" cy="566928"/>
          </a:xfrm>
          <a:prstGeom prst="rect">
            <a:avLst/>
          </a:prstGeom>
          <a:noFill/>
          <a:ln/>
        </p:spPr>
        <p:txBody>
          <a:bodyPr wrap="square" rtlCol="0" anchor="ctr">
            <a:normAutofit/>
          </a:bodyPr>
          <a:lstStyle/>
          <a:p>
            <a:pPr indent="0" marL="0">
              <a:buNone/>
            </a:pPr>
            <a:r>
              <a:rPr lang="en-US" sz="1600" b="1" dirty="0">
                <a:solidFill>
                  <a:srgbClr val="0F172A"/>
                </a:solidFill>
              </a:rPr>
              <a:t>Final conclusion is allowed. Overall classification is Effective.</a:t>
            </a:r>
            <a:endParaRPr lang="en-US" sz="1600" dirty="0"/>
          </a:p>
        </p:txBody>
      </p:sp>
      <p:sp>
        <p:nvSpPr>
          <p:cNvPr id="15" name="Text 13"/>
          <p:cNvSpPr/>
          <p:nvPr/>
        </p:nvSpPr>
        <p:spPr>
          <a:xfrm>
            <a:off x="4617720" y="1993392"/>
            <a:ext cx="2926080" cy="237744"/>
          </a:xfrm>
          <a:prstGeom prst="rect">
            <a:avLst/>
          </a:prstGeom>
          <a:noFill/>
          <a:ln/>
        </p:spPr>
        <p:txBody>
          <a:bodyPr wrap="square" rtlCol="0" anchor="ctr"/>
          <a:lstStyle/>
          <a:p>
            <a:pPr indent="0" marL="0">
              <a:buNone/>
            </a:pPr>
            <a:r>
              <a:rPr lang="en-US" sz="1400" b="1" dirty="0">
                <a:solidFill>
                  <a:srgbClr val="0F172A"/>
                </a:solidFill>
              </a:rPr>
              <a:t>Validated gate checks</a:t>
            </a:r>
            <a:endParaRPr lang="en-US" sz="1400" dirty="0"/>
          </a:p>
        </p:txBody>
      </p:sp>
      <p:sp>
        <p:nvSpPr>
          <p:cNvPr id="16" name="Shape 14"/>
          <p:cNvSpPr/>
          <p:nvPr/>
        </p:nvSpPr>
        <p:spPr>
          <a:xfrm>
            <a:off x="4617720" y="2423160"/>
            <a:ext cx="6583680" cy="566928"/>
          </a:xfrm>
          <a:prstGeom prst="roundRect">
            <a:avLst>
              <a:gd name="adj" fmla="val 9677"/>
            </a:avLst>
          </a:prstGeom>
          <a:solidFill>
            <a:srgbClr val="FFFFFF"/>
          </a:solidFill>
          <a:ln w="12700">
            <a:solidFill>
              <a:srgbClr val="CBD5E1"/>
            </a:solidFill>
            <a:prstDash val="solid"/>
          </a:ln>
        </p:spPr>
      </p:sp>
      <p:sp>
        <p:nvSpPr>
          <p:cNvPr id="17" name="Shape 15"/>
          <p:cNvSpPr/>
          <p:nvPr/>
        </p:nvSpPr>
        <p:spPr>
          <a:xfrm>
            <a:off x="4745736" y="2578608"/>
            <a:ext cx="777240" cy="256032"/>
          </a:xfrm>
          <a:prstGeom prst="roundRect">
            <a:avLst>
              <a:gd name="adj" fmla="val 28571"/>
            </a:avLst>
          </a:prstGeom>
          <a:solidFill>
            <a:srgbClr val="D1FAE5"/>
          </a:solidFill>
          <a:ln w="12700">
            <a:solidFill>
              <a:srgbClr val="D1FAE5"/>
            </a:solidFill>
            <a:prstDash val="solid"/>
          </a:ln>
        </p:spPr>
      </p:sp>
      <p:sp>
        <p:nvSpPr>
          <p:cNvPr id="18" name="Text 16"/>
          <p:cNvSpPr/>
          <p:nvPr/>
        </p:nvSpPr>
        <p:spPr>
          <a:xfrm>
            <a:off x="4782312" y="2578608"/>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Ready</a:t>
            </a:r>
            <a:endParaRPr lang="en-US" sz="740" dirty="0"/>
          </a:p>
        </p:txBody>
      </p:sp>
      <p:sp>
        <p:nvSpPr>
          <p:cNvPr id="19" name="Text 17"/>
          <p:cNvSpPr/>
          <p:nvPr/>
        </p:nvSpPr>
        <p:spPr>
          <a:xfrm>
            <a:off x="5623560" y="2532888"/>
            <a:ext cx="2148840" cy="146304"/>
          </a:xfrm>
          <a:prstGeom prst="rect">
            <a:avLst/>
          </a:prstGeom>
          <a:noFill/>
          <a:ln/>
        </p:spPr>
        <p:txBody>
          <a:bodyPr wrap="square" rtlCol="0" anchor="ctr">
            <a:normAutofit/>
          </a:bodyPr>
          <a:lstStyle/>
          <a:p>
            <a:pPr indent="0" marL="0">
              <a:buNone/>
            </a:pPr>
            <a:r>
              <a:rPr lang="en-US" sz="930" b="1" dirty="0">
                <a:solidFill>
                  <a:srgbClr val="0F172A"/>
                </a:solidFill>
              </a:rPr>
              <a:t>Source availability and required columns</a:t>
            </a:r>
            <a:endParaRPr lang="en-US" sz="930" dirty="0"/>
          </a:p>
        </p:txBody>
      </p:sp>
      <p:sp>
        <p:nvSpPr>
          <p:cNvPr id="20" name="Text 18"/>
          <p:cNvSpPr/>
          <p:nvPr/>
        </p:nvSpPr>
        <p:spPr>
          <a:xfrm>
            <a:off x="7863840" y="2514600"/>
            <a:ext cx="3063240" cy="219456"/>
          </a:xfrm>
          <a:prstGeom prst="rect">
            <a:avLst/>
          </a:prstGeom>
          <a:noFill/>
          <a:ln/>
        </p:spPr>
        <p:txBody>
          <a:bodyPr wrap="square" rtlCol="0" anchor="ctr">
            <a:normAutofit/>
          </a:bodyPr>
          <a:lstStyle/>
          <a:p>
            <a:pPr indent="0" marL="0">
              <a:buNone/>
            </a:pPr>
            <a:r>
              <a:rPr lang="en-US" sz="860" dirty="0">
                <a:solidFill>
                  <a:srgbClr val="64748B"/>
                </a:solidFill>
              </a:rPr>
              <a:t>Required sheets and columns were mapped from Teams, OneDrive, Forms, KPI, Rules and Template sources.</a:t>
            </a:r>
            <a:endParaRPr lang="en-US" sz="860" dirty="0"/>
          </a:p>
        </p:txBody>
      </p:sp>
      <p:sp>
        <p:nvSpPr>
          <p:cNvPr id="21" name="Shape 19"/>
          <p:cNvSpPr/>
          <p:nvPr/>
        </p:nvSpPr>
        <p:spPr>
          <a:xfrm>
            <a:off x="4617720" y="3108960"/>
            <a:ext cx="6583680" cy="566928"/>
          </a:xfrm>
          <a:prstGeom prst="roundRect">
            <a:avLst>
              <a:gd name="adj" fmla="val 9677"/>
            </a:avLst>
          </a:prstGeom>
          <a:solidFill>
            <a:srgbClr val="FFFFFF"/>
          </a:solidFill>
          <a:ln w="12700">
            <a:solidFill>
              <a:srgbClr val="CBD5E1"/>
            </a:solidFill>
            <a:prstDash val="solid"/>
          </a:ln>
        </p:spPr>
      </p:sp>
      <p:sp>
        <p:nvSpPr>
          <p:cNvPr id="22" name="Shape 20"/>
          <p:cNvSpPr/>
          <p:nvPr/>
        </p:nvSpPr>
        <p:spPr>
          <a:xfrm>
            <a:off x="4745736" y="3264408"/>
            <a:ext cx="777240" cy="256032"/>
          </a:xfrm>
          <a:prstGeom prst="roundRect">
            <a:avLst>
              <a:gd name="adj" fmla="val 28571"/>
            </a:avLst>
          </a:prstGeom>
          <a:solidFill>
            <a:srgbClr val="D1FAE5"/>
          </a:solidFill>
          <a:ln w="12700">
            <a:solidFill>
              <a:srgbClr val="D1FAE5"/>
            </a:solidFill>
            <a:prstDash val="solid"/>
          </a:ln>
        </p:spPr>
      </p:sp>
      <p:sp>
        <p:nvSpPr>
          <p:cNvPr id="23" name="Text 21"/>
          <p:cNvSpPr/>
          <p:nvPr/>
        </p:nvSpPr>
        <p:spPr>
          <a:xfrm>
            <a:off x="4782312" y="3264408"/>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Ready</a:t>
            </a:r>
            <a:endParaRPr lang="en-US" sz="740" dirty="0"/>
          </a:p>
        </p:txBody>
      </p:sp>
      <p:sp>
        <p:nvSpPr>
          <p:cNvPr id="24" name="Text 22"/>
          <p:cNvSpPr/>
          <p:nvPr/>
        </p:nvSpPr>
        <p:spPr>
          <a:xfrm>
            <a:off x="5623560" y="3218688"/>
            <a:ext cx="2148840" cy="146304"/>
          </a:xfrm>
          <a:prstGeom prst="rect">
            <a:avLst/>
          </a:prstGeom>
          <a:noFill/>
          <a:ln/>
        </p:spPr>
        <p:txBody>
          <a:bodyPr wrap="square" rtlCol="0" anchor="ctr">
            <a:normAutofit/>
          </a:bodyPr>
          <a:lstStyle/>
          <a:p>
            <a:pPr indent="0" marL="0">
              <a:buNone/>
            </a:pPr>
            <a:r>
              <a:rPr lang="en-US" sz="930" b="1" dirty="0">
                <a:solidFill>
                  <a:srgbClr val="0F172A"/>
                </a:solidFill>
              </a:rPr>
              <a:t>Course status</a:t>
            </a:r>
            <a:endParaRPr lang="en-US" sz="930" dirty="0"/>
          </a:p>
        </p:txBody>
      </p:sp>
      <p:sp>
        <p:nvSpPr>
          <p:cNvPr id="25" name="Text 23"/>
          <p:cNvSpPr/>
          <p:nvPr/>
        </p:nvSpPr>
        <p:spPr>
          <a:xfrm>
            <a:off x="7863840" y="3200400"/>
            <a:ext cx="3063240" cy="219456"/>
          </a:xfrm>
          <a:prstGeom prst="rect">
            <a:avLst/>
          </a:prstGeom>
          <a:noFill/>
          <a:ln/>
        </p:spPr>
        <p:txBody>
          <a:bodyPr wrap="square" rtlCol="0" anchor="ctr">
            <a:normAutofit/>
          </a:bodyPr>
          <a:lstStyle/>
          <a:p>
            <a:pPr indent="0" marL="0">
              <a:buNone/>
            </a:pPr>
            <a:r>
              <a:rPr lang="en-US" sz="860" dirty="0">
                <a:solidFill>
                  <a:srgbClr val="64748B"/>
                </a:solidFill>
              </a:rPr>
              <a:t>All selected courses are completed.</a:t>
            </a:r>
            <a:endParaRPr lang="en-US" sz="860" dirty="0"/>
          </a:p>
        </p:txBody>
      </p:sp>
      <p:sp>
        <p:nvSpPr>
          <p:cNvPr id="26" name="Shape 24"/>
          <p:cNvSpPr/>
          <p:nvPr/>
        </p:nvSpPr>
        <p:spPr>
          <a:xfrm>
            <a:off x="4617720" y="3794760"/>
            <a:ext cx="6583680" cy="566928"/>
          </a:xfrm>
          <a:prstGeom prst="roundRect">
            <a:avLst>
              <a:gd name="adj" fmla="val 9677"/>
            </a:avLst>
          </a:prstGeom>
          <a:solidFill>
            <a:srgbClr val="FFFFFF"/>
          </a:solidFill>
          <a:ln w="12700">
            <a:solidFill>
              <a:srgbClr val="CBD5E1"/>
            </a:solidFill>
            <a:prstDash val="solid"/>
          </a:ln>
        </p:spPr>
      </p:sp>
      <p:sp>
        <p:nvSpPr>
          <p:cNvPr id="27" name="Shape 25"/>
          <p:cNvSpPr/>
          <p:nvPr/>
        </p:nvSpPr>
        <p:spPr>
          <a:xfrm>
            <a:off x="4745736" y="3950208"/>
            <a:ext cx="777240" cy="256032"/>
          </a:xfrm>
          <a:prstGeom prst="roundRect">
            <a:avLst>
              <a:gd name="adj" fmla="val 28571"/>
            </a:avLst>
          </a:prstGeom>
          <a:solidFill>
            <a:srgbClr val="D1FAE5"/>
          </a:solidFill>
          <a:ln w="12700">
            <a:solidFill>
              <a:srgbClr val="D1FAE5"/>
            </a:solidFill>
            <a:prstDash val="solid"/>
          </a:ln>
        </p:spPr>
      </p:sp>
      <p:sp>
        <p:nvSpPr>
          <p:cNvPr id="28" name="Text 26"/>
          <p:cNvSpPr/>
          <p:nvPr/>
        </p:nvSpPr>
        <p:spPr>
          <a:xfrm>
            <a:off x="4782312" y="3950208"/>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Ready</a:t>
            </a:r>
            <a:endParaRPr lang="en-US" sz="740" dirty="0"/>
          </a:p>
        </p:txBody>
      </p:sp>
      <p:sp>
        <p:nvSpPr>
          <p:cNvPr id="29" name="Text 27"/>
          <p:cNvSpPr/>
          <p:nvPr/>
        </p:nvSpPr>
        <p:spPr>
          <a:xfrm>
            <a:off x="5623560" y="3904488"/>
            <a:ext cx="2148840" cy="146304"/>
          </a:xfrm>
          <a:prstGeom prst="rect">
            <a:avLst/>
          </a:prstGeom>
          <a:noFill/>
          <a:ln/>
        </p:spPr>
        <p:txBody>
          <a:bodyPr wrap="square" rtlCol="0" anchor="ctr">
            <a:normAutofit/>
          </a:bodyPr>
          <a:lstStyle/>
          <a:p>
            <a:pPr indent="0" marL="0">
              <a:buNone/>
            </a:pPr>
            <a:r>
              <a:rPr lang="en-US" sz="930" b="1" dirty="0">
                <a:solidFill>
                  <a:srgbClr val="0F172A"/>
                </a:solidFill>
              </a:rPr>
              <a:t>Attendance completeness</a:t>
            </a:r>
            <a:endParaRPr lang="en-US" sz="930" dirty="0"/>
          </a:p>
        </p:txBody>
      </p:sp>
      <p:sp>
        <p:nvSpPr>
          <p:cNvPr id="30" name="Text 28"/>
          <p:cNvSpPr/>
          <p:nvPr/>
        </p:nvSpPr>
        <p:spPr>
          <a:xfrm>
            <a:off x="7863840" y="3886200"/>
            <a:ext cx="3063240" cy="219456"/>
          </a:xfrm>
          <a:prstGeom prst="rect">
            <a:avLst/>
          </a:prstGeom>
          <a:noFill/>
          <a:ln/>
        </p:spPr>
        <p:txBody>
          <a:bodyPr wrap="square" rtlCol="0" anchor="ctr">
            <a:normAutofit/>
          </a:bodyPr>
          <a:lstStyle/>
          <a:p>
            <a:pPr indent="0" marL="0">
              <a:buNone/>
            </a:pPr>
            <a:r>
              <a:rPr lang="en-US" sz="860" dirty="0">
                <a:solidFill>
                  <a:srgbClr val="64748B"/>
                </a:solidFill>
              </a:rPr>
              <a:t>Expected attendance rows are trainee count x total sessions. Late is retained for metrics as partial attendance.</a:t>
            </a:r>
            <a:endParaRPr lang="en-US" sz="860" dirty="0"/>
          </a:p>
        </p:txBody>
      </p:sp>
      <p:sp>
        <p:nvSpPr>
          <p:cNvPr id="31" name="Shape 29"/>
          <p:cNvSpPr/>
          <p:nvPr/>
        </p:nvSpPr>
        <p:spPr>
          <a:xfrm>
            <a:off x="4617720" y="4480560"/>
            <a:ext cx="6583680" cy="566928"/>
          </a:xfrm>
          <a:prstGeom prst="roundRect">
            <a:avLst>
              <a:gd name="adj" fmla="val 9677"/>
            </a:avLst>
          </a:prstGeom>
          <a:solidFill>
            <a:srgbClr val="FFFFFF"/>
          </a:solidFill>
          <a:ln w="12700">
            <a:solidFill>
              <a:srgbClr val="CBD5E1"/>
            </a:solidFill>
            <a:prstDash val="solid"/>
          </a:ln>
        </p:spPr>
      </p:sp>
      <p:sp>
        <p:nvSpPr>
          <p:cNvPr id="32" name="Shape 30"/>
          <p:cNvSpPr/>
          <p:nvPr/>
        </p:nvSpPr>
        <p:spPr>
          <a:xfrm>
            <a:off x="4745736" y="4636008"/>
            <a:ext cx="777240" cy="256032"/>
          </a:xfrm>
          <a:prstGeom prst="roundRect">
            <a:avLst>
              <a:gd name="adj" fmla="val 28571"/>
            </a:avLst>
          </a:prstGeom>
          <a:solidFill>
            <a:srgbClr val="D1FAE5"/>
          </a:solidFill>
          <a:ln w="12700">
            <a:solidFill>
              <a:srgbClr val="D1FAE5"/>
            </a:solidFill>
            <a:prstDash val="solid"/>
          </a:ln>
        </p:spPr>
      </p:sp>
      <p:sp>
        <p:nvSpPr>
          <p:cNvPr id="33" name="Text 31"/>
          <p:cNvSpPr/>
          <p:nvPr/>
        </p:nvSpPr>
        <p:spPr>
          <a:xfrm>
            <a:off x="4782312" y="4636008"/>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Ready</a:t>
            </a:r>
            <a:endParaRPr lang="en-US" sz="740" dirty="0"/>
          </a:p>
        </p:txBody>
      </p:sp>
      <p:sp>
        <p:nvSpPr>
          <p:cNvPr id="34" name="Text 32"/>
          <p:cNvSpPr/>
          <p:nvPr/>
        </p:nvSpPr>
        <p:spPr>
          <a:xfrm>
            <a:off x="5623560" y="4590288"/>
            <a:ext cx="2148840" cy="146304"/>
          </a:xfrm>
          <a:prstGeom prst="rect">
            <a:avLst/>
          </a:prstGeom>
          <a:noFill/>
          <a:ln/>
        </p:spPr>
        <p:txBody>
          <a:bodyPr wrap="square" rtlCol="0" anchor="ctr">
            <a:normAutofit/>
          </a:bodyPr>
          <a:lstStyle/>
          <a:p>
            <a:pPr indent="0" marL="0">
              <a:buNone/>
            </a:pPr>
            <a:r>
              <a:rPr lang="en-US" sz="930" b="1" dirty="0">
                <a:solidFill>
                  <a:srgbClr val="0F172A"/>
                </a:solidFill>
              </a:rPr>
              <a:t>Assessment completeness</a:t>
            </a:r>
            <a:endParaRPr lang="en-US" sz="930" dirty="0"/>
          </a:p>
        </p:txBody>
      </p:sp>
      <p:sp>
        <p:nvSpPr>
          <p:cNvPr id="35" name="Text 33"/>
          <p:cNvSpPr/>
          <p:nvPr/>
        </p:nvSpPr>
        <p:spPr>
          <a:xfrm>
            <a:off x="7863840" y="4572000"/>
            <a:ext cx="3063240" cy="219456"/>
          </a:xfrm>
          <a:prstGeom prst="rect">
            <a:avLst/>
          </a:prstGeom>
          <a:noFill/>
          <a:ln/>
        </p:spPr>
        <p:txBody>
          <a:bodyPr wrap="square" rtlCol="0" anchor="ctr">
            <a:normAutofit/>
          </a:bodyPr>
          <a:lstStyle/>
          <a:p>
            <a:pPr indent="0" marL="0">
              <a:buNone/>
            </a:pPr>
            <a:r>
              <a:rPr lang="en-US" sz="860" dirty="0">
                <a:solidFill>
                  <a:srgbClr val="64748B"/>
                </a:solidFill>
              </a:rPr>
              <a:t>Completed courses require one valid assessment and pass-status row per trainee.</a:t>
            </a:r>
            <a:endParaRPr lang="en-US" sz="860" dirty="0"/>
          </a:p>
        </p:txBody>
      </p:sp>
      <p:sp>
        <p:nvSpPr>
          <p:cNvPr id="36" name="Shape 34"/>
          <p:cNvSpPr/>
          <p:nvPr/>
        </p:nvSpPr>
        <p:spPr>
          <a:xfrm>
            <a:off x="4617720" y="5166360"/>
            <a:ext cx="6583680" cy="566928"/>
          </a:xfrm>
          <a:prstGeom prst="roundRect">
            <a:avLst>
              <a:gd name="adj" fmla="val 9677"/>
            </a:avLst>
          </a:prstGeom>
          <a:solidFill>
            <a:srgbClr val="FFFFFF"/>
          </a:solidFill>
          <a:ln w="12700">
            <a:solidFill>
              <a:srgbClr val="CBD5E1"/>
            </a:solidFill>
            <a:prstDash val="solid"/>
          </a:ln>
        </p:spPr>
      </p:sp>
      <p:sp>
        <p:nvSpPr>
          <p:cNvPr id="37" name="Shape 35"/>
          <p:cNvSpPr/>
          <p:nvPr/>
        </p:nvSpPr>
        <p:spPr>
          <a:xfrm>
            <a:off x="4745736" y="5321808"/>
            <a:ext cx="777240" cy="256032"/>
          </a:xfrm>
          <a:prstGeom prst="roundRect">
            <a:avLst>
              <a:gd name="adj" fmla="val 28571"/>
            </a:avLst>
          </a:prstGeom>
          <a:solidFill>
            <a:srgbClr val="D1FAE5"/>
          </a:solidFill>
          <a:ln w="12700">
            <a:solidFill>
              <a:srgbClr val="D1FAE5"/>
            </a:solidFill>
            <a:prstDash val="solid"/>
          </a:ln>
        </p:spPr>
      </p:sp>
      <p:sp>
        <p:nvSpPr>
          <p:cNvPr id="38" name="Text 36"/>
          <p:cNvSpPr/>
          <p:nvPr/>
        </p:nvSpPr>
        <p:spPr>
          <a:xfrm>
            <a:off x="4782312" y="5321808"/>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Ready</a:t>
            </a:r>
            <a:endParaRPr lang="en-US" sz="740" dirty="0"/>
          </a:p>
        </p:txBody>
      </p:sp>
      <p:sp>
        <p:nvSpPr>
          <p:cNvPr id="39" name="Text 37"/>
          <p:cNvSpPr/>
          <p:nvPr/>
        </p:nvSpPr>
        <p:spPr>
          <a:xfrm>
            <a:off x="5623560" y="5276088"/>
            <a:ext cx="2148840" cy="146304"/>
          </a:xfrm>
          <a:prstGeom prst="rect">
            <a:avLst/>
          </a:prstGeom>
          <a:noFill/>
          <a:ln/>
        </p:spPr>
        <p:txBody>
          <a:bodyPr wrap="square" rtlCol="0" anchor="ctr">
            <a:normAutofit/>
          </a:bodyPr>
          <a:lstStyle/>
          <a:p>
            <a:pPr indent="0" marL="0">
              <a:buNone/>
            </a:pPr>
            <a:r>
              <a:rPr lang="en-US" sz="930" b="1" dirty="0">
                <a:solidFill>
                  <a:srgbClr val="0F172A"/>
                </a:solidFill>
              </a:rPr>
              <a:t>Feedback completeness</a:t>
            </a:r>
            <a:endParaRPr lang="en-US" sz="930" dirty="0"/>
          </a:p>
        </p:txBody>
      </p:sp>
      <p:sp>
        <p:nvSpPr>
          <p:cNvPr id="40" name="Text 38"/>
          <p:cNvSpPr/>
          <p:nvPr/>
        </p:nvSpPr>
        <p:spPr>
          <a:xfrm>
            <a:off x="7863840" y="5257800"/>
            <a:ext cx="3063240" cy="219456"/>
          </a:xfrm>
          <a:prstGeom prst="rect">
            <a:avLst/>
          </a:prstGeom>
          <a:noFill/>
          <a:ln/>
        </p:spPr>
        <p:txBody>
          <a:bodyPr wrap="square" rtlCol="0" anchor="ctr">
            <a:normAutofit/>
          </a:bodyPr>
          <a:lstStyle/>
          <a:p>
            <a:pPr indent="0" marL="0">
              <a:buNone/>
            </a:pPr>
            <a:r>
              <a:rPr lang="en-US" sz="860" dirty="0">
                <a:solidFill>
                  <a:srgbClr val="64748B"/>
                </a:solidFill>
              </a:rPr>
              <a:t>NORM-14 requires at least 60% feedback response rate for valid analysis.</a:t>
            </a:r>
            <a:endParaRPr lang="en-US" sz="86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Performance scorecard</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Course DevOps_02_2026 | Type full</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Passed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7" name="Shape 5"/>
          <p:cNvSpPr/>
          <p:nvPr/>
        </p:nvSpPr>
        <p:spPr>
          <a:xfrm>
            <a:off x="594360" y="1051560"/>
            <a:ext cx="2514600" cy="1417320"/>
          </a:xfrm>
          <a:prstGeom prst="roundRect">
            <a:avLst>
              <a:gd name="adj" fmla="val 5161"/>
            </a:avLst>
          </a:prstGeom>
          <a:solidFill>
            <a:srgbClr val="FFFFFF"/>
          </a:solidFill>
          <a:ln w="12700">
            <a:solidFill>
              <a:srgbClr val="CBD5E1"/>
            </a:solidFill>
            <a:prstDash val="solid"/>
          </a:ln>
        </p:spPr>
      </p:sp>
      <p:sp>
        <p:nvSpPr>
          <p:cNvPr id="8" name="Text 6"/>
          <p:cNvSpPr/>
          <p:nvPr/>
        </p:nvSpPr>
        <p:spPr>
          <a:xfrm>
            <a:off x="758952" y="1197864"/>
            <a:ext cx="2194560" cy="164592"/>
          </a:xfrm>
          <a:prstGeom prst="rect">
            <a:avLst/>
          </a:prstGeom>
          <a:noFill/>
          <a:ln/>
        </p:spPr>
        <p:txBody>
          <a:bodyPr wrap="square" rtlCol="0" anchor="ctr">
            <a:normAutofit/>
          </a:bodyPr>
          <a:lstStyle/>
          <a:p>
            <a:pPr indent="0" marL="0">
              <a:buNone/>
            </a:pPr>
            <a:r>
              <a:rPr lang="en-US" sz="850" b="1" dirty="0">
                <a:solidFill>
                  <a:srgbClr val="64748B"/>
                </a:solidFill>
              </a:rPr>
              <a:t>ATTENDANCE</a:t>
            </a:r>
            <a:endParaRPr lang="en-US" sz="850" dirty="0"/>
          </a:p>
        </p:txBody>
      </p:sp>
      <p:sp>
        <p:nvSpPr>
          <p:cNvPr id="9" name="Text 7"/>
          <p:cNvSpPr/>
          <p:nvPr/>
        </p:nvSpPr>
        <p:spPr>
          <a:xfrm>
            <a:off x="758952" y="1435608"/>
            <a:ext cx="2194560" cy="329184"/>
          </a:xfrm>
          <a:prstGeom prst="rect">
            <a:avLst/>
          </a:prstGeom>
          <a:noFill/>
          <a:ln/>
        </p:spPr>
        <p:txBody>
          <a:bodyPr wrap="square" rtlCol="0" anchor="ctr">
            <a:normAutofit/>
          </a:bodyPr>
          <a:lstStyle/>
          <a:p>
            <a:pPr indent="0" marL="0">
              <a:buNone/>
            </a:pPr>
            <a:r>
              <a:rPr lang="en-US" sz="2100" b="1" dirty="0">
                <a:solidFill>
                  <a:srgbClr val="0F172A"/>
                </a:solidFill>
              </a:rPr>
              <a:t>96%</a:t>
            </a:r>
            <a:endParaRPr lang="en-US" sz="2100" dirty="0"/>
          </a:p>
        </p:txBody>
      </p:sp>
      <p:sp>
        <p:nvSpPr>
          <p:cNvPr id="10" name="Text 8"/>
          <p:cNvSpPr/>
          <p:nvPr/>
        </p:nvSpPr>
        <p:spPr>
          <a:xfrm>
            <a:off x="758952" y="1837944"/>
            <a:ext cx="1463040" cy="164592"/>
          </a:xfrm>
          <a:prstGeom prst="rect">
            <a:avLst/>
          </a:prstGeom>
          <a:noFill/>
          <a:ln/>
        </p:spPr>
        <p:txBody>
          <a:bodyPr wrap="square" rtlCol="0" anchor="ctr">
            <a:normAutofit/>
          </a:bodyPr>
          <a:lstStyle/>
          <a:p>
            <a:pPr indent="0" marL="0">
              <a:buNone/>
            </a:pPr>
            <a:r>
              <a:rPr lang="en-US" sz="850" dirty="0">
                <a:solidFill>
                  <a:srgbClr val="64748B"/>
                </a:solidFill>
              </a:rPr>
              <a:t>Target &gt;= 85%</a:t>
            </a:r>
            <a:endParaRPr lang="en-US" sz="850" dirty="0"/>
          </a:p>
        </p:txBody>
      </p:sp>
      <p:sp>
        <p:nvSpPr>
          <p:cNvPr id="11" name="Shape 9"/>
          <p:cNvSpPr/>
          <p:nvPr/>
        </p:nvSpPr>
        <p:spPr>
          <a:xfrm>
            <a:off x="2167128" y="2112264"/>
            <a:ext cx="777240" cy="256032"/>
          </a:xfrm>
          <a:prstGeom prst="roundRect">
            <a:avLst>
              <a:gd name="adj" fmla="val 28571"/>
            </a:avLst>
          </a:prstGeom>
          <a:solidFill>
            <a:srgbClr val="D1FAE5"/>
          </a:solidFill>
          <a:ln w="12700">
            <a:solidFill>
              <a:srgbClr val="D1FAE5"/>
            </a:solidFill>
            <a:prstDash val="solid"/>
          </a:ln>
        </p:spPr>
      </p:sp>
      <p:sp>
        <p:nvSpPr>
          <p:cNvPr id="12" name="Text 10"/>
          <p:cNvSpPr/>
          <p:nvPr/>
        </p:nvSpPr>
        <p:spPr>
          <a:xfrm>
            <a:off x="2203704" y="2112264"/>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Good</a:t>
            </a:r>
            <a:endParaRPr lang="en-US" sz="740" dirty="0"/>
          </a:p>
        </p:txBody>
      </p:sp>
      <p:sp>
        <p:nvSpPr>
          <p:cNvPr id="13" name="Shape 11"/>
          <p:cNvSpPr/>
          <p:nvPr/>
        </p:nvSpPr>
        <p:spPr>
          <a:xfrm>
            <a:off x="3383280" y="1051560"/>
            <a:ext cx="2514600" cy="1417320"/>
          </a:xfrm>
          <a:prstGeom prst="roundRect">
            <a:avLst>
              <a:gd name="adj" fmla="val 5161"/>
            </a:avLst>
          </a:prstGeom>
          <a:solidFill>
            <a:srgbClr val="FFFFFF"/>
          </a:solidFill>
          <a:ln w="12700">
            <a:solidFill>
              <a:srgbClr val="CBD5E1"/>
            </a:solidFill>
            <a:prstDash val="solid"/>
          </a:ln>
        </p:spPr>
      </p:sp>
      <p:sp>
        <p:nvSpPr>
          <p:cNvPr id="14" name="Text 12"/>
          <p:cNvSpPr/>
          <p:nvPr/>
        </p:nvSpPr>
        <p:spPr>
          <a:xfrm>
            <a:off x="3547872" y="1197864"/>
            <a:ext cx="2194560" cy="164592"/>
          </a:xfrm>
          <a:prstGeom prst="rect">
            <a:avLst/>
          </a:prstGeom>
          <a:noFill/>
          <a:ln/>
        </p:spPr>
        <p:txBody>
          <a:bodyPr wrap="square" rtlCol="0" anchor="ctr">
            <a:normAutofit/>
          </a:bodyPr>
          <a:lstStyle/>
          <a:p>
            <a:pPr indent="0" marL="0">
              <a:buNone/>
            </a:pPr>
            <a:r>
              <a:rPr lang="en-US" sz="850" b="1" dirty="0">
                <a:solidFill>
                  <a:srgbClr val="64748B"/>
                </a:solidFill>
              </a:rPr>
              <a:t>COMPLETION</a:t>
            </a:r>
            <a:endParaRPr lang="en-US" sz="850" dirty="0"/>
          </a:p>
        </p:txBody>
      </p:sp>
      <p:sp>
        <p:nvSpPr>
          <p:cNvPr id="15" name="Text 13"/>
          <p:cNvSpPr/>
          <p:nvPr/>
        </p:nvSpPr>
        <p:spPr>
          <a:xfrm>
            <a:off x="3547872" y="1435608"/>
            <a:ext cx="2194560" cy="329184"/>
          </a:xfrm>
          <a:prstGeom prst="rect">
            <a:avLst/>
          </a:prstGeom>
          <a:noFill/>
          <a:ln/>
        </p:spPr>
        <p:txBody>
          <a:bodyPr wrap="square" rtlCol="0" anchor="ctr">
            <a:normAutofit/>
          </a:bodyPr>
          <a:lstStyle/>
          <a:p>
            <a:pPr indent="0" marL="0">
              <a:buNone/>
            </a:pPr>
            <a:r>
              <a:rPr lang="en-US" sz="2100" b="1" dirty="0">
                <a:solidFill>
                  <a:srgbClr val="0F172A"/>
                </a:solidFill>
              </a:rPr>
              <a:t>100%</a:t>
            </a:r>
            <a:endParaRPr lang="en-US" sz="2100" dirty="0"/>
          </a:p>
        </p:txBody>
      </p:sp>
      <p:sp>
        <p:nvSpPr>
          <p:cNvPr id="16" name="Text 14"/>
          <p:cNvSpPr/>
          <p:nvPr/>
        </p:nvSpPr>
        <p:spPr>
          <a:xfrm>
            <a:off x="3547872" y="1837944"/>
            <a:ext cx="1463040" cy="164592"/>
          </a:xfrm>
          <a:prstGeom prst="rect">
            <a:avLst/>
          </a:prstGeom>
          <a:noFill/>
          <a:ln/>
        </p:spPr>
        <p:txBody>
          <a:bodyPr wrap="square" rtlCol="0" anchor="ctr">
            <a:normAutofit/>
          </a:bodyPr>
          <a:lstStyle/>
          <a:p>
            <a:pPr indent="0" marL="0">
              <a:buNone/>
            </a:pPr>
            <a:r>
              <a:rPr lang="en-US" sz="850" dirty="0">
                <a:solidFill>
                  <a:srgbClr val="64748B"/>
                </a:solidFill>
              </a:rPr>
              <a:t>Target &gt;= 90%</a:t>
            </a:r>
            <a:endParaRPr lang="en-US" sz="850" dirty="0"/>
          </a:p>
        </p:txBody>
      </p:sp>
      <p:sp>
        <p:nvSpPr>
          <p:cNvPr id="17" name="Shape 15"/>
          <p:cNvSpPr/>
          <p:nvPr/>
        </p:nvSpPr>
        <p:spPr>
          <a:xfrm>
            <a:off x="4956048" y="2112264"/>
            <a:ext cx="777240" cy="256032"/>
          </a:xfrm>
          <a:prstGeom prst="roundRect">
            <a:avLst>
              <a:gd name="adj" fmla="val 28571"/>
            </a:avLst>
          </a:prstGeom>
          <a:solidFill>
            <a:srgbClr val="D1FAE5"/>
          </a:solidFill>
          <a:ln w="12700">
            <a:solidFill>
              <a:srgbClr val="D1FAE5"/>
            </a:solidFill>
            <a:prstDash val="solid"/>
          </a:ln>
        </p:spPr>
      </p:sp>
      <p:sp>
        <p:nvSpPr>
          <p:cNvPr id="18" name="Text 16"/>
          <p:cNvSpPr/>
          <p:nvPr/>
        </p:nvSpPr>
        <p:spPr>
          <a:xfrm>
            <a:off x="4992624" y="2112264"/>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Excellent</a:t>
            </a:r>
            <a:endParaRPr lang="en-US" sz="740" dirty="0"/>
          </a:p>
        </p:txBody>
      </p:sp>
      <p:sp>
        <p:nvSpPr>
          <p:cNvPr id="19" name="Shape 17"/>
          <p:cNvSpPr/>
          <p:nvPr/>
        </p:nvSpPr>
        <p:spPr>
          <a:xfrm>
            <a:off x="6172200" y="1051560"/>
            <a:ext cx="2514600" cy="1417320"/>
          </a:xfrm>
          <a:prstGeom prst="roundRect">
            <a:avLst>
              <a:gd name="adj" fmla="val 5161"/>
            </a:avLst>
          </a:prstGeom>
          <a:solidFill>
            <a:srgbClr val="FFFFFF"/>
          </a:solidFill>
          <a:ln w="12700">
            <a:solidFill>
              <a:srgbClr val="CBD5E1"/>
            </a:solidFill>
            <a:prstDash val="solid"/>
          </a:ln>
        </p:spPr>
      </p:sp>
      <p:sp>
        <p:nvSpPr>
          <p:cNvPr id="20" name="Text 18"/>
          <p:cNvSpPr/>
          <p:nvPr/>
        </p:nvSpPr>
        <p:spPr>
          <a:xfrm>
            <a:off x="6336792" y="1197864"/>
            <a:ext cx="2194560" cy="164592"/>
          </a:xfrm>
          <a:prstGeom prst="rect">
            <a:avLst/>
          </a:prstGeom>
          <a:noFill/>
          <a:ln/>
        </p:spPr>
        <p:txBody>
          <a:bodyPr wrap="square" rtlCol="0" anchor="ctr">
            <a:normAutofit/>
          </a:bodyPr>
          <a:lstStyle/>
          <a:p>
            <a:pPr indent="0" marL="0">
              <a:buNone/>
            </a:pPr>
            <a:r>
              <a:rPr lang="en-US" sz="850" b="1" dirty="0">
                <a:solidFill>
                  <a:srgbClr val="64748B"/>
                </a:solidFill>
              </a:rPr>
              <a:t>PASS RATE</a:t>
            </a:r>
            <a:endParaRPr lang="en-US" sz="850" dirty="0"/>
          </a:p>
        </p:txBody>
      </p:sp>
      <p:sp>
        <p:nvSpPr>
          <p:cNvPr id="21" name="Text 19"/>
          <p:cNvSpPr/>
          <p:nvPr/>
        </p:nvSpPr>
        <p:spPr>
          <a:xfrm>
            <a:off x="6336792" y="1435608"/>
            <a:ext cx="2194560" cy="329184"/>
          </a:xfrm>
          <a:prstGeom prst="rect">
            <a:avLst/>
          </a:prstGeom>
          <a:noFill/>
          <a:ln/>
        </p:spPr>
        <p:txBody>
          <a:bodyPr wrap="square" rtlCol="0" anchor="ctr">
            <a:normAutofit/>
          </a:bodyPr>
          <a:lstStyle/>
          <a:p>
            <a:pPr indent="0" marL="0">
              <a:buNone/>
            </a:pPr>
            <a:r>
              <a:rPr lang="en-US" sz="2100" b="1" dirty="0">
                <a:solidFill>
                  <a:srgbClr val="0F172A"/>
                </a:solidFill>
              </a:rPr>
              <a:t>100%</a:t>
            </a:r>
            <a:endParaRPr lang="en-US" sz="2100" dirty="0"/>
          </a:p>
        </p:txBody>
      </p:sp>
      <p:sp>
        <p:nvSpPr>
          <p:cNvPr id="22" name="Text 20"/>
          <p:cNvSpPr/>
          <p:nvPr/>
        </p:nvSpPr>
        <p:spPr>
          <a:xfrm>
            <a:off x="6336792" y="1837944"/>
            <a:ext cx="1463040" cy="164592"/>
          </a:xfrm>
          <a:prstGeom prst="rect">
            <a:avLst/>
          </a:prstGeom>
          <a:noFill/>
          <a:ln/>
        </p:spPr>
        <p:txBody>
          <a:bodyPr wrap="square" rtlCol="0" anchor="ctr">
            <a:normAutofit/>
          </a:bodyPr>
          <a:lstStyle/>
          <a:p>
            <a:pPr indent="0" marL="0">
              <a:buNone/>
            </a:pPr>
            <a:r>
              <a:rPr lang="en-US" sz="850" dirty="0">
                <a:solidFill>
                  <a:srgbClr val="64748B"/>
                </a:solidFill>
              </a:rPr>
              <a:t>Target &gt;= 80%</a:t>
            </a:r>
            <a:endParaRPr lang="en-US" sz="850" dirty="0"/>
          </a:p>
        </p:txBody>
      </p:sp>
      <p:sp>
        <p:nvSpPr>
          <p:cNvPr id="23" name="Shape 21"/>
          <p:cNvSpPr/>
          <p:nvPr/>
        </p:nvSpPr>
        <p:spPr>
          <a:xfrm>
            <a:off x="7744968" y="2112264"/>
            <a:ext cx="777240" cy="256032"/>
          </a:xfrm>
          <a:prstGeom prst="roundRect">
            <a:avLst>
              <a:gd name="adj" fmla="val 28571"/>
            </a:avLst>
          </a:prstGeom>
          <a:solidFill>
            <a:srgbClr val="D1FAE5"/>
          </a:solidFill>
          <a:ln w="12700">
            <a:solidFill>
              <a:srgbClr val="D1FAE5"/>
            </a:solidFill>
            <a:prstDash val="solid"/>
          </a:ln>
        </p:spPr>
      </p:sp>
      <p:sp>
        <p:nvSpPr>
          <p:cNvPr id="24" name="Text 22"/>
          <p:cNvSpPr/>
          <p:nvPr/>
        </p:nvSpPr>
        <p:spPr>
          <a:xfrm>
            <a:off x="7781544" y="2112264"/>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Excellent</a:t>
            </a:r>
            <a:endParaRPr lang="en-US" sz="740" dirty="0"/>
          </a:p>
        </p:txBody>
      </p:sp>
      <p:sp>
        <p:nvSpPr>
          <p:cNvPr id="25" name="Shape 23"/>
          <p:cNvSpPr/>
          <p:nvPr/>
        </p:nvSpPr>
        <p:spPr>
          <a:xfrm>
            <a:off x="8961120" y="1051560"/>
            <a:ext cx="2514600" cy="1417320"/>
          </a:xfrm>
          <a:prstGeom prst="roundRect">
            <a:avLst>
              <a:gd name="adj" fmla="val 5161"/>
            </a:avLst>
          </a:prstGeom>
          <a:solidFill>
            <a:srgbClr val="FFFFFF"/>
          </a:solidFill>
          <a:ln w="12700">
            <a:solidFill>
              <a:srgbClr val="CBD5E1"/>
            </a:solidFill>
            <a:prstDash val="solid"/>
          </a:ln>
        </p:spPr>
      </p:sp>
      <p:sp>
        <p:nvSpPr>
          <p:cNvPr id="26" name="Text 24"/>
          <p:cNvSpPr/>
          <p:nvPr/>
        </p:nvSpPr>
        <p:spPr>
          <a:xfrm>
            <a:off x="9125712" y="1197864"/>
            <a:ext cx="2194560" cy="164592"/>
          </a:xfrm>
          <a:prstGeom prst="rect">
            <a:avLst/>
          </a:prstGeom>
          <a:noFill/>
          <a:ln/>
        </p:spPr>
        <p:txBody>
          <a:bodyPr wrap="square" rtlCol="0" anchor="ctr">
            <a:normAutofit/>
          </a:bodyPr>
          <a:lstStyle/>
          <a:p>
            <a:pPr indent="0" marL="0">
              <a:buNone/>
            </a:pPr>
            <a:r>
              <a:rPr lang="en-US" sz="850" b="1" dirty="0">
                <a:solidFill>
                  <a:srgbClr val="64748B"/>
                </a:solidFill>
              </a:rPr>
              <a:t>AVG SCORE</a:t>
            </a:r>
            <a:endParaRPr lang="en-US" sz="850" dirty="0"/>
          </a:p>
        </p:txBody>
      </p:sp>
      <p:sp>
        <p:nvSpPr>
          <p:cNvPr id="27" name="Text 25"/>
          <p:cNvSpPr/>
          <p:nvPr/>
        </p:nvSpPr>
        <p:spPr>
          <a:xfrm>
            <a:off x="9125712" y="1435608"/>
            <a:ext cx="2194560" cy="329184"/>
          </a:xfrm>
          <a:prstGeom prst="rect">
            <a:avLst/>
          </a:prstGeom>
          <a:noFill/>
          <a:ln/>
        </p:spPr>
        <p:txBody>
          <a:bodyPr wrap="square" rtlCol="0" anchor="ctr">
            <a:normAutofit/>
          </a:bodyPr>
          <a:lstStyle/>
          <a:p>
            <a:pPr indent="0" marL="0">
              <a:buNone/>
            </a:pPr>
            <a:r>
              <a:rPr lang="en-US" sz="2100" b="1" dirty="0">
                <a:solidFill>
                  <a:srgbClr val="0F172A"/>
                </a:solidFill>
              </a:rPr>
              <a:t>7.89/10</a:t>
            </a:r>
            <a:endParaRPr lang="en-US" sz="2100" dirty="0"/>
          </a:p>
        </p:txBody>
      </p:sp>
      <p:sp>
        <p:nvSpPr>
          <p:cNvPr id="28" name="Text 26"/>
          <p:cNvSpPr/>
          <p:nvPr/>
        </p:nvSpPr>
        <p:spPr>
          <a:xfrm>
            <a:off x="9125712" y="1837944"/>
            <a:ext cx="1463040" cy="164592"/>
          </a:xfrm>
          <a:prstGeom prst="rect">
            <a:avLst/>
          </a:prstGeom>
          <a:noFill/>
          <a:ln/>
        </p:spPr>
        <p:txBody>
          <a:bodyPr wrap="square" rtlCol="0" anchor="ctr">
            <a:normAutofit/>
          </a:bodyPr>
          <a:lstStyle/>
          <a:p>
            <a:pPr indent="0" marL="0">
              <a:buNone/>
            </a:pPr>
            <a:r>
              <a:rPr lang="en-US" sz="850" dirty="0">
                <a:solidFill>
                  <a:srgbClr val="64748B"/>
                </a:solidFill>
              </a:rPr>
              <a:t>Threshold 6.5</a:t>
            </a:r>
            <a:endParaRPr lang="en-US" sz="850" dirty="0"/>
          </a:p>
        </p:txBody>
      </p:sp>
      <p:sp>
        <p:nvSpPr>
          <p:cNvPr id="29" name="Shape 27"/>
          <p:cNvSpPr/>
          <p:nvPr/>
        </p:nvSpPr>
        <p:spPr>
          <a:xfrm>
            <a:off x="10533888" y="2112264"/>
            <a:ext cx="777240" cy="256032"/>
          </a:xfrm>
          <a:prstGeom prst="roundRect">
            <a:avLst>
              <a:gd name="adj" fmla="val 28571"/>
            </a:avLst>
          </a:prstGeom>
          <a:solidFill>
            <a:srgbClr val="D1FAE5"/>
          </a:solidFill>
          <a:ln w="12700">
            <a:solidFill>
              <a:srgbClr val="D1FAE5"/>
            </a:solidFill>
            <a:prstDash val="solid"/>
          </a:ln>
        </p:spPr>
      </p:sp>
      <p:sp>
        <p:nvSpPr>
          <p:cNvPr id="30" name="Text 28"/>
          <p:cNvSpPr/>
          <p:nvPr/>
        </p:nvSpPr>
        <p:spPr>
          <a:xfrm>
            <a:off x="10570464" y="2112264"/>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Excellent</a:t>
            </a:r>
            <a:endParaRPr lang="en-US" sz="740" dirty="0"/>
          </a:p>
        </p:txBody>
      </p:sp>
      <p:sp>
        <p:nvSpPr>
          <p:cNvPr id="31" name="Shape 29"/>
          <p:cNvSpPr/>
          <p:nvPr/>
        </p:nvSpPr>
        <p:spPr>
          <a:xfrm>
            <a:off x="594360" y="2926080"/>
            <a:ext cx="2514600" cy="1417320"/>
          </a:xfrm>
          <a:prstGeom prst="roundRect">
            <a:avLst>
              <a:gd name="adj" fmla="val 5161"/>
            </a:avLst>
          </a:prstGeom>
          <a:solidFill>
            <a:srgbClr val="FFFFFF"/>
          </a:solidFill>
          <a:ln w="12700">
            <a:solidFill>
              <a:srgbClr val="CBD5E1"/>
            </a:solidFill>
            <a:prstDash val="solid"/>
          </a:ln>
        </p:spPr>
      </p:sp>
      <p:sp>
        <p:nvSpPr>
          <p:cNvPr id="32" name="Text 30"/>
          <p:cNvSpPr/>
          <p:nvPr/>
        </p:nvSpPr>
        <p:spPr>
          <a:xfrm>
            <a:off x="758952" y="3072384"/>
            <a:ext cx="2194560" cy="164592"/>
          </a:xfrm>
          <a:prstGeom prst="rect">
            <a:avLst/>
          </a:prstGeom>
          <a:noFill/>
          <a:ln/>
        </p:spPr>
        <p:txBody>
          <a:bodyPr wrap="square" rtlCol="0" anchor="ctr">
            <a:normAutofit/>
          </a:bodyPr>
          <a:lstStyle/>
          <a:p>
            <a:pPr indent="0" marL="0">
              <a:buNone/>
            </a:pPr>
            <a:r>
              <a:rPr lang="en-US" sz="850" b="1" dirty="0">
                <a:solidFill>
                  <a:srgbClr val="64748B"/>
                </a:solidFill>
              </a:rPr>
              <a:t>SATISFACTION</a:t>
            </a:r>
            <a:endParaRPr lang="en-US" sz="850" dirty="0"/>
          </a:p>
        </p:txBody>
      </p:sp>
      <p:sp>
        <p:nvSpPr>
          <p:cNvPr id="33" name="Text 31"/>
          <p:cNvSpPr/>
          <p:nvPr/>
        </p:nvSpPr>
        <p:spPr>
          <a:xfrm>
            <a:off x="758952" y="3310128"/>
            <a:ext cx="2194560" cy="329184"/>
          </a:xfrm>
          <a:prstGeom prst="rect">
            <a:avLst/>
          </a:prstGeom>
          <a:noFill/>
          <a:ln/>
        </p:spPr>
        <p:txBody>
          <a:bodyPr wrap="square" rtlCol="0" anchor="ctr">
            <a:normAutofit/>
          </a:bodyPr>
          <a:lstStyle/>
          <a:p>
            <a:pPr indent="0" marL="0">
              <a:buNone/>
            </a:pPr>
            <a:r>
              <a:rPr lang="en-US" sz="2100" b="1" dirty="0">
                <a:solidFill>
                  <a:srgbClr val="0F172A"/>
                </a:solidFill>
              </a:rPr>
              <a:t>4.6/5</a:t>
            </a:r>
            <a:endParaRPr lang="en-US" sz="2100" dirty="0"/>
          </a:p>
        </p:txBody>
      </p:sp>
      <p:sp>
        <p:nvSpPr>
          <p:cNvPr id="34" name="Text 32"/>
          <p:cNvSpPr/>
          <p:nvPr/>
        </p:nvSpPr>
        <p:spPr>
          <a:xfrm>
            <a:off x="758952" y="3712464"/>
            <a:ext cx="1463040" cy="164592"/>
          </a:xfrm>
          <a:prstGeom prst="rect">
            <a:avLst/>
          </a:prstGeom>
          <a:noFill/>
          <a:ln/>
        </p:spPr>
        <p:txBody>
          <a:bodyPr wrap="square" rtlCol="0" anchor="ctr">
            <a:normAutofit/>
          </a:bodyPr>
          <a:lstStyle/>
          <a:p>
            <a:pPr indent="0" marL="0">
              <a:buNone/>
            </a:pPr>
            <a:r>
              <a:rPr lang="en-US" sz="850" dirty="0">
                <a:solidFill>
                  <a:srgbClr val="64748B"/>
                </a:solidFill>
              </a:rPr>
              <a:t>Target &gt;= 4.0</a:t>
            </a:r>
            <a:endParaRPr lang="en-US" sz="850" dirty="0"/>
          </a:p>
        </p:txBody>
      </p:sp>
      <p:sp>
        <p:nvSpPr>
          <p:cNvPr id="35" name="Shape 33"/>
          <p:cNvSpPr/>
          <p:nvPr/>
        </p:nvSpPr>
        <p:spPr>
          <a:xfrm>
            <a:off x="2167128" y="3986784"/>
            <a:ext cx="777240" cy="256032"/>
          </a:xfrm>
          <a:prstGeom prst="roundRect">
            <a:avLst>
              <a:gd name="adj" fmla="val 28571"/>
            </a:avLst>
          </a:prstGeom>
          <a:solidFill>
            <a:srgbClr val="D1FAE5"/>
          </a:solidFill>
          <a:ln w="12700">
            <a:solidFill>
              <a:srgbClr val="D1FAE5"/>
            </a:solidFill>
            <a:prstDash val="solid"/>
          </a:ln>
        </p:spPr>
      </p:sp>
      <p:sp>
        <p:nvSpPr>
          <p:cNvPr id="36" name="Text 34"/>
          <p:cNvSpPr/>
          <p:nvPr/>
        </p:nvSpPr>
        <p:spPr>
          <a:xfrm>
            <a:off x="2203704" y="3986784"/>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Good</a:t>
            </a:r>
            <a:endParaRPr lang="en-US" sz="740" dirty="0"/>
          </a:p>
        </p:txBody>
      </p:sp>
      <p:sp>
        <p:nvSpPr>
          <p:cNvPr id="37" name="Shape 35"/>
          <p:cNvSpPr/>
          <p:nvPr/>
        </p:nvSpPr>
        <p:spPr>
          <a:xfrm>
            <a:off x="3383280" y="2926080"/>
            <a:ext cx="2514600" cy="1417320"/>
          </a:xfrm>
          <a:prstGeom prst="roundRect">
            <a:avLst>
              <a:gd name="adj" fmla="val 5161"/>
            </a:avLst>
          </a:prstGeom>
          <a:solidFill>
            <a:srgbClr val="FFFFFF"/>
          </a:solidFill>
          <a:ln w="12700">
            <a:solidFill>
              <a:srgbClr val="CBD5E1"/>
            </a:solidFill>
            <a:prstDash val="solid"/>
          </a:ln>
        </p:spPr>
      </p:sp>
      <p:sp>
        <p:nvSpPr>
          <p:cNvPr id="38" name="Text 36"/>
          <p:cNvSpPr/>
          <p:nvPr/>
        </p:nvSpPr>
        <p:spPr>
          <a:xfrm>
            <a:off x="3547872" y="3072384"/>
            <a:ext cx="2194560" cy="164592"/>
          </a:xfrm>
          <a:prstGeom prst="rect">
            <a:avLst/>
          </a:prstGeom>
          <a:noFill/>
          <a:ln/>
        </p:spPr>
        <p:txBody>
          <a:bodyPr wrap="square" rtlCol="0" anchor="ctr">
            <a:normAutofit/>
          </a:bodyPr>
          <a:lstStyle/>
          <a:p>
            <a:pPr indent="0" marL="0">
              <a:buNone/>
            </a:pPr>
            <a:r>
              <a:rPr lang="en-US" sz="850" b="1" dirty="0">
                <a:solidFill>
                  <a:srgbClr val="64748B"/>
                </a:solidFill>
              </a:rPr>
              <a:t>TRAINING HOURS</a:t>
            </a:r>
            <a:endParaRPr lang="en-US" sz="850" dirty="0"/>
          </a:p>
        </p:txBody>
      </p:sp>
      <p:sp>
        <p:nvSpPr>
          <p:cNvPr id="39" name="Text 37"/>
          <p:cNvSpPr/>
          <p:nvPr/>
        </p:nvSpPr>
        <p:spPr>
          <a:xfrm>
            <a:off x="3547872" y="3310128"/>
            <a:ext cx="2194560" cy="329184"/>
          </a:xfrm>
          <a:prstGeom prst="rect">
            <a:avLst/>
          </a:prstGeom>
          <a:noFill/>
          <a:ln/>
        </p:spPr>
        <p:txBody>
          <a:bodyPr wrap="square" rtlCol="0" anchor="ctr">
            <a:normAutofit/>
          </a:bodyPr>
          <a:lstStyle/>
          <a:p>
            <a:pPr indent="0" marL="0">
              <a:buNone/>
            </a:pPr>
            <a:r>
              <a:rPr lang="en-US" sz="2100" b="1" dirty="0">
                <a:solidFill>
                  <a:srgbClr val="0F172A"/>
                </a:solidFill>
              </a:rPr>
              <a:t>216</a:t>
            </a:r>
            <a:endParaRPr lang="en-US" sz="2100" dirty="0"/>
          </a:p>
        </p:txBody>
      </p:sp>
      <p:sp>
        <p:nvSpPr>
          <p:cNvPr id="40" name="Text 38"/>
          <p:cNvSpPr/>
          <p:nvPr/>
        </p:nvSpPr>
        <p:spPr>
          <a:xfrm>
            <a:off x="3547872" y="3712464"/>
            <a:ext cx="1463040" cy="164592"/>
          </a:xfrm>
          <a:prstGeom prst="rect">
            <a:avLst/>
          </a:prstGeom>
          <a:noFill/>
          <a:ln/>
        </p:spPr>
        <p:txBody>
          <a:bodyPr wrap="square" rtlCol="0" anchor="ctr">
            <a:normAutofit/>
          </a:bodyPr>
          <a:lstStyle/>
          <a:p>
            <a:pPr indent="0" marL="0">
              <a:buNone/>
            </a:pPr>
            <a:r>
              <a:rPr lang="en-US" sz="850" dirty="0">
                <a:solidFill>
                  <a:srgbClr val="64748B"/>
                </a:solidFill>
              </a:rPr>
              <a:t>Tracked</a:t>
            </a:r>
            <a:endParaRPr lang="en-US" sz="850" dirty="0"/>
          </a:p>
        </p:txBody>
      </p:sp>
      <p:sp>
        <p:nvSpPr>
          <p:cNvPr id="41" name="Shape 39"/>
          <p:cNvSpPr/>
          <p:nvPr/>
        </p:nvSpPr>
        <p:spPr>
          <a:xfrm>
            <a:off x="4956048" y="3986784"/>
            <a:ext cx="777240" cy="256032"/>
          </a:xfrm>
          <a:prstGeom prst="roundRect">
            <a:avLst>
              <a:gd name="adj" fmla="val 28571"/>
            </a:avLst>
          </a:prstGeom>
          <a:solidFill>
            <a:srgbClr val="E2E8F0"/>
          </a:solidFill>
          <a:ln w="12700">
            <a:solidFill>
              <a:srgbClr val="E2E8F0"/>
            </a:solidFill>
            <a:prstDash val="solid"/>
          </a:ln>
        </p:spPr>
      </p:sp>
      <p:sp>
        <p:nvSpPr>
          <p:cNvPr id="42" name="Text 40"/>
          <p:cNvSpPr/>
          <p:nvPr/>
        </p:nvSpPr>
        <p:spPr>
          <a:xfrm>
            <a:off x="4992624" y="3986784"/>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64748B"/>
                </a:solidFill>
              </a:rPr>
              <a:t>Tracked</a:t>
            </a:r>
            <a:endParaRPr lang="en-US" sz="740" dirty="0"/>
          </a:p>
        </p:txBody>
      </p:sp>
      <p:sp>
        <p:nvSpPr>
          <p:cNvPr id="43" name="Shape 41"/>
          <p:cNvSpPr/>
          <p:nvPr/>
        </p:nvSpPr>
        <p:spPr>
          <a:xfrm>
            <a:off x="6172200" y="2926080"/>
            <a:ext cx="2514600" cy="1417320"/>
          </a:xfrm>
          <a:prstGeom prst="roundRect">
            <a:avLst>
              <a:gd name="adj" fmla="val 5161"/>
            </a:avLst>
          </a:prstGeom>
          <a:solidFill>
            <a:srgbClr val="FFFFFF"/>
          </a:solidFill>
          <a:ln w="12700">
            <a:solidFill>
              <a:srgbClr val="CBD5E1"/>
            </a:solidFill>
            <a:prstDash val="solid"/>
          </a:ln>
        </p:spPr>
      </p:sp>
      <p:sp>
        <p:nvSpPr>
          <p:cNvPr id="44" name="Text 42"/>
          <p:cNvSpPr/>
          <p:nvPr/>
        </p:nvSpPr>
        <p:spPr>
          <a:xfrm>
            <a:off x="6336792" y="3072384"/>
            <a:ext cx="2194560" cy="164592"/>
          </a:xfrm>
          <a:prstGeom prst="rect">
            <a:avLst/>
          </a:prstGeom>
          <a:noFill/>
          <a:ln/>
        </p:spPr>
        <p:txBody>
          <a:bodyPr wrap="square" rtlCol="0" anchor="ctr">
            <a:normAutofit/>
          </a:bodyPr>
          <a:lstStyle/>
          <a:p>
            <a:pPr indent="0" marL="0">
              <a:buNone/>
            </a:pPr>
            <a:r>
              <a:rPr lang="en-US" sz="850" b="1" dirty="0">
                <a:solidFill>
                  <a:srgbClr val="64748B"/>
                </a:solidFill>
              </a:rPr>
              <a:t>COST</a:t>
            </a:r>
            <a:endParaRPr lang="en-US" sz="850" dirty="0"/>
          </a:p>
        </p:txBody>
      </p:sp>
      <p:sp>
        <p:nvSpPr>
          <p:cNvPr id="45" name="Text 43"/>
          <p:cNvSpPr/>
          <p:nvPr/>
        </p:nvSpPr>
        <p:spPr>
          <a:xfrm>
            <a:off x="6336792" y="3310128"/>
            <a:ext cx="2194560" cy="329184"/>
          </a:xfrm>
          <a:prstGeom prst="rect">
            <a:avLst/>
          </a:prstGeom>
          <a:noFill/>
          <a:ln/>
        </p:spPr>
        <p:txBody>
          <a:bodyPr wrap="square" rtlCol="0" anchor="ctr">
            <a:normAutofit/>
          </a:bodyPr>
          <a:lstStyle/>
          <a:p>
            <a:pPr indent="0" marL="0">
              <a:buNone/>
            </a:pPr>
            <a:r>
              <a:rPr lang="en-US" sz="2100" b="1" dirty="0">
                <a:solidFill>
                  <a:srgbClr val="0F172A"/>
                </a:solidFill>
              </a:rPr>
              <a:t>15</a:t>
            </a:r>
            <a:endParaRPr lang="en-US" sz="2100" dirty="0"/>
          </a:p>
        </p:txBody>
      </p:sp>
      <p:sp>
        <p:nvSpPr>
          <p:cNvPr id="46" name="Text 44"/>
          <p:cNvSpPr/>
          <p:nvPr/>
        </p:nvSpPr>
        <p:spPr>
          <a:xfrm>
            <a:off x="6336792" y="3712464"/>
            <a:ext cx="1463040" cy="164592"/>
          </a:xfrm>
          <a:prstGeom prst="rect">
            <a:avLst/>
          </a:prstGeom>
          <a:noFill/>
          <a:ln/>
        </p:spPr>
        <p:txBody>
          <a:bodyPr wrap="square" rtlCol="0" anchor="ctr">
            <a:normAutofit/>
          </a:bodyPr>
          <a:lstStyle/>
          <a:p>
            <a:pPr indent="0" marL="0">
              <a:buNone/>
            </a:pPr>
            <a:r>
              <a:rPr lang="en-US" sz="850" dirty="0">
                <a:solidFill>
                  <a:srgbClr val="64748B"/>
                </a:solidFill>
              </a:rPr>
              <a:t>Scaled cost</a:t>
            </a:r>
            <a:endParaRPr lang="en-US" sz="850" dirty="0"/>
          </a:p>
        </p:txBody>
      </p:sp>
      <p:sp>
        <p:nvSpPr>
          <p:cNvPr id="47" name="Shape 45"/>
          <p:cNvSpPr/>
          <p:nvPr/>
        </p:nvSpPr>
        <p:spPr>
          <a:xfrm>
            <a:off x="7744968" y="3986784"/>
            <a:ext cx="777240" cy="256032"/>
          </a:xfrm>
          <a:prstGeom prst="roundRect">
            <a:avLst>
              <a:gd name="adj" fmla="val 28571"/>
            </a:avLst>
          </a:prstGeom>
          <a:solidFill>
            <a:srgbClr val="E2E8F0"/>
          </a:solidFill>
          <a:ln w="12700">
            <a:solidFill>
              <a:srgbClr val="E2E8F0"/>
            </a:solidFill>
            <a:prstDash val="solid"/>
          </a:ln>
        </p:spPr>
      </p:sp>
      <p:sp>
        <p:nvSpPr>
          <p:cNvPr id="48" name="Text 46"/>
          <p:cNvSpPr/>
          <p:nvPr/>
        </p:nvSpPr>
        <p:spPr>
          <a:xfrm>
            <a:off x="7781544" y="3986784"/>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64748B"/>
                </a:solidFill>
              </a:rPr>
              <a:t>Tracked</a:t>
            </a:r>
            <a:endParaRPr lang="en-US" sz="740" dirty="0"/>
          </a:p>
        </p:txBody>
      </p:sp>
      <p:sp>
        <p:nvSpPr>
          <p:cNvPr id="49" name="Shape 47"/>
          <p:cNvSpPr/>
          <p:nvPr/>
        </p:nvSpPr>
        <p:spPr>
          <a:xfrm>
            <a:off x="8961120" y="2926080"/>
            <a:ext cx="2514600" cy="1417320"/>
          </a:xfrm>
          <a:prstGeom prst="roundRect">
            <a:avLst>
              <a:gd name="adj" fmla="val 5161"/>
            </a:avLst>
          </a:prstGeom>
          <a:solidFill>
            <a:srgbClr val="FFFFFF"/>
          </a:solidFill>
          <a:ln w="12700">
            <a:solidFill>
              <a:srgbClr val="CBD5E1"/>
            </a:solidFill>
            <a:prstDash val="solid"/>
          </a:ln>
        </p:spPr>
      </p:sp>
      <p:sp>
        <p:nvSpPr>
          <p:cNvPr id="50" name="Text 48"/>
          <p:cNvSpPr/>
          <p:nvPr/>
        </p:nvSpPr>
        <p:spPr>
          <a:xfrm>
            <a:off x="9125712" y="3072384"/>
            <a:ext cx="2194560" cy="164592"/>
          </a:xfrm>
          <a:prstGeom prst="rect">
            <a:avLst/>
          </a:prstGeom>
          <a:noFill/>
          <a:ln/>
        </p:spPr>
        <p:txBody>
          <a:bodyPr wrap="square" rtlCol="0" anchor="ctr">
            <a:normAutofit/>
          </a:bodyPr>
          <a:lstStyle/>
          <a:p>
            <a:pPr indent="0" marL="0">
              <a:buNone/>
            </a:pPr>
            <a:r>
              <a:rPr lang="en-US" sz="850" b="1" dirty="0">
                <a:solidFill>
                  <a:srgbClr val="64748B"/>
                </a:solidFill>
              </a:rPr>
              <a:t>ROI PROXY</a:t>
            </a:r>
            <a:endParaRPr lang="en-US" sz="850" dirty="0"/>
          </a:p>
        </p:txBody>
      </p:sp>
      <p:sp>
        <p:nvSpPr>
          <p:cNvPr id="51" name="Text 49"/>
          <p:cNvSpPr/>
          <p:nvPr/>
        </p:nvSpPr>
        <p:spPr>
          <a:xfrm>
            <a:off x="9125712" y="3310128"/>
            <a:ext cx="2194560" cy="329184"/>
          </a:xfrm>
          <a:prstGeom prst="rect">
            <a:avLst/>
          </a:prstGeom>
          <a:noFill/>
          <a:ln/>
        </p:spPr>
        <p:txBody>
          <a:bodyPr wrap="square" rtlCol="0" anchor="ctr">
            <a:normAutofit/>
          </a:bodyPr>
          <a:lstStyle/>
          <a:p>
            <a:pPr indent="0" marL="0">
              <a:buNone/>
            </a:pPr>
            <a:r>
              <a:rPr lang="en-US" sz="2100" b="1" dirty="0">
                <a:solidFill>
                  <a:srgbClr val="0F172A"/>
                </a:solidFill>
              </a:rPr>
              <a:t>0.0207</a:t>
            </a:r>
            <a:endParaRPr lang="en-US" sz="2100" dirty="0"/>
          </a:p>
        </p:txBody>
      </p:sp>
      <p:sp>
        <p:nvSpPr>
          <p:cNvPr id="52" name="Text 50"/>
          <p:cNvSpPr/>
          <p:nvPr/>
        </p:nvSpPr>
        <p:spPr>
          <a:xfrm>
            <a:off x="9125712" y="3712464"/>
            <a:ext cx="1463040" cy="164592"/>
          </a:xfrm>
          <a:prstGeom prst="rect">
            <a:avLst/>
          </a:prstGeom>
          <a:noFill/>
          <a:ln/>
        </p:spPr>
        <p:txBody>
          <a:bodyPr wrap="square" rtlCol="0" anchor="ctr">
            <a:normAutofit/>
          </a:bodyPr>
          <a:lstStyle/>
          <a:p>
            <a:pPr indent="0" marL="0">
              <a:buNone/>
            </a:pPr>
            <a:r>
              <a:rPr lang="en-US" sz="850" dirty="0">
                <a:solidFill>
                  <a:srgbClr val="64748B"/>
                </a:solidFill>
              </a:rPr>
              <a:t>Relative KPI</a:t>
            </a:r>
            <a:endParaRPr lang="en-US" sz="850" dirty="0"/>
          </a:p>
        </p:txBody>
      </p:sp>
      <p:sp>
        <p:nvSpPr>
          <p:cNvPr id="53" name="Shape 51"/>
          <p:cNvSpPr/>
          <p:nvPr/>
        </p:nvSpPr>
        <p:spPr>
          <a:xfrm>
            <a:off x="10533888" y="3986784"/>
            <a:ext cx="777240" cy="256032"/>
          </a:xfrm>
          <a:prstGeom prst="roundRect">
            <a:avLst>
              <a:gd name="adj" fmla="val 28571"/>
            </a:avLst>
          </a:prstGeom>
          <a:solidFill>
            <a:srgbClr val="FEF3C7"/>
          </a:solidFill>
          <a:ln w="12700">
            <a:solidFill>
              <a:srgbClr val="FEF3C7"/>
            </a:solidFill>
            <a:prstDash val="solid"/>
          </a:ln>
        </p:spPr>
      </p:sp>
      <p:sp>
        <p:nvSpPr>
          <p:cNvPr id="54" name="Text 52"/>
          <p:cNvSpPr/>
          <p:nvPr/>
        </p:nvSpPr>
        <p:spPr>
          <a:xfrm>
            <a:off x="10570464" y="3986784"/>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B45309"/>
                </a:solidFill>
              </a:rPr>
              <a:t>Monitor</a:t>
            </a:r>
            <a:endParaRPr lang="en-US" sz="740" dirty="0"/>
          </a:p>
        </p:txBody>
      </p:sp>
      <p:sp>
        <p:nvSpPr>
          <p:cNvPr id="55" name="Text 53"/>
          <p:cNvSpPr/>
          <p:nvPr/>
        </p:nvSpPr>
        <p:spPr>
          <a:xfrm>
            <a:off x="594360" y="5989320"/>
            <a:ext cx="9875520" cy="228600"/>
          </a:xfrm>
          <a:prstGeom prst="rect">
            <a:avLst/>
          </a:prstGeom>
          <a:noFill/>
          <a:ln/>
        </p:spPr>
        <p:txBody>
          <a:bodyPr wrap="square" rtlCol="0" anchor="ctr"/>
          <a:lstStyle/>
          <a:p>
            <a:pPr indent="0" marL="0">
              <a:buNone/>
            </a:pPr>
            <a:r>
              <a:rPr lang="en-US" sz="950" dirty="0">
                <a:solidFill>
                  <a:srgbClr val="64748B"/>
                </a:solidFill>
              </a:rPr>
              <a:t>Completion is attendance-based (&gt;= 70%) and is intentionally separate from pass rate.</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Visual analytics</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Course DevOps_02_2026 | Type full</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Passed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7" name="Shape 5"/>
          <p:cNvSpPr/>
          <p:nvPr/>
        </p:nvSpPr>
        <p:spPr>
          <a:xfrm>
            <a:off x="594360" y="1051560"/>
            <a:ext cx="5440680" cy="4892040"/>
          </a:xfrm>
          <a:prstGeom prst="roundRect">
            <a:avLst>
              <a:gd name="adj" fmla="val 1495"/>
            </a:avLst>
          </a:prstGeom>
          <a:solidFill>
            <a:srgbClr val="FFFFFF"/>
          </a:solidFill>
          <a:ln w="12700">
            <a:solidFill>
              <a:srgbClr val="CBD5E1"/>
            </a:solidFill>
            <a:prstDash val="solid"/>
          </a:ln>
        </p:spPr>
      </p:sp>
      <p:sp>
        <p:nvSpPr>
          <p:cNvPr id="8" name="Text 6"/>
          <p:cNvSpPr/>
          <p:nvPr/>
        </p:nvSpPr>
        <p:spPr>
          <a:xfrm>
            <a:off x="795528" y="1234440"/>
            <a:ext cx="5038344" cy="219456"/>
          </a:xfrm>
          <a:prstGeom prst="rect">
            <a:avLst/>
          </a:prstGeom>
          <a:noFill/>
          <a:ln/>
        </p:spPr>
        <p:txBody>
          <a:bodyPr wrap="square" rtlCol="0" anchor="ctr">
            <a:normAutofit/>
          </a:bodyPr>
          <a:lstStyle/>
          <a:p>
            <a:pPr indent="0" marL="0">
              <a:buNone/>
            </a:pPr>
            <a:r>
              <a:rPr lang="en-US" sz="1250" b="1" dirty="0">
                <a:solidFill>
                  <a:srgbClr val="0F172A"/>
                </a:solidFill>
              </a:rPr>
              <a:t>Overall KPI vs target</a:t>
            </a:r>
            <a:endParaRPr lang="en-US" sz="1250" dirty="0"/>
          </a:p>
        </p:txBody>
      </p:sp>
      <p:sp>
        <p:nvSpPr>
          <p:cNvPr id="9" name="Text 7"/>
          <p:cNvSpPr/>
          <p:nvPr/>
        </p:nvSpPr>
        <p:spPr>
          <a:xfrm>
            <a:off x="795528" y="1527048"/>
            <a:ext cx="5038344" cy="201168"/>
          </a:xfrm>
          <a:prstGeom prst="rect">
            <a:avLst/>
          </a:prstGeom>
          <a:noFill/>
          <a:ln/>
        </p:spPr>
        <p:txBody>
          <a:bodyPr wrap="square" rtlCol="0" anchor="ctr">
            <a:normAutofit/>
          </a:bodyPr>
          <a:lstStyle/>
          <a:p>
            <a:pPr indent="0" marL="0">
              <a:buNone/>
            </a:pPr>
            <a:r>
              <a:rPr lang="en-US" sz="780" dirty="0">
                <a:solidFill>
                  <a:srgbClr val="64748B"/>
                </a:solidFill>
              </a:rPr>
              <a:t>Validated performance metrics compared with L&amp;D operating thresholds.</a:t>
            </a:r>
            <a:endParaRPr lang="en-US" sz="780" dirty="0"/>
          </a:p>
        </p:txBody>
      </p:sp>
      <p:sp>
        <p:nvSpPr>
          <p:cNvPr id="10" name="Text 8"/>
          <p:cNvSpPr/>
          <p:nvPr/>
        </p:nvSpPr>
        <p:spPr>
          <a:xfrm>
            <a:off x="795528" y="1920240"/>
            <a:ext cx="1508760" cy="164592"/>
          </a:xfrm>
          <a:prstGeom prst="rect">
            <a:avLst/>
          </a:prstGeom>
          <a:noFill/>
          <a:ln/>
        </p:spPr>
        <p:txBody>
          <a:bodyPr wrap="square" rtlCol="0" anchor="ctr">
            <a:normAutofit/>
          </a:bodyPr>
          <a:lstStyle/>
          <a:p>
            <a:pPr indent="0" marL="0">
              <a:buNone/>
            </a:pPr>
            <a:r>
              <a:rPr lang="en-US" sz="780" dirty="0">
                <a:solidFill>
                  <a:srgbClr val="0F172A"/>
                </a:solidFill>
              </a:rPr>
              <a:t>Attendance</a:t>
            </a:r>
            <a:endParaRPr lang="en-US" sz="780" dirty="0"/>
          </a:p>
        </p:txBody>
      </p:sp>
      <p:sp>
        <p:nvSpPr>
          <p:cNvPr id="11" name="Shape 9"/>
          <p:cNvSpPr/>
          <p:nvPr/>
        </p:nvSpPr>
        <p:spPr>
          <a:xfrm>
            <a:off x="2395728" y="2066544"/>
            <a:ext cx="2596896" cy="201168"/>
          </a:xfrm>
          <a:prstGeom prst="rect">
            <a:avLst/>
          </a:prstGeom>
          <a:solidFill>
            <a:srgbClr val="E2E8F0"/>
          </a:solidFill>
          <a:ln w="12700">
            <a:solidFill>
              <a:srgbClr val="E2E8F0">
                <a:alpha val="0"/>
              </a:srgbClr>
            </a:solidFill>
            <a:prstDash val="solid"/>
          </a:ln>
        </p:spPr>
      </p:sp>
      <p:sp>
        <p:nvSpPr>
          <p:cNvPr id="12" name="Shape 10"/>
          <p:cNvSpPr/>
          <p:nvPr/>
        </p:nvSpPr>
        <p:spPr>
          <a:xfrm>
            <a:off x="2395728" y="2066544"/>
            <a:ext cx="2493020" cy="201168"/>
          </a:xfrm>
          <a:prstGeom prst="rect">
            <a:avLst/>
          </a:prstGeom>
          <a:solidFill>
            <a:srgbClr val="047857"/>
          </a:solidFill>
          <a:ln w="12700">
            <a:solidFill>
              <a:srgbClr val="047857">
                <a:alpha val="0"/>
              </a:srgbClr>
            </a:solidFill>
            <a:prstDash val="solid"/>
          </a:ln>
        </p:spPr>
      </p:sp>
      <p:sp>
        <p:nvSpPr>
          <p:cNvPr id="13" name="Shape 11"/>
          <p:cNvSpPr/>
          <p:nvPr/>
        </p:nvSpPr>
        <p:spPr>
          <a:xfrm>
            <a:off x="4603090" y="2020824"/>
            <a:ext cx="0" cy="292608"/>
          </a:xfrm>
          <a:prstGeom prst="line">
            <a:avLst/>
          </a:prstGeom>
          <a:noFill/>
          <a:ln w="12700">
            <a:solidFill>
              <a:srgbClr val="0B1220">
                <a:alpha val="80000"/>
              </a:srgbClr>
            </a:solidFill>
            <a:prstDash val="solid"/>
          </a:ln>
        </p:spPr>
      </p:sp>
      <p:sp>
        <p:nvSpPr>
          <p:cNvPr id="14" name="Text 12"/>
          <p:cNvSpPr/>
          <p:nvPr/>
        </p:nvSpPr>
        <p:spPr>
          <a:xfrm>
            <a:off x="5065776" y="1911096"/>
            <a:ext cx="749808" cy="182880"/>
          </a:xfrm>
          <a:prstGeom prst="rect">
            <a:avLst/>
          </a:prstGeom>
          <a:noFill/>
          <a:ln/>
        </p:spPr>
        <p:txBody>
          <a:bodyPr wrap="square" lIns="0" tIns="0" rIns="0" bIns="0" rtlCol="0" anchor="ctr">
            <a:normAutofit/>
          </a:bodyPr>
          <a:lstStyle/>
          <a:p>
            <a:pPr indent="0" marL="0">
              <a:buNone/>
            </a:pPr>
            <a:r>
              <a:rPr lang="en-US" sz="700" b="1" dirty="0">
                <a:solidFill>
                  <a:srgbClr val="0F172A"/>
                </a:solidFill>
              </a:rPr>
              <a:t>96%</a:t>
            </a:r>
            <a:endParaRPr lang="en-US" sz="700" dirty="0"/>
          </a:p>
        </p:txBody>
      </p:sp>
      <p:sp>
        <p:nvSpPr>
          <p:cNvPr id="15" name="Text 13"/>
          <p:cNvSpPr/>
          <p:nvPr/>
        </p:nvSpPr>
        <p:spPr>
          <a:xfrm>
            <a:off x="795528" y="2868930"/>
            <a:ext cx="1508760" cy="164592"/>
          </a:xfrm>
          <a:prstGeom prst="rect">
            <a:avLst/>
          </a:prstGeom>
          <a:noFill/>
          <a:ln/>
        </p:spPr>
        <p:txBody>
          <a:bodyPr wrap="square" rtlCol="0" anchor="ctr">
            <a:normAutofit/>
          </a:bodyPr>
          <a:lstStyle/>
          <a:p>
            <a:pPr indent="0" marL="0">
              <a:buNone/>
            </a:pPr>
            <a:r>
              <a:rPr lang="en-US" sz="780" dirty="0">
                <a:solidFill>
                  <a:srgbClr val="0F172A"/>
                </a:solidFill>
              </a:rPr>
              <a:t>Completion</a:t>
            </a:r>
            <a:endParaRPr lang="en-US" sz="780" dirty="0"/>
          </a:p>
        </p:txBody>
      </p:sp>
      <p:sp>
        <p:nvSpPr>
          <p:cNvPr id="16" name="Shape 14"/>
          <p:cNvSpPr/>
          <p:nvPr/>
        </p:nvSpPr>
        <p:spPr>
          <a:xfrm>
            <a:off x="2395728" y="3015234"/>
            <a:ext cx="2596896" cy="201168"/>
          </a:xfrm>
          <a:prstGeom prst="rect">
            <a:avLst/>
          </a:prstGeom>
          <a:solidFill>
            <a:srgbClr val="E2E8F0"/>
          </a:solidFill>
          <a:ln w="12700">
            <a:solidFill>
              <a:srgbClr val="E2E8F0">
                <a:alpha val="0"/>
              </a:srgbClr>
            </a:solidFill>
            <a:prstDash val="solid"/>
          </a:ln>
        </p:spPr>
      </p:sp>
      <p:sp>
        <p:nvSpPr>
          <p:cNvPr id="17" name="Shape 15"/>
          <p:cNvSpPr/>
          <p:nvPr/>
        </p:nvSpPr>
        <p:spPr>
          <a:xfrm>
            <a:off x="2395728" y="3015234"/>
            <a:ext cx="2596896" cy="201168"/>
          </a:xfrm>
          <a:prstGeom prst="rect">
            <a:avLst/>
          </a:prstGeom>
          <a:solidFill>
            <a:srgbClr val="047857"/>
          </a:solidFill>
          <a:ln w="12700">
            <a:solidFill>
              <a:srgbClr val="047857">
                <a:alpha val="0"/>
              </a:srgbClr>
            </a:solidFill>
            <a:prstDash val="solid"/>
          </a:ln>
        </p:spPr>
      </p:sp>
      <p:sp>
        <p:nvSpPr>
          <p:cNvPr id="18" name="Shape 16"/>
          <p:cNvSpPr/>
          <p:nvPr/>
        </p:nvSpPr>
        <p:spPr>
          <a:xfrm>
            <a:off x="4732934" y="2969514"/>
            <a:ext cx="0" cy="292608"/>
          </a:xfrm>
          <a:prstGeom prst="line">
            <a:avLst/>
          </a:prstGeom>
          <a:noFill/>
          <a:ln w="12700">
            <a:solidFill>
              <a:srgbClr val="0B1220">
                <a:alpha val="80000"/>
              </a:srgbClr>
            </a:solidFill>
            <a:prstDash val="solid"/>
          </a:ln>
        </p:spPr>
      </p:sp>
      <p:sp>
        <p:nvSpPr>
          <p:cNvPr id="19" name="Text 17"/>
          <p:cNvSpPr/>
          <p:nvPr/>
        </p:nvSpPr>
        <p:spPr>
          <a:xfrm>
            <a:off x="5065776" y="2859786"/>
            <a:ext cx="749808" cy="182880"/>
          </a:xfrm>
          <a:prstGeom prst="rect">
            <a:avLst/>
          </a:prstGeom>
          <a:noFill/>
          <a:ln/>
        </p:spPr>
        <p:txBody>
          <a:bodyPr wrap="square" lIns="0" tIns="0" rIns="0" bIns="0" rtlCol="0" anchor="ctr">
            <a:normAutofit/>
          </a:bodyPr>
          <a:lstStyle/>
          <a:p>
            <a:pPr indent="0" marL="0">
              <a:buNone/>
            </a:pPr>
            <a:r>
              <a:rPr lang="en-US" sz="700" b="1" dirty="0">
                <a:solidFill>
                  <a:srgbClr val="0F172A"/>
                </a:solidFill>
              </a:rPr>
              <a:t>100%</a:t>
            </a:r>
            <a:endParaRPr lang="en-US" sz="700" dirty="0"/>
          </a:p>
        </p:txBody>
      </p:sp>
      <p:sp>
        <p:nvSpPr>
          <p:cNvPr id="20" name="Text 18"/>
          <p:cNvSpPr/>
          <p:nvPr/>
        </p:nvSpPr>
        <p:spPr>
          <a:xfrm>
            <a:off x="795528" y="3817620"/>
            <a:ext cx="1508760" cy="164592"/>
          </a:xfrm>
          <a:prstGeom prst="rect">
            <a:avLst/>
          </a:prstGeom>
          <a:noFill/>
          <a:ln/>
        </p:spPr>
        <p:txBody>
          <a:bodyPr wrap="square" rtlCol="0" anchor="ctr">
            <a:normAutofit/>
          </a:bodyPr>
          <a:lstStyle/>
          <a:p>
            <a:pPr indent="0" marL="0">
              <a:buNone/>
            </a:pPr>
            <a:r>
              <a:rPr lang="en-US" sz="780" dirty="0">
                <a:solidFill>
                  <a:srgbClr val="0F172A"/>
                </a:solidFill>
              </a:rPr>
              <a:t>Pass rate</a:t>
            </a:r>
            <a:endParaRPr lang="en-US" sz="780" dirty="0"/>
          </a:p>
        </p:txBody>
      </p:sp>
      <p:sp>
        <p:nvSpPr>
          <p:cNvPr id="21" name="Shape 19"/>
          <p:cNvSpPr/>
          <p:nvPr/>
        </p:nvSpPr>
        <p:spPr>
          <a:xfrm>
            <a:off x="2395728" y="3963924"/>
            <a:ext cx="2596896" cy="201168"/>
          </a:xfrm>
          <a:prstGeom prst="rect">
            <a:avLst/>
          </a:prstGeom>
          <a:solidFill>
            <a:srgbClr val="E2E8F0"/>
          </a:solidFill>
          <a:ln w="12700">
            <a:solidFill>
              <a:srgbClr val="E2E8F0">
                <a:alpha val="0"/>
              </a:srgbClr>
            </a:solidFill>
            <a:prstDash val="solid"/>
          </a:ln>
        </p:spPr>
      </p:sp>
      <p:sp>
        <p:nvSpPr>
          <p:cNvPr id="22" name="Shape 20"/>
          <p:cNvSpPr/>
          <p:nvPr/>
        </p:nvSpPr>
        <p:spPr>
          <a:xfrm>
            <a:off x="2395728" y="3963924"/>
            <a:ext cx="2596896" cy="201168"/>
          </a:xfrm>
          <a:prstGeom prst="rect">
            <a:avLst/>
          </a:prstGeom>
          <a:solidFill>
            <a:srgbClr val="047857"/>
          </a:solidFill>
          <a:ln w="12700">
            <a:solidFill>
              <a:srgbClr val="047857">
                <a:alpha val="0"/>
              </a:srgbClr>
            </a:solidFill>
            <a:prstDash val="solid"/>
          </a:ln>
        </p:spPr>
      </p:sp>
      <p:sp>
        <p:nvSpPr>
          <p:cNvPr id="23" name="Shape 21"/>
          <p:cNvSpPr/>
          <p:nvPr/>
        </p:nvSpPr>
        <p:spPr>
          <a:xfrm>
            <a:off x="4473245" y="3918204"/>
            <a:ext cx="0" cy="292608"/>
          </a:xfrm>
          <a:prstGeom prst="line">
            <a:avLst/>
          </a:prstGeom>
          <a:noFill/>
          <a:ln w="12700">
            <a:solidFill>
              <a:srgbClr val="0B1220">
                <a:alpha val="80000"/>
              </a:srgbClr>
            </a:solidFill>
            <a:prstDash val="solid"/>
          </a:ln>
        </p:spPr>
      </p:sp>
      <p:sp>
        <p:nvSpPr>
          <p:cNvPr id="24" name="Text 22"/>
          <p:cNvSpPr/>
          <p:nvPr/>
        </p:nvSpPr>
        <p:spPr>
          <a:xfrm>
            <a:off x="5065776" y="3808476"/>
            <a:ext cx="749808" cy="182880"/>
          </a:xfrm>
          <a:prstGeom prst="rect">
            <a:avLst/>
          </a:prstGeom>
          <a:noFill/>
          <a:ln/>
        </p:spPr>
        <p:txBody>
          <a:bodyPr wrap="square" lIns="0" tIns="0" rIns="0" bIns="0" rtlCol="0" anchor="ctr">
            <a:normAutofit/>
          </a:bodyPr>
          <a:lstStyle/>
          <a:p>
            <a:pPr indent="0" marL="0">
              <a:buNone/>
            </a:pPr>
            <a:r>
              <a:rPr lang="en-US" sz="700" b="1" dirty="0">
                <a:solidFill>
                  <a:srgbClr val="0F172A"/>
                </a:solidFill>
              </a:rPr>
              <a:t>100%</a:t>
            </a:r>
            <a:endParaRPr lang="en-US" sz="700" dirty="0"/>
          </a:p>
        </p:txBody>
      </p:sp>
      <p:sp>
        <p:nvSpPr>
          <p:cNvPr id="25" name="Text 23"/>
          <p:cNvSpPr/>
          <p:nvPr/>
        </p:nvSpPr>
        <p:spPr>
          <a:xfrm>
            <a:off x="795528" y="4766310"/>
            <a:ext cx="1508760" cy="164592"/>
          </a:xfrm>
          <a:prstGeom prst="rect">
            <a:avLst/>
          </a:prstGeom>
          <a:noFill/>
          <a:ln/>
        </p:spPr>
        <p:txBody>
          <a:bodyPr wrap="square" rtlCol="0" anchor="ctr">
            <a:normAutofit/>
          </a:bodyPr>
          <a:lstStyle/>
          <a:p>
            <a:pPr indent="0" marL="0">
              <a:buNone/>
            </a:pPr>
            <a:r>
              <a:rPr lang="en-US" sz="780" dirty="0">
                <a:solidFill>
                  <a:srgbClr val="0F172A"/>
                </a:solidFill>
              </a:rPr>
              <a:t>Effectiveness</a:t>
            </a:r>
            <a:endParaRPr lang="en-US" sz="780" dirty="0"/>
          </a:p>
        </p:txBody>
      </p:sp>
      <p:sp>
        <p:nvSpPr>
          <p:cNvPr id="26" name="Shape 24"/>
          <p:cNvSpPr/>
          <p:nvPr/>
        </p:nvSpPr>
        <p:spPr>
          <a:xfrm>
            <a:off x="2395728" y="4912614"/>
            <a:ext cx="2596896" cy="201168"/>
          </a:xfrm>
          <a:prstGeom prst="rect">
            <a:avLst/>
          </a:prstGeom>
          <a:solidFill>
            <a:srgbClr val="E2E8F0"/>
          </a:solidFill>
          <a:ln w="12700">
            <a:solidFill>
              <a:srgbClr val="E2E8F0">
                <a:alpha val="0"/>
              </a:srgbClr>
            </a:solidFill>
            <a:prstDash val="solid"/>
          </a:ln>
        </p:spPr>
      </p:sp>
      <p:sp>
        <p:nvSpPr>
          <p:cNvPr id="27" name="Shape 25"/>
          <p:cNvSpPr/>
          <p:nvPr/>
        </p:nvSpPr>
        <p:spPr>
          <a:xfrm>
            <a:off x="2395728" y="4912614"/>
            <a:ext cx="2396416" cy="201168"/>
          </a:xfrm>
          <a:prstGeom prst="rect">
            <a:avLst/>
          </a:prstGeom>
          <a:solidFill>
            <a:srgbClr val="047857"/>
          </a:solidFill>
          <a:ln w="12700">
            <a:solidFill>
              <a:srgbClr val="047857">
                <a:alpha val="0"/>
              </a:srgbClr>
            </a:solidFill>
            <a:prstDash val="solid"/>
          </a:ln>
        </p:spPr>
      </p:sp>
      <p:sp>
        <p:nvSpPr>
          <p:cNvPr id="28" name="Shape 26"/>
          <p:cNvSpPr/>
          <p:nvPr/>
        </p:nvSpPr>
        <p:spPr>
          <a:xfrm>
            <a:off x="4603090" y="4866894"/>
            <a:ext cx="0" cy="292608"/>
          </a:xfrm>
          <a:prstGeom prst="line">
            <a:avLst/>
          </a:prstGeom>
          <a:noFill/>
          <a:ln w="12700">
            <a:solidFill>
              <a:srgbClr val="0B1220">
                <a:alpha val="80000"/>
              </a:srgbClr>
            </a:solidFill>
            <a:prstDash val="solid"/>
          </a:ln>
        </p:spPr>
      </p:sp>
      <p:sp>
        <p:nvSpPr>
          <p:cNvPr id="29" name="Text 27"/>
          <p:cNvSpPr/>
          <p:nvPr/>
        </p:nvSpPr>
        <p:spPr>
          <a:xfrm>
            <a:off x="5065776" y="4757166"/>
            <a:ext cx="749808" cy="182880"/>
          </a:xfrm>
          <a:prstGeom prst="rect">
            <a:avLst/>
          </a:prstGeom>
          <a:noFill/>
          <a:ln/>
        </p:spPr>
        <p:txBody>
          <a:bodyPr wrap="square" lIns="0" tIns="0" rIns="0" bIns="0" rtlCol="0" anchor="ctr">
            <a:normAutofit/>
          </a:bodyPr>
          <a:lstStyle/>
          <a:p>
            <a:pPr indent="0" marL="0">
              <a:buNone/>
            </a:pPr>
            <a:r>
              <a:rPr lang="en-US" sz="700" b="1" dirty="0">
                <a:solidFill>
                  <a:srgbClr val="0F172A"/>
                </a:solidFill>
              </a:rPr>
              <a:t>92.3/100</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Course performance</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Course DevOps_02_2026 | Type full</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Passed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8" name="Text 5"/>
          <p:cNvSpPr/>
          <p:nvPr/>
        </p:nvSpPr>
        <p:spPr>
          <a:xfrm>
            <a:off x="621792" y="1024128"/>
            <a:ext cx="2926080" cy="182880"/>
          </a:xfrm>
          <a:prstGeom prst="rect">
            <a:avLst/>
          </a:prstGeom>
          <a:noFill/>
          <a:ln/>
        </p:spPr>
        <p:txBody>
          <a:bodyPr wrap="square" lIns="0" tIns="0" rIns="0" bIns="0" rtlCol="0" anchor="ctr"/>
          <a:lstStyle/>
          <a:p>
            <a:pPr indent="0" marL="0">
              <a:buNone/>
            </a:pPr>
            <a:r>
              <a:rPr lang="en-US" sz="900" b="1" dirty="0">
                <a:solidFill>
                  <a:srgbClr val="2563EB"/>
                </a:solidFill>
              </a:rPr>
              <a:t>Course performance profile</a:t>
            </a:r>
            <a:endParaRPr lang="en-US" sz="900" dirty="0"/>
          </a:p>
        </p:txBody>
      </p:sp>
      <p:sp>
        <p:nvSpPr>
          <p:cNvPr id="9" name="Text 6"/>
          <p:cNvSpPr/>
          <p:nvPr/>
        </p:nvSpPr>
        <p:spPr>
          <a:xfrm>
            <a:off x="621792" y="1298448"/>
            <a:ext cx="6629400" cy="502920"/>
          </a:xfrm>
          <a:prstGeom prst="rect">
            <a:avLst/>
          </a:prstGeom>
          <a:noFill/>
          <a:ln/>
        </p:spPr>
        <p:txBody>
          <a:bodyPr wrap="square" lIns="0" tIns="0" rIns="0" bIns="0" rtlCol="0" anchor="ctr">
            <a:normAutofit/>
          </a:bodyPr>
          <a:lstStyle/>
          <a:p>
            <a:pPr indent="0" marL="0">
              <a:buNone/>
            </a:pPr>
            <a:r>
              <a:rPr lang="en-US" sz="2100" b="1" dirty="0">
                <a:solidFill>
                  <a:srgbClr val="0F172A"/>
                </a:solidFill>
              </a:rPr>
              <a:t>DevOps Fundamentals: CI/CD, K8s, Monitoring</a:t>
            </a:r>
            <a:endParaRPr lang="en-US" sz="2100" dirty="0"/>
          </a:p>
        </p:txBody>
      </p:sp>
      <p:sp>
        <p:nvSpPr>
          <p:cNvPr id="10" name="Text 7"/>
          <p:cNvSpPr/>
          <p:nvPr/>
        </p:nvSpPr>
        <p:spPr>
          <a:xfrm>
            <a:off x="658368" y="2084832"/>
            <a:ext cx="1005840" cy="201168"/>
          </a:xfrm>
          <a:prstGeom prst="rect">
            <a:avLst/>
          </a:prstGeom>
          <a:noFill/>
          <a:ln/>
        </p:spPr>
        <p:txBody>
          <a:bodyPr wrap="square" lIns="0" tIns="0" rIns="0" bIns="0" rtlCol="0" anchor="ctr"/>
          <a:lstStyle/>
          <a:p>
            <a:pPr indent="0" marL="0">
              <a:buNone/>
            </a:pPr>
            <a:r>
              <a:rPr lang="en-US" sz="1000" b="1" dirty="0">
                <a:solidFill>
                  <a:srgbClr val="0F172A"/>
                </a:solidFill>
              </a:rPr>
              <a:t>Attendance</a:t>
            </a:r>
            <a:endParaRPr lang="en-US" sz="1000" dirty="0"/>
          </a:p>
        </p:txBody>
      </p:sp>
      <p:sp>
        <p:nvSpPr>
          <p:cNvPr id="11" name="Shape 8"/>
          <p:cNvSpPr/>
          <p:nvPr/>
        </p:nvSpPr>
        <p:spPr>
          <a:xfrm>
            <a:off x="1773936" y="2112264"/>
            <a:ext cx="4626864" cy="164592"/>
          </a:xfrm>
          <a:prstGeom prst="roundRect">
            <a:avLst>
              <a:gd name="adj" fmla="val 22222"/>
            </a:avLst>
          </a:prstGeom>
          <a:solidFill>
            <a:srgbClr val="E2E8F0"/>
          </a:solidFill>
          <a:ln w="12700">
            <a:solidFill>
              <a:srgbClr val="E2E8F0">
                <a:alpha val="0"/>
              </a:srgbClr>
            </a:solidFill>
            <a:prstDash val="solid"/>
          </a:ln>
        </p:spPr>
      </p:sp>
      <p:sp>
        <p:nvSpPr>
          <p:cNvPr id="12" name="Shape 9"/>
          <p:cNvSpPr/>
          <p:nvPr/>
        </p:nvSpPr>
        <p:spPr>
          <a:xfrm>
            <a:off x="1773936" y="2112264"/>
            <a:ext cx="4441789" cy="164592"/>
          </a:xfrm>
          <a:prstGeom prst="roundRect">
            <a:avLst>
              <a:gd name="adj" fmla="val 22222"/>
            </a:avLst>
          </a:prstGeom>
          <a:solidFill>
            <a:srgbClr val="047857"/>
          </a:solidFill>
          <a:ln w="12700">
            <a:solidFill>
              <a:srgbClr val="047857">
                <a:alpha val="0"/>
              </a:srgbClr>
            </a:solidFill>
            <a:prstDash val="solid"/>
          </a:ln>
        </p:spPr>
      </p:sp>
      <p:sp>
        <p:nvSpPr>
          <p:cNvPr id="13" name="Shape 10"/>
          <p:cNvSpPr/>
          <p:nvPr/>
        </p:nvSpPr>
        <p:spPr>
          <a:xfrm>
            <a:off x="5706770" y="2075688"/>
            <a:ext cx="0" cy="256032"/>
          </a:xfrm>
          <a:prstGeom prst="line">
            <a:avLst/>
          </a:prstGeom>
          <a:noFill/>
          <a:ln w="12700">
            <a:solidFill>
              <a:srgbClr val="0B1220">
                <a:alpha val="85000"/>
              </a:srgbClr>
            </a:solidFill>
            <a:prstDash val="solid"/>
          </a:ln>
        </p:spPr>
      </p:sp>
      <p:sp>
        <p:nvSpPr>
          <p:cNvPr id="14" name="Text 11"/>
          <p:cNvSpPr/>
          <p:nvPr/>
        </p:nvSpPr>
        <p:spPr>
          <a:xfrm>
            <a:off x="6492240" y="2084832"/>
            <a:ext cx="566928" cy="201168"/>
          </a:xfrm>
          <a:prstGeom prst="rect">
            <a:avLst/>
          </a:prstGeom>
          <a:noFill/>
          <a:ln/>
        </p:spPr>
        <p:txBody>
          <a:bodyPr wrap="square" lIns="0" tIns="0" rIns="0" bIns="0" rtlCol="0" anchor="ctr"/>
          <a:lstStyle/>
          <a:p>
            <a:pPr algn="r" indent="0" marL="0">
              <a:buNone/>
            </a:pPr>
            <a:r>
              <a:rPr lang="en-US" sz="900" b="1" dirty="0">
                <a:solidFill>
                  <a:srgbClr val="047857"/>
                </a:solidFill>
              </a:rPr>
              <a:t>96%</a:t>
            </a:r>
            <a:endParaRPr lang="en-US" sz="900" dirty="0"/>
          </a:p>
        </p:txBody>
      </p:sp>
      <p:sp>
        <p:nvSpPr>
          <p:cNvPr id="15" name="Text 12"/>
          <p:cNvSpPr/>
          <p:nvPr/>
        </p:nvSpPr>
        <p:spPr>
          <a:xfrm>
            <a:off x="1773936" y="2377440"/>
            <a:ext cx="4626864" cy="137160"/>
          </a:xfrm>
          <a:prstGeom prst="rect">
            <a:avLst/>
          </a:prstGeom>
          <a:noFill/>
          <a:ln/>
        </p:spPr>
        <p:txBody>
          <a:bodyPr wrap="square" lIns="0" tIns="0" rIns="0" bIns="0" rtlCol="0" anchor="ctr"/>
          <a:lstStyle/>
          <a:p>
            <a:pPr algn="r" indent="0" marL="0">
              <a:buNone/>
            </a:pPr>
            <a:r>
              <a:rPr lang="en-US" sz="700" dirty="0">
                <a:solidFill>
                  <a:srgbClr val="64748B"/>
                </a:solidFill>
              </a:rPr>
              <a:t>Target 85%</a:t>
            </a:r>
            <a:endParaRPr lang="en-US" sz="700" dirty="0"/>
          </a:p>
        </p:txBody>
      </p:sp>
      <p:sp>
        <p:nvSpPr>
          <p:cNvPr id="16" name="Text 13"/>
          <p:cNvSpPr/>
          <p:nvPr/>
        </p:nvSpPr>
        <p:spPr>
          <a:xfrm>
            <a:off x="658368" y="2871216"/>
            <a:ext cx="1005840" cy="201168"/>
          </a:xfrm>
          <a:prstGeom prst="rect">
            <a:avLst/>
          </a:prstGeom>
          <a:noFill/>
          <a:ln/>
        </p:spPr>
        <p:txBody>
          <a:bodyPr wrap="square" lIns="0" tIns="0" rIns="0" bIns="0" rtlCol="0" anchor="ctr"/>
          <a:lstStyle/>
          <a:p>
            <a:pPr indent="0" marL="0">
              <a:buNone/>
            </a:pPr>
            <a:r>
              <a:rPr lang="en-US" sz="1000" b="1" dirty="0">
                <a:solidFill>
                  <a:srgbClr val="0F172A"/>
                </a:solidFill>
              </a:rPr>
              <a:t>Completion</a:t>
            </a:r>
            <a:endParaRPr lang="en-US" sz="1000" dirty="0"/>
          </a:p>
        </p:txBody>
      </p:sp>
      <p:sp>
        <p:nvSpPr>
          <p:cNvPr id="17" name="Shape 14"/>
          <p:cNvSpPr/>
          <p:nvPr/>
        </p:nvSpPr>
        <p:spPr>
          <a:xfrm>
            <a:off x="1773936" y="2898648"/>
            <a:ext cx="4626864" cy="164592"/>
          </a:xfrm>
          <a:prstGeom prst="roundRect">
            <a:avLst>
              <a:gd name="adj" fmla="val 22222"/>
            </a:avLst>
          </a:prstGeom>
          <a:solidFill>
            <a:srgbClr val="E2E8F0"/>
          </a:solidFill>
          <a:ln w="12700">
            <a:solidFill>
              <a:srgbClr val="E2E8F0">
                <a:alpha val="0"/>
              </a:srgbClr>
            </a:solidFill>
            <a:prstDash val="solid"/>
          </a:ln>
        </p:spPr>
      </p:sp>
      <p:sp>
        <p:nvSpPr>
          <p:cNvPr id="18" name="Shape 15"/>
          <p:cNvSpPr/>
          <p:nvPr/>
        </p:nvSpPr>
        <p:spPr>
          <a:xfrm>
            <a:off x="1773936" y="2898648"/>
            <a:ext cx="4626864" cy="164592"/>
          </a:xfrm>
          <a:prstGeom prst="roundRect">
            <a:avLst>
              <a:gd name="adj" fmla="val 22222"/>
            </a:avLst>
          </a:prstGeom>
          <a:solidFill>
            <a:srgbClr val="047857"/>
          </a:solidFill>
          <a:ln w="12700">
            <a:solidFill>
              <a:srgbClr val="047857">
                <a:alpha val="0"/>
              </a:srgbClr>
            </a:solidFill>
            <a:prstDash val="solid"/>
          </a:ln>
        </p:spPr>
      </p:sp>
      <p:sp>
        <p:nvSpPr>
          <p:cNvPr id="19" name="Shape 16"/>
          <p:cNvSpPr/>
          <p:nvPr/>
        </p:nvSpPr>
        <p:spPr>
          <a:xfrm>
            <a:off x="5938114" y="2862072"/>
            <a:ext cx="0" cy="256032"/>
          </a:xfrm>
          <a:prstGeom prst="line">
            <a:avLst/>
          </a:prstGeom>
          <a:noFill/>
          <a:ln w="12700">
            <a:solidFill>
              <a:srgbClr val="0B1220">
                <a:alpha val="85000"/>
              </a:srgbClr>
            </a:solidFill>
            <a:prstDash val="solid"/>
          </a:ln>
        </p:spPr>
      </p:sp>
      <p:sp>
        <p:nvSpPr>
          <p:cNvPr id="20" name="Text 17"/>
          <p:cNvSpPr/>
          <p:nvPr/>
        </p:nvSpPr>
        <p:spPr>
          <a:xfrm>
            <a:off x="6492240" y="2871216"/>
            <a:ext cx="566928" cy="201168"/>
          </a:xfrm>
          <a:prstGeom prst="rect">
            <a:avLst/>
          </a:prstGeom>
          <a:noFill/>
          <a:ln/>
        </p:spPr>
        <p:txBody>
          <a:bodyPr wrap="square" lIns="0" tIns="0" rIns="0" bIns="0" rtlCol="0" anchor="ctr"/>
          <a:lstStyle/>
          <a:p>
            <a:pPr algn="r" indent="0" marL="0">
              <a:buNone/>
            </a:pPr>
            <a:r>
              <a:rPr lang="en-US" sz="900" b="1" dirty="0">
                <a:solidFill>
                  <a:srgbClr val="047857"/>
                </a:solidFill>
              </a:rPr>
              <a:t>100%</a:t>
            </a:r>
            <a:endParaRPr lang="en-US" sz="900" dirty="0"/>
          </a:p>
        </p:txBody>
      </p:sp>
      <p:sp>
        <p:nvSpPr>
          <p:cNvPr id="21" name="Text 18"/>
          <p:cNvSpPr/>
          <p:nvPr/>
        </p:nvSpPr>
        <p:spPr>
          <a:xfrm>
            <a:off x="1773936" y="3163824"/>
            <a:ext cx="4626864" cy="137160"/>
          </a:xfrm>
          <a:prstGeom prst="rect">
            <a:avLst/>
          </a:prstGeom>
          <a:noFill/>
          <a:ln/>
        </p:spPr>
        <p:txBody>
          <a:bodyPr wrap="square" lIns="0" tIns="0" rIns="0" bIns="0" rtlCol="0" anchor="ctr"/>
          <a:lstStyle/>
          <a:p>
            <a:pPr algn="r" indent="0" marL="0">
              <a:buNone/>
            </a:pPr>
            <a:r>
              <a:rPr lang="en-US" sz="700" dirty="0">
                <a:solidFill>
                  <a:srgbClr val="64748B"/>
                </a:solidFill>
              </a:rPr>
              <a:t>Target 90%</a:t>
            </a:r>
            <a:endParaRPr lang="en-US" sz="700" dirty="0"/>
          </a:p>
        </p:txBody>
      </p:sp>
      <p:sp>
        <p:nvSpPr>
          <p:cNvPr id="22" name="Text 19"/>
          <p:cNvSpPr/>
          <p:nvPr/>
        </p:nvSpPr>
        <p:spPr>
          <a:xfrm>
            <a:off x="658368" y="3657600"/>
            <a:ext cx="1005840" cy="201168"/>
          </a:xfrm>
          <a:prstGeom prst="rect">
            <a:avLst/>
          </a:prstGeom>
          <a:noFill/>
          <a:ln/>
        </p:spPr>
        <p:txBody>
          <a:bodyPr wrap="square" lIns="0" tIns="0" rIns="0" bIns="0" rtlCol="0" anchor="ctr"/>
          <a:lstStyle/>
          <a:p>
            <a:pPr indent="0" marL="0">
              <a:buNone/>
            </a:pPr>
            <a:r>
              <a:rPr lang="en-US" sz="1000" b="1" dirty="0">
                <a:solidFill>
                  <a:srgbClr val="0F172A"/>
                </a:solidFill>
              </a:rPr>
              <a:t>Pass rate</a:t>
            </a:r>
            <a:endParaRPr lang="en-US" sz="1000" dirty="0"/>
          </a:p>
        </p:txBody>
      </p:sp>
      <p:sp>
        <p:nvSpPr>
          <p:cNvPr id="23" name="Shape 20"/>
          <p:cNvSpPr/>
          <p:nvPr/>
        </p:nvSpPr>
        <p:spPr>
          <a:xfrm>
            <a:off x="1773936" y="3685032"/>
            <a:ext cx="4626864" cy="164592"/>
          </a:xfrm>
          <a:prstGeom prst="roundRect">
            <a:avLst>
              <a:gd name="adj" fmla="val 22222"/>
            </a:avLst>
          </a:prstGeom>
          <a:solidFill>
            <a:srgbClr val="E2E8F0"/>
          </a:solidFill>
          <a:ln w="12700">
            <a:solidFill>
              <a:srgbClr val="E2E8F0">
                <a:alpha val="0"/>
              </a:srgbClr>
            </a:solidFill>
            <a:prstDash val="solid"/>
          </a:ln>
        </p:spPr>
      </p:sp>
      <p:sp>
        <p:nvSpPr>
          <p:cNvPr id="24" name="Shape 21"/>
          <p:cNvSpPr/>
          <p:nvPr/>
        </p:nvSpPr>
        <p:spPr>
          <a:xfrm>
            <a:off x="1773936" y="3685032"/>
            <a:ext cx="4626864" cy="164592"/>
          </a:xfrm>
          <a:prstGeom prst="roundRect">
            <a:avLst>
              <a:gd name="adj" fmla="val 22222"/>
            </a:avLst>
          </a:prstGeom>
          <a:solidFill>
            <a:srgbClr val="047857"/>
          </a:solidFill>
          <a:ln w="12700">
            <a:solidFill>
              <a:srgbClr val="047857">
                <a:alpha val="0"/>
              </a:srgbClr>
            </a:solidFill>
            <a:prstDash val="solid"/>
          </a:ln>
        </p:spPr>
      </p:sp>
      <p:sp>
        <p:nvSpPr>
          <p:cNvPr id="25" name="Shape 22"/>
          <p:cNvSpPr/>
          <p:nvPr/>
        </p:nvSpPr>
        <p:spPr>
          <a:xfrm>
            <a:off x="5475427" y="3648456"/>
            <a:ext cx="0" cy="256032"/>
          </a:xfrm>
          <a:prstGeom prst="line">
            <a:avLst/>
          </a:prstGeom>
          <a:noFill/>
          <a:ln w="12700">
            <a:solidFill>
              <a:srgbClr val="0B1220">
                <a:alpha val="85000"/>
              </a:srgbClr>
            </a:solidFill>
            <a:prstDash val="solid"/>
          </a:ln>
        </p:spPr>
      </p:sp>
      <p:sp>
        <p:nvSpPr>
          <p:cNvPr id="26" name="Text 23"/>
          <p:cNvSpPr/>
          <p:nvPr/>
        </p:nvSpPr>
        <p:spPr>
          <a:xfrm>
            <a:off x="6492240" y="3657600"/>
            <a:ext cx="566928" cy="201168"/>
          </a:xfrm>
          <a:prstGeom prst="rect">
            <a:avLst/>
          </a:prstGeom>
          <a:noFill/>
          <a:ln/>
        </p:spPr>
        <p:txBody>
          <a:bodyPr wrap="square" lIns="0" tIns="0" rIns="0" bIns="0" rtlCol="0" anchor="ctr"/>
          <a:lstStyle/>
          <a:p>
            <a:pPr algn="r" indent="0" marL="0">
              <a:buNone/>
            </a:pPr>
            <a:r>
              <a:rPr lang="en-US" sz="900" b="1" dirty="0">
                <a:solidFill>
                  <a:srgbClr val="047857"/>
                </a:solidFill>
              </a:rPr>
              <a:t>100%</a:t>
            </a:r>
            <a:endParaRPr lang="en-US" sz="900" dirty="0"/>
          </a:p>
        </p:txBody>
      </p:sp>
      <p:sp>
        <p:nvSpPr>
          <p:cNvPr id="27" name="Text 24"/>
          <p:cNvSpPr/>
          <p:nvPr/>
        </p:nvSpPr>
        <p:spPr>
          <a:xfrm>
            <a:off x="1773936" y="3950208"/>
            <a:ext cx="4626864" cy="137160"/>
          </a:xfrm>
          <a:prstGeom prst="rect">
            <a:avLst/>
          </a:prstGeom>
          <a:noFill/>
          <a:ln/>
        </p:spPr>
        <p:txBody>
          <a:bodyPr wrap="square" lIns="0" tIns="0" rIns="0" bIns="0" rtlCol="0" anchor="ctr"/>
          <a:lstStyle/>
          <a:p>
            <a:pPr algn="r" indent="0" marL="0">
              <a:buNone/>
            </a:pPr>
            <a:r>
              <a:rPr lang="en-US" sz="700" dirty="0">
                <a:solidFill>
                  <a:srgbClr val="64748B"/>
                </a:solidFill>
              </a:rPr>
              <a:t>Target 80%</a:t>
            </a:r>
            <a:endParaRPr lang="en-US" sz="700" dirty="0"/>
          </a:p>
        </p:txBody>
      </p:sp>
      <p:sp>
        <p:nvSpPr>
          <p:cNvPr id="28" name="Shape 25"/>
          <p:cNvSpPr/>
          <p:nvPr/>
        </p:nvSpPr>
        <p:spPr>
          <a:xfrm>
            <a:off x="7635240" y="1170432"/>
            <a:ext cx="3840480" cy="3611880"/>
          </a:xfrm>
          <a:prstGeom prst="roundRect">
            <a:avLst>
              <a:gd name="adj" fmla="val 2025"/>
            </a:avLst>
          </a:prstGeom>
          <a:solidFill>
            <a:srgbClr val="FFFFFF"/>
          </a:solidFill>
          <a:ln w="12700">
            <a:solidFill>
              <a:srgbClr val="CBD5E1"/>
            </a:solidFill>
            <a:prstDash val="solid"/>
          </a:ln>
        </p:spPr>
      </p:sp>
      <p:sp>
        <p:nvSpPr>
          <p:cNvPr id="29" name="Text 26"/>
          <p:cNvSpPr/>
          <p:nvPr/>
        </p:nvSpPr>
        <p:spPr>
          <a:xfrm>
            <a:off x="7936992" y="1481328"/>
            <a:ext cx="3246120" cy="182880"/>
          </a:xfrm>
          <a:prstGeom prst="rect">
            <a:avLst/>
          </a:prstGeom>
          <a:noFill/>
          <a:ln/>
        </p:spPr>
        <p:txBody>
          <a:bodyPr wrap="square" lIns="0" tIns="0" rIns="0" bIns="0" rtlCol="0" anchor="ctr"/>
          <a:lstStyle/>
          <a:p>
            <a:pPr algn="ctr" indent="0" marL="0">
              <a:buNone/>
            </a:pPr>
            <a:r>
              <a:rPr lang="en-US" sz="900" b="1" dirty="0">
                <a:solidFill>
                  <a:srgbClr val="64748B"/>
                </a:solidFill>
              </a:rPr>
              <a:t>EFFECTIVENESS</a:t>
            </a:r>
            <a:endParaRPr lang="en-US" sz="900" dirty="0"/>
          </a:p>
        </p:txBody>
      </p:sp>
      <p:sp>
        <p:nvSpPr>
          <p:cNvPr id="30" name="Shape 27"/>
          <p:cNvSpPr/>
          <p:nvPr/>
        </p:nvSpPr>
        <p:spPr>
          <a:xfrm>
            <a:off x="8549640" y="1828800"/>
            <a:ext cx="2011680" cy="2011680"/>
          </a:xfrm>
          <a:prstGeom prst="ellipse">
            <a:avLst/>
          </a:prstGeom>
          <a:solidFill>
            <a:srgbClr val="047857"/>
          </a:solidFill>
          <a:ln w="12700">
            <a:solidFill>
              <a:srgbClr val="047857">
                <a:alpha val="0"/>
              </a:srgbClr>
            </a:solidFill>
            <a:prstDash val="solid"/>
          </a:ln>
        </p:spPr>
      </p:sp>
      <p:sp>
        <p:nvSpPr>
          <p:cNvPr id="31" name="Shape 28"/>
          <p:cNvSpPr/>
          <p:nvPr/>
        </p:nvSpPr>
        <p:spPr>
          <a:xfrm>
            <a:off x="8897112" y="2176272"/>
            <a:ext cx="1316736" cy="1316736"/>
          </a:xfrm>
          <a:prstGeom prst="ellipse">
            <a:avLst/>
          </a:prstGeom>
          <a:solidFill>
            <a:srgbClr val="FFFFFF"/>
          </a:solidFill>
          <a:ln w="12700">
            <a:solidFill>
              <a:srgbClr val="FFFFFF">
                <a:alpha val="0"/>
              </a:srgbClr>
            </a:solidFill>
            <a:prstDash val="solid"/>
          </a:ln>
        </p:spPr>
      </p:sp>
      <p:sp>
        <p:nvSpPr>
          <p:cNvPr id="32" name="Text 29"/>
          <p:cNvSpPr/>
          <p:nvPr/>
        </p:nvSpPr>
        <p:spPr>
          <a:xfrm>
            <a:off x="8897112" y="2505456"/>
            <a:ext cx="1316736" cy="384048"/>
          </a:xfrm>
          <a:prstGeom prst="rect">
            <a:avLst/>
          </a:prstGeom>
          <a:noFill/>
          <a:ln/>
        </p:spPr>
        <p:txBody>
          <a:bodyPr wrap="square" lIns="0" tIns="0" rIns="0" bIns="0" rtlCol="0" anchor="ctr">
            <a:normAutofit/>
          </a:bodyPr>
          <a:lstStyle/>
          <a:p>
            <a:pPr algn="ctr" indent="0" marL="0">
              <a:buNone/>
            </a:pPr>
            <a:r>
              <a:rPr lang="en-US" sz="2200" b="1" dirty="0">
                <a:solidFill>
                  <a:srgbClr val="047857"/>
                </a:solidFill>
              </a:rPr>
              <a:t>92.28</a:t>
            </a:r>
            <a:endParaRPr lang="en-US" sz="2200" dirty="0"/>
          </a:p>
        </p:txBody>
      </p:sp>
      <p:sp>
        <p:nvSpPr>
          <p:cNvPr id="33" name="Text 30"/>
          <p:cNvSpPr/>
          <p:nvPr/>
        </p:nvSpPr>
        <p:spPr>
          <a:xfrm>
            <a:off x="9025128" y="2898648"/>
            <a:ext cx="1051560" cy="164592"/>
          </a:xfrm>
          <a:prstGeom prst="rect">
            <a:avLst/>
          </a:prstGeom>
          <a:noFill/>
          <a:ln/>
        </p:spPr>
        <p:txBody>
          <a:bodyPr wrap="square" lIns="0" tIns="0" rIns="0" bIns="0" rtlCol="0" anchor="ctr"/>
          <a:lstStyle/>
          <a:p>
            <a:pPr algn="ctr" indent="0" marL="0">
              <a:buNone/>
            </a:pPr>
            <a:r>
              <a:rPr lang="en-US" sz="800" dirty="0">
                <a:solidFill>
                  <a:srgbClr val="64748B"/>
                </a:solidFill>
              </a:rPr>
              <a:t>/ 100</a:t>
            </a:r>
            <a:endParaRPr lang="en-US" sz="800" dirty="0"/>
          </a:p>
        </p:txBody>
      </p:sp>
      <p:sp>
        <p:nvSpPr>
          <p:cNvPr id="34" name="Text 31"/>
          <p:cNvSpPr/>
          <p:nvPr/>
        </p:nvSpPr>
        <p:spPr>
          <a:xfrm>
            <a:off x="7973568" y="4096512"/>
            <a:ext cx="1417320" cy="128016"/>
          </a:xfrm>
          <a:prstGeom prst="rect">
            <a:avLst/>
          </a:prstGeom>
          <a:noFill/>
          <a:ln/>
        </p:spPr>
        <p:txBody>
          <a:bodyPr wrap="square" lIns="0" tIns="0" rIns="0" bIns="0" rtlCol="0" anchor="ctr"/>
          <a:lstStyle/>
          <a:p>
            <a:pPr algn="ctr" indent="0" marL="0">
              <a:buNone/>
            </a:pPr>
            <a:r>
              <a:rPr lang="en-US" sz="750" b="1" dirty="0">
                <a:solidFill>
                  <a:srgbClr val="64748B"/>
                </a:solidFill>
              </a:rPr>
              <a:t>LEARNERS</a:t>
            </a:r>
            <a:endParaRPr lang="en-US" sz="750" dirty="0"/>
          </a:p>
        </p:txBody>
      </p:sp>
      <p:sp>
        <p:nvSpPr>
          <p:cNvPr id="35" name="Text 32"/>
          <p:cNvSpPr/>
          <p:nvPr/>
        </p:nvSpPr>
        <p:spPr>
          <a:xfrm>
            <a:off x="7973568" y="4279392"/>
            <a:ext cx="1417320" cy="256032"/>
          </a:xfrm>
          <a:prstGeom prst="rect">
            <a:avLst/>
          </a:prstGeom>
          <a:noFill/>
          <a:ln/>
        </p:spPr>
        <p:txBody>
          <a:bodyPr wrap="square" lIns="0" tIns="0" rIns="0" bIns="0" rtlCol="0" anchor="ctr">
            <a:normAutofit/>
          </a:bodyPr>
          <a:lstStyle/>
          <a:p>
            <a:pPr algn="ctr" indent="0" marL="0">
              <a:buNone/>
            </a:pPr>
            <a:r>
              <a:rPr lang="en-US" sz="1500" b="1" dirty="0">
                <a:solidFill>
                  <a:srgbClr val="0F172A"/>
                </a:solidFill>
              </a:rPr>
              <a:t>10</a:t>
            </a:r>
            <a:endParaRPr lang="en-US" sz="1500" dirty="0"/>
          </a:p>
        </p:txBody>
      </p:sp>
      <p:sp>
        <p:nvSpPr>
          <p:cNvPr id="36" name="Text 33"/>
          <p:cNvSpPr/>
          <p:nvPr/>
        </p:nvSpPr>
        <p:spPr>
          <a:xfrm>
            <a:off x="9619488" y="4096512"/>
            <a:ext cx="1417320" cy="128016"/>
          </a:xfrm>
          <a:prstGeom prst="rect">
            <a:avLst/>
          </a:prstGeom>
          <a:noFill/>
          <a:ln/>
        </p:spPr>
        <p:txBody>
          <a:bodyPr wrap="square" lIns="0" tIns="0" rIns="0" bIns="0" rtlCol="0" anchor="ctr"/>
          <a:lstStyle/>
          <a:p>
            <a:pPr algn="ctr" indent="0" marL="0">
              <a:buNone/>
            </a:pPr>
            <a:r>
              <a:rPr lang="en-US" sz="750" b="1" dirty="0">
                <a:solidFill>
                  <a:srgbClr val="64748B"/>
                </a:solidFill>
              </a:rPr>
              <a:t>AVG SCORE</a:t>
            </a:r>
            <a:endParaRPr lang="en-US" sz="750" dirty="0"/>
          </a:p>
        </p:txBody>
      </p:sp>
      <p:sp>
        <p:nvSpPr>
          <p:cNvPr id="37" name="Text 34"/>
          <p:cNvSpPr/>
          <p:nvPr/>
        </p:nvSpPr>
        <p:spPr>
          <a:xfrm>
            <a:off x="9619488" y="4279392"/>
            <a:ext cx="1417320" cy="256032"/>
          </a:xfrm>
          <a:prstGeom prst="rect">
            <a:avLst/>
          </a:prstGeom>
          <a:noFill/>
          <a:ln/>
        </p:spPr>
        <p:txBody>
          <a:bodyPr wrap="square" lIns="0" tIns="0" rIns="0" bIns="0" rtlCol="0" anchor="ctr">
            <a:normAutofit/>
          </a:bodyPr>
          <a:lstStyle/>
          <a:p>
            <a:pPr algn="ctr" indent="0" marL="0">
              <a:buNone/>
            </a:pPr>
            <a:r>
              <a:rPr lang="en-US" sz="1500" b="1" dirty="0">
                <a:solidFill>
                  <a:srgbClr val="0F172A"/>
                </a:solidFill>
              </a:rPr>
              <a:t>7.89/10</a:t>
            </a:r>
            <a:endParaRPr lang="en-US" sz="1500" dirty="0"/>
          </a:p>
        </p:txBody>
      </p:sp>
      <p:sp>
        <p:nvSpPr>
          <p:cNvPr id="38" name="Text 35"/>
          <p:cNvSpPr/>
          <p:nvPr/>
        </p:nvSpPr>
        <p:spPr>
          <a:xfrm>
            <a:off x="621792" y="4919472"/>
            <a:ext cx="3108960" cy="228600"/>
          </a:xfrm>
          <a:prstGeom prst="rect">
            <a:avLst/>
          </a:prstGeom>
          <a:noFill/>
          <a:ln/>
        </p:spPr>
        <p:txBody>
          <a:bodyPr wrap="square" lIns="0" tIns="0" rIns="0" bIns="0" rtlCol="0" anchor="ctr"/>
          <a:lstStyle/>
          <a:p>
            <a:pPr indent="0" marL="0">
              <a:buNone/>
            </a:pPr>
            <a:r>
              <a:rPr lang="en-US" sz="1300" b="1" dirty="0">
                <a:solidFill>
                  <a:srgbClr val="0F172A"/>
                </a:solidFill>
              </a:rPr>
              <a:t>What leaders should notice</a:t>
            </a:r>
            <a:endParaRPr lang="en-US" sz="1300" dirty="0"/>
          </a:p>
        </p:txBody>
      </p:sp>
      <p:sp>
        <p:nvSpPr>
          <p:cNvPr id="39" name="Shape 36"/>
          <p:cNvSpPr/>
          <p:nvPr/>
        </p:nvSpPr>
        <p:spPr>
          <a:xfrm>
            <a:off x="621792" y="5285232"/>
            <a:ext cx="3429000" cy="868680"/>
          </a:xfrm>
          <a:prstGeom prst="roundRect">
            <a:avLst>
              <a:gd name="adj" fmla="val 8421"/>
            </a:avLst>
          </a:prstGeom>
          <a:solidFill>
            <a:srgbClr val="D1FAE5"/>
          </a:solidFill>
          <a:ln w="12700">
            <a:solidFill>
              <a:srgbClr val="D1FAE5"/>
            </a:solidFill>
            <a:prstDash val="solid"/>
          </a:ln>
        </p:spPr>
      </p:sp>
      <p:sp>
        <p:nvSpPr>
          <p:cNvPr id="40" name="Text 37"/>
          <p:cNvSpPr/>
          <p:nvPr/>
        </p:nvSpPr>
        <p:spPr>
          <a:xfrm>
            <a:off x="786384" y="5449824"/>
            <a:ext cx="3063240" cy="411480"/>
          </a:xfrm>
          <a:prstGeom prst="rect">
            <a:avLst/>
          </a:prstGeom>
          <a:noFill/>
          <a:ln/>
        </p:spPr>
        <p:txBody>
          <a:bodyPr wrap="square" rtlCol="0" anchor="ctr">
            <a:normAutofit/>
          </a:bodyPr>
          <a:lstStyle/>
          <a:p>
            <a:pPr indent="0" marL="0">
              <a:buNone/>
            </a:pPr>
            <a:r>
              <a:rPr lang="en-US" sz="1000" b="1" dirty="0">
                <a:solidFill>
                  <a:srgbClr val="0F172A"/>
                </a:solidFill>
              </a:rPr>
              <a:t>Strong completion outcome at 100%</a:t>
            </a:r>
            <a:endParaRPr lang="en-US" sz="1000" dirty="0"/>
          </a:p>
        </p:txBody>
      </p:sp>
      <p:sp>
        <p:nvSpPr>
          <p:cNvPr id="41" name="Shape 38"/>
          <p:cNvSpPr/>
          <p:nvPr/>
        </p:nvSpPr>
        <p:spPr>
          <a:xfrm>
            <a:off x="4352544" y="5285232"/>
            <a:ext cx="3429000" cy="868680"/>
          </a:xfrm>
          <a:prstGeom prst="roundRect">
            <a:avLst>
              <a:gd name="adj" fmla="val 8421"/>
            </a:avLst>
          </a:prstGeom>
          <a:solidFill>
            <a:srgbClr val="D1FAE5"/>
          </a:solidFill>
          <a:ln w="12700">
            <a:solidFill>
              <a:srgbClr val="D1FAE5"/>
            </a:solidFill>
            <a:prstDash val="solid"/>
          </a:ln>
        </p:spPr>
      </p:sp>
      <p:sp>
        <p:nvSpPr>
          <p:cNvPr id="42" name="Text 39"/>
          <p:cNvSpPr/>
          <p:nvPr/>
        </p:nvSpPr>
        <p:spPr>
          <a:xfrm>
            <a:off x="4517136" y="5449824"/>
            <a:ext cx="3063240" cy="411480"/>
          </a:xfrm>
          <a:prstGeom prst="rect">
            <a:avLst/>
          </a:prstGeom>
          <a:noFill/>
          <a:ln/>
        </p:spPr>
        <p:txBody>
          <a:bodyPr wrap="square" rtlCol="0" anchor="ctr">
            <a:normAutofit/>
          </a:bodyPr>
          <a:lstStyle/>
          <a:p>
            <a:pPr indent="0" marL="0">
              <a:buNone/>
            </a:pPr>
            <a:r>
              <a:rPr lang="en-US" sz="1000" b="1" dirty="0">
                <a:solidFill>
                  <a:srgbClr val="0F172A"/>
                </a:solidFill>
              </a:rPr>
              <a:t>Overall effectiveness score is 92.28</a:t>
            </a:r>
            <a:endParaRPr lang="en-US" sz="1000" dirty="0"/>
          </a:p>
        </p:txBody>
      </p:sp>
      <p:sp>
        <p:nvSpPr>
          <p:cNvPr id="43" name="Shape 40"/>
          <p:cNvSpPr/>
          <p:nvPr/>
        </p:nvSpPr>
        <p:spPr>
          <a:xfrm>
            <a:off x="8083296" y="5285232"/>
            <a:ext cx="3429000" cy="868680"/>
          </a:xfrm>
          <a:prstGeom prst="roundRect">
            <a:avLst>
              <a:gd name="adj" fmla="val 8421"/>
            </a:avLst>
          </a:prstGeom>
          <a:solidFill>
            <a:srgbClr val="D1FAE5"/>
          </a:solidFill>
          <a:ln w="12700">
            <a:solidFill>
              <a:srgbClr val="D1FAE5"/>
            </a:solidFill>
            <a:prstDash val="solid"/>
          </a:ln>
        </p:spPr>
      </p:sp>
      <p:sp>
        <p:nvSpPr>
          <p:cNvPr id="44" name="Text 41"/>
          <p:cNvSpPr/>
          <p:nvPr/>
        </p:nvSpPr>
        <p:spPr>
          <a:xfrm>
            <a:off x="8247888" y="5449824"/>
            <a:ext cx="3063240" cy="411480"/>
          </a:xfrm>
          <a:prstGeom prst="rect">
            <a:avLst/>
          </a:prstGeom>
          <a:noFill/>
          <a:ln/>
        </p:spPr>
        <p:txBody>
          <a:bodyPr wrap="square" rtlCol="0" anchor="ctr">
            <a:normAutofit/>
          </a:bodyPr>
          <a:lstStyle/>
          <a:p>
            <a:pPr indent="0" marL="0">
              <a:buNone/>
            </a:pPr>
            <a:r>
              <a:rPr lang="en-US" sz="1000" b="1" dirty="0">
                <a:solidFill>
                  <a:srgbClr val="0F172A"/>
                </a:solidFill>
              </a:rPr>
              <a:t>DevOps Fundamentals: CI/CD, K8s, Monitoring has an effectiveness score of 92.28 in the selected scope.</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Key findings and implications</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Course DevOps_02_2026 | Type full</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Passed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7" name="Shape 5"/>
          <p:cNvSpPr/>
          <p:nvPr/>
        </p:nvSpPr>
        <p:spPr>
          <a:xfrm>
            <a:off x="594360" y="1078992"/>
            <a:ext cx="5257800" cy="1783080"/>
          </a:xfrm>
          <a:prstGeom prst="roundRect">
            <a:avLst>
              <a:gd name="adj" fmla="val 4103"/>
            </a:avLst>
          </a:prstGeom>
          <a:solidFill>
            <a:srgbClr val="FFFFFF"/>
          </a:solidFill>
          <a:ln w="12700">
            <a:solidFill>
              <a:srgbClr val="CBD5E1"/>
            </a:solidFill>
            <a:prstDash val="solid"/>
          </a:ln>
        </p:spPr>
      </p:sp>
      <p:sp>
        <p:nvSpPr>
          <p:cNvPr id="8" name="Shape 6"/>
          <p:cNvSpPr/>
          <p:nvPr/>
        </p:nvSpPr>
        <p:spPr>
          <a:xfrm>
            <a:off x="777240" y="1261872"/>
            <a:ext cx="868680" cy="256032"/>
          </a:xfrm>
          <a:prstGeom prst="roundRect">
            <a:avLst>
              <a:gd name="adj" fmla="val 28571"/>
            </a:avLst>
          </a:prstGeom>
          <a:solidFill>
            <a:srgbClr val="D1FAE5"/>
          </a:solidFill>
          <a:ln w="12700">
            <a:solidFill>
              <a:srgbClr val="D1FAE5"/>
            </a:solidFill>
            <a:prstDash val="solid"/>
          </a:ln>
        </p:spPr>
      </p:sp>
      <p:sp>
        <p:nvSpPr>
          <p:cNvPr id="9" name="Text 7"/>
          <p:cNvSpPr/>
          <p:nvPr/>
        </p:nvSpPr>
        <p:spPr>
          <a:xfrm>
            <a:off x="813816" y="1261872"/>
            <a:ext cx="79552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Excellent</a:t>
            </a:r>
            <a:endParaRPr lang="en-US" sz="740" dirty="0"/>
          </a:p>
        </p:txBody>
      </p:sp>
      <p:sp>
        <p:nvSpPr>
          <p:cNvPr id="10" name="Text 8"/>
          <p:cNvSpPr/>
          <p:nvPr/>
        </p:nvSpPr>
        <p:spPr>
          <a:xfrm>
            <a:off x="795528" y="1609344"/>
            <a:ext cx="4800600" cy="310896"/>
          </a:xfrm>
          <a:prstGeom prst="rect">
            <a:avLst/>
          </a:prstGeom>
          <a:noFill/>
          <a:ln/>
        </p:spPr>
        <p:txBody>
          <a:bodyPr wrap="square" rtlCol="0" anchor="ctr">
            <a:normAutofit/>
          </a:bodyPr>
          <a:lstStyle/>
          <a:p>
            <a:pPr indent="0" marL="0">
              <a:buNone/>
            </a:pPr>
            <a:r>
              <a:rPr lang="en-US" sz="1300" b="1" dirty="0">
                <a:solidFill>
                  <a:srgbClr val="0F172A"/>
                </a:solidFill>
              </a:rPr>
              <a:t>Strong completion outcome at 100%</a:t>
            </a:r>
            <a:endParaRPr lang="en-US" sz="1300" dirty="0"/>
          </a:p>
        </p:txBody>
      </p:sp>
      <p:sp>
        <p:nvSpPr>
          <p:cNvPr id="11" name="Text 9"/>
          <p:cNvSpPr/>
          <p:nvPr/>
        </p:nvSpPr>
        <p:spPr>
          <a:xfrm>
            <a:off x="795528" y="1993392"/>
            <a:ext cx="4800600" cy="292608"/>
          </a:xfrm>
          <a:prstGeom prst="rect">
            <a:avLst/>
          </a:prstGeom>
          <a:noFill/>
          <a:ln/>
        </p:spPr>
        <p:txBody>
          <a:bodyPr wrap="square" rtlCol="0" anchor="ctr">
            <a:normAutofit/>
          </a:bodyPr>
          <a:lstStyle/>
          <a:p>
            <a:pPr indent="0" marL="0">
              <a:buNone/>
            </a:pPr>
            <a:r>
              <a:rPr lang="en-US" sz="850" dirty="0">
                <a:solidFill>
                  <a:srgbClr val="64748B"/>
                </a:solidFill>
              </a:rPr>
              <a:t>Evidence: Completion is calculated as attendance &gt;= 70%; pass rate is tracked separately at 100%.</a:t>
            </a:r>
            <a:endParaRPr lang="en-US" sz="850" dirty="0"/>
          </a:p>
        </p:txBody>
      </p:sp>
      <p:sp>
        <p:nvSpPr>
          <p:cNvPr id="12" name="Text 10"/>
          <p:cNvSpPr/>
          <p:nvPr/>
        </p:nvSpPr>
        <p:spPr>
          <a:xfrm>
            <a:off x="795528" y="2377440"/>
            <a:ext cx="4800600" cy="292608"/>
          </a:xfrm>
          <a:prstGeom prst="rect">
            <a:avLst/>
          </a:prstGeom>
          <a:noFill/>
          <a:ln/>
        </p:spPr>
        <p:txBody>
          <a:bodyPr wrap="square" rtlCol="0" anchor="ctr">
            <a:normAutofit/>
          </a:bodyPr>
          <a:lstStyle/>
          <a:p>
            <a:pPr indent="0" marL="0">
              <a:buNone/>
            </a:pPr>
            <a:r>
              <a:rPr lang="en-US" sz="850" dirty="0">
                <a:solidFill>
                  <a:srgbClr val="64748B"/>
                </a:solidFill>
              </a:rPr>
              <a:t>Implication: Learners are completing the required session exposure, and assessment achievement is also healthy.</a:t>
            </a:r>
            <a:endParaRPr lang="en-US" sz="850" dirty="0"/>
          </a:p>
        </p:txBody>
      </p:sp>
      <p:sp>
        <p:nvSpPr>
          <p:cNvPr id="13" name="Shape 11"/>
          <p:cNvSpPr/>
          <p:nvPr/>
        </p:nvSpPr>
        <p:spPr>
          <a:xfrm>
            <a:off x="6217920" y="1078992"/>
            <a:ext cx="5257800" cy="1783080"/>
          </a:xfrm>
          <a:prstGeom prst="roundRect">
            <a:avLst>
              <a:gd name="adj" fmla="val 4103"/>
            </a:avLst>
          </a:prstGeom>
          <a:solidFill>
            <a:srgbClr val="FFFFFF"/>
          </a:solidFill>
          <a:ln w="12700">
            <a:solidFill>
              <a:srgbClr val="CBD5E1"/>
            </a:solidFill>
            <a:prstDash val="solid"/>
          </a:ln>
        </p:spPr>
      </p:sp>
      <p:sp>
        <p:nvSpPr>
          <p:cNvPr id="14" name="Shape 12"/>
          <p:cNvSpPr/>
          <p:nvPr/>
        </p:nvSpPr>
        <p:spPr>
          <a:xfrm>
            <a:off x="6400800" y="1261872"/>
            <a:ext cx="868680" cy="256032"/>
          </a:xfrm>
          <a:prstGeom prst="roundRect">
            <a:avLst>
              <a:gd name="adj" fmla="val 28571"/>
            </a:avLst>
          </a:prstGeom>
          <a:solidFill>
            <a:srgbClr val="D1FAE5"/>
          </a:solidFill>
          <a:ln w="12700">
            <a:solidFill>
              <a:srgbClr val="D1FAE5"/>
            </a:solidFill>
            <a:prstDash val="solid"/>
          </a:ln>
        </p:spPr>
      </p:sp>
      <p:sp>
        <p:nvSpPr>
          <p:cNvPr id="15" name="Text 13"/>
          <p:cNvSpPr/>
          <p:nvPr/>
        </p:nvSpPr>
        <p:spPr>
          <a:xfrm>
            <a:off x="6437376" y="1261872"/>
            <a:ext cx="79552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Good</a:t>
            </a:r>
            <a:endParaRPr lang="en-US" sz="740" dirty="0"/>
          </a:p>
        </p:txBody>
      </p:sp>
      <p:sp>
        <p:nvSpPr>
          <p:cNvPr id="16" name="Text 14"/>
          <p:cNvSpPr/>
          <p:nvPr/>
        </p:nvSpPr>
        <p:spPr>
          <a:xfrm>
            <a:off x="6419088" y="1609344"/>
            <a:ext cx="4800600" cy="310896"/>
          </a:xfrm>
          <a:prstGeom prst="rect">
            <a:avLst/>
          </a:prstGeom>
          <a:noFill/>
          <a:ln/>
        </p:spPr>
        <p:txBody>
          <a:bodyPr wrap="square" rtlCol="0" anchor="ctr">
            <a:normAutofit/>
          </a:bodyPr>
          <a:lstStyle/>
          <a:p>
            <a:pPr indent="0" marL="0">
              <a:buNone/>
            </a:pPr>
            <a:r>
              <a:rPr lang="en-US" sz="1300" b="1" dirty="0">
                <a:solidFill>
                  <a:srgbClr val="0F172A"/>
                </a:solidFill>
              </a:rPr>
              <a:t>Overall effectiveness score is 92.28</a:t>
            </a:r>
            <a:endParaRPr lang="en-US" sz="1300" dirty="0"/>
          </a:p>
        </p:txBody>
      </p:sp>
      <p:sp>
        <p:nvSpPr>
          <p:cNvPr id="17" name="Text 15"/>
          <p:cNvSpPr/>
          <p:nvPr/>
        </p:nvSpPr>
        <p:spPr>
          <a:xfrm>
            <a:off x="6419088" y="1993392"/>
            <a:ext cx="4800600" cy="292608"/>
          </a:xfrm>
          <a:prstGeom prst="rect">
            <a:avLst/>
          </a:prstGeom>
          <a:noFill/>
          <a:ln/>
        </p:spPr>
        <p:txBody>
          <a:bodyPr wrap="square" rtlCol="0" anchor="ctr">
            <a:normAutofit/>
          </a:bodyPr>
          <a:lstStyle/>
          <a:p>
            <a:pPr indent="0" marL="0">
              <a:buNone/>
            </a:pPr>
            <a:r>
              <a:rPr lang="en-US" sz="850" dirty="0">
                <a:solidFill>
                  <a:srgbClr val="64748B"/>
                </a:solidFill>
              </a:rPr>
              <a:t>Evidence: Attendance 96%, pass rate 100%, average score 7.89/10.</a:t>
            </a:r>
            <a:endParaRPr lang="en-US" sz="850" dirty="0"/>
          </a:p>
        </p:txBody>
      </p:sp>
      <p:sp>
        <p:nvSpPr>
          <p:cNvPr id="18" name="Text 16"/>
          <p:cNvSpPr/>
          <p:nvPr/>
        </p:nvSpPr>
        <p:spPr>
          <a:xfrm>
            <a:off x="6419088" y="2377440"/>
            <a:ext cx="4800600" cy="292608"/>
          </a:xfrm>
          <a:prstGeom prst="rect">
            <a:avLst/>
          </a:prstGeom>
          <a:noFill/>
          <a:ln/>
        </p:spPr>
        <p:txBody>
          <a:bodyPr wrap="square" rtlCol="0" anchor="ctr">
            <a:normAutofit/>
          </a:bodyPr>
          <a:lstStyle/>
          <a:p>
            <a:pPr indent="0" marL="0">
              <a:buNone/>
            </a:pPr>
            <a:r>
              <a:rPr lang="en-US" sz="850" dirty="0">
                <a:solidFill>
                  <a:srgbClr val="64748B"/>
                </a:solidFill>
              </a:rPr>
              <a:t>Implication: The selected scope is classified as Effective.</a:t>
            </a:r>
            <a:endParaRPr lang="en-US" sz="850" dirty="0"/>
          </a:p>
        </p:txBody>
      </p:sp>
      <p:sp>
        <p:nvSpPr>
          <p:cNvPr id="19" name="Shape 17"/>
          <p:cNvSpPr/>
          <p:nvPr/>
        </p:nvSpPr>
        <p:spPr>
          <a:xfrm>
            <a:off x="594360" y="3227832"/>
            <a:ext cx="5257800" cy="1783080"/>
          </a:xfrm>
          <a:prstGeom prst="roundRect">
            <a:avLst>
              <a:gd name="adj" fmla="val 4103"/>
            </a:avLst>
          </a:prstGeom>
          <a:solidFill>
            <a:srgbClr val="FFFFFF"/>
          </a:solidFill>
          <a:ln w="12700">
            <a:solidFill>
              <a:srgbClr val="CBD5E1"/>
            </a:solidFill>
            <a:prstDash val="solid"/>
          </a:ln>
        </p:spPr>
      </p:sp>
      <p:sp>
        <p:nvSpPr>
          <p:cNvPr id="20" name="Shape 18"/>
          <p:cNvSpPr/>
          <p:nvPr/>
        </p:nvSpPr>
        <p:spPr>
          <a:xfrm>
            <a:off x="777240" y="3410712"/>
            <a:ext cx="868680" cy="256032"/>
          </a:xfrm>
          <a:prstGeom prst="roundRect">
            <a:avLst>
              <a:gd name="adj" fmla="val 28571"/>
            </a:avLst>
          </a:prstGeom>
          <a:solidFill>
            <a:srgbClr val="D1FAE5"/>
          </a:solidFill>
          <a:ln w="12700">
            <a:solidFill>
              <a:srgbClr val="D1FAE5"/>
            </a:solidFill>
            <a:prstDash val="solid"/>
          </a:ln>
        </p:spPr>
      </p:sp>
      <p:sp>
        <p:nvSpPr>
          <p:cNvPr id="21" name="Text 19"/>
          <p:cNvSpPr/>
          <p:nvPr/>
        </p:nvSpPr>
        <p:spPr>
          <a:xfrm>
            <a:off x="813816" y="3410712"/>
            <a:ext cx="79552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Good</a:t>
            </a:r>
            <a:endParaRPr lang="en-US" sz="740" dirty="0"/>
          </a:p>
        </p:txBody>
      </p:sp>
      <p:sp>
        <p:nvSpPr>
          <p:cNvPr id="22" name="Text 20"/>
          <p:cNvSpPr/>
          <p:nvPr/>
        </p:nvSpPr>
        <p:spPr>
          <a:xfrm>
            <a:off x="795528" y="3758184"/>
            <a:ext cx="4800600" cy="310896"/>
          </a:xfrm>
          <a:prstGeom prst="rect">
            <a:avLst/>
          </a:prstGeom>
          <a:noFill/>
          <a:ln/>
        </p:spPr>
        <p:txBody>
          <a:bodyPr wrap="square" rtlCol="0" anchor="ctr">
            <a:normAutofit/>
          </a:bodyPr>
          <a:lstStyle/>
          <a:p>
            <a:pPr indent="0" marL="0">
              <a:buNone/>
            </a:pPr>
            <a:r>
              <a:rPr lang="en-US" sz="1300" b="1" dirty="0">
                <a:solidFill>
                  <a:srgbClr val="0F172A"/>
                </a:solidFill>
              </a:rPr>
              <a:t>DevOps Fundamentals: CI/CD, K8s, Monitoring has an effectiveness score of 92.28 in the selected scope.</a:t>
            </a:r>
            <a:endParaRPr lang="en-US" sz="1300" dirty="0"/>
          </a:p>
        </p:txBody>
      </p:sp>
      <p:sp>
        <p:nvSpPr>
          <p:cNvPr id="23" name="Text 21"/>
          <p:cNvSpPr/>
          <p:nvPr/>
        </p:nvSpPr>
        <p:spPr>
          <a:xfrm>
            <a:off x="795528" y="4142232"/>
            <a:ext cx="4800600" cy="292608"/>
          </a:xfrm>
          <a:prstGeom prst="rect">
            <a:avLst/>
          </a:prstGeom>
          <a:noFill/>
          <a:ln/>
        </p:spPr>
        <p:txBody>
          <a:bodyPr wrap="square" rtlCol="0" anchor="ctr">
            <a:normAutofit/>
          </a:bodyPr>
          <a:lstStyle/>
          <a:p>
            <a:pPr indent="0" marL="0">
              <a:buNone/>
            </a:pPr>
            <a:r>
              <a:rPr lang="en-US" sz="850" dirty="0">
                <a:solidFill>
                  <a:srgbClr val="64748B"/>
                </a:solidFill>
              </a:rPr>
              <a:t>Evidence: Supported by validated metrics, evidence gate, and L&amp;D NORM checks.</a:t>
            </a:r>
            <a:endParaRPr lang="en-US" sz="850" dirty="0"/>
          </a:p>
        </p:txBody>
      </p:sp>
      <p:sp>
        <p:nvSpPr>
          <p:cNvPr id="24" name="Text 22"/>
          <p:cNvSpPr/>
          <p:nvPr/>
        </p:nvSpPr>
        <p:spPr>
          <a:xfrm>
            <a:off x="795528" y="4526280"/>
            <a:ext cx="4800600" cy="292608"/>
          </a:xfrm>
          <a:prstGeom prst="rect">
            <a:avLst/>
          </a:prstGeom>
          <a:noFill/>
          <a:ln/>
        </p:spPr>
        <p:txBody>
          <a:bodyPr wrap="square" rtlCol="0" anchor="ctr">
            <a:normAutofit/>
          </a:bodyPr>
          <a:lstStyle/>
          <a:p>
            <a:pPr indent="0" marL="0">
              <a:buNone/>
            </a:pPr>
            <a:r>
              <a:rPr lang="en-US" sz="850" dirty="0">
                <a:solidFill>
                  <a:srgbClr val="64748B"/>
                </a:solidFill>
              </a:rPr>
              <a:t>Implication: Use this signal to prioritize follow-up actions and stakeholder communication.</a:t>
            </a:r>
            <a:endParaRPr lang="en-US" sz="850" dirty="0"/>
          </a:p>
        </p:txBody>
      </p:sp>
      <p:sp>
        <p:nvSpPr>
          <p:cNvPr id="25" name="Shape 23"/>
          <p:cNvSpPr/>
          <p:nvPr/>
        </p:nvSpPr>
        <p:spPr>
          <a:xfrm>
            <a:off x="6217920" y="3227832"/>
            <a:ext cx="5257800" cy="1783080"/>
          </a:xfrm>
          <a:prstGeom prst="roundRect">
            <a:avLst>
              <a:gd name="adj" fmla="val 4103"/>
            </a:avLst>
          </a:prstGeom>
          <a:solidFill>
            <a:srgbClr val="FFFFFF"/>
          </a:solidFill>
          <a:ln w="12700">
            <a:solidFill>
              <a:srgbClr val="CBD5E1"/>
            </a:solidFill>
            <a:prstDash val="solid"/>
          </a:ln>
        </p:spPr>
      </p:sp>
      <p:sp>
        <p:nvSpPr>
          <p:cNvPr id="26" name="Shape 24"/>
          <p:cNvSpPr/>
          <p:nvPr/>
        </p:nvSpPr>
        <p:spPr>
          <a:xfrm>
            <a:off x="6400800" y="3410712"/>
            <a:ext cx="868680" cy="256032"/>
          </a:xfrm>
          <a:prstGeom prst="roundRect">
            <a:avLst>
              <a:gd name="adj" fmla="val 28571"/>
            </a:avLst>
          </a:prstGeom>
          <a:solidFill>
            <a:srgbClr val="D1FAE5"/>
          </a:solidFill>
          <a:ln w="12700">
            <a:solidFill>
              <a:srgbClr val="D1FAE5"/>
            </a:solidFill>
            <a:prstDash val="solid"/>
          </a:ln>
        </p:spPr>
      </p:sp>
      <p:sp>
        <p:nvSpPr>
          <p:cNvPr id="27" name="Text 25"/>
          <p:cNvSpPr/>
          <p:nvPr/>
        </p:nvSpPr>
        <p:spPr>
          <a:xfrm>
            <a:off x="6437376" y="3410712"/>
            <a:ext cx="79552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Good</a:t>
            </a:r>
            <a:endParaRPr lang="en-US" sz="740" dirty="0"/>
          </a:p>
        </p:txBody>
      </p:sp>
      <p:sp>
        <p:nvSpPr>
          <p:cNvPr id="28" name="Text 26"/>
          <p:cNvSpPr/>
          <p:nvPr/>
        </p:nvSpPr>
        <p:spPr>
          <a:xfrm>
            <a:off x="6419088" y="3758184"/>
            <a:ext cx="4800600" cy="310896"/>
          </a:xfrm>
          <a:prstGeom prst="rect">
            <a:avLst/>
          </a:prstGeom>
          <a:noFill/>
          <a:ln/>
        </p:spPr>
        <p:txBody>
          <a:bodyPr wrap="square" rtlCol="0" anchor="ctr">
            <a:normAutofit/>
          </a:bodyPr>
          <a:lstStyle/>
          <a:p>
            <a:pPr indent="0" marL="0">
              <a:buNone/>
            </a:pPr>
            <a:r>
              <a:rPr lang="en-US" sz="1300" b="1" dirty="0">
                <a:solidFill>
                  <a:srgbClr val="0F172A"/>
                </a:solidFill>
              </a:rPr>
              <a:t>The course successfully engaged all 10 trainees, achieving full completion and pass rates.</a:t>
            </a:r>
            <a:endParaRPr lang="en-US" sz="1300" dirty="0"/>
          </a:p>
        </p:txBody>
      </p:sp>
      <p:sp>
        <p:nvSpPr>
          <p:cNvPr id="29" name="Text 27"/>
          <p:cNvSpPr/>
          <p:nvPr/>
        </p:nvSpPr>
        <p:spPr>
          <a:xfrm>
            <a:off x="6419088" y="4142232"/>
            <a:ext cx="4800600" cy="292608"/>
          </a:xfrm>
          <a:prstGeom prst="rect">
            <a:avLst/>
          </a:prstGeom>
          <a:noFill/>
          <a:ln/>
        </p:spPr>
        <p:txBody>
          <a:bodyPr wrap="square" rtlCol="0" anchor="ctr">
            <a:normAutofit/>
          </a:bodyPr>
          <a:lstStyle/>
          <a:p>
            <a:pPr indent="0" marL="0">
              <a:buNone/>
            </a:pPr>
            <a:r>
              <a:rPr lang="en-US" sz="850" dirty="0">
                <a:solidFill>
                  <a:srgbClr val="64748B"/>
                </a:solidFill>
              </a:rPr>
              <a:t>Evidence: Supported by validated metrics, evidence gate, and L&amp;D NORM checks.</a:t>
            </a:r>
            <a:endParaRPr lang="en-US" sz="850" dirty="0"/>
          </a:p>
        </p:txBody>
      </p:sp>
      <p:sp>
        <p:nvSpPr>
          <p:cNvPr id="30" name="Text 28"/>
          <p:cNvSpPr/>
          <p:nvPr/>
        </p:nvSpPr>
        <p:spPr>
          <a:xfrm>
            <a:off x="6419088" y="4526280"/>
            <a:ext cx="4800600" cy="292608"/>
          </a:xfrm>
          <a:prstGeom prst="rect">
            <a:avLst/>
          </a:prstGeom>
          <a:noFill/>
          <a:ln/>
        </p:spPr>
        <p:txBody>
          <a:bodyPr wrap="square" rtlCol="0" anchor="ctr">
            <a:normAutofit/>
          </a:bodyPr>
          <a:lstStyle/>
          <a:p>
            <a:pPr indent="0" marL="0">
              <a:buNone/>
            </a:pPr>
            <a:r>
              <a:rPr lang="en-US" sz="850" dirty="0">
                <a:solidFill>
                  <a:srgbClr val="64748B"/>
                </a:solidFill>
              </a:rPr>
              <a:t>Implication: Use this signal to prioritize follow-up actions and stakeholder communication.</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Evidence traceability</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Course DevOps_02_2026 | Type full</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Passed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7" name="Text 5"/>
          <p:cNvSpPr/>
          <p:nvPr/>
        </p:nvSpPr>
        <p:spPr>
          <a:xfrm>
            <a:off x="594360" y="1042416"/>
            <a:ext cx="6858000" cy="310896"/>
          </a:xfrm>
          <a:prstGeom prst="rect">
            <a:avLst/>
          </a:prstGeom>
          <a:noFill/>
          <a:ln/>
        </p:spPr>
        <p:txBody>
          <a:bodyPr wrap="square" rtlCol="0" anchor="ctr"/>
          <a:lstStyle/>
          <a:p>
            <a:pPr indent="0" marL="0">
              <a:buNone/>
            </a:pPr>
            <a:r>
              <a:rPr lang="en-US" sz="1500" b="1" dirty="0">
                <a:solidFill>
                  <a:srgbClr val="0F172A"/>
                </a:solidFill>
              </a:rPr>
              <a:t>Every narrative claim is backed by validated artifacts before export.</a:t>
            </a:r>
            <a:endParaRPr lang="en-US" sz="1500" dirty="0"/>
          </a:p>
        </p:txBody>
      </p:sp>
      <p:sp>
        <p:nvSpPr>
          <p:cNvPr id="8" name="Shape 6"/>
          <p:cNvSpPr/>
          <p:nvPr/>
        </p:nvSpPr>
        <p:spPr>
          <a:xfrm>
            <a:off x="594360" y="1691640"/>
            <a:ext cx="5166360" cy="868680"/>
          </a:xfrm>
          <a:prstGeom prst="roundRect">
            <a:avLst>
              <a:gd name="adj" fmla="val 8421"/>
            </a:avLst>
          </a:prstGeom>
          <a:solidFill>
            <a:srgbClr val="FFFFFF"/>
          </a:solidFill>
          <a:ln w="12700">
            <a:solidFill>
              <a:srgbClr val="CBD5E1"/>
            </a:solidFill>
            <a:prstDash val="solid"/>
          </a:ln>
        </p:spPr>
      </p:sp>
      <p:sp>
        <p:nvSpPr>
          <p:cNvPr id="9" name="Shape 7"/>
          <p:cNvSpPr/>
          <p:nvPr/>
        </p:nvSpPr>
        <p:spPr>
          <a:xfrm>
            <a:off x="758952" y="1856232"/>
            <a:ext cx="841248" cy="256032"/>
          </a:xfrm>
          <a:prstGeom prst="roundRect">
            <a:avLst>
              <a:gd name="adj" fmla="val 28571"/>
            </a:avLst>
          </a:prstGeom>
          <a:solidFill>
            <a:srgbClr val="D1FAE5"/>
          </a:solidFill>
          <a:ln w="12700">
            <a:solidFill>
              <a:srgbClr val="D1FAE5"/>
            </a:solidFill>
            <a:prstDash val="solid"/>
          </a:ln>
        </p:spPr>
      </p:sp>
      <p:sp>
        <p:nvSpPr>
          <p:cNvPr id="10" name="Text 8"/>
          <p:cNvSpPr/>
          <p:nvPr/>
        </p:nvSpPr>
        <p:spPr>
          <a:xfrm>
            <a:off x="795528" y="1856232"/>
            <a:ext cx="768096"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Ready</a:t>
            </a:r>
            <a:endParaRPr lang="en-US" sz="740" dirty="0"/>
          </a:p>
        </p:txBody>
      </p:sp>
      <p:sp>
        <p:nvSpPr>
          <p:cNvPr id="11" name="Text 9"/>
          <p:cNvSpPr/>
          <p:nvPr/>
        </p:nvSpPr>
        <p:spPr>
          <a:xfrm>
            <a:off x="1737360" y="1837944"/>
            <a:ext cx="3611880" cy="182880"/>
          </a:xfrm>
          <a:prstGeom prst="rect">
            <a:avLst/>
          </a:prstGeom>
          <a:noFill/>
          <a:ln/>
        </p:spPr>
        <p:txBody>
          <a:bodyPr wrap="square" rtlCol="0" anchor="ctr">
            <a:normAutofit/>
          </a:bodyPr>
          <a:lstStyle/>
          <a:p>
            <a:pPr indent="0" marL="0">
              <a:buNone/>
            </a:pPr>
            <a:r>
              <a:rPr lang="en-US" sz="1000" b="1" dirty="0">
                <a:solidFill>
                  <a:srgbClr val="0F172A"/>
                </a:solidFill>
              </a:rPr>
              <a:t>Source availability and required columns</a:t>
            </a:r>
            <a:endParaRPr lang="en-US" sz="1000" dirty="0"/>
          </a:p>
        </p:txBody>
      </p:sp>
      <p:sp>
        <p:nvSpPr>
          <p:cNvPr id="12" name="Text 10"/>
          <p:cNvSpPr/>
          <p:nvPr/>
        </p:nvSpPr>
        <p:spPr>
          <a:xfrm>
            <a:off x="1737360" y="2148840"/>
            <a:ext cx="3611880" cy="201168"/>
          </a:xfrm>
          <a:prstGeom prst="rect">
            <a:avLst/>
          </a:prstGeom>
          <a:noFill/>
          <a:ln/>
        </p:spPr>
        <p:txBody>
          <a:bodyPr wrap="square" rtlCol="0" anchor="ctr">
            <a:normAutofit/>
          </a:bodyPr>
          <a:lstStyle/>
          <a:p>
            <a:pPr indent="0" marL="0">
              <a:buNone/>
            </a:pPr>
            <a:r>
              <a:rPr lang="en-US" sz="850" dirty="0">
                <a:solidFill>
                  <a:srgbClr val="64748B"/>
                </a:solidFill>
              </a:rPr>
              <a:t>Required sheets and columns were mapped from Teams, OneDrive, Forms, KPI, Rules and Template sources.</a:t>
            </a:r>
            <a:endParaRPr lang="en-US" sz="850" dirty="0"/>
          </a:p>
        </p:txBody>
      </p:sp>
      <p:sp>
        <p:nvSpPr>
          <p:cNvPr id="13" name="Shape 11"/>
          <p:cNvSpPr/>
          <p:nvPr/>
        </p:nvSpPr>
        <p:spPr>
          <a:xfrm>
            <a:off x="6172200" y="1691640"/>
            <a:ext cx="5166360" cy="868680"/>
          </a:xfrm>
          <a:prstGeom prst="roundRect">
            <a:avLst>
              <a:gd name="adj" fmla="val 8421"/>
            </a:avLst>
          </a:prstGeom>
          <a:solidFill>
            <a:srgbClr val="FFFFFF"/>
          </a:solidFill>
          <a:ln w="12700">
            <a:solidFill>
              <a:srgbClr val="CBD5E1"/>
            </a:solidFill>
            <a:prstDash val="solid"/>
          </a:ln>
        </p:spPr>
      </p:sp>
      <p:sp>
        <p:nvSpPr>
          <p:cNvPr id="14" name="Shape 12"/>
          <p:cNvSpPr/>
          <p:nvPr/>
        </p:nvSpPr>
        <p:spPr>
          <a:xfrm>
            <a:off x="6336792" y="1856232"/>
            <a:ext cx="841248" cy="256032"/>
          </a:xfrm>
          <a:prstGeom prst="roundRect">
            <a:avLst>
              <a:gd name="adj" fmla="val 28571"/>
            </a:avLst>
          </a:prstGeom>
          <a:solidFill>
            <a:srgbClr val="D1FAE5"/>
          </a:solidFill>
          <a:ln w="12700">
            <a:solidFill>
              <a:srgbClr val="D1FAE5"/>
            </a:solidFill>
            <a:prstDash val="solid"/>
          </a:ln>
        </p:spPr>
      </p:sp>
      <p:sp>
        <p:nvSpPr>
          <p:cNvPr id="15" name="Text 13"/>
          <p:cNvSpPr/>
          <p:nvPr/>
        </p:nvSpPr>
        <p:spPr>
          <a:xfrm>
            <a:off x="6373368" y="1856232"/>
            <a:ext cx="768096"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Ready</a:t>
            </a:r>
            <a:endParaRPr lang="en-US" sz="740" dirty="0"/>
          </a:p>
        </p:txBody>
      </p:sp>
      <p:sp>
        <p:nvSpPr>
          <p:cNvPr id="16" name="Text 14"/>
          <p:cNvSpPr/>
          <p:nvPr/>
        </p:nvSpPr>
        <p:spPr>
          <a:xfrm>
            <a:off x="7315200" y="1837944"/>
            <a:ext cx="3611880" cy="182880"/>
          </a:xfrm>
          <a:prstGeom prst="rect">
            <a:avLst/>
          </a:prstGeom>
          <a:noFill/>
          <a:ln/>
        </p:spPr>
        <p:txBody>
          <a:bodyPr wrap="square" rtlCol="0" anchor="ctr">
            <a:normAutofit/>
          </a:bodyPr>
          <a:lstStyle/>
          <a:p>
            <a:pPr indent="0" marL="0">
              <a:buNone/>
            </a:pPr>
            <a:r>
              <a:rPr lang="en-US" sz="1000" b="1" dirty="0">
                <a:solidFill>
                  <a:srgbClr val="0F172A"/>
                </a:solidFill>
              </a:rPr>
              <a:t>Course status</a:t>
            </a:r>
            <a:endParaRPr lang="en-US" sz="1000" dirty="0"/>
          </a:p>
        </p:txBody>
      </p:sp>
      <p:sp>
        <p:nvSpPr>
          <p:cNvPr id="17" name="Text 15"/>
          <p:cNvSpPr/>
          <p:nvPr/>
        </p:nvSpPr>
        <p:spPr>
          <a:xfrm>
            <a:off x="7315200" y="2148840"/>
            <a:ext cx="3611880" cy="201168"/>
          </a:xfrm>
          <a:prstGeom prst="rect">
            <a:avLst/>
          </a:prstGeom>
          <a:noFill/>
          <a:ln/>
        </p:spPr>
        <p:txBody>
          <a:bodyPr wrap="square" rtlCol="0" anchor="ctr">
            <a:normAutofit/>
          </a:bodyPr>
          <a:lstStyle/>
          <a:p>
            <a:pPr indent="0" marL="0">
              <a:buNone/>
            </a:pPr>
            <a:r>
              <a:rPr lang="en-US" sz="850" dirty="0">
                <a:solidFill>
                  <a:srgbClr val="64748B"/>
                </a:solidFill>
              </a:rPr>
              <a:t>All selected courses are completed.</a:t>
            </a:r>
            <a:endParaRPr lang="en-US" sz="850" dirty="0"/>
          </a:p>
        </p:txBody>
      </p:sp>
      <p:sp>
        <p:nvSpPr>
          <p:cNvPr id="18" name="Shape 16"/>
          <p:cNvSpPr/>
          <p:nvPr/>
        </p:nvSpPr>
        <p:spPr>
          <a:xfrm>
            <a:off x="594360" y="2862072"/>
            <a:ext cx="5166360" cy="868680"/>
          </a:xfrm>
          <a:prstGeom prst="roundRect">
            <a:avLst>
              <a:gd name="adj" fmla="val 8421"/>
            </a:avLst>
          </a:prstGeom>
          <a:solidFill>
            <a:srgbClr val="FFFFFF"/>
          </a:solidFill>
          <a:ln w="12700">
            <a:solidFill>
              <a:srgbClr val="CBD5E1"/>
            </a:solidFill>
            <a:prstDash val="solid"/>
          </a:ln>
        </p:spPr>
      </p:sp>
      <p:sp>
        <p:nvSpPr>
          <p:cNvPr id="19" name="Shape 17"/>
          <p:cNvSpPr/>
          <p:nvPr/>
        </p:nvSpPr>
        <p:spPr>
          <a:xfrm>
            <a:off x="758952" y="3026664"/>
            <a:ext cx="841248" cy="256032"/>
          </a:xfrm>
          <a:prstGeom prst="roundRect">
            <a:avLst>
              <a:gd name="adj" fmla="val 28571"/>
            </a:avLst>
          </a:prstGeom>
          <a:solidFill>
            <a:srgbClr val="D1FAE5"/>
          </a:solidFill>
          <a:ln w="12700">
            <a:solidFill>
              <a:srgbClr val="D1FAE5"/>
            </a:solidFill>
            <a:prstDash val="solid"/>
          </a:ln>
        </p:spPr>
      </p:sp>
      <p:sp>
        <p:nvSpPr>
          <p:cNvPr id="20" name="Text 18"/>
          <p:cNvSpPr/>
          <p:nvPr/>
        </p:nvSpPr>
        <p:spPr>
          <a:xfrm>
            <a:off x="795528" y="3026664"/>
            <a:ext cx="768096"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Ready</a:t>
            </a:r>
            <a:endParaRPr lang="en-US" sz="740" dirty="0"/>
          </a:p>
        </p:txBody>
      </p:sp>
      <p:sp>
        <p:nvSpPr>
          <p:cNvPr id="21" name="Text 19"/>
          <p:cNvSpPr/>
          <p:nvPr/>
        </p:nvSpPr>
        <p:spPr>
          <a:xfrm>
            <a:off x="1737360" y="3008376"/>
            <a:ext cx="3611880" cy="182880"/>
          </a:xfrm>
          <a:prstGeom prst="rect">
            <a:avLst/>
          </a:prstGeom>
          <a:noFill/>
          <a:ln/>
        </p:spPr>
        <p:txBody>
          <a:bodyPr wrap="square" rtlCol="0" anchor="ctr">
            <a:normAutofit/>
          </a:bodyPr>
          <a:lstStyle/>
          <a:p>
            <a:pPr indent="0" marL="0">
              <a:buNone/>
            </a:pPr>
            <a:r>
              <a:rPr lang="en-US" sz="1000" b="1" dirty="0">
                <a:solidFill>
                  <a:srgbClr val="0F172A"/>
                </a:solidFill>
              </a:rPr>
              <a:t>Attendance completeness</a:t>
            </a:r>
            <a:endParaRPr lang="en-US" sz="1000" dirty="0"/>
          </a:p>
        </p:txBody>
      </p:sp>
      <p:sp>
        <p:nvSpPr>
          <p:cNvPr id="22" name="Text 20"/>
          <p:cNvSpPr/>
          <p:nvPr/>
        </p:nvSpPr>
        <p:spPr>
          <a:xfrm>
            <a:off x="1737360" y="3319272"/>
            <a:ext cx="3611880" cy="201168"/>
          </a:xfrm>
          <a:prstGeom prst="rect">
            <a:avLst/>
          </a:prstGeom>
          <a:noFill/>
          <a:ln/>
        </p:spPr>
        <p:txBody>
          <a:bodyPr wrap="square" rtlCol="0" anchor="ctr">
            <a:normAutofit/>
          </a:bodyPr>
          <a:lstStyle/>
          <a:p>
            <a:pPr indent="0" marL="0">
              <a:buNone/>
            </a:pPr>
            <a:r>
              <a:rPr lang="en-US" sz="850" dirty="0">
                <a:solidFill>
                  <a:srgbClr val="64748B"/>
                </a:solidFill>
              </a:rPr>
              <a:t>Expected attendance rows are trainee count x total sessions. Late is retained for metrics as partial attendance.</a:t>
            </a:r>
            <a:endParaRPr lang="en-US" sz="850" dirty="0"/>
          </a:p>
        </p:txBody>
      </p:sp>
      <p:sp>
        <p:nvSpPr>
          <p:cNvPr id="23" name="Shape 21"/>
          <p:cNvSpPr/>
          <p:nvPr/>
        </p:nvSpPr>
        <p:spPr>
          <a:xfrm>
            <a:off x="6172200" y="2862072"/>
            <a:ext cx="5166360" cy="868680"/>
          </a:xfrm>
          <a:prstGeom prst="roundRect">
            <a:avLst>
              <a:gd name="adj" fmla="val 8421"/>
            </a:avLst>
          </a:prstGeom>
          <a:solidFill>
            <a:srgbClr val="FFFFFF"/>
          </a:solidFill>
          <a:ln w="12700">
            <a:solidFill>
              <a:srgbClr val="CBD5E1"/>
            </a:solidFill>
            <a:prstDash val="solid"/>
          </a:ln>
        </p:spPr>
      </p:sp>
      <p:sp>
        <p:nvSpPr>
          <p:cNvPr id="24" name="Shape 22"/>
          <p:cNvSpPr/>
          <p:nvPr/>
        </p:nvSpPr>
        <p:spPr>
          <a:xfrm>
            <a:off x="6336792" y="3026664"/>
            <a:ext cx="841248" cy="256032"/>
          </a:xfrm>
          <a:prstGeom prst="roundRect">
            <a:avLst>
              <a:gd name="adj" fmla="val 28571"/>
            </a:avLst>
          </a:prstGeom>
          <a:solidFill>
            <a:srgbClr val="D1FAE5"/>
          </a:solidFill>
          <a:ln w="12700">
            <a:solidFill>
              <a:srgbClr val="D1FAE5"/>
            </a:solidFill>
            <a:prstDash val="solid"/>
          </a:ln>
        </p:spPr>
      </p:sp>
      <p:sp>
        <p:nvSpPr>
          <p:cNvPr id="25" name="Text 23"/>
          <p:cNvSpPr/>
          <p:nvPr/>
        </p:nvSpPr>
        <p:spPr>
          <a:xfrm>
            <a:off x="6373368" y="3026664"/>
            <a:ext cx="768096"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Ready</a:t>
            </a:r>
            <a:endParaRPr lang="en-US" sz="740" dirty="0"/>
          </a:p>
        </p:txBody>
      </p:sp>
      <p:sp>
        <p:nvSpPr>
          <p:cNvPr id="26" name="Text 24"/>
          <p:cNvSpPr/>
          <p:nvPr/>
        </p:nvSpPr>
        <p:spPr>
          <a:xfrm>
            <a:off x="7315200" y="3008376"/>
            <a:ext cx="3611880" cy="182880"/>
          </a:xfrm>
          <a:prstGeom prst="rect">
            <a:avLst/>
          </a:prstGeom>
          <a:noFill/>
          <a:ln/>
        </p:spPr>
        <p:txBody>
          <a:bodyPr wrap="square" rtlCol="0" anchor="ctr">
            <a:normAutofit/>
          </a:bodyPr>
          <a:lstStyle/>
          <a:p>
            <a:pPr indent="0" marL="0">
              <a:buNone/>
            </a:pPr>
            <a:r>
              <a:rPr lang="en-US" sz="1000" b="1" dirty="0">
                <a:solidFill>
                  <a:srgbClr val="0F172A"/>
                </a:solidFill>
              </a:rPr>
              <a:t>Assessment completeness</a:t>
            </a:r>
            <a:endParaRPr lang="en-US" sz="1000" dirty="0"/>
          </a:p>
        </p:txBody>
      </p:sp>
      <p:sp>
        <p:nvSpPr>
          <p:cNvPr id="27" name="Text 25"/>
          <p:cNvSpPr/>
          <p:nvPr/>
        </p:nvSpPr>
        <p:spPr>
          <a:xfrm>
            <a:off x="7315200" y="3319272"/>
            <a:ext cx="3611880" cy="201168"/>
          </a:xfrm>
          <a:prstGeom prst="rect">
            <a:avLst/>
          </a:prstGeom>
          <a:noFill/>
          <a:ln/>
        </p:spPr>
        <p:txBody>
          <a:bodyPr wrap="square" rtlCol="0" anchor="ctr">
            <a:normAutofit/>
          </a:bodyPr>
          <a:lstStyle/>
          <a:p>
            <a:pPr indent="0" marL="0">
              <a:buNone/>
            </a:pPr>
            <a:r>
              <a:rPr lang="en-US" sz="850" dirty="0">
                <a:solidFill>
                  <a:srgbClr val="64748B"/>
                </a:solidFill>
              </a:rPr>
              <a:t>Completed courses require one valid assessment and pass-status row per trainee.</a:t>
            </a:r>
            <a:endParaRPr lang="en-US" sz="850" dirty="0"/>
          </a:p>
        </p:txBody>
      </p:sp>
      <p:sp>
        <p:nvSpPr>
          <p:cNvPr id="28" name="Shape 26"/>
          <p:cNvSpPr/>
          <p:nvPr/>
        </p:nvSpPr>
        <p:spPr>
          <a:xfrm>
            <a:off x="594360" y="4032504"/>
            <a:ext cx="5166360" cy="868680"/>
          </a:xfrm>
          <a:prstGeom prst="roundRect">
            <a:avLst>
              <a:gd name="adj" fmla="val 8421"/>
            </a:avLst>
          </a:prstGeom>
          <a:solidFill>
            <a:srgbClr val="FFFFFF"/>
          </a:solidFill>
          <a:ln w="12700">
            <a:solidFill>
              <a:srgbClr val="CBD5E1"/>
            </a:solidFill>
            <a:prstDash val="solid"/>
          </a:ln>
        </p:spPr>
      </p:sp>
      <p:sp>
        <p:nvSpPr>
          <p:cNvPr id="29" name="Shape 27"/>
          <p:cNvSpPr/>
          <p:nvPr/>
        </p:nvSpPr>
        <p:spPr>
          <a:xfrm>
            <a:off x="758952" y="4197096"/>
            <a:ext cx="841248" cy="256032"/>
          </a:xfrm>
          <a:prstGeom prst="roundRect">
            <a:avLst>
              <a:gd name="adj" fmla="val 28571"/>
            </a:avLst>
          </a:prstGeom>
          <a:solidFill>
            <a:srgbClr val="D1FAE5"/>
          </a:solidFill>
          <a:ln w="12700">
            <a:solidFill>
              <a:srgbClr val="D1FAE5"/>
            </a:solidFill>
            <a:prstDash val="solid"/>
          </a:ln>
        </p:spPr>
      </p:sp>
      <p:sp>
        <p:nvSpPr>
          <p:cNvPr id="30" name="Text 28"/>
          <p:cNvSpPr/>
          <p:nvPr/>
        </p:nvSpPr>
        <p:spPr>
          <a:xfrm>
            <a:off x="795528" y="4197096"/>
            <a:ext cx="768096"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Ready</a:t>
            </a:r>
            <a:endParaRPr lang="en-US" sz="740" dirty="0"/>
          </a:p>
        </p:txBody>
      </p:sp>
      <p:sp>
        <p:nvSpPr>
          <p:cNvPr id="31" name="Text 29"/>
          <p:cNvSpPr/>
          <p:nvPr/>
        </p:nvSpPr>
        <p:spPr>
          <a:xfrm>
            <a:off x="1737360" y="4178808"/>
            <a:ext cx="3611880" cy="182880"/>
          </a:xfrm>
          <a:prstGeom prst="rect">
            <a:avLst/>
          </a:prstGeom>
          <a:noFill/>
          <a:ln/>
        </p:spPr>
        <p:txBody>
          <a:bodyPr wrap="square" rtlCol="0" anchor="ctr">
            <a:normAutofit/>
          </a:bodyPr>
          <a:lstStyle/>
          <a:p>
            <a:pPr indent="0" marL="0">
              <a:buNone/>
            </a:pPr>
            <a:r>
              <a:rPr lang="en-US" sz="1000" b="1" dirty="0">
                <a:solidFill>
                  <a:srgbClr val="0F172A"/>
                </a:solidFill>
              </a:rPr>
              <a:t>Feedback completeness</a:t>
            </a:r>
            <a:endParaRPr lang="en-US" sz="1000" dirty="0"/>
          </a:p>
        </p:txBody>
      </p:sp>
      <p:sp>
        <p:nvSpPr>
          <p:cNvPr id="32" name="Text 30"/>
          <p:cNvSpPr/>
          <p:nvPr/>
        </p:nvSpPr>
        <p:spPr>
          <a:xfrm>
            <a:off x="1737360" y="4489704"/>
            <a:ext cx="3611880" cy="201168"/>
          </a:xfrm>
          <a:prstGeom prst="rect">
            <a:avLst/>
          </a:prstGeom>
          <a:noFill/>
          <a:ln/>
        </p:spPr>
        <p:txBody>
          <a:bodyPr wrap="square" rtlCol="0" anchor="ctr">
            <a:normAutofit/>
          </a:bodyPr>
          <a:lstStyle/>
          <a:p>
            <a:pPr indent="0" marL="0">
              <a:buNone/>
            </a:pPr>
            <a:r>
              <a:rPr lang="en-US" sz="850" dirty="0">
                <a:solidFill>
                  <a:srgbClr val="64748B"/>
                </a:solidFill>
              </a:rPr>
              <a:t>NORM-14 requires at least 60% feedback response rate for valid analysis.</a:t>
            </a:r>
            <a:endParaRPr lang="en-US" sz="850" dirty="0"/>
          </a:p>
        </p:txBody>
      </p:sp>
      <p:sp>
        <p:nvSpPr>
          <p:cNvPr id="33" name="Shape 31"/>
          <p:cNvSpPr/>
          <p:nvPr/>
        </p:nvSpPr>
        <p:spPr>
          <a:xfrm>
            <a:off x="6172200" y="4032504"/>
            <a:ext cx="5166360" cy="868680"/>
          </a:xfrm>
          <a:prstGeom prst="roundRect">
            <a:avLst>
              <a:gd name="adj" fmla="val 8421"/>
            </a:avLst>
          </a:prstGeom>
          <a:solidFill>
            <a:srgbClr val="FFFFFF"/>
          </a:solidFill>
          <a:ln w="12700">
            <a:solidFill>
              <a:srgbClr val="CBD5E1"/>
            </a:solidFill>
            <a:prstDash val="solid"/>
          </a:ln>
        </p:spPr>
      </p:sp>
      <p:sp>
        <p:nvSpPr>
          <p:cNvPr id="34" name="Shape 32"/>
          <p:cNvSpPr/>
          <p:nvPr/>
        </p:nvSpPr>
        <p:spPr>
          <a:xfrm>
            <a:off x="6336792" y="4197096"/>
            <a:ext cx="841248" cy="256032"/>
          </a:xfrm>
          <a:prstGeom prst="roundRect">
            <a:avLst>
              <a:gd name="adj" fmla="val 28571"/>
            </a:avLst>
          </a:prstGeom>
          <a:solidFill>
            <a:srgbClr val="D1FAE5"/>
          </a:solidFill>
          <a:ln w="12700">
            <a:solidFill>
              <a:srgbClr val="D1FAE5"/>
            </a:solidFill>
            <a:prstDash val="solid"/>
          </a:ln>
        </p:spPr>
      </p:sp>
      <p:sp>
        <p:nvSpPr>
          <p:cNvPr id="35" name="Text 33"/>
          <p:cNvSpPr/>
          <p:nvPr/>
        </p:nvSpPr>
        <p:spPr>
          <a:xfrm>
            <a:off x="6373368" y="4197096"/>
            <a:ext cx="768096"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Ready</a:t>
            </a:r>
            <a:endParaRPr lang="en-US" sz="740" dirty="0"/>
          </a:p>
        </p:txBody>
      </p:sp>
      <p:sp>
        <p:nvSpPr>
          <p:cNvPr id="36" name="Text 34"/>
          <p:cNvSpPr/>
          <p:nvPr/>
        </p:nvSpPr>
        <p:spPr>
          <a:xfrm>
            <a:off x="7315200" y="4178808"/>
            <a:ext cx="3611880" cy="182880"/>
          </a:xfrm>
          <a:prstGeom prst="rect">
            <a:avLst/>
          </a:prstGeom>
          <a:noFill/>
          <a:ln/>
        </p:spPr>
        <p:txBody>
          <a:bodyPr wrap="square" rtlCol="0" anchor="ctr">
            <a:normAutofit/>
          </a:bodyPr>
          <a:lstStyle/>
          <a:p>
            <a:pPr indent="0" marL="0">
              <a:buNone/>
            </a:pPr>
            <a:r>
              <a:rPr lang="en-US" sz="1000" b="1" dirty="0">
                <a:solidFill>
                  <a:srgbClr val="0F172A"/>
                </a:solidFill>
              </a:rPr>
              <a:t>Row-level data quality</a:t>
            </a:r>
            <a:endParaRPr lang="en-US" sz="1000" dirty="0"/>
          </a:p>
        </p:txBody>
      </p:sp>
      <p:sp>
        <p:nvSpPr>
          <p:cNvPr id="37" name="Text 35"/>
          <p:cNvSpPr/>
          <p:nvPr/>
        </p:nvSpPr>
        <p:spPr>
          <a:xfrm>
            <a:off x="7315200" y="4489704"/>
            <a:ext cx="3611880" cy="201168"/>
          </a:xfrm>
          <a:prstGeom prst="rect">
            <a:avLst/>
          </a:prstGeom>
          <a:noFill/>
          <a:ln/>
        </p:spPr>
        <p:txBody>
          <a:bodyPr wrap="square" rtlCol="0" anchor="ctr">
            <a:normAutofit/>
          </a:bodyPr>
          <a:lstStyle/>
          <a:p>
            <a:pPr indent="0" marL="0">
              <a:buNone/>
            </a:pPr>
            <a:r>
              <a:rPr lang="en-US" sz="850" dirty="0">
                <a:solidFill>
                  <a:srgbClr val="64748B"/>
                </a:solidFill>
              </a:rPr>
              <a:t>Duplicate rows and numeric ranges were checked before metric generation.</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Governance and access</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Course DevOps_02_2026 | Type full</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Passed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7" name="Shape 5"/>
          <p:cNvSpPr/>
          <p:nvPr/>
        </p:nvSpPr>
        <p:spPr>
          <a:xfrm>
            <a:off x="594360" y="1051560"/>
            <a:ext cx="2514600" cy="1078992"/>
          </a:xfrm>
          <a:prstGeom prst="roundRect">
            <a:avLst>
              <a:gd name="adj" fmla="val 6780"/>
            </a:avLst>
          </a:prstGeom>
          <a:solidFill>
            <a:srgbClr val="FFFFFF"/>
          </a:solidFill>
          <a:ln w="12700">
            <a:solidFill>
              <a:srgbClr val="CBD5E1"/>
            </a:solidFill>
            <a:prstDash val="solid"/>
          </a:ln>
        </p:spPr>
      </p:sp>
      <p:sp>
        <p:nvSpPr>
          <p:cNvPr id="8" name="Text 6"/>
          <p:cNvSpPr/>
          <p:nvPr/>
        </p:nvSpPr>
        <p:spPr>
          <a:xfrm>
            <a:off x="740664" y="1179576"/>
            <a:ext cx="2148840" cy="146304"/>
          </a:xfrm>
          <a:prstGeom prst="rect">
            <a:avLst/>
          </a:prstGeom>
          <a:noFill/>
          <a:ln/>
        </p:spPr>
        <p:txBody>
          <a:bodyPr wrap="square" rtlCol="0" anchor="ctr"/>
          <a:lstStyle/>
          <a:p>
            <a:pPr indent="0" marL="0">
              <a:buNone/>
            </a:pPr>
            <a:r>
              <a:rPr lang="en-US" sz="800" b="1" dirty="0">
                <a:solidFill>
                  <a:srgbClr val="64748B"/>
                </a:solidFill>
              </a:rPr>
              <a:t>CLASSIFICATION</a:t>
            </a:r>
            <a:endParaRPr lang="en-US" sz="800" dirty="0"/>
          </a:p>
        </p:txBody>
      </p:sp>
      <p:sp>
        <p:nvSpPr>
          <p:cNvPr id="9" name="Text 7"/>
          <p:cNvSpPr/>
          <p:nvPr/>
        </p:nvSpPr>
        <p:spPr>
          <a:xfrm>
            <a:off x="740664" y="1490472"/>
            <a:ext cx="2148840" cy="310896"/>
          </a:xfrm>
          <a:prstGeom prst="rect">
            <a:avLst/>
          </a:prstGeom>
          <a:noFill/>
          <a:ln/>
        </p:spPr>
        <p:txBody>
          <a:bodyPr wrap="square" rtlCol="0" anchor="ctr">
            <a:normAutofit/>
          </a:bodyPr>
          <a:lstStyle/>
          <a:p>
            <a:pPr indent="0" marL="0">
              <a:buNone/>
            </a:pPr>
            <a:r>
              <a:rPr lang="en-US" sz="1500" b="1" dirty="0">
                <a:solidFill>
                  <a:srgbClr val="047857"/>
                </a:solidFill>
              </a:rPr>
              <a:t>Effective</a:t>
            </a:r>
            <a:endParaRPr lang="en-US" sz="1500" dirty="0"/>
          </a:p>
        </p:txBody>
      </p:sp>
      <p:sp>
        <p:nvSpPr>
          <p:cNvPr id="10" name="Shape 8"/>
          <p:cNvSpPr/>
          <p:nvPr/>
        </p:nvSpPr>
        <p:spPr>
          <a:xfrm>
            <a:off x="3383280" y="1051560"/>
            <a:ext cx="2514600" cy="1078992"/>
          </a:xfrm>
          <a:prstGeom prst="roundRect">
            <a:avLst>
              <a:gd name="adj" fmla="val 6780"/>
            </a:avLst>
          </a:prstGeom>
          <a:solidFill>
            <a:srgbClr val="FFFFFF"/>
          </a:solidFill>
          <a:ln w="12700">
            <a:solidFill>
              <a:srgbClr val="CBD5E1"/>
            </a:solidFill>
            <a:prstDash val="solid"/>
          </a:ln>
        </p:spPr>
      </p:sp>
      <p:sp>
        <p:nvSpPr>
          <p:cNvPr id="11" name="Text 9"/>
          <p:cNvSpPr/>
          <p:nvPr/>
        </p:nvSpPr>
        <p:spPr>
          <a:xfrm>
            <a:off x="3529584" y="1179576"/>
            <a:ext cx="2148840" cy="146304"/>
          </a:xfrm>
          <a:prstGeom prst="rect">
            <a:avLst/>
          </a:prstGeom>
          <a:noFill/>
          <a:ln/>
        </p:spPr>
        <p:txBody>
          <a:bodyPr wrap="square" rtlCol="0" anchor="ctr"/>
          <a:lstStyle/>
          <a:p>
            <a:pPr indent="0" marL="0">
              <a:buNone/>
            </a:pPr>
            <a:r>
              <a:rPr lang="en-US" sz="800" b="1" dirty="0">
                <a:solidFill>
                  <a:srgbClr val="64748B"/>
                </a:solidFill>
              </a:rPr>
              <a:t>SENSITIVE DETAILS</a:t>
            </a:r>
            <a:endParaRPr lang="en-US" sz="800" dirty="0"/>
          </a:p>
        </p:txBody>
      </p:sp>
      <p:sp>
        <p:nvSpPr>
          <p:cNvPr id="12" name="Text 10"/>
          <p:cNvSpPr/>
          <p:nvPr/>
        </p:nvSpPr>
        <p:spPr>
          <a:xfrm>
            <a:off x="3529584" y="1490472"/>
            <a:ext cx="2148840" cy="310896"/>
          </a:xfrm>
          <a:prstGeom prst="rect">
            <a:avLst/>
          </a:prstGeom>
          <a:noFill/>
          <a:ln/>
        </p:spPr>
        <p:txBody>
          <a:bodyPr wrap="square" rtlCol="0" anchor="ctr">
            <a:normAutofit/>
          </a:bodyPr>
          <a:lstStyle/>
          <a:p>
            <a:pPr indent="0" marL="0">
              <a:buNone/>
            </a:pPr>
            <a:r>
              <a:rPr lang="en-US" sz="1500" b="1" dirty="0">
                <a:solidFill>
                  <a:srgbClr val="047857"/>
                </a:solidFill>
              </a:rPr>
              <a:t>Visible</a:t>
            </a:r>
            <a:endParaRPr lang="en-US" sz="1500" dirty="0"/>
          </a:p>
        </p:txBody>
      </p:sp>
      <p:sp>
        <p:nvSpPr>
          <p:cNvPr id="13" name="Shape 11"/>
          <p:cNvSpPr/>
          <p:nvPr/>
        </p:nvSpPr>
        <p:spPr>
          <a:xfrm>
            <a:off x="6172200" y="1051560"/>
            <a:ext cx="2514600" cy="1078992"/>
          </a:xfrm>
          <a:prstGeom prst="roundRect">
            <a:avLst>
              <a:gd name="adj" fmla="val 6780"/>
            </a:avLst>
          </a:prstGeom>
          <a:solidFill>
            <a:srgbClr val="FFFFFF"/>
          </a:solidFill>
          <a:ln w="12700">
            <a:solidFill>
              <a:srgbClr val="CBD5E1"/>
            </a:solidFill>
            <a:prstDash val="solid"/>
          </a:ln>
        </p:spPr>
      </p:sp>
      <p:sp>
        <p:nvSpPr>
          <p:cNvPr id="14" name="Text 12"/>
          <p:cNvSpPr/>
          <p:nvPr/>
        </p:nvSpPr>
        <p:spPr>
          <a:xfrm>
            <a:off x="6318504" y="1179576"/>
            <a:ext cx="2148840" cy="146304"/>
          </a:xfrm>
          <a:prstGeom prst="rect">
            <a:avLst/>
          </a:prstGeom>
          <a:noFill/>
          <a:ln/>
        </p:spPr>
        <p:txBody>
          <a:bodyPr wrap="square" rtlCol="0" anchor="ctr"/>
          <a:lstStyle/>
          <a:p>
            <a:pPr indent="0" marL="0">
              <a:buNone/>
            </a:pPr>
            <a:r>
              <a:rPr lang="en-US" sz="800" b="1" dirty="0">
                <a:solidFill>
                  <a:srgbClr val="64748B"/>
                </a:solidFill>
              </a:rPr>
              <a:t>RAW APPENDIX</a:t>
            </a:r>
            <a:endParaRPr lang="en-US" sz="800" dirty="0"/>
          </a:p>
        </p:txBody>
      </p:sp>
      <p:sp>
        <p:nvSpPr>
          <p:cNvPr id="15" name="Text 13"/>
          <p:cNvSpPr/>
          <p:nvPr/>
        </p:nvSpPr>
        <p:spPr>
          <a:xfrm>
            <a:off x="6318504" y="1490472"/>
            <a:ext cx="2148840" cy="310896"/>
          </a:xfrm>
          <a:prstGeom prst="rect">
            <a:avLst/>
          </a:prstGeom>
          <a:noFill/>
          <a:ln/>
        </p:spPr>
        <p:txBody>
          <a:bodyPr wrap="square" rtlCol="0" anchor="ctr">
            <a:normAutofit/>
          </a:bodyPr>
          <a:lstStyle/>
          <a:p>
            <a:pPr indent="0" marL="0">
              <a:buNone/>
            </a:pPr>
            <a:r>
              <a:rPr lang="en-US" sz="1500" b="1" dirty="0">
                <a:solidFill>
                  <a:srgbClr val="047857"/>
                </a:solidFill>
              </a:rPr>
              <a:t>Allowed</a:t>
            </a:r>
            <a:endParaRPr lang="en-US" sz="1500" dirty="0"/>
          </a:p>
        </p:txBody>
      </p:sp>
      <p:sp>
        <p:nvSpPr>
          <p:cNvPr id="16" name="Shape 14"/>
          <p:cNvSpPr/>
          <p:nvPr/>
        </p:nvSpPr>
        <p:spPr>
          <a:xfrm>
            <a:off x="8961120" y="1051560"/>
            <a:ext cx="2514600" cy="1078992"/>
          </a:xfrm>
          <a:prstGeom prst="roundRect">
            <a:avLst>
              <a:gd name="adj" fmla="val 6780"/>
            </a:avLst>
          </a:prstGeom>
          <a:solidFill>
            <a:srgbClr val="FFFFFF"/>
          </a:solidFill>
          <a:ln w="12700">
            <a:solidFill>
              <a:srgbClr val="CBD5E1"/>
            </a:solidFill>
            <a:prstDash val="solid"/>
          </a:ln>
        </p:spPr>
      </p:sp>
      <p:sp>
        <p:nvSpPr>
          <p:cNvPr id="17" name="Text 15"/>
          <p:cNvSpPr/>
          <p:nvPr/>
        </p:nvSpPr>
        <p:spPr>
          <a:xfrm>
            <a:off x="9107424" y="1179576"/>
            <a:ext cx="2148840" cy="146304"/>
          </a:xfrm>
          <a:prstGeom prst="rect">
            <a:avLst/>
          </a:prstGeom>
          <a:noFill/>
          <a:ln/>
        </p:spPr>
        <p:txBody>
          <a:bodyPr wrap="square" rtlCol="0" anchor="ctr"/>
          <a:lstStyle/>
          <a:p>
            <a:pPr indent="0" marL="0">
              <a:buNone/>
            </a:pPr>
            <a:r>
              <a:rPr lang="en-US" sz="800" b="1" dirty="0">
                <a:solidFill>
                  <a:srgbClr val="64748B"/>
                </a:solidFill>
              </a:rPr>
              <a:t>HIGH-PRIORITY FLAGS</a:t>
            </a:r>
            <a:endParaRPr lang="en-US" sz="800" dirty="0"/>
          </a:p>
        </p:txBody>
      </p:sp>
      <p:sp>
        <p:nvSpPr>
          <p:cNvPr id="18" name="Text 16"/>
          <p:cNvSpPr/>
          <p:nvPr/>
        </p:nvSpPr>
        <p:spPr>
          <a:xfrm>
            <a:off x="9107424" y="1490472"/>
            <a:ext cx="2148840" cy="310896"/>
          </a:xfrm>
          <a:prstGeom prst="rect">
            <a:avLst/>
          </a:prstGeom>
          <a:noFill/>
          <a:ln/>
        </p:spPr>
        <p:txBody>
          <a:bodyPr wrap="square" rtlCol="0" anchor="ctr">
            <a:normAutofit/>
          </a:bodyPr>
          <a:lstStyle/>
          <a:p>
            <a:pPr indent="0" marL="0">
              <a:buNone/>
            </a:pPr>
            <a:r>
              <a:rPr lang="en-US" sz="1500" b="1" dirty="0">
                <a:solidFill>
                  <a:srgbClr val="047857"/>
                </a:solidFill>
              </a:rPr>
              <a:t>0</a:t>
            </a:r>
            <a:endParaRPr lang="en-US" sz="1500" dirty="0"/>
          </a:p>
        </p:txBody>
      </p:sp>
      <p:sp>
        <p:nvSpPr>
          <p:cNvPr id="19" name="Shape 17"/>
          <p:cNvSpPr/>
          <p:nvPr/>
        </p:nvSpPr>
        <p:spPr>
          <a:xfrm>
            <a:off x="594360" y="2788920"/>
            <a:ext cx="6812280" cy="566928"/>
          </a:xfrm>
          <a:prstGeom prst="roundRect">
            <a:avLst>
              <a:gd name="adj" fmla="val 9677"/>
            </a:avLst>
          </a:prstGeom>
          <a:solidFill>
            <a:srgbClr val="FFFFFF"/>
          </a:solidFill>
          <a:ln w="12700">
            <a:solidFill>
              <a:srgbClr val="CBD5E1"/>
            </a:solidFill>
            <a:prstDash val="solid"/>
          </a:ln>
        </p:spPr>
      </p:sp>
      <p:sp>
        <p:nvSpPr>
          <p:cNvPr id="20" name="Shape 18"/>
          <p:cNvSpPr/>
          <p:nvPr/>
        </p:nvSpPr>
        <p:spPr>
          <a:xfrm>
            <a:off x="722376" y="2944368"/>
            <a:ext cx="777240" cy="256032"/>
          </a:xfrm>
          <a:prstGeom prst="roundRect">
            <a:avLst>
              <a:gd name="adj" fmla="val 28571"/>
            </a:avLst>
          </a:prstGeom>
          <a:solidFill>
            <a:srgbClr val="D1FAE5"/>
          </a:solidFill>
          <a:ln w="12700">
            <a:solidFill>
              <a:srgbClr val="D1FAE5"/>
            </a:solidFill>
            <a:prstDash val="solid"/>
          </a:ln>
        </p:spPr>
      </p:sp>
      <p:sp>
        <p:nvSpPr>
          <p:cNvPr id="21" name="Text 19"/>
          <p:cNvSpPr/>
          <p:nvPr/>
        </p:nvSpPr>
        <p:spPr>
          <a:xfrm>
            <a:off x="758952" y="2944368"/>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N/A</a:t>
            </a:r>
            <a:endParaRPr lang="en-US" sz="740" dirty="0"/>
          </a:p>
        </p:txBody>
      </p:sp>
      <p:sp>
        <p:nvSpPr>
          <p:cNvPr id="22" name="Text 20"/>
          <p:cNvSpPr/>
          <p:nvPr/>
        </p:nvSpPr>
        <p:spPr>
          <a:xfrm>
            <a:off x="1600200" y="2898648"/>
            <a:ext cx="2148840" cy="146304"/>
          </a:xfrm>
          <a:prstGeom prst="rect">
            <a:avLst/>
          </a:prstGeom>
          <a:noFill/>
          <a:ln/>
        </p:spPr>
        <p:txBody>
          <a:bodyPr wrap="square" rtlCol="0" anchor="ctr">
            <a:normAutofit/>
          </a:bodyPr>
          <a:lstStyle/>
          <a:p>
            <a:pPr indent="0" marL="0">
              <a:buNone/>
            </a:pPr>
            <a:r>
              <a:rPr lang="en-US" sz="930" b="1" dirty="0">
                <a:solidFill>
                  <a:srgbClr val="0F172A"/>
                </a:solidFill>
              </a:rPr>
              <a:t>No NORM flags | N/A</a:t>
            </a:r>
            <a:endParaRPr lang="en-US" sz="930" dirty="0"/>
          </a:p>
        </p:txBody>
      </p:sp>
      <p:sp>
        <p:nvSpPr>
          <p:cNvPr id="23" name="Text 21"/>
          <p:cNvSpPr/>
          <p:nvPr/>
        </p:nvSpPr>
        <p:spPr>
          <a:xfrm>
            <a:off x="3840480" y="2880360"/>
            <a:ext cx="3291840" cy="219456"/>
          </a:xfrm>
          <a:prstGeom prst="rect">
            <a:avLst/>
          </a:prstGeom>
          <a:noFill/>
          <a:ln/>
        </p:spPr>
        <p:txBody>
          <a:bodyPr wrap="square" rtlCol="0" anchor="ctr">
            <a:normAutofit/>
          </a:bodyPr>
          <a:lstStyle/>
          <a:p>
            <a:pPr indent="0" marL="0">
              <a:buNone/>
            </a:pPr>
            <a:r>
              <a:rPr lang="en-US" sz="860" dirty="0">
                <a:solidFill>
                  <a:srgbClr val="64748B"/>
                </a:solidFill>
              </a:rPr>
              <a:t>No governance flags triggered.</a:t>
            </a:r>
            <a:endParaRPr lang="en-US" sz="860" dirty="0"/>
          </a:p>
        </p:txBody>
      </p:sp>
      <p:sp>
        <p:nvSpPr>
          <p:cNvPr id="24" name="Shape 22"/>
          <p:cNvSpPr/>
          <p:nvPr/>
        </p:nvSpPr>
        <p:spPr>
          <a:xfrm>
            <a:off x="7699248" y="2788920"/>
            <a:ext cx="3767328" cy="1965960"/>
          </a:xfrm>
          <a:prstGeom prst="roundRect">
            <a:avLst>
              <a:gd name="adj" fmla="val 3721"/>
            </a:avLst>
          </a:prstGeom>
          <a:solidFill>
            <a:srgbClr val="D1FAE5"/>
          </a:solidFill>
          <a:ln w="12700">
            <a:solidFill>
              <a:srgbClr val="047857">
                <a:alpha val="65000"/>
              </a:srgbClr>
            </a:solidFill>
            <a:prstDash val="solid"/>
          </a:ln>
        </p:spPr>
      </p:sp>
      <p:sp>
        <p:nvSpPr>
          <p:cNvPr id="25" name="Text 23"/>
          <p:cNvSpPr/>
          <p:nvPr/>
        </p:nvSpPr>
        <p:spPr>
          <a:xfrm>
            <a:off x="7955280" y="3054096"/>
            <a:ext cx="3200400" cy="182880"/>
          </a:xfrm>
          <a:prstGeom prst="rect">
            <a:avLst/>
          </a:prstGeom>
          <a:noFill/>
          <a:ln/>
        </p:spPr>
        <p:txBody>
          <a:bodyPr wrap="square" lIns="0" tIns="0" rIns="0" bIns="0" rtlCol="0" anchor="ctr"/>
          <a:lstStyle/>
          <a:p>
            <a:pPr indent="0" marL="0">
              <a:buNone/>
            </a:pPr>
            <a:r>
              <a:rPr lang="en-US" sz="850" b="1" dirty="0">
                <a:solidFill>
                  <a:srgbClr val="047857"/>
                </a:solidFill>
              </a:rPr>
              <a:t>GOVERNANCE RESPONSE</a:t>
            </a:r>
            <a:endParaRPr lang="en-US" sz="850" dirty="0"/>
          </a:p>
        </p:txBody>
      </p:sp>
      <p:sp>
        <p:nvSpPr>
          <p:cNvPr id="26" name="Text 24"/>
          <p:cNvSpPr/>
          <p:nvPr/>
        </p:nvSpPr>
        <p:spPr>
          <a:xfrm>
            <a:off x="7955280" y="3493008"/>
            <a:ext cx="3218688" cy="658368"/>
          </a:xfrm>
          <a:prstGeom prst="rect">
            <a:avLst/>
          </a:prstGeom>
          <a:noFill/>
          <a:ln/>
        </p:spPr>
        <p:txBody>
          <a:bodyPr wrap="square" lIns="0" tIns="0" rIns="0" bIns="0" rtlCol="0" anchor="ctr">
            <a:normAutofit/>
          </a:bodyPr>
          <a:lstStyle/>
          <a:p>
            <a:pPr indent="0" marL="0">
              <a:buNone/>
            </a:pPr>
            <a:r>
              <a:rPr lang="en-US" sz="1200" b="1" dirty="0">
                <a:solidFill>
                  <a:srgbClr val="0F172A"/>
                </a:solidFill>
              </a:rPr>
              <a:t>Continue standard monitoring and preserve the validated audit trail.</a:t>
            </a:r>
            <a:endParaRPr lang="en-US" sz="1200" dirty="0"/>
          </a:p>
        </p:txBody>
      </p:sp>
      <p:sp>
        <p:nvSpPr>
          <p:cNvPr id="27" name="Text 25"/>
          <p:cNvSpPr/>
          <p:nvPr/>
        </p:nvSpPr>
        <p:spPr>
          <a:xfrm>
            <a:off x="7955280" y="4279392"/>
            <a:ext cx="3218688" cy="228600"/>
          </a:xfrm>
          <a:prstGeom prst="rect">
            <a:avLst/>
          </a:prstGeom>
          <a:noFill/>
          <a:ln/>
        </p:spPr>
        <p:txBody>
          <a:bodyPr wrap="square" lIns="0" tIns="0" rIns="0" bIns="0" rtlCol="0" anchor="ctr"/>
          <a:lstStyle/>
          <a:p>
            <a:pPr indent="0" marL="0">
              <a:buNone/>
            </a:pPr>
            <a:r>
              <a:rPr lang="en-US" sz="850" dirty="0">
                <a:solidFill>
                  <a:srgbClr val="64748B"/>
                </a:solidFill>
              </a:rPr>
              <a:t>No active NORM rule requires escalation.</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Recommended action plan</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Course DevOps_02_2026 | Type full</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Passed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7" name="Shape 5"/>
          <p:cNvSpPr/>
          <p:nvPr/>
        </p:nvSpPr>
        <p:spPr>
          <a:xfrm>
            <a:off x="594360" y="960120"/>
            <a:ext cx="10972800" cy="749808"/>
          </a:xfrm>
          <a:prstGeom prst="roundRect">
            <a:avLst>
              <a:gd name="adj" fmla="val 7317"/>
            </a:avLst>
          </a:prstGeom>
          <a:solidFill>
            <a:srgbClr val="FFFFFF"/>
          </a:solidFill>
          <a:ln w="12700">
            <a:solidFill>
              <a:srgbClr val="CBD5E1"/>
            </a:solidFill>
            <a:prstDash val="solid"/>
          </a:ln>
        </p:spPr>
      </p:sp>
      <p:sp>
        <p:nvSpPr>
          <p:cNvPr id="8" name="Text 6"/>
          <p:cNvSpPr/>
          <p:nvPr/>
        </p:nvSpPr>
        <p:spPr>
          <a:xfrm>
            <a:off x="768096" y="1179576"/>
            <a:ext cx="228600" cy="164592"/>
          </a:xfrm>
          <a:prstGeom prst="rect">
            <a:avLst/>
          </a:prstGeom>
          <a:noFill/>
          <a:ln/>
        </p:spPr>
        <p:txBody>
          <a:bodyPr wrap="square" rtlCol="0" anchor="ctr"/>
          <a:lstStyle/>
          <a:p>
            <a:pPr algn="ctr" indent="0" marL="0">
              <a:buNone/>
            </a:pPr>
            <a:r>
              <a:rPr lang="en-US" sz="1200" b="1" dirty="0">
                <a:solidFill>
                  <a:srgbClr val="0F172A"/>
                </a:solidFill>
              </a:rPr>
              <a:t>1</a:t>
            </a:r>
            <a:endParaRPr lang="en-US" sz="1200" dirty="0"/>
          </a:p>
        </p:txBody>
      </p:sp>
      <p:sp>
        <p:nvSpPr>
          <p:cNvPr id="9" name="Shape 7"/>
          <p:cNvSpPr/>
          <p:nvPr/>
        </p:nvSpPr>
        <p:spPr>
          <a:xfrm>
            <a:off x="1170432" y="1161288"/>
            <a:ext cx="822960" cy="256032"/>
          </a:xfrm>
          <a:prstGeom prst="roundRect">
            <a:avLst>
              <a:gd name="adj" fmla="val 28571"/>
            </a:avLst>
          </a:prstGeom>
          <a:solidFill>
            <a:srgbClr val="FEF3C7"/>
          </a:solidFill>
          <a:ln w="12700">
            <a:solidFill>
              <a:srgbClr val="FEF3C7"/>
            </a:solidFill>
            <a:prstDash val="solid"/>
          </a:ln>
        </p:spPr>
      </p:sp>
      <p:sp>
        <p:nvSpPr>
          <p:cNvPr id="10" name="Text 8"/>
          <p:cNvSpPr/>
          <p:nvPr/>
        </p:nvSpPr>
        <p:spPr>
          <a:xfrm>
            <a:off x="1207008" y="1161288"/>
            <a:ext cx="749808" cy="256032"/>
          </a:xfrm>
          <a:prstGeom prst="rect">
            <a:avLst/>
          </a:prstGeom>
          <a:noFill/>
          <a:ln/>
        </p:spPr>
        <p:txBody>
          <a:bodyPr wrap="square" lIns="127" tIns="127" rIns="127" bIns="127" rtlCol="0" anchor="ctr">
            <a:normAutofit/>
          </a:bodyPr>
          <a:lstStyle/>
          <a:p>
            <a:pPr algn="ctr" indent="0" marL="0">
              <a:buNone/>
            </a:pPr>
            <a:r>
              <a:rPr lang="en-US" sz="740" b="1" dirty="0">
                <a:solidFill>
                  <a:srgbClr val="B45309"/>
                </a:solidFill>
              </a:rPr>
              <a:t>Medium</a:t>
            </a:r>
            <a:endParaRPr lang="en-US" sz="740" dirty="0"/>
          </a:p>
        </p:txBody>
      </p:sp>
      <p:sp>
        <p:nvSpPr>
          <p:cNvPr id="11" name="Text 9"/>
          <p:cNvSpPr/>
          <p:nvPr/>
        </p:nvSpPr>
        <p:spPr>
          <a:xfrm>
            <a:off x="2121408" y="1124712"/>
            <a:ext cx="1508760" cy="201168"/>
          </a:xfrm>
          <a:prstGeom prst="rect">
            <a:avLst/>
          </a:prstGeom>
          <a:noFill/>
          <a:ln/>
        </p:spPr>
        <p:txBody>
          <a:bodyPr wrap="square" rtlCol="0" anchor="ctr">
            <a:normAutofit/>
          </a:bodyPr>
          <a:lstStyle/>
          <a:p>
            <a:pPr indent="0" marL="0">
              <a:buNone/>
            </a:pPr>
            <a:r>
              <a:rPr lang="en-US" sz="900" b="1" dirty="0">
                <a:solidFill>
                  <a:srgbClr val="0F172A"/>
                </a:solidFill>
              </a:rPr>
              <a:t>L&amp;D Manager</a:t>
            </a:r>
            <a:endParaRPr lang="en-US" sz="900" dirty="0"/>
          </a:p>
        </p:txBody>
      </p:sp>
      <p:sp>
        <p:nvSpPr>
          <p:cNvPr id="12" name="Text 10"/>
          <p:cNvSpPr/>
          <p:nvPr/>
        </p:nvSpPr>
        <p:spPr>
          <a:xfrm>
            <a:off x="3794760" y="1069848"/>
            <a:ext cx="3840480" cy="256032"/>
          </a:xfrm>
          <a:prstGeom prst="rect">
            <a:avLst/>
          </a:prstGeom>
          <a:noFill/>
          <a:ln/>
        </p:spPr>
        <p:txBody>
          <a:bodyPr wrap="square" rtlCol="0" anchor="ctr">
            <a:normAutofit/>
          </a:bodyPr>
          <a:lstStyle/>
          <a:p>
            <a:pPr indent="0" marL="0">
              <a:buNone/>
            </a:pPr>
            <a:r>
              <a:rPr lang="en-US" sz="930" dirty="0">
                <a:solidFill>
                  <a:srgbClr val="0F172A"/>
                </a:solidFill>
              </a:rPr>
              <a:t>Maintain the current delivery model and reuse top-performing materials for future cohorts.</a:t>
            </a:r>
            <a:endParaRPr lang="en-US" sz="930" dirty="0"/>
          </a:p>
        </p:txBody>
      </p:sp>
      <p:sp>
        <p:nvSpPr>
          <p:cNvPr id="13" name="Text 11"/>
          <p:cNvSpPr/>
          <p:nvPr/>
        </p:nvSpPr>
        <p:spPr>
          <a:xfrm>
            <a:off x="7863840" y="1069848"/>
            <a:ext cx="3291840" cy="256032"/>
          </a:xfrm>
          <a:prstGeom prst="rect">
            <a:avLst/>
          </a:prstGeom>
          <a:noFill/>
          <a:ln/>
        </p:spPr>
        <p:txBody>
          <a:bodyPr wrap="square" rtlCol="0" anchor="ctr">
            <a:normAutofit/>
          </a:bodyPr>
          <a:lstStyle/>
          <a:p>
            <a:pPr indent="0" marL="0">
              <a:buNone/>
            </a:pPr>
            <a:r>
              <a:rPr lang="en-US" sz="850" dirty="0">
                <a:solidFill>
                  <a:srgbClr val="64748B"/>
                </a:solidFill>
              </a:rPr>
              <a:t>Improve training effectiveness and repeatability.</a:t>
            </a:r>
            <a:endParaRPr lang="en-US" sz="850" dirty="0"/>
          </a:p>
        </p:txBody>
      </p:sp>
      <p:sp>
        <p:nvSpPr>
          <p:cNvPr id="14" name="Shape 12"/>
          <p:cNvSpPr/>
          <p:nvPr/>
        </p:nvSpPr>
        <p:spPr>
          <a:xfrm>
            <a:off x="594360" y="1947672"/>
            <a:ext cx="10972800" cy="749808"/>
          </a:xfrm>
          <a:prstGeom prst="roundRect">
            <a:avLst>
              <a:gd name="adj" fmla="val 7317"/>
            </a:avLst>
          </a:prstGeom>
          <a:solidFill>
            <a:srgbClr val="FFFFFF"/>
          </a:solidFill>
          <a:ln w="12700">
            <a:solidFill>
              <a:srgbClr val="CBD5E1"/>
            </a:solidFill>
            <a:prstDash val="solid"/>
          </a:ln>
        </p:spPr>
      </p:sp>
      <p:sp>
        <p:nvSpPr>
          <p:cNvPr id="15" name="Text 13"/>
          <p:cNvSpPr/>
          <p:nvPr/>
        </p:nvSpPr>
        <p:spPr>
          <a:xfrm>
            <a:off x="768096" y="2167128"/>
            <a:ext cx="228600" cy="164592"/>
          </a:xfrm>
          <a:prstGeom prst="rect">
            <a:avLst/>
          </a:prstGeom>
          <a:noFill/>
          <a:ln/>
        </p:spPr>
        <p:txBody>
          <a:bodyPr wrap="square" rtlCol="0" anchor="ctr"/>
          <a:lstStyle/>
          <a:p>
            <a:pPr algn="ctr" indent="0" marL="0">
              <a:buNone/>
            </a:pPr>
            <a:r>
              <a:rPr lang="en-US" sz="1200" b="1" dirty="0">
                <a:solidFill>
                  <a:srgbClr val="0F172A"/>
                </a:solidFill>
              </a:rPr>
              <a:t>2</a:t>
            </a:r>
            <a:endParaRPr lang="en-US" sz="1200" dirty="0"/>
          </a:p>
        </p:txBody>
      </p:sp>
      <p:sp>
        <p:nvSpPr>
          <p:cNvPr id="16" name="Shape 14"/>
          <p:cNvSpPr/>
          <p:nvPr/>
        </p:nvSpPr>
        <p:spPr>
          <a:xfrm>
            <a:off x="1170432" y="2148840"/>
            <a:ext cx="822960" cy="256032"/>
          </a:xfrm>
          <a:prstGeom prst="roundRect">
            <a:avLst>
              <a:gd name="adj" fmla="val 28571"/>
            </a:avLst>
          </a:prstGeom>
          <a:solidFill>
            <a:srgbClr val="FEF3C7"/>
          </a:solidFill>
          <a:ln w="12700">
            <a:solidFill>
              <a:srgbClr val="FEF3C7"/>
            </a:solidFill>
            <a:prstDash val="solid"/>
          </a:ln>
        </p:spPr>
      </p:sp>
      <p:sp>
        <p:nvSpPr>
          <p:cNvPr id="17" name="Text 15"/>
          <p:cNvSpPr/>
          <p:nvPr/>
        </p:nvSpPr>
        <p:spPr>
          <a:xfrm>
            <a:off x="1207008" y="2148840"/>
            <a:ext cx="749808" cy="256032"/>
          </a:xfrm>
          <a:prstGeom prst="rect">
            <a:avLst/>
          </a:prstGeom>
          <a:noFill/>
          <a:ln/>
        </p:spPr>
        <p:txBody>
          <a:bodyPr wrap="square" lIns="127" tIns="127" rIns="127" bIns="127" rtlCol="0" anchor="ctr">
            <a:normAutofit/>
          </a:bodyPr>
          <a:lstStyle/>
          <a:p>
            <a:pPr algn="ctr" indent="0" marL="0">
              <a:buNone/>
            </a:pPr>
            <a:r>
              <a:rPr lang="en-US" sz="740" b="1" dirty="0">
                <a:solidFill>
                  <a:srgbClr val="B45309"/>
                </a:solidFill>
              </a:rPr>
              <a:t>Medium</a:t>
            </a:r>
            <a:endParaRPr lang="en-US" sz="740" dirty="0"/>
          </a:p>
        </p:txBody>
      </p:sp>
      <p:sp>
        <p:nvSpPr>
          <p:cNvPr id="18" name="Text 16"/>
          <p:cNvSpPr/>
          <p:nvPr/>
        </p:nvSpPr>
        <p:spPr>
          <a:xfrm>
            <a:off x="2121408" y="2112264"/>
            <a:ext cx="1508760" cy="201168"/>
          </a:xfrm>
          <a:prstGeom prst="rect">
            <a:avLst/>
          </a:prstGeom>
          <a:noFill/>
          <a:ln/>
        </p:spPr>
        <p:txBody>
          <a:bodyPr wrap="square" rtlCol="0" anchor="ctr">
            <a:normAutofit/>
          </a:bodyPr>
          <a:lstStyle/>
          <a:p>
            <a:pPr indent="0" marL="0">
              <a:buNone/>
            </a:pPr>
            <a:r>
              <a:rPr lang="en-US" sz="900" b="1" dirty="0">
                <a:solidFill>
                  <a:srgbClr val="0F172A"/>
                </a:solidFill>
              </a:rPr>
              <a:t>L&amp;D Manager</a:t>
            </a:r>
            <a:endParaRPr lang="en-US" sz="900" dirty="0"/>
          </a:p>
        </p:txBody>
      </p:sp>
      <p:sp>
        <p:nvSpPr>
          <p:cNvPr id="19" name="Text 17"/>
          <p:cNvSpPr/>
          <p:nvPr/>
        </p:nvSpPr>
        <p:spPr>
          <a:xfrm>
            <a:off x="3794760" y="2057400"/>
            <a:ext cx="3840480" cy="256032"/>
          </a:xfrm>
          <a:prstGeom prst="rect">
            <a:avLst/>
          </a:prstGeom>
          <a:noFill/>
          <a:ln/>
        </p:spPr>
        <p:txBody>
          <a:bodyPr wrap="square" rtlCol="0" anchor="ctr">
            <a:normAutofit/>
          </a:bodyPr>
          <a:lstStyle/>
          <a:p>
            <a:pPr indent="0" marL="0">
              <a:buNone/>
            </a:pPr>
            <a:r>
              <a:rPr lang="en-US" sz="930" dirty="0">
                <a:solidFill>
                  <a:srgbClr val="0F172A"/>
                </a:solidFill>
              </a:rPr>
              <a:t>To maintain and enhance the effectiveness of future training initiatives, it is recommended to continue leveraging successful course elements identified in this program.</a:t>
            </a:r>
            <a:endParaRPr lang="en-US" sz="930" dirty="0"/>
          </a:p>
        </p:txBody>
      </p:sp>
      <p:sp>
        <p:nvSpPr>
          <p:cNvPr id="20" name="Text 18"/>
          <p:cNvSpPr/>
          <p:nvPr/>
        </p:nvSpPr>
        <p:spPr>
          <a:xfrm>
            <a:off x="7863840" y="2057400"/>
            <a:ext cx="3291840" cy="256032"/>
          </a:xfrm>
          <a:prstGeom prst="rect">
            <a:avLst/>
          </a:prstGeom>
          <a:noFill/>
          <a:ln/>
        </p:spPr>
        <p:txBody>
          <a:bodyPr wrap="square" rtlCol="0" anchor="ctr">
            <a:normAutofit/>
          </a:bodyPr>
          <a:lstStyle/>
          <a:p>
            <a:pPr indent="0" marL="0">
              <a:buNone/>
            </a:pPr>
            <a:r>
              <a:rPr lang="en-US" sz="850" dirty="0">
                <a:solidFill>
                  <a:srgbClr val="64748B"/>
                </a:solidFill>
              </a:rPr>
              <a:t>Improve training effectiveness and repeatability.</a:t>
            </a:r>
            <a:endParaRPr lang="en-US" sz="850" dirty="0"/>
          </a:p>
        </p:txBody>
      </p:sp>
      <p:sp>
        <p:nvSpPr>
          <p:cNvPr id="21" name="Shape 19"/>
          <p:cNvSpPr/>
          <p:nvPr/>
        </p:nvSpPr>
        <p:spPr>
          <a:xfrm>
            <a:off x="594360" y="2935224"/>
            <a:ext cx="10972800" cy="749808"/>
          </a:xfrm>
          <a:prstGeom prst="roundRect">
            <a:avLst>
              <a:gd name="adj" fmla="val 7317"/>
            </a:avLst>
          </a:prstGeom>
          <a:solidFill>
            <a:srgbClr val="FFFFFF"/>
          </a:solidFill>
          <a:ln w="12700">
            <a:solidFill>
              <a:srgbClr val="CBD5E1"/>
            </a:solidFill>
            <a:prstDash val="solid"/>
          </a:ln>
        </p:spPr>
      </p:sp>
      <p:sp>
        <p:nvSpPr>
          <p:cNvPr id="22" name="Text 20"/>
          <p:cNvSpPr/>
          <p:nvPr/>
        </p:nvSpPr>
        <p:spPr>
          <a:xfrm>
            <a:off x="768096" y="3154680"/>
            <a:ext cx="228600" cy="164592"/>
          </a:xfrm>
          <a:prstGeom prst="rect">
            <a:avLst/>
          </a:prstGeom>
          <a:noFill/>
          <a:ln/>
        </p:spPr>
        <p:txBody>
          <a:bodyPr wrap="square" rtlCol="0" anchor="ctr"/>
          <a:lstStyle/>
          <a:p>
            <a:pPr algn="ctr" indent="0" marL="0">
              <a:buNone/>
            </a:pPr>
            <a:r>
              <a:rPr lang="en-US" sz="1200" b="1" dirty="0">
                <a:solidFill>
                  <a:srgbClr val="0F172A"/>
                </a:solidFill>
              </a:rPr>
              <a:t>3</a:t>
            </a:r>
            <a:endParaRPr lang="en-US" sz="1200" dirty="0"/>
          </a:p>
        </p:txBody>
      </p:sp>
      <p:sp>
        <p:nvSpPr>
          <p:cNvPr id="23" name="Shape 21"/>
          <p:cNvSpPr/>
          <p:nvPr/>
        </p:nvSpPr>
        <p:spPr>
          <a:xfrm>
            <a:off x="1170432" y="3136392"/>
            <a:ext cx="822960" cy="256032"/>
          </a:xfrm>
          <a:prstGeom prst="roundRect">
            <a:avLst>
              <a:gd name="adj" fmla="val 28571"/>
            </a:avLst>
          </a:prstGeom>
          <a:solidFill>
            <a:srgbClr val="FEE2E2"/>
          </a:solidFill>
          <a:ln w="12700">
            <a:solidFill>
              <a:srgbClr val="FEE2E2"/>
            </a:solidFill>
            <a:prstDash val="solid"/>
          </a:ln>
        </p:spPr>
      </p:sp>
      <p:sp>
        <p:nvSpPr>
          <p:cNvPr id="24" name="Text 22"/>
          <p:cNvSpPr/>
          <p:nvPr/>
        </p:nvSpPr>
        <p:spPr>
          <a:xfrm>
            <a:off x="1207008" y="3136392"/>
            <a:ext cx="749808" cy="256032"/>
          </a:xfrm>
          <a:prstGeom prst="rect">
            <a:avLst/>
          </a:prstGeom>
          <a:noFill/>
          <a:ln/>
        </p:spPr>
        <p:txBody>
          <a:bodyPr wrap="square" lIns="127" tIns="127" rIns="127" bIns="127" rtlCol="0" anchor="ctr">
            <a:normAutofit/>
          </a:bodyPr>
          <a:lstStyle/>
          <a:p>
            <a:pPr algn="ctr" indent="0" marL="0">
              <a:buNone/>
            </a:pPr>
            <a:r>
              <a:rPr lang="en-US" sz="740" b="1" dirty="0">
                <a:solidFill>
                  <a:srgbClr val="B91C1C"/>
                </a:solidFill>
              </a:rPr>
              <a:t>High</a:t>
            </a:r>
            <a:endParaRPr lang="en-US" sz="740" dirty="0"/>
          </a:p>
        </p:txBody>
      </p:sp>
      <p:sp>
        <p:nvSpPr>
          <p:cNvPr id="25" name="Text 23"/>
          <p:cNvSpPr/>
          <p:nvPr/>
        </p:nvSpPr>
        <p:spPr>
          <a:xfrm>
            <a:off x="2121408" y="3099816"/>
            <a:ext cx="1508760" cy="201168"/>
          </a:xfrm>
          <a:prstGeom prst="rect">
            <a:avLst/>
          </a:prstGeom>
          <a:noFill/>
          <a:ln/>
        </p:spPr>
        <p:txBody>
          <a:bodyPr wrap="square" rtlCol="0" anchor="ctr">
            <a:normAutofit/>
          </a:bodyPr>
          <a:lstStyle/>
          <a:p>
            <a:pPr indent="0" marL="0">
              <a:buNone/>
            </a:pPr>
            <a:r>
              <a:rPr lang="en-US" sz="900" b="1" dirty="0">
                <a:solidFill>
                  <a:srgbClr val="0F172A"/>
                </a:solidFill>
              </a:rPr>
              <a:t>L&amp;D Manager</a:t>
            </a:r>
            <a:endParaRPr lang="en-US" sz="900" dirty="0"/>
          </a:p>
        </p:txBody>
      </p:sp>
      <p:sp>
        <p:nvSpPr>
          <p:cNvPr id="26" name="Text 24"/>
          <p:cNvSpPr/>
          <p:nvPr/>
        </p:nvSpPr>
        <p:spPr>
          <a:xfrm>
            <a:off x="3794760" y="3044952"/>
            <a:ext cx="3840480" cy="256032"/>
          </a:xfrm>
          <a:prstGeom prst="rect">
            <a:avLst/>
          </a:prstGeom>
          <a:noFill/>
          <a:ln/>
        </p:spPr>
        <p:txBody>
          <a:bodyPr wrap="square" rtlCol="0" anchor="ctr">
            <a:normAutofit/>
          </a:bodyPr>
          <a:lstStyle/>
          <a:p>
            <a:pPr indent="0" marL="0">
              <a:buNone/>
            </a:pPr>
            <a:r>
              <a:rPr lang="en-US" sz="930" dirty="0">
                <a:solidFill>
                  <a:srgbClr val="0F172A"/>
                </a:solidFill>
              </a:rPr>
              <a:t>Additionally, consider implementing advanced training techniques or supplementary resources to further elevate trainee performance and engagement, particularly for those who may benefit from additional support.</a:t>
            </a:r>
            <a:endParaRPr lang="en-US" sz="930" dirty="0"/>
          </a:p>
        </p:txBody>
      </p:sp>
      <p:sp>
        <p:nvSpPr>
          <p:cNvPr id="27" name="Text 25"/>
          <p:cNvSpPr/>
          <p:nvPr/>
        </p:nvSpPr>
        <p:spPr>
          <a:xfrm>
            <a:off x="7863840" y="3044952"/>
            <a:ext cx="3291840" cy="256032"/>
          </a:xfrm>
          <a:prstGeom prst="rect">
            <a:avLst/>
          </a:prstGeom>
          <a:noFill/>
          <a:ln/>
        </p:spPr>
        <p:txBody>
          <a:bodyPr wrap="square" rtlCol="0" anchor="ctr">
            <a:normAutofit/>
          </a:bodyPr>
          <a:lstStyle/>
          <a:p>
            <a:pPr indent="0" marL="0">
              <a:buNone/>
            </a:pPr>
            <a:r>
              <a:rPr lang="en-US" sz="850" dirty="0">
                <a:solidFill>
                  <a:srgbClr val="64748B"/>
                </a:solidFill>
              </a:rPr>
              <a:t>Improve learner recovery and reduce support-needed cases.</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Delivery roadmap</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Course DevOps_02_2026 | Type full</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Passed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8" name="Shape 5"/>
          <p:cNvSpPr/>
          <p:nvPr/>
        </p:nvSpPr>
        <p:spPr>
          <a:xfrm>
            <a:off x="2394204" y="1490472"/>
            <a:ext cx="7418832" cy="0"/>
          </a:xfrm>
          <a:prstGeom prst="line">
            <a:avLst/>
          </a:prstGeom>
          <a:noFill/>
          <a:ln w="12700">
            <a:solidFill>
              <a:srgbClr val="93C5FD"/>
            </a:solidFill>
            <a:prstDash val="solid"/>
          </a:ln>
        </p:spPr>
      </p:sp>
      <p:sp>
        <p:nvSpPr>
          <p:cNvPr id="9" name="Shape 6"/>
          <p:cNvSpPr/>
          <p:nvPr/>
        </p:nvSpPr>
        <p:spPr>
          <a:xfrm>
            <a:off x="2138172" y="1234440"/>
            <a:ext cx="512064" cy="512064"/>
          </a:xfrm>
          <a:prstGeom prst="ellipse">
            <a:avLst/>
          </a:prstGeom>
          <a:solidFill>
            <a:srgbClr val="B45309"/>
          </a:solidFill>
          <a:ln w="12700">
            <a:solidFill>
              <a:srgbClr val="FFFFFF"/>
            </a:solidFill>
            <a:prstDash val="solid"/>
          </a:ln>
        </p:spPr>
      </p:sp>
      <p:sp>
        <p:nvSpPr>
          <p:cNvPr id="10" name="Text 7"/>
          <p:cNvSpPr/>
          <p:nvPr/>
        </p:nvSpPr>
        <p:spPr>
          <a:xfrm>
            <a:off x="2138172" y="1234440"/>
            <a:ext cx="512064" cy="512064"/>
          </a:xfrm>
          <a:prstGeom prst="rect">
            <a:avLst/>
          </a:prstGeom>
          <a:no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11" name="Shape 8"/>
          <p:cNvSpPr/>
          <p:nvPr/>
        </p:nvSpPr>
        <p:spPr>
          <a:xfrm>
            <a:off x="685800" y="1938528"/>
            <a:ext cx="3416808" cy="3364992"/>
          </a:xfrm>
          <a:prstGeom prst="roundRect">
            <a:avLst>
              <a:gd name="adj" fmla="val 2174"/>
            </a:avLst>
          </a:prstGeom>
          <a:solidFill>
            <a:srgbClr val="FFFFFF"/>
          </a:solidFill>
          <a:ln w="12700">
            <a:solidFill>
              <a:srgbClr val="CBD5E1"/>
            </a:solidFill>
            <a:prstDash val="solid"/>
          </a:ln>
        </p:spPr>
      </p:sp>
      <p:sp>
        <p:nvSpPr>
          <p:cNvPr id="12" name="Text 9"/>
          <p:cNvSpPr/>
          <p:nvPr/>
        </p:nvSpPr>
        <p:spPr>
          <a:xfrm>
            <a:off x="868680" y="2212848"/>
            <a:ext cx="2273808" cy="164592"/>
          </a:xfrm>
          <a:prstGeom prst="rect">
            <a:avLst/>
          </a:prstGeom>
          <a:noFill/>
          <a:ln/>
        </p:spPr>
        <p:txBody>
          <a:bodyPr wrap="square" lIns="0" tIns="0" rIns="0" bIns="0" rtlCol="0" anchor="ctr"/>
          <a:lstStyle/>
          <a:p>
            <a:pPr indent="0" marL="0">
              <a:buNone/>
            </a:pPr>
            <a:r>
              <a:rPr lang="en-US" sz="800" b="1" dirty="0">
                <a:solidFill>
                  <a:srgbClr val="64748B"/>
                </a:solidFill>
              </a:rPr>
              <a:t>ACTION 1</a:t>
            </a:r>
            <a:endParaRPr lang="en-US" sz="800" dirty="0"/>
          </a:p>
        </p:txBody>
      </p:sp>
      <p:sp>
        <p:nvSpPr>
          <p:cNvPr id="13" name="Shape 10"/>
          <p:cNvSpPr/>
          <p:nvPr/>
        </p:nvSpPr>
        <p:spPr>
          <a:xfrm>
            <a:off x="3142488" y="2148840"/>
            <a:ext cx="749808" cy="256032"/>
          </a:xfrm>
          <a:prstGeom prst="roundRect">
            <a:avLst>
              <a:gd name="adj" fmla="val 28571"/>
            </a:avLst>
          </a:prstGeom>
          <a:solidFill>
            <a:srgbClr val="FEF3C7"/>
          </a:solidFill>
          <a:ln w="12700">
            <a:solidFill>
              <a:srgbClr val="FEF3C7"/>
            </a:solidFill>
            <a:prstDash val="solid"/>
          </a:ln>
        </p:spPr>
      </p:sp>
      <p:sp>
        <p:nvSpPr>
          <p:cNvPr id="14" name="Text 11"/>
          <p:cNvSpPr/>
          <p:nvPr/>
        </p:nvSpPr>
        <p:spPr>
          <a:xfrm>
            <a:off x="3179064" y="2148840"/>
            <a:ext cx="676656" cy="256032"/>
          </a:xfrm>
          <a:prstGeom prst="rect">
            <a:avLst/>
          </a:prstGeom>
          <a:noFill/>
          <a:ln/>
        </p:spPr>
        <p:txBody>
          <a:bodyPr wrap="square" lIns="127" tIns="127" rIns="127" bIns="127" rtlCol="0" anchor="ctr">
            <a:normAutofit/>
          </a:bodyPr>
          <a:lstStyle/>
          <a:p>
            <a:pPr algn="ctr" indent="0" marL="0">
              <a:buNone/>
            </a:pPr>
            <a:r>
              <a:rPr lang="en-US" sz="740" b="1" dirty="0">
                <a:solidFill>
                  <a:srgbClr val="B45309"/>
                </a:solidFill>
              </a:rPr>
              <a:t>Medium</a:t>
            </a:r>
            <a:endParaRPr lang="en-US" sz="740" dirty="0"/>
          </a:p>
        </p:txBody>
      </p:sp>
      <p:sp>
        <p:nvSpPr>
          <p:cNvPr id="15" name="Text 12"/>
          <p:cNvSpPr/>
          <p:nvPr/>
        </p:nvSpPr>
        <p:spPr>
          <a:xfrm>
            <a:off x="868680" y="2633472"/>
            <a:ext cx="3051048" cy="219456"/>
          </a:xfrm>
          <a:prstGeom prst="rect">
            <a:avLst/>
          </a:prstGeom>
          <a:noFill/>
          <a:ln/>
        </p:spPr>
        <p:txBody>
          <a:bodyPr wrap="square" lIns="0" tIns="0" rIns="0" bIns="0" rtlCol="0" anchor="ctr">
            <a:normAutofit/>
          </a:bodyPr>
          <a:lstStyle/>
          <a:p>
            <a:pPr indent="0" marL="0">
              <a:buNone/>
            </a:pPr>
            <a:r>
              <a:rPr lang="en-US" sz="1100" b="1" dirty="0">
                <a:solidFill>
                  <a:srgbClr val="0F172A"/>
                </a:solidFill>
              </a:rPr>
              <a:t>L&amp;D Manager</a:t>
            </a:r>
            <a:endParaRPr lang="en-US" sz="1100" dirty="0"/>
          </a:p>
        </p:txBody>
      </p:sp>
      <p:sp>
        <p:nvSpPr>
          <p:cNvPr id="16" name="Text 13"/>
          <p:cNvSpPr/>
          <p:nvPr/>
        </p:nvSpPr>
        <p:spPr>
          <a:xfrm>
            <a:off x="868680" y="3090672"/>
            <a:ext cx="3051048" cy="841248"/>
          </a:xfrm>
          <a:prstGeom prst="rect">
            <a:avLst/>
          </a:prstGeom>
          <a:noFill/>
          <a:ln/>
        </p:spPr>
        <p:txBody>
          <a:bodyPr wrap="square" lIns="0" tIns="0" rIns="0" bIns="0" rtlCol="0" anchor="t">
            <a:normAutofit/>
          </a:bodyPr>
          <a:lstStyle/>
          <a:p>
            <a:pPr indent="0" marL="0">
              <a:buNone/>
            </a:pPr>
            <a:r>
              <a:rPr lang="en-US" sz="1050" dirty="0">
                <a:solidFill>
                  <a:srgbClr val="0F172A"/>
                </a:solidFill>
              </a:rPr>
              <a:t>Maintain the current delivery model and reuse top-performing materials for future cohorts.</a:t>
            </a:r>
            <a:endParaRPr lang="en-US" sz="1050" dirty="0"/>
          </a:p>
        </p:txBody>
      </p:sp>
      <p:sp>
        <p:nvSpPr>
          <p:cNvPr id="17" name="Text 14"/>
          <p:cNvSpPr/>
          <p:nvPr/>
        </p:nvSpPr>
        <p:spPr>
          <a:xfrm>
            <a:off x="868680" y="4315968"/>
            <a:ext cx="3051048" cy="164592"/>
          </a:xfrm>
          <a:prstGeom prst="rect">
            <a:avLst/>
          </a:prstGeom>
          <a:noFill/>
          <a:ln/>
        </p:spPr>
        <p:txBody>
          <a:bodyPr wrap="square" lIns="0" tIns="0" rIns="0" bIns="0" rtlCol="0" anchor="ctr"/>
          <a:lstStyle/>
          <a:p>
            <a:pPr indent="0" marL="0">
              <a:buNone/>
            </a:pPr>
            <a:r>
              <a:rPr lang="en-US" sz="800" b="1" dirty="0">
                <a:solidFill>
                  <a:srgbClr val="64748B"/>
                </a:solidFill>
              </a:rPr>
              <a:t>Expected outcome</a:t>
            </a:r>
            <a:endParaRPr lang="en-US" sz="800" dirty="0"/>
          </a:p>
        </p:txBody>
      </p:sp>
      <p:sp>
        <p:nvSpPr>
          <p:cNvPr id="18" name="Text 15"/>
          <p:cNvSpPr/>
          <p:nvPr/>
        </p:nvSpPr>
        <p:spPr>
          <a:xfrm>
            <a:off x="868680" y="4590288"/>
            <a:ext cx="3051048" cy="594360"/>
          </a:xfrm>
          <a:prstGeom prst="rect">
            <a:avLst/>
          </a:prstGeom>
          <a:noFill/>
          <a:ln/>
        </p:spPr>
        <p:txBody>
          <a:bodyPr wrap="square" lIns="0" tIns="0" rIns="0" bIns="0" rtlCol="0" anchor="ctr">
            <a:normAutofit/>
          </a:bodyPr>
          <a:lstStyle/>
          <a:p>
            <a:pPr indent="0" marL="0">
              <a:buNone/>
            </a:pPr>
            <a:r>
              <a:rPr lang="en-US" sz="920" dirty="0">
                <a:solidFill>
                  <a:srgbClr val="64748B"/>
                </a:solidFill>
              </a:rPr>
              <a:t>Improve training effectiveness and repeatability.</a:t>
            </a:r>
            <a:endParaRPr lang="en-US" sz="920" dirty="0"/>
          </a:p>
        </p:txBody>
      </p:sp>
      <p:sp>
        <p:nvSpPr>
          <p:cNvPr id="19" name="Shape 16"/>
          <p:cNvSpPr/>
          <p:nvPr/>
        </p:nvSpPr>
        <p:spPr>
          <a:xfrm>
            <a:off x="5847588" y="1234440"/>
            <a:ext cx="512064" cy="512064"/>
          </a:xfrm>
          <a:prstGeom prst="ellipse">
            <a:avLst/>
          </a:prstGeom>
          <a:solidFill>
            <a:srgbClr val="B45309"/>
          </a:solidFill>
          <a:ln w="12700">
            <a:solidFill>
              <a:srgbClr val="FFFFFF"/>
            </a:solidFill>
            <a:prstDash val="solid"/>
          </a:ln>
        </p:spPr>
      </p:sp>
      <p:sp>
        <p:nvSpPr>
          <p:cNvPr id="20" name="Text 17"/>
          <p:cNvSpPr/>
          <p:nvPr/>
        </p:nvSpPr>
        <p:spPr>
          <a:xfrm>
            <a:off x="5847588" y="1234440"/>
            <a:ext cx="512064" cy="512064"/>
          </a:xfrm>
          <a:prstGeom prst="rect">
            <a:avLst/>
          </a:prstGeom>
          <a:noFill/>
          <a:ln/>
        </p:spPr>
        <p:txBody>
          <a:bodyPr wrap="square" lIns="0" tIns="0" rIns="0" bIns="0" rtlCol="0" anchor="ctr"/>
          <a:lstStyle/>
          <a:p>
            <a:pPr algn="ctr" indent="0" marL="0">
              <a:buNone/>
            </a:pPr>
            <a:r>
              <a:rPr lang="en-US" sz="1100" b="1" dirty="0">
                <a:solidFill>
                  <a:srgbClr val="FFFFFF"/>
                </a:solidFill>
              </a:rPr>
              <a:t>2</a:t>
            </a:r>
            <a:endParaRPr lang="en-US" sz="1100" dirty="0"/>
          </a:p>
        </p:txBody>
      </p:sp>
      <p:sp>
        <p:nvSpPr>
          <p:cNvPr id="21" name="Shape 18"/>
          <p:cNvSpPr/>
          <p:nvPr/>
        </p:nvSpPr>
        <p:spPr>
          <a:xfrm>
            <a:off x="4395216" y="1938528"/>
            <a:ext cx="3416808" cy="3364992"/>
          </a:xfrm>
          <a:prstGeom prst="roundRect">
            <a:avLst>
              <a:gd name="adj" fmla="val 2174"/>
            </a:avLst>
          </a:prstGeom>
          <a:solidFill>
            <a:srgbClr val="FFFFFF"/>
          </a:solidFill>
          <a:ln w="12700">
            <a:solidFill>
              <a:srgbClr val="CBD5E1"/>
            </a:solidFill>
            <a:prstDash val="solid"/>
          </a:ln>
        </p:spPr>
      </p:sp>
      <p:sp>
        <p:nvSpPr>
          <p:cNvPr id="22" name="Text 19"/>
          <p:cNvSpPr/>
          <p:nvPr/>
        </p:nvSpPr>
        <p:spPr>
          <a:xfrm>
            <a:off x="4578096" y="2212848"/>
            <a:ext cx="2273808" cy="164592"/>
          </a:xfrm>
          <a:prstGeom prst="rect">
            <a:avLst/>
          </a:prstGeom>
          <a:noFill/>
          <a:ln/>
        </p:spPr>
        <p:txBody>
          <a:bodyPr wrap="square" lIns="0" tIns="0" rIns="0" bIns="0" rtlCol="0" anchor="ctr"/>
          <a:lstStyle/>
          <a:p>
            <a:pPr indent="0" marL="0">
              <a:buNone/>
            </a:pPr>
            <a:r>
              <a:rPr lang="en-US" sz="800" b="1" dirty="0">
                <a:solidFill>
                  <a:srgbClr val="64748B"/>
                </a:solidFill>
              </a:rPr>
              <a:t>ACTION 2</a:t>
            </a:r>
            <a:endParaRPr lang="en-US" sz="800" dirty="0"/>
          </a:p>
        </p:txBody>
      </p:sp>
      <p:sp>
        <p:nvSpPr>
          <p:cNvPr id="23" name="Shape 20"/>
          <p:cNvSpPr/>
          <p:nvPr/>
        </p:nvSpPr>
        <p:spPr>
          <a:xfrm>
            <a:off x="6851904" y="2148840"/>
            <a:ext cx="749808" cy="256032"/>
          </a:xfrm>
          <a:prstGeom prst="roundRect">
            <a:avLst>
              <a:gd name="adj" fmla="val 28571"/>
            </a:avLst>
          </a:prstGeom>
          <a:solidFill>
            <a:srgbClr val="FEF3C7"/>
          </a:solidFill>
          <a:ln w="12700">
            <a:solidFill>
              <a:srgbClr val="FEF3C7"/>
            </a:solidFill>
            <a:prstDash val="solid"/>
          </a:ln>
        </p:spPr>
      </p:sp>
      <p:sp>
        <p:nvSpPr>
          <p:cNvPr id="24" name="Text 21"/>
          <p:cNvSpPr/>
          <p:nvPr/>
        </p:nvSpPr>
        <p:spPr>
          <a:xfrm>
            <a:off x="6888480" y="2148840"/>
            <a:ext cx="676656" cy="256032"/>
          </a:xfrm>
          <a:prstGeom prst="rect">
            <a:avLst/>
          </a:prstGeom>
          <a:noFill/>
          <a:ln/>
        </p:spPr>
        <p:txBody>
          <a:bodyPr wrap="square" lIns="127" tIns="127" rIns="127" bIns="127" rtlCol="0" anchor="ctr">
            <a:normAutofit/>
          </a:bodyPr>
          <a:lstStyle/>
          <a:p>
            <a:pPr algn="ctr" indent="0" marL="0">
              <a:buNone/>
            </a:pPr>
            <a:r>
              <a:rPr lang="en-US" sz="740" b="1" dirty="0">
                <a:solidFill>
                  <a:srgbClr val="B45309"/>
                </a:solidFill>
              </a:rPr>
              <a:t>Medium</a:t>
            </a:r>
            <a:endParaRPr lang="en-US" sz="740" dirty="0"/>
          </a:p>
        </p:txBody>
      </p:sp>
      <p:sp>
        <p:nvSpPr>
          <p:cNvPr id="25" name="Text 22"/>
          <p:cNvSpPr/>
          <p:nvPr/>
        </p:nvSpPr>
        <p:spPr>
          <a:xfrm>
            <a:off x="4578096" y="2633472"/>
            <a:ext cx="3051048" cy="219456"/>
          </a:xfrm>
          <a:prstGeom prst="rect">
            <a:avLst/>
          </a:prstGeom>
          <a:noFill/>
          <a:ln/>
        </p:spPr>
        <p:txBody>
          <a:bodyPr wrap="square" lIns="0" tIns="0" rIns="0" bIns="0" rtlCol="0" anchor="ctr">
            <a:normAutofit/>
          </a:bodyPr>
          <a:lstStyle/>
          <a:p>
            <a:pPr indent="0" marL="0">
              <a:buNone/>
            </a:pPr>
            <a:r>
              <a:rPr lang="en-US" sz="1100" b="1" dirty="0">
                <a:solidFill>
                  <a:srgbClr val="0F172A"/>
                </a:solidFill>
              </a:rPr>
              <a:t>L&amp;D Manager</a:t>
            </a:r>
            <a:endParaRPr lang="en-US" sz="1100" dirty="0"/>
          </a:p>
        </p:txBody>
      </p:sp>
      <p:sp>
        <p:nvSpPr>
          <p:cNvPr id="26" name="Text 23"/>
          <p:cNvSpPr/>
          <p:nvPr/>
        </p:nvSpPr>
        <p:spPr>
          <a:xfrm>
            <a:off x="4578096" y="3090672"/>
            <a:ext cx="3051048" cy="841248"/>
          </a:xfrm>
          <a:prstGeom prst="rect">
            <a:avLst/>
          </a:prstGeom>
          <a:noFill/>
          <a:ln/>
        </p:spPr>
        <p:txBody>
          <a:bodyPr wrap="square" lIns="0" tIns="0" rIns="0" bIns="0" rtlCol="0" anchor="t">
            <a:normAutofit/>
          </a:bodyPr>
          <a:lstStyle/>
          <a:p>
            <a:pPr indent="0" marL="0">
              <a:buNone/>
            </a:pPr>
            <a:r>
              <a:rPr lang="en-US" sz="1050" dirty="0">
                <a:solidFill>
                  <a:srgbClr val="0F172A"/>
                </a:solidFill>
              </a:rPr>
              <a:t>To maintain and enhance the effectiveness of future training initiatives, it is recommended to continue leveraging successful course elements identified in this program.</a:t>
            </a:r>
            <a:endParaRPr lang="en-US" sz="1050" dirty="0"/>
          </a:p>
        </p:txBody>
      </p:sp>
      <p:sp>
        <p:nvSpPr>
          <p:cNvPr id="27" name="Text 24"/>
          <p:cNvSpPr/>
          <p:nvPr/>
        </p:nvSpPr>
        <p:spPr>
          <a:xfrm>
            <a:off x="4578096" y="4315968"/>
            <a:ext cx="3051048" cy="164592"/>
          </a:xfrm>
          <a:prstGeom prst="rect">
            <a:avLst/>
          </a:prstGeom>
          <a:noFill/>
          <a:ln/>
        </p:spPr>
        <p:txBody>
          <a:bodyPr wrap="square" lIns="0" tIns="0" rIns="0" bIns="0" rtlCol="0" anchor="ctr"/>
          <a:lstStyle/>
          <a:p>
            <a:pPr indent="0" marL="0">
              <a:buNone/>
            </a:pPr>
            <a:r>
              <a:rPr lang="en-US" sz="800" b="1" dirty="0">
                <a:solidFill>
                  <a:srgbClr val="64748B"/>
                </a:solidFill>
              </a:rPr>
              <a:t>Expected outcome</a:t>
            </a:r>
            <a:endParaRPr lang="en-US" sz="800" dirty="0"/>
          </a:p>
        </p:txBody>
      </p:sp>
      <p:sp>
        <p:nvSpPr>
          <p:cNvPr id="28" name="Text 25"/>
          <p:cNvSpPr/>
          <p:nvPr/>
        </p:nvSpPr>
        <p:spPr>
          <a:xfrm>
            <a:off x="4578096" y="4590288"/>
            <a:ext cx="3051048" cy="594360"/>
          </a:xfrm>
          <a:prstGeom prst="rect">
            <a:avLst/>
          </a:prstGeom>
          <a:noFill/>
          <a:ln/>
        </p:spPr>
        <p:txBody>
          <a:bodyPr wrap="square" lIns="0" tIns="0" rIns="0" bIns="0" rtlCol="0" anchor="ctr">
            <a:normAutofit/>
          </a:bodyPr>
          <a:lstStyle/>
          <a:p>
            <a:pPr indent="0" marL="0">
              <a:buNone/>
            </a:pPr>
            <a:r>
              <a:rPr lang="en-US" sz="920" dirty="0">
                <a:solidFill>
                  <a:srgbClr val="64748B"/>
                </a:solidFill>
              </a:rPr>
              <a:t>Improve training effectiveness and repeatability.</a:t>
            </a:r>
            <a:endParaRPr lang="en-US" sz="920" dirty="0"/>
          </a:p>
        </p:txBody>
      </p:sp>
      <p:sp>
        <p:nvSpPr>
          <p:cNvPr id="29" name="Shape 26"/>
          <p:cNvSpPr/>
          <p:nvPr/>
        </p:nvSpPr>
        <p:spPr>
          <a:xfrm>
            <a:off x="9557004" y="1234440"/>
            <a:ext cx="512064" cy="512064"/>
          </a:xfrm>
          <a:prstGeom prst="ellipse">
            <a:avLst/>
          </a:prstGeom>
          <a:solidFill>
            <a:srgbClr val="B91C1C"/>
          </a:solidFill>
          <a:ln w="12700">
            <a:solidFill>
              <a:srgbClr val="FFFFFF"/>
            </a:solidFill>
            <a:prstDash val="solid"/>
          </a:ln>
        </p:spPr>
      </p:sp>
      <p:sp>
        <p:nvSpPr>
          <p:cNvPr id="30" name="Text 27"/>
          <p:cNvSpPr/>
          <p:nvPr/>
        </p:nvSpPr>
        <p:spPr>
          <a:xfrm>
            <a:off x="9557004" y="1234440"/>
            <a:ext cx="512064" cy="512064"/>
          </a:xfrm>
          <a:prstGeom prst="rect">
            <a:avLst/>
          </a:prstGeom>
          <a:noFill/>
          <a:ln/>
        </p:spPr>
        <p:txBody>
          <a:bodyPr wrap="square" lIns="0" tIns="0" rIns="0" bIns="0" rtlCol="0" anchor="ctr"/>
          <a:lstStyle/>
          <a:p>
            <a:pPr algn="ctr" indent="0" marL="0">
              <a:buNone/>
            </a:pPr>
            <a:r>
              <a:rPr lang="en-US" sz="1100" b="1" dirty="0">
                <a:solidFill>
                  <a:srgbClr val="FFFFFF"/>
                </a:solidFill>
              </a:rPr>
              <a:t>3</a:t>
            </a:r>
            <a:endParaRPr lang="en-US" sz="1100" dirty="0"/>
          </a:p>
        </p:txBody>
      </p:sp>
      <p:sp>
        <p:nvSpPr>
          <p:cNvPr id="31" name="Shape 28"/>
          <p:cNvSpPr/>
          <p:nvPr/>
        </p:nvSpPr>
        <p:spPr>
          <a:xfrm>
            <a:off x="8104632" y="1938528"/>
            <a:ext cx="3416808" cy="3364992"/>
          </a:xfrm>
          <a:prstGeom prst="roundRect">
            <a:avLst>
              <a:gd name="adj" fmla="val 2174"/>
            </a:avLst>
          </a:prstGeom>
          <a:solidFill>
            <a:srgbClr val="FFFFFF"/>
          </a:solidFill>
          <a:ln w="12700">
            <a:solidFill>
              <a:srgbClr val="CBD5E1"/>
            </a:solidFill>
            <a:prstDash val="solid"/>
          </a:ln>
        </p:spPr>
      </p:sp>
      <p:sp>
        <p:nvSpPr>
          <p:cNvPr id="32" name="Text 29"/>
          <p:cNvSpPr/>
          <p:nvPr/>
        </p:nvSpPr>
        <p:spPr>
          <a:xfrm>
            <a:off x="8287512" y="2212848"/>
            <a:ext cx="2273808" cy="164592"/>
          </a:xfrm>
          <a:prstGeom prst="rect">
            <a:avLst/>
          </a:prstGeom>
          <a:noFill/>
          <a:ln/>
        </p:spPr>
        <p:txBody>
          <a:bodyPr wrap="square" lIns="0" tIns="0" rIns="0" bIns="0" rtlCol="0" anchor="ctr"/>
          <a:lstStyle/>
          <a:p>
            <a:pPr indent="0" marL="0">
              <a:buNone/>
            </a:pPr>
            <a:r>
              <a:rPr lang="en-US" sz="800" b="1" dirty="0">
                <a:solidFill>
                  <a:srgbClr val="64748B"/>
                </a:solidFill>
              </a:rPr>
              <a:t>ACTION 3</a:t>
            </a:r>
            <a:endParaRPr lang="en-US" sz="800" dirty="0"/>
          </a:p>
        </p:txBody>
      </p:sp>
      <p:sp>
        <p:nvSpPr>
          <p:cNvPr id="33" name="Shape 30"/>
          <p:cNvSpPr/>
          <p:nvPr/>
        </p:nvSpPr>
        <p:spPr>
          <a:xfrm>
            <a:off x="10561320" y="2148840"/>
            <a:ext cx="749808" cy="256032"/>
          </a:xfrm>
          <a:prstGeom prst="roundRect">
            <a:avLst>
              <a:gd name="adj" fmla="val 28571"/>
            </a:avLst>
          </a:prstGeom>
          <a:solidFill>
            <a:srgbClr val="FEE2E2"/>
          </a:solidFill>
          <a:ln w="12700">
            <a:solidFill>
              <a:srgbClr val="FEE2E2"/>
            </a:solidFill>
            <a:prstDash val="solid"/>
          </a:ln>
        </p:spPr>
      </p:sp>
      <p:sp>
        <p:nvSpPr>
          <p:cNvPr id="34" name="Text 31"/>
          <p:cNvSpPr/>
          <p:nvPr/>
        </p:nvSpPr>
        <p:spPr>
          <a:xfrm>
            <a:off x="10597896" y="2148840"/>
            <a:ext cx="676656" cy="256032"/>
          </a:xfrm>
          <a:prstGeom prst="rect">
            <a:avLst/>
          </a:prstGeom>
          <a:noFill/>
          <a:ln/>
        </p:spPr>
        <p:txBody>
          <a:bodyPr wrap="square" lIns="127" tIns="127" rIns="127" bIns="127" rtlCol="0" anchor="ctr">
            <a:normAutofit/>
          </a:bodyPr>
          <a:lstStyle/>
          <a:p>
            <a:pPr algn="ctr" indent="0" marL="0">
              <a:buNone/>
            </a:pPr>
            <a:r>
              <a:rPr lang="en-US" sz="740" b="1" dirty="0">
                <a:solidFill>
                  <a:srgbClr val="B91C1C"/>
                </a:solidFill>
              </a:rPr>
              <a:t>High</a:t>
            </a:r>
            <a:endParaRPr lang="en-US" sz="740" dirty="0"/>
          </a:p>
        </p:txBody>
      </p:sp>
      <p:sp>
        <p:nvSpPr>
          <p:cNvPr id="35" name="Text 32"/>
          <p:cNvSpPr/>
          <p:nvPr/>
        </p:nvSpPr>
        <p:spPr>
          <a:xfrm>
            <a:off x="8287512" y="2633472"/>
            <a:ext cx="3051048" cy="219456"/>
          </a:xfrm>
          <a:prstGeom prst="rect">
            <a:avLst/>
          </a:prstGeom>
          <a:noFill/>
          <a:ln/>
        </p:spPr>
        <p:txBody>
          <a:bodyPr wrap="square" lIns="0" tIns="0" rIns="0" bIns="0" rtlCol="0" anchor="ctr">
            <a:normAutofit/>
          </a:bodyPr>
          <a:lstStyle/>
          <a:p>
            <a:pPr indent="0" marL="0">
              <a:buNone/>
            </a:pPr>
            <a:r>
              <a:rPr lang="en-US" sz="1100" b="1" dirty="0">
                <a:solidFill>
                  <a:srgbClr val="0F172A"/>
                </a:solidFill>
              </a:rPr>
              <a:t>L&amp;D Manager</a:t>
            </a:r>
            <a:endParaRPr lang="en-US" sz="1100" dirty="0"/>
          </a:p>
        </p:txBody>
      </p:sp>
      <p:sp>
        <p:nvSpPr>
          <p:cNvPr id="36" name="Text 33"/>
          <p:cNvSpPr/>
          <p:nvPr/>
        </p:nvSpPr>
        <p:spPr>
          <a:xfrm>
            <a:off x="8287512" y="3090672"/>
            <a:ext cx="3051048" cy="841248"/>
          </a:xfrm>
          <a:prstGeom prst="rect">
            <a:avLst/>
          </a:prstGeom>
          <a:noFill/>
          <a:ln/>
        </p:spPr>
        <p:txBody>
          <a:bodyPr wrap="square" lIns="0" tIns="0" rIns="0" bIns="0" rtlCol="0" anchor="t">
            <a:normAutofit/>
          </a:bodyPr>
          <a:lstStyle/>
          <a:p>
            <a:pPr indent="0" marL="0">
              <a:buNone/>
            </a:pPr>
            <a:r>
              <a:rPr lang="en-US" sz="1050" dirty="0">
                <a:solidFill>
                  <a:srgbClr val="0F172A"/>
                </a:solidFill>
              </a:rPr>
              <a:t>Additionally, consider implementing advanced training techniques or supplementary resources to further elevate trainee performance and engagement, particularly for those who may benefit from additional support.</a:t>
            </a:r>
            <a:endParaRPr lang="en-US" sz="1050" dirty="0"/>
          </a:p>
        </p:txBody>
      </p:sp>
      <p:sp>
        <p:nvSpPr>
          <p:cNvPr id="37" name="Text 34"/>
          <p:cNvSpPr/>
          <p:nvPr/>
        </p:nvSpPr>
        <p:spPr>
          <a:xfrm>
            <a:off x="8287512" y="4315968"/>
            <a:ext cx="3051048" cy="164592"/>
          </a:xfrm>
          <a:prstGeom prst="rect">
            <a:avLst/>
          </a:prstGeom>
          <a:noFill/>
          <a:ln/>
        </p:spPr>
        <p:txBody>
          <a:bodyPr wrap="square" lIns="0" tIns="0" rIns="0" bIns="0" rtlCol="0" anchor="ctr"/>
          <a:lstStyle/>
          <a:p>
            <a:pPr indent="0" marL="0">
              <a:buNone/>
            </a:pPr>
            <a:r>
              <a:rPr lang="en-US" sz="800" b="1" dirty="0">
                <a:solidFill>
                  <a:srgbClr val="64748B"/>
                </a:solidFill>
              </a:rPr>
              <a:t>Expected outcome</a:t>
            </a:r>
            <a:endParaRPr lang="en-US" sz="800" dirty="0"/>
          </a:p>
        </p:txBody>
      </p:sp>
      <p:sp>
        <p:nvSpPr>
          <p:cNvPr id="38" name="Text 35"/>
          <p:cNvSpPr/>
          <p:nvPr/>
        </p:nvSpPr>
        <p:spPr>
          <a:xfrm>
            <a:off x="8287512" y="4590288"/>
            <a:ext cx="3051048" cy="594360"/>
          </a:xfrm>
          <a:prstGeom prst="rect">
            <a:avLst/>
          </a:prstGeom>
          <a:noFill/>
          <a:ln/>
        </p:spPr>
        <p:txBody>
          <a:bodyPr wrap="square" lIns="0" tIns="0" rIns="0" bIns="0" rtlCol="0" anchor="ctr">
            <a:normAutofit/>
          </a:bodyPr>
          <a:lstStyle/>
          <a:p>
            <a:pPr indent="0" marL="0">
              <a:buNone/>
            </a:pPr>
            <a:r>
              <a:rPr lang="en-US" sz="920" dirty="0">
                <a:solidFill>
                  <a:srgbClr val="64748B"/>
                </a:solidFill>
              </a:rPr>
              <a:t>Improve learner recovery and reduce support-needed cases.</a:t>
            </a:r>
            <a:endParaRPr lang="en-US" sz="9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Appendix and methodology</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Course DevOps_02_2026 | Type full</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Passed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7" name="Text 5"/>
          <p:cNvSpPr/>
          <p:nvPr/>
        </p:nvSpPr>
        <p:spPr>
          <a:xfrm>
            <a:off x="594360" y="1051560"/>
            <a:ext cx="2926080" cy="274320"/>
          </a:xfrm>
          <a:prstGeom prst="rect">
            <a:avLst/>
          </a:prstGeom>
          <a:noFill/>
          <a:ln/>
        </p:spPr>
        <p:txBody>
          <a:bodyPr wrap="square" rtlCol="0" anchor="ctr"/>
          <a:lstStyle/>
          <a:p>
            <a:pPr indent="0" marL="0">
              <a:buNone/>
            </a:pPr>
            <a:r>
              <a:rPr lang="en-US" sz="1600" b="1" dirty="0">
                <a:solidFill>
                  <a:srgbClr val="0F172A"/>
                </a:solidFill>
              </a:rPr>
              <a:t>Source traceability</a:t>
            </a:r>
            <a:endParaRPr lang="en-US" sz="1600" dirty="0"/>
          </a:p>
        </p:txBody>
      </p:sp>
      <p:sp>
        <p:nvSpPr>
          <p:cNvPr id="8" name="Text 6"/>
          <p:cNvSpPr/>
          <p:nvPr/>
        </p:nvSpPr>
        <p:spPr>
          <a:xfrm>
            <a:off x="731520" y="1481328"/>
            <a:ext cx="5120640" cy="219456"/>
          </a:xfrm>
          <a:prstGeom prst="rect">
            <a:avLst/>
          </a:prstGeom>
          <a:noFill/>
          <a:ln/>
        </p:spPr>
        <p:txBody>
          <a:bodyPr wrap="square" rtlCol="0" anchor="ctr">
            <a:normAutofit/>
          </a:bodyPr>
          <a:lstStyle/>
          <a:p>
            <a:pPr indent="0" marL="0">
              <a:buNone/>
            </a:pPr>
            <a:r>
              <a:rPr lang="en-US" sz="1050" dirty="0">
                <a:solidFill>
                  <a:srgbClr val="0F172A"/>
                </a:solidFill>
              </a:rPr>
              <a:t>Report ID: rpt_b7f84b2b-2429-46a0-b7c2-143fd0fe7170</a:t>
            </a:r>
            <a:endParaRPr lang="en-US" sz="1050" dirty="0"/>
          </a:p>
        </p:txBody>
      </p:sp>
      <p:sp>
        <p:nvSpPr>
          <p:cNvPr id="9" name="Text 7"/>
          <p:cNvSpPr/>
          <p:nvPr/>
        </p:nvSpPr>
        <p:spPr>
          <a:xfrm>
            <a:off x="731520" y="1792224"/>
            <a:ext cx="5120640" cy="219456"/>
          </a:xfrm>
          <a:prstGeom prst="rect">
            <a:avLst/>
          </a:prstGeom>
          <a:noFill/>
          <a:ln/>
        </p:spPr>
        <p:txBody>
          <a:bodyPr wrap="square" rtlCol="0" anchor="ctr">
            <a:normAutofit/>
          </a:bodyPr>
          <a:lstStyle/>
          <a:p>
            <a:pPr indent="0" marL="0">
              <a:buNone/>
            </a:pPr>
            <a:r>
              <a:rPr lang="en-US" sz="1050" dirty="0">
                <a:solidFill>
                  <a:srgbClr val="0F172A"/>
                </a:solidFill>
              </a:rPr>
              <a:t>Dataset ID: ds_dfde9e57c5cd5ab0</a:t>
            </a:r>
            <a:endParaRPr lang="en-US" sz="1050" dirty="0"/>
          </a:p>
        </p:txBody>
      </p:sp>
      <p:sp>
        <p:nvSpPr>
          <p:cNvPr id="10" name="Text 8"/>
          <p:cNvSpPr/>
          <p:nvPr/>
        </p:nvSpPr>
        <p:spPr>
          <a:xfrm>
            <a:off x="731520" y="2103120"/>
            <a:ext cx="5120640" cy="219456"/>
          </a:xfrm>
          <a:prstGeom prst="rect">
            <a:avLst/>
          </a:prstGeom>
          <a:noFill/>
          <a:ln/>
        </p:spPr>
        <p:txBody>
          <a:bodyPr wrap="square" rtlCol="0" anchor="ctr">
            <a:normAutofit/>
          </a:bodyPr>
          <a:lstStyle/>
          <a:p>
            <a:pPr indent="0" marL="0">
              <a:buNone/>
            </a:pPr>
            <a:r>
              <a:rPr lang="en-US" sz="1050" dirty="0">
                <a:solidFill>
                  <a:srgbClr val="0F172A"/>
                </a:solidFill>
              </a:rPr>
              <a:t>Metrics snapshot ID: mx_2b986bb4-e0d7-41fe-ba73-0b4d6b4da316</a:t>
            </a:r>
            <a:endParaRPr lang="en-US" sz="1050" dirty="0"/>
          </a:p>
        </p:txBody>
      </p:sp>
      <p:sp>
        <p:nvSpPr>
          <p:cNvPr id="11" name="Text 9"/>
          <p:cNvSpPr/>
          <p:nvPr/>
        </p:nvSpPr>
        <p:spPr>
          <a:xfrm>
            <a:off x="731520" y="2414016"/>
            <a:ext cx="5120640" cy="219456"/>
          </a:xfrm>
          <a:prstGeom prst="rect">
            <a:avLst/>
          </a:prstGeom>
          <a:noFill/>
          <a:ln/>
        </p:spPr>
        <p:txBody>
          <a:bodyPr wrap="square" rtlCol="0" anchor="ctr">
            <a:normAutofit/>
          </a:bodyPr>
          <a:lstStyle/>
          <a:p>
            <a:pPr indent="0" marL="0">
              <a:buNone/>
            </a:pPr>
            <a:r>
              <a:rPr lang="en-US" sz="1050" dirty="0">
                <a:solidFill>
                  <a:srgbClr val="0F172A"/>
                </a:solidFill>
              </a:rPr>
              <a:t>Evidence decision ID: ev_902e6610-1b30-4c53-8246-c2ac6873dd25</a:t>
            </a:r>
            <a:endParaRPr lang="en-US" sz="1050" dirty="0"/>
          </a:p>
        </p:txBody>
      </p:sp>
      <p:sp>
        <p:nvSpPr>
          <p:cNvPr id="12" name="Text 10"/>
          <p:cNvSpPr/>
          <p:nvPr/>
        </p:nvSpPr>
        <p:spPr>
          <a:xfrm>
            <a:off x="731520" y="2724912"/>
            <a:ext cx="5120640" cy="219456"/>
          </a:xfrm>
          <a:prstGeom prst="rect">
            <a:avLst/>
          </a:prstGeom>
          <a:noFill/>
          <a:ln/>
        </p:spPr>
        <p:txBody>
          <a:bodyPr wrap="square" rtlCol="0" anchor="ctr">
            <a:normAutofit/>
          </a:bodyPr>
          <a:lstStyle/>
          <a:p>
            <a:pPr indent="0" marL="0">
              <a:buNone/>
            </a:pPr>
            <a:r>
              <a:rPr lang="en-US" sz="1050" dirty="0">
                <a:solidFill>
                  <a:srgbClr val="0F172A"/>
                </a:solidFill>
              </a:rPr>
              <a:t>Governance view ID: gv_eb455253-a9c1-4c5f-86e8-103ac7d80184</a:t>
            </a:r>
            <a:endParaRPr lang="en-US" sz="1050" dirty="0"/>
          </a:p>
        </p:txBody>
      </p:sp>
      <p:sp>
        <p:nvSpPr>
          <p:cNvPr id="13" name="Text 11"/>
          <p:cNvSpPr/>
          <p:nvPr/>
        </p:nvSpPr>
        <p:spPr>
          <a:xfrm>
            <a:off x="731520" y="3035808"/>
            <a:ext cx="5120640" cy="219456"/>
          </a:xfrm>
          <a:prstGeom prst="rect">
            <a:avLst/>
          </a:prstGeom>
          <a:noFill/>
          <a:ln/>
        </p:spPr>
        <p:txBody>
          <a:bodyPr wrap="square" rtlCol="0" anchor="ctr">
            <a:normAutofit/>
          </a:bodyPr>
          <a:lstStyle/>
          <a:p>
            <a:pPr indent="0" marL="0">
              <a:buNone/>
            </a:pPr>
            <a:r>
              <a:rPr lang="en-US" sz="1050" dirty="0">
                <a:solidFill>
                  <a:srgbClr val="0F172A"/>
                </a:solidFill>
              </a:rPr>
              <a:t>Role view: L&amp;D Manager</a:t>
            </a:r>
            <a:endParaRPr lang="en-US" sz="1050" dirty="0"/>
          </a:p>
        </p:txBody>
      </p:sp>
      <p:sp>
        <p:nvSpPr>
          <p:cNvPr id="14" name="Text 12"/>
          <p:cNvSpPr/>
          <p:nvPr/>
        </p:nvSpPr>
        <p:spPr>
          <a:xfrm>
            <a:off x="731520" y="3346704"/>
            <a:ext cx="5120640" cy="219456"/>
          </a:xfrm>
          <a:prstGeom prst="rect">
            <a:avLst/>
          </a:prstGeom>
          <a:noFill/>
          <a:ln/>
        </p:spPr>
        <p:txBody>
          <a:bodyPr wrap="square" rtlCol="0" anchor="ctr">
            <a:normAutofit/>
          </a:bodyPr>
          <a:lstStyle/>
          <a:p>
            <a:pPr indent="0" marL="0">
              <a:buNone/>
            </a:pPr>
            <a:r>
              <a:rPr lang="en-US" sz="1050" dirty="0">
                <a:solidFill>
                  <a:srgbClr val="0F172A"/>
                </a:solidFill>
              </a:rPr>
              <a:t>Sensitive details: visible</a:t>
            </a:r>
            <a:endParaRPr lang="en-US" sz="1050" dirty="0"/>
          </a:p>
        </p:txBody>
      </p:sp>
      <p:sp>
        <p:nvSpPr>
          <p:cNvPr id="15" name="Text 13"/>
          <p:cNvSpPr/>
          <p:nvPr/>
        </p:nvSpPr>
        <p:spPr>
          <a:xfrm>
            <a:off x="6492240" y="1051560"/>
            <a:ext cx="2926080" cy="274320"/>
          </a:xfrm>
          <a:prstGeom prst="rect">
            <a:avLst/>
          </a:prstGeom>
          <a:noFill/>
          <a:ln/>
        </p:spPr>
        <p:txBody>
          <a:bodyPr wrap="square" rtlCol="0" anchor="ctr"/>
          <a:lstStyle/>
          <a:p>
            <a:pPr indent="0" marL="0">
              <a:buNone/>
            </a:pPr>
            <a:r>
              <a:rPr lang="en-US" sz="1600" b="1" dirty="0">
                <a:solidFill>
                  <a:srgbClr val="0F172A"/>
                </a:solidFill>
              </a:rPr>
              <a:t>LLM disclosure</a:t>
            </a:r>
            <a:endParaRPr lang="en-US" sz="1600" dirty="0"/>
          </a:p>
        </p:txBody>
      </p:sp>
      <p:sp>
        <p:nvSpPr>
          <p:cNvPr id="16" name="Shape 14"/>
          <p:cNvSpPr/>
          <p:nvPr/>
        </p:nvSpPr>
        <p:spPr>
          <a:xfrm>
            <a:off x="6492240" y="1463040"/>
            <a:ext cx="4983480" cy="1371600"/>
          </a:xfrm>
          <a:prstGeom prst="roundRect">
            <a:avLst>
              <a:gd name="adj" fmla="val 5333"/>
            </a:avLst>
          </a:prstGeom>
          <a:solidFill>
            <a:srgbClr val="F8FAFC"/>
          </a:solidFill>
          <a:ln w="12700">
            <a:solidFill>
              <a:srgbClr val="CBD5E1"/>
            </a:solidFill>
            <a:prstDash val="solid"/>
          </a:ln>
        </p:spPr>
      </p:sp>
      <p:sp>
        <p:nvSpPr>
          <p:cNvPr id="17" name="Text 15"/>
          <p:cNvSpPr/>
          <p:nvPr/>
        </p:nvSpPr>
        <p:spPr>
          <a:xfrm>
            <a:off x="6720840" y="1700784"/>
            <a:ext cx="4480560" cy="777240"/>
          </a:xfrm>
          <a:prstGeom prst="rect">
            <a:avLst/>
          </a:prstGeom>
          <a:noFill/>
          <a:ln/>
        </p:spPr>
        <p:txBody>
          <a:bodyPr wrap="square" rtlCol="0" anchor="ctr">
            <a:normAutofit/>
          </a:bodyPr>
          <a:lstStyle/>
          <a:p>
            <a:pPr indent="0" marL="0">
              <a:buNone/>
            </a:pPr>
            <a:r>
              <a:rPr lang="en-US" sz="1150" dirty="0">
                <a:solidFill>
                  <a:srgbClr val="0F172A"/>
                </a:solidFill>
              </a:rPr>
              <a:t>OpenAI gpt-4o-mini enriched narrative fields. Numeric metrics remain deterministic.</a:t>
            </a:r>
            <a:endParaRPr lang="en-US" sz="1150" dirty="0"/>
          </a:p>
        </p:txBody>
      </p:sp>
      <p:sp>
        <p:nvSpPr>
          <p:cNvPr id="18" name="Text 16"/>
          <p:cNvSpPr/>
          <p:nvPr/>
        </p:nvSpPr>
        <p:spPr>
          <a:xfrm>
            <a:off x="6492240" y="3246120"/>
            <a:ext cx="2926080" cy="274320"/>
          </a:xfrm>
          <a:prstGeom prst="rect">
            <a:avLst/>
          </a:prstGeom>
          <a:noFill/>
          <a:ln/>
        </p:spPr>
        <p:txBody>
          <a:bodyPr wrap="square" rtlCol="0" anchor="ctr"/>
          <a:lstStyle/>
          <a:p>
            <a:pPr indent="0" marL="0">
              <a:buNone/>
            </a:pPr>
            <a:r>
              <a:rPr lang="en-US" sz="1600" b="1" dirty="0">
                <a:solidFill>
                  <a:srgbClr val="0F172A"/>
                </a:solidFill>
              </a:rPr>
              <a:t>Business rule</a:t>
            </a:r>
            <a:endParaRPr lang="en-US" sz="1600" dirty="0"/>
          </a:p>
        </p:txBody>
      </p:sp>
      <p:sp>
        <p:nvSpPr>
          <p:cNvPr id="19" name="Text 17"/>
          <p:cNvSpPr/>
          <p:nvPr/>
        </p:nvSpPr>
        <p:spPr>
          <a:xfrm>
            <a:off x="6492240" y="3675888"/>
            <a:ext cx="4892040" cy="685800"/>
          </a:xfrm>
          <a:prstGeom prst="rect">
            <a:avLst/>
          </a:prstGeom>
          <a:noFill/>
          <a:ln/>
        </p:spPr>
        <p:txBody>
          <a:bodyPr wrap="square" rtlCol="0" anchor="ctr">
            <a:normAutofit/>
          </a:bodyPr>
          <a:lstStyle/>
          <a:p>
            <a:pPr indent="0" marL="0">
              <a:buNone/>
            </a:pPr>
            <a:r>
              <a:rPr lang="en-US" sz="1200" dirty="0">
                <a:solidFill>
                  <a:srgbClr val="0F172A"/>
                </a:solidFill>
              </a:rPr>
              <a:t>Completion rate is calculated from learner attendance &gt;= 70%. Pass rate is calculated independently from assessment pass status.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SETA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L&amp;D Training Effectiveness Report - DevOps Fundamentals: CI/CD, K8s, Monitoring</dc:title>
  <dc:subject>Training effectiveness is strong with validated evidence.</dc:subject>
  <dc:creator>SETA L&amp;D Reporting Agent</dc:creator>
  <cp:lastModifiedBy>SETA L&amp;D Reporting Agent</cp:lastModifiedBy>
  <cp:revision>1</cp:revision>
  <dcterms:created xsi:type="dcterms:W3CDTF">2026-06-22T15:45:22Z</dcterms:created>
  <dcterms:modified xsi:type="dcterms:W3CDTF">2026-06-22T15:45:22Z</dcterms:modified>
</cp:coreProperties>
</file>