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4.xml" ContentType="application/vnd.openxmlformats-officedocument.drawingml.chart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4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Governance flags by priority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B91C1C"/>
              </a:solidFill>
              <a:effectLst/>
            </c:spPr>
          </c:dPt>
          <c:dLbls>
            <c:dLbl>
              <c:idx val="0"/>
              <c:numFmt formatCode="General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000000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0"/>
              <c:showBubbleSize val="0"/>
            </c:dLbl>
            <c:numFmt formatCode="General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Sheet1!$A$2:$A$2</c:f>
              <c:strCache>
                <c:ptCount val="1"/>
                <c:pt idx="0">
                  <c:v>High</c:v>
                </c:pt>
              </c:strCache>
            </c:strRef>
          </c:cat>
          <c:val>
            <c:numRef>
              <c:f>Sheet1!$B$2:$B$2</c:f>
              <c:numCache>
                <c:ptCount val="1"/>
                <c:pt idx="0">
                  <c:v>1</c:v>
                </c:pt>
              </c:numCache>
            </c:numRef>
          </c:val>
        </c:ser>
        <c:firstSliceAng val="0"/>
        <c:holeSize val="68"/>
      </c:doughnutChart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Full executive summary
The selected scope contains 1 course(s), 1 completed course(s), and 13 trainee-course records. Overall attendance is 90.4%, completion is 100%, pass rate is 92.3%, and average score is 7.88/10. Total training hours are 188 and scaled cost is 9.6. Overall effectiveness classification is Risk.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Course performance profile
AI Agent &amp; LLM Application Development
Learners: 13
Attendance: 90.4%
Completion: 100%
Pass rate: 92.3%
Average score: 7.88/10
Effectiveness: 89.47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Recommended delivery sequence
1. Flag for coaching; assign buddy or practice resources
Owner: L&amp;D Manager
Outcome: Reduce support-needed learner cases from 1 to 0 (100% resolution against pass-score and attendance policy) by the next cohort review.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4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B1220"/>
          </a:solidFill>
          <a:ln w="12700">
            <a:solidFill>
              <a:srgbClr val="0B122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40080" y="594360"/>
            <a:ext cx="6217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93C5FD"/>
                </a:solidFill>
              </a:rPr>
              <a:t>Training Effectiveness Agent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40080" y="1143000"/>
            <a:ext cx="8046720" cy="12344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L&amp;D Training Effectiveness Report - AI Agent &amp; LLM Application Development</a:t>
            </a:r>
            <a:endParaRPr lang="en-US" sz="3400" dirty="0"/>
          </a:p>
        </p:txBody>
      </p:sp>
      <p:sp>
        <p:nvSpPr>
          <p:cNvPr id="6" name="Text 4"/>
          <p:cNvSpPr/>
          <p:nvPr/>
        </p:nvSpPr>
        <p:spPr>
          <a:xfrm>
            <a:off x="658368" y="2606040"/>
            <a:ext cx="777240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800" dirty="0">
                <a:solidFill>
                  <a:srgbClr val="CBD5E1"/>
                </a:solidFill>
              </a:rPr>
              <a:t>Training effectiveness is strong with validated evidence.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732520" y="960120"/>
            <a:ext cx="25603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93C5FD"/>
                </a:solidFill>
              </a:rPr>
              <a:t>VALIDATED PERFORMANCE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8887968" y="1325880"/>
            <a:ext cx="2240280" cy="2240280"/>
          </a:xfrm>
          <a:prstGeom prst="ellipse">
            <a:avLst/>
          </a:prstGeom>
          <a:solidFill>
            <a:srgbClr val="B91C1C">
              <a:alpha val="95000"/>
            </a:srgbClr>
          </a:solidFill>
          <a:ln w="12700">
            <a:solidFill>
              <a:srgbClr val="60A5FA">
                <a:alpha val="80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9281160" y="1719072"/>
            <a:ext cx="1453896" cy="1453896"/>
          </a:xfrm>
          <a:prstGeom prst="ellipse">
            <a:avLst/>
          </a:prstGeom>
          <a:solidFill>
            <a:srgbClr val="0B1220"/>
          </a:solidFill>
          <a:ln w="12700">
            <a:solidFill>
              <a:srgbClr val="0B1220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363456" y="2148840"/>
            <a:ext cx="129844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89.5/100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8851392" y="3749040"/>
            <a:ext cx="2331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Risk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668512" y="43159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Attendance</a:t>
            </a:r>
            <a:endParaRPr lang="en-US" sz="750" dirty="0"/>
          </a:p>
        </p:txBody>
      </p:sp>
      <p:sp>
        <p:nvSpPr>
          <p:cNvPr id="13" name="Shape 11"/>
          <p:cNvSpPr/>
          <p:nvPr/>
        </p:nvSpPr>
        <p:spPr>
          <a:xfrm>
            <a:off x="9555480" y="43342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9555480" y="4334256"/>
            <a:ext cx="991941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10716768" y="43068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90.4%</a:t>
            </a:r>
            <a:endParaRPr lang="en-US" sz="750" dirty="0"/>
          </a:p>
        </p:txBody>
      </p:sp>
      <p:sp>
        <p:nvSpPr>
          <p:cNvPr id="16" name="Text 14"/>
          <p:cNvSpPr/>
          <p:nvPr/>
        </p:nvSpPr>
        <p:spPr>
          <a:xfrm>
            <a:off x="8668512" y="47731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Completion</a:t>
            </a:r>
            <a:endParaRPr lang="en-US" sz="750" dirty="0"/>
          </a:p>
        </p:txBody>
      </p:sp>
      <p:sp>
        <p:nvSpPr>
          <p:cNvPr id="17" name="Shape 15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9555480" y="4791456"/>
            <a:ext cx="1097280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716768" y="47640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100%</a:t>
            </a:r>
            <a:endParaRPr lang="en-US" sz="750" dirty="0"/>
          </a:p>
        </p:txBody>
      </p:sp>
      <p:sp>
        <p:nvSpPr>
          <p:cNvPr id="20" name="Text 18"/>
          <p:cNvSpPr/>
          <p:nvPr/>
        </p:nvSpPr>
        <p:spPr>
          <a:xfrm>
            <a:off x="8668512" y="5230368"/>
            <a:ext cx="8686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dirty="0">
                <a:solidFill>
                  <a:srgbClr val="CBD5E1"/>
                </a:solidFill>
              </a:rPr>
              <a:t>Pass rate</a:t>
            </a:r>
            <a:endParaRPr lang="en-US" sz="750" dirty="0"/>
          </a:p>
        </p:txBody>
      </p:sp>
      <p:sp>
        <p:nvSpPr>
          <p:cNvPr id="21" name="Shape 19"/>
          <p:cNvSpPr/>
          <p:nvPr/>
        </p:nvSpPr>
        <p:spPr>
          <a:xfrm>
            <a:off x="9555480" y="5248656"/>
            <a:ext cx="1097280" cy="91440"/>
          </a:xfrm>
          <a:prstGeom prst="rect">
            <a:avLst/>
          </a:prstGeom>
          <a:solidFill>
            <a:srgbClr val="334155"/>
          </a:solidFill>
          <a:ln w="12700">
            <a:solidFill>
              <a:srgbClr val="334155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9555480" y="5248656"/>
            <a:ext cx="1012789" cy="91440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716768" y="5221224"/>
            <a:ext cx="56692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750" b="1" dirty="0">
                <a:solidFill>
                  <a:srgbClr val="FFFFFF"/>
                </a:solidFill>
              </a:rPr>
              <a:t>92.3%</a:t>
            </a:r>
            <a:endParaRPr lang="en-US" sz="750" dirty="0"/>
          </a:p>
        </p:txBody>
      </p:sp>
      <p:sp>
        <p:nvSpPr>
          <p:cNvPr id="24" name="Shape 22"/>
          <p:cNvSpPr/>
          <p:nvPr/>
        </p:nvSpPr>
        <p:spPr>
          <a:xfrm>
            <a:off x="658368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94944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Passed</a:t>
            </a:r>
            <a:endParaRPr lang="en-US" sz="740" dirty="0"/>
          </a:p>
        </p:txBody>
      </p:sp>
      <p:sp>
        <p:nvSpPr>
          <p:cNvPr id="26" name="Shape 24"/>
          <p:cNvSpPr/>
          <p:nvPr/>
        </p:nvSpPr>
        <p:spPr>
          <a:xfrm>
            <a:off x="205740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209397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Draft</a:t>
            </a:r>
            <a:endParaRPr lang="en-US" sz="740" dirty="0"/>
          </a:p>
        </p:txBody>
      </p:sp>
      <p:sp>
        <p:nvSpPr>
          <p:cNvPr id="28" name="Shape 26"/>
          <p:cNvSpPr/>
          <p:nvPr/>
        </p:nvSpPr>
        <p:spPr>
          <a:xfrm>
            <a:off x="3291840" y="37033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3328416" y="37033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L&amp;D Manager</a:t>
            </a:r>
            <a:endParaRPr lang="en-US" sz="740" dirty="0"/>
          </a:p>
        </p:txBody>
      </p:sp>
      <p:sp>
        <p:nvSpPr>
          <p:cNvPr id="30" name="Text 28"/>
          <p:cNvSpPr/>
          <p:nvPr/>
        </p:nvSpPr>
        <p:spPr>
          <a:xfrm>
            <a:off x="658368" y="5440680"/>
            <a:ext cx="56692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CBD5E1"/>
                </a:solidFill>
              </a:rPr>
              <a:t>Course AI Agent &amp; LLM Application Development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658368" y="5779008"/>
            <a:ext cx="3840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</a:rPr>
              <a:t>6/23/2026, 2:56:14 PM</a:t>
            </a:r>
            <a:endParaRPr lang="en-US" sz="1100" dirty="0"/>
          </a:p>
        </p:txBody>
      </p:sp>
      <p:sp>
        <p:nvSpPr>
          <p:cNvPr id="32" name="Text 30"/>
          <p:cNvSpPr/>
          <p:nvPr/>
        </p:nvSpPr>
        <p:spPr>
          <a:xfrm>
            <a:off x="9418320" y="6144768"/>
            <a:ext cx="20116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4A3B8"/>
                </a:solidFill>
              </a:rPr>
              <a:t>SETA L&amp;D Reporting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Executive snapshot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594360" y="1051560"/>
            <a:ext cx="676656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Training effectiveness is strong with validated evidence.</a:t>
            </a:r>
            <a:endParaRPr lang="en-US" sz="2100" dirty="0"/>
          </a:p>
        </p:txBody>
      </p:sp>
      <p:sp>
        <p:nvSpPr>
          <p:cNvPr id="9" name="Shape 6"/>
          <p:cNvSpPr/>
          <p:nvPr/>
        </p:nvSpPr>
        <p:spPr>
          <a:xfrm>
            <a:off x="621792" y="1828800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621792" y="1828800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1</a:t>
            </a:r>
            <a:endParaRPr lang="en-US" sz="850" dirty="0"/>
          </a:p>
        </p:txBody>
      </p:sp>
      <p:sp>
        <p:nvSpPr>
          <p:cNvPr id="11" name="Text 8"/>
          <p:cNvSpPr/>
          <p:nvPr/>
        </p:nvSpPr>
        <p:spPr>
          <a:xfrm>
            <a:off x="1097280" y="1783080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The selected scope contains 1 course(s), 1 completed course(s), and 13 trainee-course records.</a:t>
            </a:r>
            <a:endParaRPr lang="en-US" sz="1120" dirty="0"/>
          </a:p>
        </p:txBody>
      </p:sp>
      <p:sp>
        <p:nvSpPr>
          <p:cNvPr id="12" name="Shape 9"/>
          <p:cNvSpPr/>
          <p:nvPr/>
        </p:nvSpPr>
        <p:spPr>
          <a:xfrm>
            <a:off x="621792" y="2487168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621792" y="248716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2</a:t>
            </a:r>
            <a:endParaRPr lang="en-US" sz="850" dirty="0"/>
          </a:p>
        </p:txBody>
      </p:sp>
      <p:sp>
        <p:nvSpPr>
          <p:cNvPr id="14" name="Text 11"/>
          <p:cNvSpPr/>
          <p:nvPr/>
        </p:nvSpPr>
        <p:spPr>
          <a:xfrm>
            <a:off x="1097280" y="2441448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Overall attendance is 90.4%, completion is 100%, pass rate is 92.3%, and average score is 7.88/10.</a:t>
            </a:r>
            <a:endParaRPr lang="en-US" sz="1120" dirty="0"/>
          </a:p>
        </p:txBody>
      </p:sp>
      <p:sp>
        <p:nvSpPr>
          <p:cNvPr id="15" name="Shape 12"/>
          <p:cNvSpPr/>
          <p:nvPr/>
        </p:nvSpPr>
        <p:spPr>
          <a:xfrm>
            <a:off x="621792" y="3145536"/>
            <a:ext cx="310896" cy="310896"/>
          </a:xfrm>
          <a:prstGeom prst="ellipse">
            <a:avLst/>
          </a:prstGeom>
          <a:solidFill>
            <a:srgbClr val="DBEAFE"/>
          </a:solidFill>
          <a:ln w="12700">
            <a:solidFill>
              <a:srgbClr val="93C5FD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621792" y="314553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rgbClr val="2563EB"/>
                </a:solidFill>
              </a:rPr>
              <a:t>3</a:t>
            </a:r>
            <a:endParaRPr lang="en-US" sz="850" dirty="0"/>
          </a:p>
        </p:txBody>
      </p:sp>
      <p:sp>
        <p:nvSpPr>
          <p:cNvPr id="17" name="Text 14"/>
          <p:cNvSpPr/>
          <p:nvPr/>
        </p:nvSpPr>
        <p:spPr>
          <a:xfrm>
            <a:off x="1097280" y="3099816"/>
            <a:ext cx="6153912" cy="43891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20" dirty="0">
                <a:solidFill>
                  <a:srgbClr val="0F172A"/>
                </a:solidFill>
              </a:rPr>
              <a:t>Total training hours are 188 and scaled cost is 9.6.</a:t>
            </a:r>
            <a:endParaRPr lang="en-US" sz="1120" dirty="0"/>
          </a:p>
        </p:txBody>
      </p:sp>
      <p:sp>
        <p:nvSpPr>
          <p:cNvPr id="18" name="Shape 15"/>
          <p:cNvSpPr/>
          <p:nvPr/>
        </p:nvSpPr>
        <p:spPr>
          <a:xfrm>
            <a:off x="7818120" y="1005840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Text 16"/>
          <p:cNvSpPr/>
          <p:nvPr/>
        </p:nvSpPr>
        <p:spPr>
          <a:xfrm>
            <a:off x="8046720" y="1234440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20" name="Shape 17"/>
          <p:cNvSpPr/>
          <p:nvPr/>
        </p:nvSpPr>
        <p:spPr>
          <a:xfrm>
            <a:off x="8046720" y="1645920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8"/>
          <p:cNvSpPr/>
          <p:nvPr/>
        </p:nvSpPr>
        <p:spPr>
          <a:xfrm>
            <a:off x="8083296" y="1645920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22" name="Text 19"/>
          <p:cNvSpPr/>
          <p:nvPr/>
        </p:nvSpPr>
        <p:spPr>
          <a:xfrm>
            <a:off x="8046720" y="212140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23" name="Text 20"/>
          <p:cNvSpPr/>
          <p:nvPr/>
        </p:nvSpPr>
        <p:spPr>
          <a:xfrm>
            <a:off x="8046720" y="2423160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24" name="Text 21"/>
          <p:cNvSpPr/>
          <p:nvPr/>
        </p:nvSpPr>
        <p:spPr>
          <a:xfrm>
            <a:off x="8046720" y="2743200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25" name="Shape 22"/>
          <p:cNvSpPr/>
          <p:nvPr/>
        </p:nvSpPr>
        <p:spPr>
          <a:xfrm>
            <a:off x="59436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75895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27" name="Text 24"/>
          <p:cNvSpPr/>
          <p:nvPr/>
        </p:nvSpPr>
        <p:spPr>
          <a:xfrm>
            <a:off x="75895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28" name="Text 25"/>
          <p:cNvSpPr/>
          <p:nvPr/>
        </p:nvSpPr>
        <p:spPr>
          <a:xfrm>
            <a:off x="75895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29" name="Shape 26"/>
          <p:cNvSpPr/>
          <p:nvPr/>
        </p:nvSpPr>
        <p:spPr>
          <a:xfrm>
            <a:off x="216712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7"/>
          <p:cNvSpPr/>
          <p:nvPr/>
        </p:nvSpPr>
        <p:spPr>
          <a:xfrm>
            <a:off x="220370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1" name="Shape 28"/>
          <p:cNvSpPr/>
          <p:nvPr/>
        </p:nvSpPr>
        <p:spPr>
          <a:xfrm>
            <a:off x="338328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354787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33" name="Text 30"/>
          <p:cNvSpPr/>
          <p:nvPr/>
        </p:nvSpPr>
        <p:spPr>
          <a:xfrm>
            <a:off x="354787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34" name="Text 31"/>
          <p:cNvSpPr/>
          <p:nvPr/>
        </p:nvSpPr>
        <p:spPr>
          <a:xfrm>
            <a:off x="354787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495604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3"/>
          <p:cNvSpPr/>
          <p:nvPr/>
        </p:nvSpPr>
        <p:spPr>
          <a:xfrm>
            <a:off x="499262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7" name="Shape 34"/>
          <p:cNvSpPr/>
          <p:nvPr/>
        </p:nvSpPr>
        <p:spPr>
          <a:xfrm>
            <a:off x="617220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5"/>
          <p:cNvSpPr/>
          <p:nvPr/>
        </p:nvSpPr>
        <p:spPr>
          <a:xfrm>
            <a:off x="633679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39" name="Text 36"/>
          <p:cNvSpPr/>
          <p:nvPr/>
        </p:nvSpPr>
        <p:spPr>
          <a:xfrm>
            <a:off x="633679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40" name="Text 37"/>
          <p:cNvSpPr/>
          <p:nvPr/>
        </p:nvSpPr>
        <p:spPr>
          <a:xfrm>
            <a:off x="633679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74496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778154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43" name="Shape 40"/>
          <p:cNvSpPr/>
          <p:nvPr/>
        </p:nvSpPr>
        <p:spPr>
          <a:xfrm>
            <a:off x="8961120" y="4160520"/>
            <a:ext cx="2514600" cy="1143000"/>
          </a:xfrm>
          <a:prstGeom prst="roundRect">
            <a:avLst>
              <a:gd name="adj" fmla="val 640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9125712" y="430682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45" name="Text 42"/>
          <p:cNvSpPr/>
          <p:nvPr/>
        </p:nvSpPr>
        <p:spPr>
          <a:xfrm>
            <a:off x="9125712" y="454456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46" name="Text 43"/>
          <p:cNvSpPr/>
          <p:nvPr/>
        </p:nvSpPr>
        <p:spPr>
          <a:xfrm>
            <a:off x="9125712" y="494690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47" name="Shape 44"/>
          <p:cNvSpPr/>
          <p:nvPr/>
        </p:nvSpPr>
        <p:spPr>
          <a:xfrm>
            <a:off x="10533888" y="494690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8" name="Text 45"/>
          <p:cNvSpPr/>
          <p:nvPr/>
        </p:nvSpPr>
        <p:spPr>
          <a:xfrm>
            <a:off x="10570464" y="494690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Decision readiness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24128"/>
            <a:ext cx="3611880" cy="219456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22960" y="1252728"/>
            <a:ext cx="25603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Decision readiness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822960" y="1664208"/>
            <a:ext cx="114300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59536" y="1664208"/>
            <a:ext cx="106984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Allowed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822960" y="2139696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Missing evidence: 0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822960" y="2441448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F172A"/>
                </a:solidFill>
              </a:rPr>
              <a:t>Warnings: 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822960" y="2761488"/>
            <a:ext cx="306324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Final conclusion is allowed. Overall classification is Risk.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617720" y="1078992"/>
            <a:ext cx="6583680" cy="56692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Final conclusion is allowed. Overall classification is Risk.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4617720" y="1993392"/>
            <a:ext cx="292608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0F172A"/>
                </a:solidFill>
              </a:rPr>
              <a:t>Validated gate checks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617720" y="24231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745736" y="25786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782312" y="25786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9" name="Text 17"/>
          <p:cNvSpPr/>
          <p:nvPr/>
        </p:nvSpPr>
        <p:spPr>
          <a:xfrm>
            <a:off x="5623560" y="25328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Source availability and required columns</a:t>
            </a:r>
            <a:endParaRPr lang="en-US" sz="930" dirty="0"/>
          </a:p>
        </p:txBody>
      </p:sp>
      <p:sp>
        <p:nvSpPr>
          <p:cNvPr id="20" name="Text 18"/>
          <p:cNvSpPr/>
          <p:nvPr/>
        </p:nvSpPr>
        <p:spPr>
          <a:xfrm>
            <a:off x="7863840" y="25146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60" dirty="0"/>
          </a:p>
        </p:txBody>
      </p:sp>
      <p:sp>
        <p:nvSpPr>
          <p:cNvPr id="21" name="Shape 19"/>
          <p:cNvSpPr/>
          <p:nvPr/>
        </p:nvSpPr>
        <p:spPr>
          <a:xfrm>
            <a:off x="4617720" y="31089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745736" y="32644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4782312" y="32644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4" name="Text 22"/>
          <p:cNvSpPr/>
          <p:nvPr/>
        </p:nvSpPr>
        <p:spPr>
          <a:xfrm>
            <a:off x="5623560" y="32186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Course status</a:t>
            </a:r>
            <a:endParaRPr lang="en-US" sz="930" dirty="0"/>
          </a:p>
        </p:txBody>
      </p:sp>
      <p:sp>
        <p:nvSpPr>
          <p:cNvPr id="25" name="Text 23"/>
          <p:cNvSpPr/>
          <p:nvPr/>
        </p:nvSpPr>
        <p:spPr>
          <a:xfrm>
            <a:off x="7863840" y="32004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All selected courses are completed.</a:t>
            </a:r>
            <a:endParaRPr lang="en-US" sz="860" dirty="0"/>
          </a:p>
        </p:txBody>
      </p:sp>
      <p:sp>
        <p:nvSpPr>
          <p:cNvPr id="26" name="Shape 24"/>
          <p:cNvSpPr/>
          <p:nvPr/>
        </p:nvSpPr>
        <p:spPr>
          <a:xfrm>
            <a:off x="4617720" y="37947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4745736" y="39502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4782312" y="39502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9" name="Text 27"/>
          <p:cNvSpPr/>
          <p:nvPr/>
        </p:nvSpPr>
        <p:spPr>
          <a:xfrm>
            <a:off x="5623560" y="39044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Attendance completeness</a:t>
            </a:r>
            <a:endParaRPr lang="en-US" sz="930" dirty="0"/>
          </a:p>
        </p:txBody>
      </p:sp>
      <p:sp>
        <p:nvSpPr>
          <p:cNvPr id="30" name="Text 28"/>
          <p:cNvSpPr/>
          <p:nvPr/>
        </p:nvSpPr>
        <p:spPr>
          <a:xfrm>
            <a:off x="7863840" y="38862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60" dirty="0"/>
          </a:p>
        </p:txBody>
      </p:sp>
      <p:sp>
        <p:nvSpPr>
          <p:cNvPr id="31" name="Shape 29"/>
          <p:cNvSpPr/>
          <p:nvPr/>
        </p:nvSpPr>
        <p:spPr>
          <a:xfrm>
            <a:off x="4617720" y="44805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4745736" y="46360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82312" y="46360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4" name="Text 32"/>
          <p:cNvSpPr/>
          <p:nvPr/>
        </p:nvSpPr>
        <p:spPr>
          <a:xfrm>
            <a:off x="5623560" y="45902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Assessment completeness</a:t>
            </a:r>
            <a:endParaRPr lang="en-US" sz="930" dirty="0"/>
          </a:p>
        </p:txBody>
      </p:sp>
      <p:sp>
        <p:nvSpPr>
          <p:cNvPr id="35" name="Text 33"/>
          <p:cNvSpPr/>
          <p:nvPr/>
        </p:nvSpPr>
        <p:spPr>
          <a:xfrm>
            <a:off x="7863840" y="45720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60" dirty="0"/>
          </a:p>
        </p:txBody>
      </p:sp>
      <p:sp>
        <p:nvSpPr>
          <p:cNvPr id="36" name="Shape 34"/>
          <p:cNvSpPr/>
          <p:nvPr/>
        </p:nvSpPr>
        <p:spPr>
          <a:xfrm>
            <a:off x="4617720" y="5166360"/>
            <a:ext cx="65836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745736" y="532180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82312" y="532180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9" name="Text 37"/>
          <p:cNvSpPr/>
          <p:nvPr/>
        </p:nvSpPr>
        <p:spPr>
          <a:xfrm>
            <a:off x="5623560" y="527608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Feedback completeness</a:t>
            </a:r>
            <a:endParaRPr lang="en-US" sz="930" dirty="0"/>
          </a:p>
        </p:txBody>
      </p:sp>
      <p:sp>
        <p:nvSpPr>
          <p:cNvPr id="40" name="Text 38"/>
          <p:cNvSpPr/>
          <p:nvPr/>
        </p:nvSpPr>
        <p:spPr>
          <a:xfrm>
            <a:off x="7863840" y="5257800"/>
            <a:ext cx="30632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6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Performance scorecard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5895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ATTENDANCE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75895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90.4%</a:t>
            </a:r>
            <a:endParaRPr lang="en-US" sz="2100" dirty="0"/>
          </a:p>
        </p:txBody>
      </p:sp>
      <p:sp>
        <p:nvSpPr>
          <p:cNvPr id="10" name="Text 8"/>
          <p:cNvSpPr/>
          <p:nvPr/>
        </p:nvSpPr>
        <p:spPr>
          <a:xfrm>
            <a:off x="75895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85%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216712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20370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13" name="Shape 11"/>
          <p:cNvSpPr/>
          <p:nvPr/>
        </p:nvSpPr>
        <p:spPr>
          <a:xfrm>
            <a:off x="338328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54787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COMPLETION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54787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100%</a:t>
            </a:r>
            <a:endParaRPr lang="en-US" sz="2100" dirty="0"/>
          </a:p>
        </p:txBody>
      </p:sp>
      <p:sp>
        <p:nvSpPr>
          <p:cNvPr id="16" name="Text 14"/>
          <p:cNvSpPr/>
          <p:nvPr/>
        </p:nvSpPr>
        <p:spPr>
          <a:xfrm>
            <a:off x="354787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90%</a:t>
            </a:r>
            <a:endParaRPr lang="en-US" sz="850" dirty="0"/>
          </a:p>
        </p:txBody>
      </p:sp>
      <p:sp>
        <p:nvSpPr>
          <p:cNvPr id="17" name="Shape 15"/>
          <p:cNvSpPr/>
          <p:nvPr/>
        </p:nvSpPr>
        <p:spPr>
          <a:xfrm>
            <a:off x="495604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99262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9" name="Shape 17"/>
          <p:cNvSpPr/>
          <p:nvPr/>
        </p:nvSpPr>
        <p:spPr>
          <a:xfrm>
            <a:off x="617220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33679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PASS RATE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633679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92.3%</a:t>
            </a:r>
            <a:endParaRPr lang="en-US" sz="2100" dirty="0"/>
          </a:p>
        </p:txBody>
      </p:sp>
      <p:sp>
        <p:nvSpPr>
          <p:cNvPr id="22" name="Text 20"/>
          <p:cNvSpPr/>
          <p:nvPr/>
        </p:nvSpPr>
        <p:spPr>
          <a:xfrm>
            <a:off x="633679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80%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774496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778154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5" name="Shape 23"/>
          <p:cNvSpPr/>
          <p:nvPr/>
        </p:nvSpPr>
        <p:spPr>
          <a:xfrm>
            <a:off x="8961120" y="105156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125712" y="119786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AVG SCORE</a:t>
            </a:r>
            <a:endParaRPr lang="en-US" sz="850" dirty="0"/>
          </a:p>
        </p:txBody>
      </p:sp>
      <p:sp>
        <p:nvSpPr>
          <p:cNvPr id="27" name="Text 25"/>
          <p:cNvSpPr/>
          <p:nvPr/>
        </p:nvSpPr>
        <p:spPr>
          <a:xfrm>
            <a:off x="9125712" y="143560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7.88/10</a:t>
            </a:r>
            <a:endParaRPr lang="en-US" sz="2100" dirty="0"/>
          </a:p>
        </p:txBody>
      </p:sp>
      <p:sp>
        <p:nvSpPr>
          <p:cNvPr id="28" name="Text 26"/>
          <p:cNvSpPr/>
          <p:nvPr/>
        </p:nvSpPr>
        <p:spPr>
          <a:xfrm>
            <a:off x="9125712" y="183794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Threshold 6.5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10533888" y="211226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0570464" y="211226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31" name="Shape 29"/>
          <p:cNvSpPr/>
          <p:nvPr/>
        </p:nvSpPr>
        <p:spPr>
          <a:xfrm>
            <a:off x="59436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75895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SATISFACTION</a:t>
            </a:r>
            <a:endParaRPr lang="en-US" sz="850" dirty="0"/>
          </a:p>
        </p:txBody>
      </p:sp>
      <p:sp>
        <p:nvSpPr>
          <p:cNvPr id="33" name="Text 31"/>
          <p:cNvSpPr/>
          <p:nvPr/>
        </p:nvSpPr>
        <p:spPr>
          <a:xfrm>
            <a:off x="75895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4.73/5</a:t>
            </a:r>
            <a:endParaRPr lang="en-US" sz="2100" dirty="0"/>
          </a:p>
        </p:txBody>
      </p:sp>
      <p:sp>
        <p:nvSpPr>
          <p:cNvPr id="34" name="Text 32"/>
          <p:cNvSpPr/>
          <p:nvPr/>
        </p:nvSpPr>
        <p:spPr>
          <a:xfrm>
            <a:off x="75895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Target &gt;= 4.0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216712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220370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37" name="Shape 35"/>
          <p:cNvSpPr/>
          <p:nvPr/>
        </p:nvSpPr>
        <p:spPr>
          <a:xfrm>
            <a:off x="338328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354787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TRAINING HOURS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354787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188</a:t>
            </a:r>
            <a:endParaRPr lang="en-US" sz="2100" dirty="0"/>
          </a:p>
        </p:txBody>
      </p:sp>
      <p:sp>
        <p:nvSpPr>
          <p:cNvPr id="40" name="Text 38"/>
          <p:cNvSpPr/>
          <p:nvPr/>
        </p:nvSpPr>
        <p:spPr>
          <a:xfrm>
            <a:off x="354787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Tracked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495604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99262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3" name="Shape 41"/>
          <p:cNvSpPr/>
          <p:nvPr/>
        </p:nvSpPr>
        <p:spPr>
          <a:xfrm>
            <a:off x="617220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633679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COST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33679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9.6</a:t>
            </a:r>
            <a:endParaRPr lang="en-US" sz="2100" dirty="0"/>
          </a:p>
        </p:txBody>
      </p:sp>
      <p:sp>
        <p:nvSpPr>
          <p:cNvPr id="46" name="Text 44"/>
          <p:cNvSpPr/>
          <p:nvPr/>
        </p:nvSpPr>
        <p:spPr>
          <a:xfrm>
            <a:off x="633679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Scaled cost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774496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E2E8F0"/>
          </a:solidFill>
          <a:ln w="12700">
            <a:solidFill>
              <a:srgbClr val="E2E8F0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78154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64748B"/>
                </a:solidFill>
              </a:rPr>
              <a:t>Tracked</a:t>
            </a:r>
            <a:endParaRPr lang="en-US" sz="740" dirty="0"/>
          </a:p>
        </p:txBody>
      </p:sp>
      <p:sp>
        <p:nvSpPr>
          <p:cNvPr id="49" name="Shape 47"/>
          <p:cNvSpPr/>
          <p:nvPr/>
        </p:nvSpPr>
        <p:spPr>
          <a:xfrm>
            <a:off x="8961120" y="2926080"/>
            <a:ext cx="2514600" cy="1417320"/>
          </a:xfrm>
          <a:prstGeom prst="roundRect">
            <a:avLst>
              <a:gd name="adj" fmla="val 516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9125712" y="3072384"/>
            <a:ext cx="21945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b="1" dirty="0">
                <a:solidFill>
                  <a:srgbClr val="64748B"/>
                </a:solidFill>
              </a:rPr>
              <a:t>ROI PROXY</a:t>
            </a:r>
            <a:endParaRPr lang="en-US" sz="850" dirty="0"/>
          </a:p>
        </p:txBody>
      </p:sp>
      <p:sp>
        <p:nvSpPr>
          <p:cNvPr id="51" name="Text 49"/>
          <p:cNvSpPr/>
          <p:nvPr/>
        </p:nvSpPr>
        <p:spPr>
          <a:xfrm>
            <a:off x="9125712" y="3310128"/>
            <a:ext cx="2194560" cy="32918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0.042</a:t>
            </a:r>
            <a:endParaRPr lang="en-US" sz="2100" dirty="0"/>
          </a:p>
        </p:txBody>
      </p:sp>
      <p:sp>
        <p:nvSpPr>
          <p:cNvPr id="52" name="Text 50"/>
          <p:cNvSpPr/>
          <p:nvPr/>
        </p:nvSpPr>
        <p:spPr>
          <a:xfrm>
            <a:off x="9125712" y="3712464"/>
            <a:ext cx="146304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Relative KPI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10533888" y="3986784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F3C7"/>
          </a:solidFill>
          <a:ln w="12700">
            <a:solidFill>
              <a:srgbClr val="FEF3C7"/>
            </a:solidFill>
            <a:prstDash val="solid"/>
          </a:ln>
        </p:spPr>
      </p:sp>
      <p:sp>
        <p:nvSpPr>
          <p:cNvPr id="54" name="Text 52"/>
          <p:cNvSpPr/>
          <p:nvPr/>
        </p:nvSpPr>
        <p:spPr>
          <a:xfrm>
            <a:off x="10570464" y="3986784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45309"/>
                </a:solidFill>
              </a:rPr>
              <a:t>Monitor</a:t>
            </a:r>
            <a:endParaRPr lang="en-US" sz="740" dirty="0"/>
          </a:p>
        </p:txBody>
      </p:sp>
      <p:sp>
        <p:nvSpPr>
          <p:cNvPr id="55" name="Text 53"/>
          <p:cNvSpPr/>
          <p:nvPr/>
        </p:nvSpPr>
        <p:spPr>
          <a:xfrm>
            <a:off x="594360" y="5989320"/>
            <a:ext cx="98755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Completion is attendance-based (&gt;= 70%) and is intentionally separate from pass rate.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Visual analytics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544068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95528" y="1234440"/>
            <a:ext cx="503834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Overall KPI vs target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795528" y="1527048"/>
            <a:ext cx="503834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Validated performance metrics compared with L&amp;D operating thresholds.</a:t>
            </a:r>
            <a:endParaRPr lang="en-US" sz="780" dirty="0"/>
          </a:p>
        </p:txBody>
      </p:sp>
      <p:sp>
        <p:nvSpPr>
          <p:cNvPr id="10" name="Text 8"/>
          <p:cNvSpPr/>
          <p:nvPr/>
        </p:nvSpPr>
        <p:spPr>
          <a:xfrm>
            <a:off x="795528" y="192024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Attendance</a:t>
            </a:r>
            <a:endParaRPr lang="en-US" sz="780" dirty="0"/>
          </a:p>
        </p:txBody>
      </p:sp>
      <p:sp>
        <p:nvSpPr>
          <p:cNvPr id="11" name="Shape 9"/>
          <p:cNvSpPr/>
          <p:nvPr/>
        </p:nvSpPr>
        <p:spPr>
          <a:xfrm>
            <a:off x="2395728" y="206654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395728" y="2066544"/>
            <a:ext cx="2347594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603090" y="202082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065776" y="19110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90.4%</a:t>
            </a:r>
            <a:endParaRPr lang="en-US" sz="700" dirty="0"/>
          </a:p>
        </p:txBody>
      </p:sp>
      <p:sp>
        <p:nvSpPr>
          <p:cNvPr id="15" name="Text 13"/>
          <p:cNvSpPr/>
          <p:nvPr/>
        </p:nvSpPr>
        <p:spPr>
          <a:xfrm>
            <a:off x="795528" y="286893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Completion</a:t>
            </a:r>
            <a:endParaRPr lang="en-US" sz="780" dirty="0"/>
          </a:p>
        </p:txBody>
      </p:sp>
      <p:sp>
        <p:nvSpPr>
          <p:cNvPr id="16" name="Shape 14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2395728" y="3015234"/>
            <a:ext cx="2596896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732934" y="296951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5065776" y="285978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100%</a:t>
            </a:r>
            <a:endParaRPr lang="en-US" sz="700" dirty="0"/>
          </a:p>
        </p:txBody>
      </p:sp>
      <p:sp>
        <p:nvSpPr>
          <p:cNvPr id="20" name="Text 18"/>
          <p:cNvSpPr/>
          <p:nvPr/>
        </p:nvSpPr>
        <p:spPr>
          <a:xfrm>
            <a:off x="795528" y="381762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Pass rate</a:t>
            </a:r>
            <a:endParaRPr lang="en-US" sz="780" dirty="0"/>
          </a:p>
        </p:txBody>
      </p:sp>
      <p:sp>
        <p:nvSpPr>
          <p:cNvPr id="21" name="Shape 19"/>
          <p:cNvSpPr/>
          <p:nvPr/>
        </p:nvSpPr>
        <p:spPr>
          <a:xfrm>
            <a:off x="2395728" y="396392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2395728" y="3963924"/>
            <a:ext cx="2396935" cy="201168"/>
          </a:xfrm>
          <a:prstGeom prst="rect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4473245" y="391820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065776" y="380847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92.3%</a:t>
            </a:r>
            <a:endParaRPr lang="en-US" sz="700" dirty="0"/>
          </a:p>
        </p:txBody>
      </p:sp>
      <p:sp>
        <p:nvSpPr>
          <p:cNvPr id="25" name="Text 23"/>
          <p:cNvSpPr/>
          <p:nvPr/>
        </p:nvSpPr>
        <p:spPr>
          <a:xfrm>
            <a:off x="795528" y="4766310"/>
            <a:ext cx="1508760" cy="1645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0F172A"/>
                </a:solidFill>
              </a:rPr>
              <a:t>Effectiveness</a:t>
            </a:r>
            <a:endParaRPr lang="en-US" sz="780" dirty="0"/>
          </a:p>
        </p:txBody>
      </p:sp>
      <p:sp>
        <p:nvSpPr>
          <p:cNvPr id="26" name="Shape 24"/>
          <p:cNvSpPr/>
          <p:nvPr/>
        </p:nvSpPr>
        <p:spPr>
          <a:xfrm>
            <a:off x="2395728" y="4912614"/>
            <a:ext cx="2596896" cy="201168"/>
          </a:xfrm>
          <a:prstGeom prst="rect">
            <a:avLst/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2395728" y="4912614"/>
            <a:ext cx="2323443" cy="20116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4603090" y="4866894"/>
            <a:ext cx="0" cy="292608"/>
          </a:xfrm>
          <a:prstGeom prst="line">
            <a:avLst/>
          </a:prstGeom>
          <a:noFill/>
          <a:ln w="12700">
            <a:solidFill>
              <a:srgbClr val="0B1220">
                <a:alpha val="8000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5065776" y="475716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00" b="1" dirty="0">
                <a:solidFill>
                  <a:srgbClr val="0F172A"/>
                </a:solidFill>
              </a:rPr>
              <a:t>89.5/100</a:t>
            </a:r>
            <a:endParaRPr lang="en-US" sz="700" dirty="0"/>
          </a:p>
        </p:txBody>
      </p:sp>
      <p:sp>
        <p:nvSpPr>
          <p:cNvPr id="30" name="Shape 28"/>
          <p:cNvSpPr/>
          <p:nvPr/>
        </p:nvSpPr>
        <p:spPr>
          <a:xfrm>
            <a:off x="6309360" y="1051560"/>
            <a:ext cx="5257800" cy="4892040"/>
          </a:xfrm>
          <a:prstGeom prst="roundRect">
            <a:avLst>
              <a:gd name="adj" fmla="val 149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510528" y="1234440"/>
            <a:ext cx="4855464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50" b="1" dirty="0">
                <a:solidFill>
                  <a:srgbClr val="0F172A"/>
                </a:solidFill>
              </a:rPr>
              <a:t>Governance flags by priority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6510528" y="1527048"/>
            <a:ext cx="4855464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780" dirty="0">
                <a:solidFill>
                  <a:srgbClr val="64748B"/>
                </a:solidFill>
              </a:rPr>
              <a:t>NORM rule triggers grouped by business priority.</a:t>
            </a:r>
            <a:endParaRPr lang="en-US" sz="780" dirty="0"/>
          </a:p>
        </p:txBody>
      </p:sp>
      <p:graphicFrame>
        <p:nvGraphicFramePr>
          <p:cNvPr id="33" name="Chart 0" descr=""/>
          <p:cNvGraphicFramePr/>
          <p:nvPr/>
        </p:nvGraphicFramePr>
        <p:xfrm>
          <a:off x="6537960" y="1920240"/>
          <a:ext cx="2784348" cy="37490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34" name="Text 31"/>
          <p:cNvSpPr/>
          <p:nvPr/>
        </p:nvSpPr>
        <p:spPr>
          <a:xfrm>
            <a:off x="7345421" y="3372307"/>
            <a:ext cx="116942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1</a:t>
            </a:r>
            <a:endParaRPr lang="en-US" sz="2200" dirty="0"/>
          </a:p>
        </p:txBody>
      </p:sp>
      <p:sp>
        <p:nvSpPr>
          <p:cNvPr id="35" name="Text 32"/>
          <p:cNvSpPr/>
          <p:nvPr/>
        </p:nvSpPr>
        <p:spPr>
          <a:xfrm>
            <a:off x="7234047" y="3871570"/>
            <a:ext cx="139217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total flags</a:t>
            </a:r>
            <a:endParaRPr lang="en-US" sz="800" dirty="0"/>
          </a:p>
        </p:txBody>
      </p:sp>
      <p:sp>
        <p:nvSpPr>
          <p:cNvPr id="36" name="Shape 33"/>
          <p:cNvSpPr/>
          <p:nvPr/>
        </p:nvSpPr>
        <p:spPr>
          <a:xfrm>
            <a:off x="9486900" y="2286000"/>
            <a:ext cx="109728" cy="109728"/>
          </a:xfrm>
          <a:prstGeom prst="rect">
            <a:avLst/>
          </a:prstGeom>
          <a:solidFill>
            <a:srgbClr val="B91C1C"/>
          </a:solidFill>
          <a:ln w="12700">
            <a:solidFill>
              <a:srgbClr val="B91C1C">
                <a:alpha val="0"/>
              </a:srgbClr>
            </a:solidFill>
            <a:prstDash val="solid"/>
          </a:ln>
        </p:spPr>
      </p:sp>
      <p:sp>
        <p:nvSpPr>
          <p:cNvPr id="37" name="Text 34"/>
          <p:cNvSpPr/>
          <p:nvPr/>
        </p:nvSpPr>
        <p:spPr>
          <a:xfrm>
            <a:off x="9669780" y="2258568"/>
            <a:ext cx="992124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High</a:t>
            </a:r>
            <a:endParaRPr lang="en-US" sz="900" dirty="0"/>
          </a:p>
        </p:txBody>
      </p:sp>
      <p:sp>
        <p:nvSpPr>
          <p:cNvPr id="38" name="Text 35"/>
          <p:cNvSpPr/>
          <p:nvPr/>
        </p:nvSpPr>
        <p:spPr>
          <a:xfrm>
            <a:off x="10643616" y="2258568"/>
            <a:ext cx="65836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1 (100%)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Course performance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Text 5"/>
          <p:cNvSpPr/>
          <p:nvPr/>
        </p:nvSpPr>
        <p:spPr>
          <a:xfrm>
            <a:off x="621792" y="1024128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</a:rPr>
              <a:t>Course performance profile</a:t>
            </a:r>
            <a:endParaRPr lang="en-US" sz="900" dirty="0"/>
          </a:p>
        </p:txBody>
      </p:sp>
      <p:sp>
        <p:nvSpPr>
          <p:cNvPr id="9" name="Text 6"/>
          <p:cNvSpPr/>
          <p:nvPr/>
        </p:nvSpPr>
        <p:spPr>
          <a:xfrm>
            <a:off x="621792" y="1298448"/>
            <a:ext cx="6629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100" b="1" dirty="0">
                <a:solidFill>
                  <a:srgbClr val="0F172A"/>
                </a:solidFill>
              </a:rPr>
              <a:t>AI Agent &amp; LLM Application Development</a:t>
            </a:r>
            <a:endParaRPr lang="en-US" sz="2100" dirty="0"/>
          </a:p>
        </p:txBody>
      </p:sp>
      <p:sp>
        <p:nvSpPr>
          <p:cNvPr id="10" name="Text 7"/>
          <p:cNvSpPr/>
          <p:nvPr/>
        </p:nvSpPr>
        <p:spPr>
          <a:xfrm>
            <a:off x="658368" y="208483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1773936" y="2112264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2" name="Shape 9"/>
          <p:cNvSpPr/>
          <p:nvPr/>
        </p:nvSpPr>
        <p:spPr>
          <a:xfrm>
            <a:off x="1773936" y="2112264"/>
            <a:ext cx="418268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3" name="Shape 10"/>
          <p:cNvSpPr/>
          <p:nvPr/>
        </p:nvSpPr>
        <p:spPr>
          <a:xfrm>
            <a:off x="5706770" y="2075688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92240" y="2084832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90.4%</a:t>
            </a:r>
            <a:endParaRPr lang="en-US" sz="900" dirty="0"/>
          </a:p>
        </p:txBody>
      </p:sp>
      <p:sp>
        <p:nvSpPr>
          <p:cNvPr id="15" name="Text 12"/>
          <p:cNvSpPr/>
          <p:nvPr/>
        </p:nvSpPr>
        <p:spPr>
          <a:xfrm>
            <a:off x="1773936" y="2377440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85%</a:t>
            </a:r>
            <a:endParaRPr lang="en-US" sz="700" dirty="0"/>
          </a:p>
        </p:txBody>
      </p:sp>
      <p:sp>
        <p:nvSpPr>
          <p:cNvPr id="16" name="Text 13"/>
          <p:cNvSpPr/>
          <p:nvPr/>
        </p:nvSpPr>
        <p:spPr>
          <a:xfrm>
            <a:off x="658368" y="2871216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Completion</a:t>
            </a:r>
            <a:endParaRPr lang="en-US" sz="1000" dirty="0"/>
          </a:p>
        </p:txBody>
      </p:sp>
      <p:sp>
        <p:nvSpPr>
          <p:cNvPr id="17" name="Shape 14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18" name="Shape 15"/>
          <p:cNvSpPr/>
          <p:nvPr/>
        </p:nvSpPr>
        <p:spPr>
          <a:xfrm>
            <a:off x="1773936" y="2898648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5938114" y="2862072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6492240" y="2871216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100%</a:t>
            </a:r>
            <a:endParaRPr lang="en-US" sz="900" dirty="0"/>
          </a:p>
        </p:txBody>
      </p:sp>
      <p:sp>
        <p:nvSpPr>
          <p:cNvPr id="21" name="Text 18"/>
          <p:cNvSpPr/>
          <p:nvPr/>
        </p:nvSpPr>
        <p:spPr>
          <a:xfrm>
            <a:off x="1773936" y="3163824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90%</a:t>
            </a:r>
            <a:endParaRPr lang="en-US" sz="700" dirty="0"/>
          </a:p>
        </p:txBody>
      </p:sp>
      <p:sp>
        <p:nvSpPr>
          <p:cNvPr id="22" name="Text 19"/>
          <p:cNvSpPr/>
          <p:nvPr/>
        </p:nvSpPr>
        <p:spPr>
          <a:xfrm>
            <a:off x="658368" y="3657600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Pass rate</a:t>
            </a:r>
            <a:endParaRPr lang="en-US" sz="1000" dirty="0"/>
          </a:p>
        </p:txBody>
      </p:sp>
      <p:sp>
        <p:nvSpPr>
          <p:cNvPr id="23" name="Shape 20"/>
          <p:cNvSpPr/>
          <p:nvPr/>
        </p:nvSpPr>
        <p:spPr>
          <a:xfrm>
            <a:off x="1773936" y="3685032"/>
            <a:ext cx="4626864" cy="164592"/>
          </a:xfrm>
          <a:prstGeom prst="roundRect">
            <a:avLst>
              <a:gd name="adj" fmla="val 22222"/>
            </a:avLst>
          </a:prstGeom>
          <a:solidFill>
            <a:srgbClr val="E2E8F0"/>
          </a:solidFill>
          <a:ln w="12700">
            <a:solidFill>
              <a:srgbClr val="E2E8F0">
                <a:alpha val="0"/>
              </a:srgbClr>
            </a:solidFill>
            <a:prstDash val="solid"/>
          </a:ln>
        </p:spPr>
      </p:sp>
      <p:sp>
        <p:nvSpPr>
          <p:cNvPr id="24" name="Shape 21"/>
          <p:cNvSpPr/>
          <p:nvPr/>
        </p:nvSpPr>
        <p:spPr>
          <a:xfrm>
            <a:off x="1773936" y="3685032"/>
            <a:ext cx="4270595" cy="164592"/>
          </a:xfrm>
          <a:prstGeom prst="roundRect">
            <a:avLst>
              <a:gd name="adj" fmla="val 22222"/>
            </a:avLst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25" name="Shape 22"/>
          <p:cNvSpPr/>
          <p:nvPr/>
        </p:nvSpPr>
        <p:spPr>
          <a:xfrm>
            <a:off x="5475427" y="3648456"/>
            <a:ext cx="0" cy="256032"/>
          </a:xfrm>
          <a:prstGeom prst="line">
            <a:avLst/>
          </a:prstGeom>
          <a:noFill/>
          <a:ln w="12700">
            <a:solidFill>
              <a:srgbClr val="0B1220">
                <a:alpha val="85000"/>
              </a:srgbClr>
            </a:solidFill>
            <a:prstDash val="solid"/>
          </a:ln>
        </p:spPr>
      </p:sp>
      <p:sp>
        <p:nvSpPr>
          <p:cNvPr id="26" name="Text 23"/>
          <p:cNvSpPr/>
          <p:nvPr/>
        </p:nvSpPr>
        <p:spPr>
          <a:xfrm>
            <a:off x="6492240" y="3657600"/>
            <a:ext cx="5669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b="1" dirty="0">
                <a:solidFill>
                  <a:srgbClr val="047857"/>
                </a:solidFill>
              </a:rPr>
              <a:t>92.3%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1773936" y="3950208"/>
            <a:ext cx="4626864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00" dirty="0">
                <a:solidFill>
                  <a:srgbClr val="64748B"/>
                </a:solidFill>
              </a:rPr>
              <a:t>Target 80%</a:t>
            </a:r>
            <a:endParaRPr lang="en-US" sz="700" dirty="0"/>
          </a:p>
        </p:txBody>
      </p:sp>
      <p:sp>
        <p:nvSpPr>
          <p:cNvPr id="28" name="Shape 25"/>
          <p:cNvSpPr/>
          <p:nvPr/>
        </p:nvSpPr>
        <p:spPr>
          <a:xfrm>
            <a:off x="7635240" y="1170432"/>
            <a:ext cx="3840480" cy="3611880"/>
          </a:xfrm>
          <a:prstGeom prst="roundRect">
            <a:avLst>
              <a:gd name="adj" fmla="val 2025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Text 26"/>
          <p:cNvSpPr/>
          <p:nvPr/>
        </p:nvSpPr>
        <p:spPr>
          <a:xfrm>
            <a:off x="7936992" y="1481328"/>
            <a:ext cx="32461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64748B"/>
                </a:solidFill>
              </a:rPr>
              <a:t>EFFECTIVENESS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8549640" y="1828800"/>
            <a:ext cx="2011680" cy="2011680"/>
          </a:xfrm>
          <a:prstGeom prst="ellipse">
            <a:avLst/>
          </a:prstGeom>
          <a:solidFill>
            <a:srgbClr val="047857"/>
          </a:solidFill>
          <a:ln w="12700">
            <a:solidFill>
              <a:srgbClr val="047857">
                <a:alpha val="0"/>
              </a:srgbClr>
            </a:solidFill>
            <a:prstDash val="solid"/>
          </a:ln>
        </p:spPr>
      </p:sp>
      <p:sp>
        <p:nvSpPr>
          <p:cNvPr id="31" name="Shape 28"/>
          <p:cNvSpPr/>
          <p:nvPr/>
        </p:nvSpPr>
        <p:spPr>
          <a:xfrm>
            <a:off x="8897112" y="2176272"/>
            <a:ext cx="1316736" cy="1316736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2" name="Text 29"/>
          <p:cNvSpPr/>
          <p:nvPr/>
        </p:nvSpPr>
        <p:spPr>
          <a:xfrm>
            <a:off x="8897112" y="2505456"/>
            <a:ext cx="1316736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047857"/>
                </a:solidFill>
              </a:rPr>
              <a:t>89.47</a:t>
            </a:r>
            <a:endParaRPr lang="en-US" sz="2200" dirty="0"/>
          </a:p>
        </p:txBody>
      </p:sp>
      <p:sp>
        <p:nvSpPr>
          <p:cNvPr id="33" name="Text 30"/>
          <p:cNvSpPr/>
          <p:nvPr/>
        </p:nvSpPr>
        <p:spPr>
          <a:xfrm>
            <a:off x="9025128" y="2898648"/>
            <a:ext cx="10515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rgbClr val="64748B"/>
                </a:solidFill>
              </a:rPr>
              <a:t>/ 100</a:t>
            </a:r>
            <a:endParaRPr lang="en-US" sz="800" dirty="0"/>
          </a:p>
        </p:txBody>
      </p:sp>
      <p:sp>
        <p:nvSpPr>
          <p:cNvPr id="34" name="Text 31"/>
          <p:cNvSpPr/>
          <p:nvPr/>
        </p:nvSpPr>
        <p:spPr>
          <a:xfrm>
            <a:off x="797356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LEARNERS</a:t>
            </a:r>
            <a:endParaRPr lang="en-US" sz="750" dirty="0"/>
          </a:p>
        </p:txBody>
      </p:sp>
      <p:sp>
        <p:nvSpPr>
          <p:cNvPr id="35" name="Text 32"/>
          <p:cNvSpPr/>
          <p:nvPr/>
        </p:nvSpPr>
        <p:spPr>
          <a:xfrm>
            <a:off x="797356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13</a:t>
            </a:r>
            <a:endParaRPr lang="en-US" sz="1500" dirty="0"/>
          </a:p>
        </p:txBody>
      </p:sp>
      <p:sp>
        <p:nvSpPr>
          <p:cNvPr id="36" name="Text 33"/>
          <p:cNvSpPr/>
          <p:nvPr/>
        </p:nvSpPr>
        <p:spPr>
          <a:xfrm>
            <a:off x="9619488" y="4096512"/>
            <a:ext cx="1417320" cy="1280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rgbClr val="64748B"/>
                </a:solidFill>
              </a:rPr>
              <a:t>AVG SCORE</a:t>
            </a:r>
            <a:endParaRPr lang="en-US" sz="750" dirty="0"/>
          </a:p>
        </p:txBody>
      </p:sp>
      <p:sp>
        <p:nvSpPr>
          <p:cNvPr id="37" name="Text 34"/>
          <p:cNvSpPr/>
          <p:nvPr/>
        </p:nvSpPr>
        <p:spPr>
          <a:xfrm>
            <a:off x="9619488" y="4279392"/>
            <a:ext cx="14173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7.88/10</a:t>
            </a:r>
            <a:endParaRPr lang="en-US" sz="1500" dirty="0"/>
          </a:p>
        </p:txBody>
      </p:sp>
      <p:sp>
        <p:nvSpPr>
          <p:cNvPr id="38" name="Text 35"/>
          <p:cNvSpPr/>
          <p:nvPr/>
        </p:nvSpPr>
        <p:spPr>
          <a:xfrm>
            <a:off x="621792" y="4919472"/>
            <a:ext cx="31089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What leaders should notice</a:t>
            </a:r>
            <a:endParaRPr lang="en-US" sz="1300" dirty="0"/>
          </a:p>
        </p:txBody>
      </p:sp>
      <p:sp>
        <p:nvSpPr>
          <p:cNvPr id="39" name="Shape 36"/>
          <p:cNvSpPr/>
          <p:nvPr/>
        </p:nvSpPr>
        <p:spPr>
          <a:xfrm>
            <a:off x="621792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0" name="Text 37"/>
          <p:cNvSpPr/>
          <p:nvPr/>
        </p:nvSpPr>
        <p:spPr>
          <a:xfrm>
            <a:off x="786384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Strong completion outcome at 100%</a:t>
            </a:r>
            <a:endParaRPr lang="en-US" sz="1000" dirty="0"/>
          </a:p>
        </p:txBody>
      </p:sp>
      <p:sp>
        <p:nvSpPr>
          <p:cNvPr id="41" name="Shape 38"/>
          <p:cNvSpPr/>
          <p:nvPr/>
        </p:nvSpPr>
        <p:spPr>
          <a:xfrm>
            <a:off x="4352544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42" name="Text 39"/>
          <p:cNvSpPr/>
          <p:nvPr/>
        </p:nvSpPr>
        <p:spPr>
          <a:xfrm>
            <a:off x="4517136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Overall effectiveness score is 89.47</a:t>
            </a:r>
            <a:endParaRPr lang="en-US" sz="1000" dirty="0"/>
          </a:p>
        </p:txBody>
      </p:sp>
      <p:sp>
        <p:nvSpPr>
          <p:cNvPr id="43" name="Shape 40"/>
          <p:cNvSpPr/>
          <p:nvPr/>
        </p:nvSpPr>
        <p:spPr>
          <a:xfrm>
            <a:off x="8083296" y="5285232"/>
            <a:ext cx="3429000" cy="868680"/>
          </a:xfrm>
          <a:prstGeom prst="roundRect">
            <a:avLst>
              <a:gd name="adj" fmla="val 842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44" name="Text 41"/>
          <p:cNvSpPr/>
          <p:nvPr/>
        </p:nvSpPr>
        <p:spPr>
          <a:xfrm>
            <a:off x="8247888" y="5449824"/>
            <a:ext cx="3063240" cy="4114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Key findings and implications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77724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81381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Excellent</a:t>
            </a:r>
            <a:endParaRPr lang="en-US" sz="740" dirty="0"/>
          </a:p>
        </p:txBody>
      </p:sp>
      <p:sp>
        <p:nvSpPr>
          <p:cNvPr id="10" name="Text 8"/>
          <p:cNvSpPr/>
          <p:nvPr/>
        </p:nvSpPr>
        <p:spPr>
          <a:xfrm>
            <a:off x="79552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Strong completion outcome at 100%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79552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Completion is calculated as attendance &gt;= 70%; pass rate is tracked separately at 92.3%.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79552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Learners are completing the required session exposure, and assessment achievement is also healthy.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217920" y="107899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400800" y="126187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437376" y="126187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Risk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6419088" y="160934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Overall effectiveness score is 89.47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19088" y="199339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Attendance 90.4%, pass rate 92.3%, average score 7.88/10.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6419088" y="237744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The selected scope is classified as Risk.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59436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7724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81381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79552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AI Agent &amp; LLM Application Development has an effectiveness score of 89.47 in the selected scope.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9552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79552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6217920" y="3227832"/>
            <a:ext cx="5257800" cy="1783080"/>
          </a:xfrm>
          <a:prstGeom prst="roundRect">
            <a:avLst>
              <a:gd name="adj" fmla="val 410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400800" y="3410712"/>
            <a:ext cx="868680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6437376" y="3410712"/>
            <a:ext cx="79552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Good</a:t>
            </a:r>
            <a:endParaRPr lang="en-US" sz="740" dirty="0"/>
          </a:p>
        </p:txBody>
      </p:sp>
      <p:sp>
        <p:nvSpPr>
          <p:cNvPr id="28" name="Text 26"/>
          <p:cNvSpPr/>
          <p:nvPr/>
        </p:nvSpPr>
        <p:spPr>
          <a:xfrm>
            <a:off x="6419088" y="3758184"/>
            <a:ext cx="480060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300" b="1" dirty="0">
                <a:solidFill>
                  <a:srgbClr val="0F172A"/>
                </a:solidFill>
              </a:rPr>
              <a:t>2 outstanding trainees met the star learner rule: score &gt;= 9.0 and full attendance.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6419088" y="4142232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Supported by validated metrics, evidence gate, and L&amp;D NORM checks.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6419088" y="4526280"/>
            <a:ext cx="4800600" cy="29260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Implication: Use this signal to prioritize follow-up actions and stakeholder communication.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Evidence traceability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42416"/>
            <a:ext cx="6858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F172A"/>
                </a:solidFill>
              </a:rPr>
              <a:t>Every narrative claim is backed by validated artifacts before export.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59436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5895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79552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173736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Source availability and required columns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173736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Required sheets and columns were mapped from Teams, OneDrive, Forms, KPI, Rules and Template sources.</a:t>
            </a:r>
            <a:endParaRPr lang="en-US" sz="850" dirty="0"/>
          </a:p>
        </p:txBody>
      </p:sp>
      <p:sp>
        <p:nvSpPr>
          <p:cNvPr id="13" name="Shape 11"/>
          <p:cNvSpPr/>
          <p:nvPr/>
        </p:nvSpPr>
        <p:spPr>
          <a:xfrm>
            <a:off x="6172200" y="1691640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6336792" y="1856232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373368" y="1856232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16" name="Text 14"/>
          <p:cNvSpPr/>
          <p:nvPr/>
        </p:nvSpPr>
        <p:spPr>
          <a:xfrm>
            <a:off x="7315200" y="1837944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Course status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7315200" y="2148840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All selected courses are completed.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59436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75895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9552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1" name="Text 19"/>
          <p:cNvSpPr/>
          <p:nvPr/>
        </p:nvSpPr>
        <p:spPr>
          <a:xfrm>
            <a:off x="173736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Attendance completeness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173736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Expected attendance rows are trainee count x total sessions. Late is retained for metrics as partial attendance.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6172200" y="2862072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6336792" y="3026664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6373368" y="3026664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26" name="Text 24"/>
          <p:cNvSpPr/>
          <p:nvPr/>
        </p:nvSpPr>
        <p:spPr>
          <a:xfrm>
            <a:off x="7315200" y="3008376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Assessment completeness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7315200" y="3319272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Completed courses require one valid assessment and pass-status row per trainee.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59436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75895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79552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1" name="Text 29"/>
          <p:cNvSpPr/>
          <p:nvPr/>
        </p:nvSpPr>
        <p:spPr>
          <a:xfrm>
            <a:off x="173736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Feedback completeness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73736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NORM-14 requires at least 60% feedback response rate for valid analysis.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4032504"/>
            <a:ext cx="516636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6336792" y="4197096"/>
            <a:ext cx="841248" cy="256032"/>
          </a:xfrm>
          <a:prstGeom prst="roundRect">
            <a:avLst>
              <a:gd name="adj" fmla="val 28571"/>
            </a:avLst>
          </a:prstGeom>
          <a:solidFill>
            <a:srgbClr val="D1FAE5"/>
          </a:solidFill>
          <a:ln w="12700">
            <a:solidFill>
              <a:srgbClr val="D1FAE5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373368" y="4197096"/>
            <a:ext cx="76809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047857"/>
                </a:solidFill>
              </a:rPr>
              <a:t>Ready</a:t>
            </a:r>
            <a:endParaRPr lang="en-US" sz="740" dirty="0"/>
          </a:p>
        </p:txBody>
      </p:sp>
      <p:sp>
        <p:nvSpPr>
          <p:cNvPr id="36" name="Text 34"/>
          <p:cNvSpPr/>
          <p:nvPr/>
        </p:nvSpPr>
        <p:spPr>
          <a:xfrm>
            <a:off x="7315200" y="4178808"/>
            <a:ext cx="3611880" cy="18288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00" b="1" dirty="0">
                <a:solidFill>
                  <a:srgbClr val="0F172A"/>
                </a:solidFill>
              </a:rPr>
              <a:t>Row-level data quality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7315200" y="4489704"/>
            <a:ext cx="361188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Duplicate rows and numeric ranges were checked before metric generation.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Governance and access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4066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CLASSIFICATION</a:t>
            </a:r>
            <a:endParaRPr lang="en-US" sz="800" dirty="0"/>
          </a:p>
        </p:txBody>
      </p:sp>
      <p:sp>
        <p:nvSpPr>
          <p:cNvPr id="9" name="Text 7"/>
          <p:cNvSpPr/>
          <p:nvPr/>
        </p:nvSpPr>
        <p:spPr>
          <a:xfrm>
            <a:off x="74066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Risk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338328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52958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SENSITIVE DETAILS</a:t>
            </a:r>
            <a:endParaRPr lang="en-US" sz="800" dirty="0"/>
          </a:p>
        </p:txBody>
      </p:sp>
      <p:sp>
        <p:nvSpPr>
          <p:cNvPr id="12" name="Text 10"/>
          <p:cNvSpPr/>
          <p:nvPr/>
        </p:nvSpPr>
        <p:spPr>
          <a:xfrm>
            <a:off x="352958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Visible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617220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1850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RAW APPENDIX</a:t>
            </a:r>
            <a:endParaRPr lang="en-US" sz="800" dirty="0"/>
          </a:p>
        </p:txBody>
      </p:sp>
      <p:sp>
        <p:nvSpPr>
          <p:cNvPr id="15" name="Text 13"/>
          <p:cNvSpPr/>
          <p:nvPr/>
        </p:nvSpPr>
        <p:spPr>
          <a:xfrm>
            <a:off x="631850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047857"/>
                </a:solidFill>
              </a:rPr>
              <a:t>Allowed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8961120" y="1051560"/>
            <a:ext cx="2514600" cy="1078992"/>
          </a:xfrm>
          <a:prstGeom prst="roundRect">
            <a:avLst>
              <a:gd name="adj" fmla="val 6780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107424" y="1179576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HIGH-PRIORITY FLAGS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9107424" y="1490472"/>
            <a:ext cx="2148840" cy="31089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500" b="1" dirty="0">
                <a:solidFill>
                  <a:srgbClr val="B91C1C"/>
                </a:solidFill>
              </a:rPr>
              <a:t>1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594360" y="2788920"/>
            <a:ext cx="6812280" cy="566928"/>
          </a:xfrm>
          <a:prstGeom prst="roundRect">
            <a:avLst>
              <a:gd name="adj" fmla="val 9677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722376" y="2944368"/>
            <a:ext cx="77724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58952" y="2944368"/>
            <a:ext cx="70408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22" name="Text 20"/>
          <p:cNvSpPr/>
          <p:nvPr/>
        </p:nvSpPr>
        <p:spPr>
          <a:xfrm>
            <a:off x="1600200" y="2898648"/>
            <a:ext cx="2148840" cy="14630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b="1" dirty="0">
                <a:solidFill>
                  <a:srgbClr val="0F172A"/>
                </a:solidFill>
              </a:rPr>
              <a:t>NORM-07 | High</a:t>
            </a:r>
            <a:endParaRPr lang="en-US" sz="930" dirty="0"/>
          </a:p>
        </p:txBody>
      </p:sp>
      <p:sp>
        <p:nvSpPr>
          <p:cNvPr id="23" name="Text 21"/>
          <p:cNvSpPr/>
          <p:nvPr/>
        </p:nvSpPr>
        <p:spPr>
          <a:xfrm>
            <a:off x="3840480" y="2880360"/>
            <a:ext cx="32918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860" dirty="0">
                <a:solidFill>
                  <a:srgbClr val="64748B"/>
                </a:solidFill>
              </a:rPr>
              <a:t>Trainee needs 1:1 support.</a:t>
            </a:r>
            <a:endParaRPr lang="en-US" sz="860" dirty="0"/>
          </a:p>
        </p:txBody>
      </p:sp>
      <p:sp>
        <p:nvSpPr>
          <p:cNvPr id="24" name="Shape 22"/>
          <p:cNvSpPr/>
          <p:nvPr/>
        </p:nvSpPr>
        <p:spPr>
          <a:xfrm>
            <a:off x="7699248" y="2788920"/>
            <a:ext cx="3767328" cy="1965960"/>
          </a:xfrm>
          <a:prstGeom prst="roundRect">
            <a:avLst>
              <a:gd name="adj" fmla="val 3721"/>
            </a:avLst>
          </a:prstGeom>
          <a:solidFill>
            <a:srgbClr val="FEE2E2"/>
          </a:solidFill>
          <a:ln w="12700">
            <a:solidFill>
              <a:srgbClr val="B91C1C">
                <a:alpha val="6500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955280" y="3054096"/>
            <a:ext cx="32004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B91C1C"/>
                </a:solidFill>
              </a:rPr>
              <a:t>GOVERNANCE RESPONSE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7955280" y="3493008"/>
            <a:ext cx="321868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7955280" y="4279392"/>
            <a:ext cx="321868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Triggered by NORM-07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Recommended action plan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594360" y="960120"/>
            <a:ext cx="10972800" cy="859536"/>
          </a:xfrm>
          <a:prstGeom prst="roundRect">
            <a:avLst>
              <a:gd name="adj" fmla="val 6383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768096" y="1179576"/>
            <a:ext cx="228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F172A"/>
                </a:solidFill>
              </a:rPr>
              <a:t>1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1170432" y="1161288"/>
            <a:ext cx="822960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207008" y="1161288"/>
            <a:ext cx="749808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1" name="Text 9"/>
          <p:cNvSpPr/>
          <p:nvPr/>
        </p:nvSpPr>
        <p:spPr>
          <a:xfrm>
            <a:off x="2121408" y="1124712"/>
            <a:ext cx="1508760" cy="201168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b="1" dirty="0">
                <a:solidFill>
                  <a:srgbClr val="0F172A"/>
                </a:solidFill>
              </a:rPr>
              <a:t>L&amp;D Manager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3794760" y="1078992"/>
            <a:ext cx="384048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3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930" dirty="0"/>
          </a:p>
        </p:txBody>
      </p:sp>
      <p:sp>
        <p:nvSpPr>
          <p:cNvPr id="13" name="Text 11"/>
          <p:cNvSpPr/>
          <p:nvPr/>
        </p:nvSpPr>
        <p:spPr>
          <a:xfrm>
            <a:off x="7863840" y="1078992"/>
            <a:ext cx="3291840" cy="512064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Delivery roadmap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8" name="Shape 5"/>
          <p:cNvSpPr/>
          <p:nvPr/>
        </p:nvSpPr>
        <p:spPr>
          <a:xfrm>
            <a:off x="6103620" y="1490472"/>
            <a:ext cx="0" cy="0"/>
          </a:xfrm>
          <a:prstGeom prst="line">
            <a:avLst/>
          </a:prstGeom>
          <a:noFill/>
          <a:ln w="12700">
            <a:solidFill>
              <a:srgbClr val="93C5FD"/>
            </a:solidFill>
            <a:prstDash val="solid"/>
          </a:ln>
        </p:spPr>
      </p:sp>
      <p:sp>
        <p:nvSpPr>
          <p:cNvPr id="9" name="Shape 6"/>
          <p:cNvSpPr/>
          <p:nvPr/>
        </p:nvSpPr>
        <p:spPr>
          <a:xfrm>
            <a:off x="5847588" y="1234440"/>
            <a:ext cx="512064" cy="512064"/>
          </a:xfrm>
          <a:prstGeom prst="ellipse">
            <a:avLst/>
          </a:prstGeom>
          <a:solidFill>
            <a:srgbClr val="B91C1C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5847588" y="1234440"/>
            <a:ext cx="512064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1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685800" y="1938528"/>
            <a:ext cx="10835640" cy="3364992"/>
          </a:xfrm>
          <a:prstGeom prst="roundRect">
            <a:avLst>
              <a:gd name="adj" fmla="val 2174"/>
            </a:avLst>
          </a:prstGeom>
          <a:solidFill>
            <a:srgbClr val="FFFFFF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868680" y="2212848"/>
            <a:ext cx="9692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ACTION 1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10561320" y="2148840"/>
            <a:ext cx="749808" cy="256032"/>
          </a:xfrm>
          <a:prstGeom prst="roundRect">
            <a:avLst>
              <a:gd name="adj" fmla="val 28571"/>
            </a:avLst>
          </a:prstGeom>
          <a:solidFill>
            <a:srgbClr val="FEE2E2"/>
          </a:solidFill>
          <a:ln w="12700">
            <a:solidFill>
              <a:srgbClr val="FEE2E2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10597896" y="2148840"/>
            <a:ext cx="676656" cy="256032"/>
          </a:xfrm>
          <a:prstGeom prst="rect">
            <a:avLst/>
          </a:prstGeom>
          <a:noFill/>
          <a:ln/>
        </p:spPr>
        <p:txBody>
          <a:bodyPr wrap="square" lIns="127" tIns="127" rIns="127" bIns="127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B91C1C"/>
                </a:solidFill>
              </a:rPr>
              <a:t>High</a:t>
            </a:r>
            <a:endParaRPr lang="en-US" sz="740" dirty="0"/>
          </a:p>
        </p:txBody>
      </p:sp>
      <p:sp>
        <p:nvSpPr>
          <p:cNvPr id="15" name="Text 12"/>
          <p:cNvSpPr/>
          <p:nvPr/>
        </p:nvSpPr>
        <p:spPr>
          <a:xfrm>
            <a:off x="868680" y="2633472"/>
            <a:ext cx="10469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100" b="1" dirty="0">
                <a:solidFill>
                  <a:srgbClr val="0F172A"/>
                </a:solidFill>
              </a:rPr>
              <a:t>L&amp;D Manager</a:t>
            </a:r>
            <a:endParaRPr lang="en-US" sz="1100" dirty="0"/>
          </a:p>
        </p:txBody>
      </p:sp>
      <p:sp>
        <p:nvSpPr>
          <p:cNvPr id="16" name="Text 13"/>
          <p:cNvSpPr/>
          <p:nvPr/>
        </p:nvSpPr>
        <p:spPr>
          <a:xfrm>
            <a:off x="868680" y="3035808"/>
            <a:ext cx="10469880" cy="93268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Flag for coaching; assign buddy or practice resources</a:t>
            </a:r>
            <a:endParaRPr lang="en-US" sz="1050" dirty="0"/>
          </a:p>
        </p:txBody>
      </p:sp>
      <p:sp>
        <p:nvSpPr>
          <p:cNvPr id="17" name="Text 14"/>
          <p:cNvSpPr/>
          <p:nvPr/>
        </p:nvSpPr>
        <p:spPr>
          <a:xfrm>
            <a:off x="868680" y="4187952"/>
            <a:ext cx="1046988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b="1" dirty="0">
                <a:solidFill>
                  <a:srgbClr val="64748B"/>
                </a:solidFill>
              </a:rPr>
              <a:t>Expected outcome</a:t>
            </a:r>
            <a:endParaRPr lang="en-US" sz="800" dirty="0"/>
          </a:p>
        </p:txBody>
      </p:sp>
      <p:sp>
        <p:nvSpPr>
          <p:cNvPr id="18" name="Text 15"/>
          <p:cNvSpPr/>
          <p:nvPr/>
        </p:nvSpPr>
        <p:spPr>
          <a:xfrm>
            <a:off x="868680" y="4443984"/>
            <a:ext cx="1046988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20" dirty="0">
                <a:solidFill>
                  <a:srgbClr val="64748B"/>
                </a:solidFill>
              </a:rPr>
              <a:t>Reduce support-needed learner cases from 1 to 0 (100% resolution against pass-score and attendance policy) by the next cohort review.</a:t>
            </a:r>
            <a:endParaRPr lang="en-US" sz="92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320040"/>
            <a:ext cx="6858000" cy="3657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172A"/>
                </a:solidFill>
              </a:rPr>
              <a:t>Appendix and methodology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7772400" y="384048"/>
            <a:ext cx="3611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950" dirty="0">
                <a:solidFill>
                  <a:srgbClr val="64748B"/>
                </a:solidFill>
              </a:rPr>
              <a:t>Course AI Agent &amp; LLM Application Development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548640" y="841248"/>
            <a:ext cx="11109960" cy="0"/>
          </a:xfrm>
          <a:prstGeom prst="line">
            <a:avLst/>
          </a:prstGeom>
          <a:noFill/>
          <a:ln w="12700">
            <a:solidFill>
              <a:srgbClr val="CBD5E1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66928" y="6473952"/>
            <a:ext cx="69494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Evidence: Passed | Draft | L&amp;D Manager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9464040" y="6473952"/>
            <a:ext cx="20574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50" dirty="0">
                <a:solidFill>
                  <a:srgbClr val="64748B"/>
                </a:solidFill>
              </a:rPr>
              <a:t>SETA L&amp;D Reporting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Source traceability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31520" y="148132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Report ID: rpt_ddc79753-7191-4d57-8da3-700f56059dc5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731520" y="179222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Dataset ID: ds_7642cb43d62f634d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731520" y="2103120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Metrics snapshot ID: mx_e20bb115-260f-477d-91c0-cea1fc6deed3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731520" y="2414016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Evidence decision ID: ev_7f7ebadf-9283-4b23-a2c8-cbca13e1e960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731520" y="2724912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Governance view ID: gv_f0becff0-4d8f-4d37-b5db-62ffcdc29b2b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731520" y="3035808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Role view: L&amp;D Manager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731520" y="3346704"/>
            <a:ext cx="5120640" cy="219456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0F172A"/>
                </a:solidFill>
              </a:rPr>
              <a:t>Sensitive details: visible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6492240" y="105156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LLM disclosure</a:t>
            </a:r>
            <a:endParaRPr lang="en-US" sz="1600" dirty="0"/>
          </a:p>
        </p:txBody>
      </p:sp>
      <p:sp>
        <p:nvSpPr>
          <p:cNvPr id="16" name="Shape 14"/>
          <p:cNvSpPr/>
          <p:nvPr/>
        </p:nvSpPr>
        <p:spPr>
          <a:xfrm>
            <a:off x="6492240" y="1463040"/>
            <a:ext cx="4983480" cy="1371600"/>
          </a:xfrm>
          <a:prstGeom prst="roundRect">
            <a:avLst>
              <a:gd name="adj" fmla="val 5333"/>
            </a:avLst>
          </a:prstGeom>
          <a:solidFill>
            <a:srgbClr val="F8FAFC"/>
          </a:solidFill>
          <a:ln w="12700">
            <a:solidFill>
              <a:srgbClr val="CBD5E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720840" y="1700784"/>
            <a:ext cx="4480560" cy="77724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150" dirty="0">
                <a:solidFill>
                  <a:srgbClr val="0F172A"/>
                </a:solidFill>
              </a:rPr>
              <a:t>Deterministic fallback used. OPENAI_API_KEY is not configured or LD_REPORTING_USE_LLM=false.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6492240" y="3246120"/>
            <a:ext cx="2926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F172A"/>
                </a:solidFill>
              </a:rPr>
              <a:t>Business rule</a:t>
            </a:r>
            <a:endParaRPr lang="en-US" sz="1600" dirty="0"/>
          </a:p>
        </p:txBody>
      </p:sp>
      <p:sp>
        <p:nvSpPr>
          <p:cNvPr id="19" name="Text 17"/>
          <p:cNvSpPr/>
          <p:nvPr/>
        </p:nvSpPr>
        <p:spPr>
          <a:xfrm>
            <a:off x="6492240" y="3675888"/>
            <a:ext cx="4892040" cy="68580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200" dirty="0">
                <a:solidFill>
                  <a:srgbClr val="0F172A"/>
                </a:solidFill>
              </a:rPr>
              <a:t>Completion rate is calculated from learner attendance &gt;= 70%. Pass rate is calculated independently from assessment pass status.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SETA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L&amp;D Training Effectiveness Report - AI Agent &amp; LLM Application Development</dc:title>
  <dc:subject>Training effectiveness is strong with validated evidence.</dc:subject>
  <dc:creator>SETA L&amp;D Reporting Agent</dc:creator>
  <cp:lastModifiedBy>SETA L&amp;D Reporting Agent</cp:lastModifiedBy>
  <cp:revision>1</cp:revision>
  <dcterms:created xsi:type="dcterms:W3CDTF">2026-06-23T07:56:15Z</dcterms:created>
  <dcterms:modified xsi:type="dcterms:W3CDTF">2026-06-23T07:56:15Z</dcterms:modified>
</cp:coreProperties>
</file>