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Governance flags by priority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B91C1C"/>
              </a:solidFill>
              <a:effectLst/>
            </c:spPr>
          </c:dPt>
          <c:dPt>
            <c:idx val="1"/>
            <c:bubble3D val="0"/>
            <c:spPr>
              <a:solidFill>
                <a:srgbClr val="B45309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High</c:v>
                </c:pt>
                <c:pt idx="1">
                  <c:v>Medium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7</c:v>
                </c:pt>
                <c:pt idx="1">
                  <c:v>1</c:v>
                </c:pt>
              </c:numCache>
            </c:numRef>
          </c:val>
        </c:ser>
        <c:firstSliceAng val="0"/>
        <c:holeSize val="68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executive summary
The selected scope contains 3 course(s), 3 completed course(s), and 59 trainee-course records. Overall attendance is 92.9%, completion is 98.3%, pass rate is 89.8%, and average score is 7.59/10. Total training hours are 848 and scaled cost is 32. Overall effectiveness classification is Risk.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Recommended delivery sequence
1. Flag for coaching; assign buddy or practice resources
Owner: L&amp;D Manager
Outcome: Improve learner recovery and reduce support-needed cases.
2. Mark as Incomplete; recommend re-enrollment in next cohort
Owner: L&amp;D Manager
Outcome: Improve training effectiveness and repeatability.
3. Assign a coaching owner, buddy support, and targeted practice resources for the flagged learner.
Owner: L&amp;D Manager
Outcome: Improve learner recovery and reduce support-needed cases.
4. Mark incomplete learner records for review and schedule re-enrollment in the next suitable cohort.
Owner: L&amp;D Manager
Outcome: Improve training effectiveness and repeatability.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- 2026-Q1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Training effectiveness is strong with validated evidence.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732520" y="9601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3C5FD"/>
                </a:solidFill>
              </a:rPr>
              <a:t>VALIDATED PERFORMANCE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887968" y="1325880"/>
            <a:ext cx="2240280" cy="2240280"/>
          </a:xfrm>
          <a:prstGeom prst="ellipse">
            <a:avLst/>
          </a:prstGeom>
          <a:solidFill>
            <a:srgbClr val="B91C1C">
              <a:alpha val="95000"/>
            </a:srgbClr>
          </a:solidFill>
          <a:ln w="12700">
            <a:solidFill>
              <a:srgbClr val="60A5FA">
                <a:alpha val="8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281160" y="1719072"/>
            <a:ext cx="1453896" cy="1453896"/>
          </a:xfrm>
          <a:prstGeom prst="ellipse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63456" y="2148840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88.2/100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851392" y="374904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Risk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68512" y="43159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Attendance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9555480" y="43342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55480" y="4334256"/>
            <a:ext cx="1019373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716768" y="43068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92.9%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668512" y="47731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Completion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9555480" y="47914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555480" y="4791456"/>
            <a:ext cx="1078626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716768" y="47640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98.3%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668512" y="52303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Pass rate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9555480" y="52486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555480" y="5248656"/>
            <a:ext cx="985357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716768" y="52212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89.8%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4944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Passed</a:t>
            </a:r>
            <a:endParaRPr lang="en-US" sz="740" dirty="0"/>
          </a:p>
        </p:txBody>
      </p:sp>
      <p:sp>
        <p:nvSpPr>
          <p:cNvPr id="26" name="Shape 24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09397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2841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L&amp;D Manager</a:t>
            </a:r>
            <a:endParaRPr lang="en-US" sz="740" dirty="0"/>
          </a:p>
        </p:txBody>
      </p:sp>
      <p:sp>
        <p:nvSpPr>
          <p:cNvPr id="30" name="Text 28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Period 2026-Q1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6/22/2026, 10:27:47 PM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94360" y="1051560"/>
            <a:ext cx="67665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Training effectiveness is strong with validated evidence.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621792" y="1828800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21792" y="18288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1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097280" y="1783080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The selected scope contains 3 course(s), 3 completed course(s), and 59 trainee-course records.</a:t>
            </a:r>
            <a:endParaRPr lang="en-US" sz="1120" dirty="0"/>
          </a:p>
        </p:txBody>
      </p:sp>
      <p:sp>
        <p:nvSpPr>
          <p:cNvPr id="12" name="Shape 9"/>
          <p:cNvSpPr/>
          <p:nvPr/>
        </p:nvSpPr>
        <p:spPr>
          <a:xfrm>
            <a:off x="621792" y="2487168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1792" y="24871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2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1097280" y="2441448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Overall attendance is 92.9%, completion is 98.3%, pass rate is 89.8%, and average score is 7.59/10.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621792" y="3145536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1792" y="31455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3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1097280" y="3099816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Total training hours are 848 and scaled cost is 32.</a:t>
            </a:r>
            <a:endParaRPr lang="en-US" sz="1120" dirty="0"/>
          </a:p>
        </p:txBody>
      </p:sp>
      <p:sp>
        <p:nvSpPr>
          <p:cNvPr id="18" name="Shape 15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083296" y="16459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22" name="Text 19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28" name="Text 25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220370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1" name="Shape 28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34" name="Text 31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99262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37" name="Shape 34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40" name="Text 37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78154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43" name="Shape 40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45" name="Text 42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46" name="Text 43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1057046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664208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allowed. Overall classification is Risk.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5786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2644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All selected courses are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39502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360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218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4.48/5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848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32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0.0683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Visual analytics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544068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234440"/>
            <a:ext cx="503834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Overall KPI vs target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95528" y="1527048"/>
            <a:ext cx="503834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Validated performance metrics compared with L&amp;D operating thresholds.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795528" y="192024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Attendance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2395728" y="206654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95728" y="2066544"/>
            <a:ext cx="2412516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03090" y="202082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65776" y="191109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92.9%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795528" y="286893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Completion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2395728" y="301523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95728" y="3015234"/>
            <a:ext cx="2552749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32934" y="296951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65776" y="285978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98.3%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95528" y="381762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Pass rate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2395728" y="396392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95728" y="3963924"/>
            <a:ext cx="2332013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73245" y="391820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65776" y="380847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89.8%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795528" y="476631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Effectiveness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2395728" y="491261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95728" y="4912614"/>
            <a:ext cx="2291241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03090" y="486689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65776" y="475716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88.2/100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6309360" y="1051560"/>
            <a:ext cx="525780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10528" y="1234440"/>
            <a:ext cx="485546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Course rate mix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510528" y="1527048"/>
            <a:ext cx="485546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Attendance, completion, and pass rate by course.</a:t>
            </a:r>
            <a:endParaRPr lang="en-US" sz="780" dirty="0"/>
          </a:p>
        </p:txBody>
      </p:sp>
      <p:sp>
        <p:nvSpPr>
          <p:cNvPr id="33" name="Shape 31"/>
          <p:cNvSpPr/>
          <p:nvPr/>
        </p:nvSpPr>
        <p:spPr>
          <a:xfrm>
            <a:off x="6537960" y="1920240"/>
            <a:ext cx="91440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675120" y="1901952"/>
            <a:ext cx="950976" cy="1188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Attendance</a:t>
            </a:r>
            <a:endParaRPr lang="en-US" sz="680" dirty="0"/>
          </a:p>
        </p:txBody>
      </p:sp>
      <p:sp>
        <p:nvSpPr>
          <p:cNvPr id="35" name="Shape 33"/>
          <p:cNvSpPr/>
          <p:nvPr/>
        </p:nvSpPr>
        <p:spPr>
          <a:xfrm>
            <a:off x="7690104" y="1920240"/>
            <a:ext cx="91440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827264" y="1901952"/>
            <a:ext cx="950976" cy="1188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Completion</a:t>
            </a:r>
            <a:endParaRPr lang="en-US" sz="680" dirty="0"/>
          </a:p>
        </p:txBody>
      </p:sp>
      <p:sp>
        <p:nvSpPr>
          <p:cNvPr id="37" name="Shape 35"/>
          <p:cNvSpPr/>
          <p:nvPr/>
        </p:nvSpPr>
        <p:spPr>
          <a:xfrm>
            <a:off x="8842248" y="1920240"/>
            <a:ext cx="91440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979408" y="1901952"/>
            <a:ext cx="950976" cy="1188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Pass rate</a:t>
            </a:r>
            <a:endParaRPr lang="en-US" sz="680" dirty="0"/>
          </a:p>
        </p:txBody>
      </p:sp>
      <p:sp>
        <p:nvSpPr>
          <p:cNvPr id="39" name="Shape 37"/>
          <p:cNvSpPr/>
          <p:nvPr/>
        </p:nvSpPr>
        <p:spPr>
          <a:xfrm>
            <a:off x="6739128" y="5349240"/>
            <a:ext cx="4398264" cy="0"/>
          </a:xfrm>
          <a:prstGeom prst="line">
            <a:avLst/>
          </a:prstGeom>
          <a:noFill/>
          <a:ln w="12700">
            <a:solidFill>
              <a:srgbClr val="E2E8F0">
                <a:alpha val="75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739128" y="3808476"/>
            <a:ext cx="4398264" cy="0"/>
          </a:xfrm>
          <a:prstGeom prst="line">
            <a:avLst/>
          </a:prstGeom>
          <a:noFill/>
          <a:ln w="12700">
            <a:solidFill>
              <a:srgbClr val="E2E8F0">
                <a:alpha val="75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739128" y="2267712"/>
            <a:ext cx="4398264" cy="0"/>
          </a:xfrm>
          <a:prstGeom prst="line">
            <a:avLst/>
          </a:prstGeom>
          <a:noFill/>
          <a:ln w="12700">
            <a:solidFill>
              <a:srgbClr val="E2E8F0">
                <a:alpha val="75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257288" y="2517316"/>
            <a:ext cx="118872" cy="2831924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412736" y="2350913"/>
            <a:ext cx="118872" cy="2998327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568184" y="2600517"/>
            <a:ext cx="118872" cy="2748723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757416" y="5440680"/>
            <a:ext cx="142951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</a:rPr>
              <a:t>Automation Te...</a:t>
            </a:r>
            <a:endParaRPr lang="en-US" sz="650" dirty="0"/>
          </a:p>
        </p:txBody>
      </p:sp>
      <p:sp>
        <p:nvSpPr>
          <p:cNvPr id="46" name="Shape 44"/>
          <p:cNvSpPr/>
          <p:nvPr/>
        </p:nvSpPr>
        <p:spPr>
          <a:xfrm>
            <a:off x="8723376" y="2390973"/>
            <a:ext cx="118872" cy="2958267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878824" y="2267712"/>
            <a:ext cx="118872" cy="308152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034272" y="2267712"/>
            <a:ext cx="118872" cy="308152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223504" y="5440680"/>
            <a:ext cx="142951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</a:rPr>
              <a:t>DevOps Fundam...</a:t>
            </a:r>
            <a:endParaRPr lang="en-US" sz="650" dirty="0"/>
          </a:p>
        </p:txBody>
      </p:sp>
      <p:sp>
        <p:nvSpPr>
          <p:cNvPr id="50" name="Shape 48"/>
          <p:cNvSpPr/>
          <p:nvPr/>
        </p:nvSpPr>
        <p:spPr>
          <a:xfrm>
            <a:off x="10189464" y="2474174"/>
            <a:ext cx="118872" cy="2875066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0344912" y="2267712"/>
            <a:ext cx="118872" cy="308152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0500360" y="2782327"/>
            <a:ext cx="118872" cy="2566913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689592" y="5440680"/>
            <a:ext cx="142951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</a:rPr>
              <a:t>AWS Cloud Arc...</a:t>
            </a:r>
            <a:endParaRPr lang="en-US" sz="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Distribution and risk signals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544068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234440"/>
            <a:ext cx="503834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Course effectiveness comparison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95528" y="1527048"/>
            <a:ext cx="503834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Effectiveness score by course, using the validated L&amp;D scoring model.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795528" y="192024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Automation Testing with...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2395728" y="206654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95728" y="2066544"/>
            <a:ext cx="2250470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03090" y="202082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65776" y="191109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86.7/100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795528" y="318516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DevOps Fundamentals: CI...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2395728" y="333146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95728" y="3331464"/>
            <a:ext cx="2396416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03090" y="328574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65776" y="317601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92.3/100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95528" y="445008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AWS Cloud Architecture ...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2395728" y="459638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95728" y="4596384"/>
            <a:ext cx="2227098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03090" y="455066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65776" y="444093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85.8/100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6309360" y="1051560"/>
            <a:ext cx="525780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10528" y="1234440"/>
            <a:ext cx="485546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Governance flags by priority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510528" y="1527048"/>
            <a:ext cx="485546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NORM rule triggers grouped by business priority.</a:t>
            </a:r>
            <a:endParaRPr lang="en-US" sz="780" dirty="0"/>
          </a:p>
        </p:txBody>
      </p:sp>
      <p:graphicFrame>
        <p:nvGraphicFramePr>
          <p:cNvPr id="28" name="Chart 0" descr=""/>
          <p:cNvGraphicFramePr/>
          <p:nvPr/>
        </p:nvGraphicFramePr>
        <p:xfrm>
          <a:off x="6537960" y="1920240"/>
          <a:ext cx="2784348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9" name="Text 26"/>
          <p:cNvSpPr/>
          <p:nvPr/>
        </p:nvSpPr>
        <p:spPr>
          <a:xfrm>
            <a:off x="7345421" y="3372307"/>
            <a:ext cx="116942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8</a:t>
            </a:r>
            <a:endParaRPr lang="en-US" sz="2200" dirty="0"/>
          </a:p>
        </p:txBody>
      </p:sp>
      <p:sp>
        <p:nvSpPr>
          <p:cNvPr id="30" name="Text 27"/>
          <p:cNvSpPr/>
          <p:nvPr/>
        </p:nvSpPr>
        <p:spPr>
          <a:xfrm>
            <a:off x="7234047" y="3871570"/>
            <a:ext cx="13921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total flags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9486900" y="2286000"/>
            <a:ext cx="109728" cy="10972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9669780" y="2258568"/>
            <a:ext cx="9921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High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10643616" y="225856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7 (88%)</a:t>
            </a:r>
            <a:endParaRPr lang="en-US" sz="800" dirty="0"/>
          </a:p>
        </p:txBody>
      </p:sp>
      <p:sp>
        <p:nvSpPr>
          <p:cNvPr id="34" name="Shape 31"/>
          <p:cNvSpPr/>
          <p:nvPr/>
        </p:nvSpPr>
        <p:spPr>
          <a:xfrm>
            <a:off x="9486900" y="2779776"/>
            <a:ext cx="109728" cy="10972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9669780" y="2752344"/>
            <a:ext cx="9921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Medium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10643616" y="2752344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 (13%)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078992"/>
          <a:ext cx="10972800" cy="3063240"/>
        </p:xfrm>
        <a:graphic>
          <a:graphicData uri="http://schemas.openxmlformats.org/drawingml/2006/table">
            <a:tbl>
              <a:tblPr/>
              <a:tblGrid>
                <a:gridCol w="3017520"/>
                <a:gridCol w="914400"/>
                <a:gridCol w="1143000"/>
                <a:gridCol w="1143000"/>
                <a:gridCol w="1005840"/>
                <a:gridCol w="1005840"/>
                <a:gridCol w="12344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Course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Learners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Attend.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Complete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Pass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Effectiveness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Automation Testing with Playwri...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37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91.9%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97.3%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89.2%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7.59/10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86.66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DevOps Fundamentals: CI/CD, K8s...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96%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7.89/10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92.28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AWS Cloud Architecture &amp; Servic...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7.32/10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85.76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9436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What to notice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94360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8952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98.3%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325112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489704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88.23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055864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0456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98.3%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89.8%.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88.23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92.9%, pass rate 89.8%, average score 7.59/10.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Risk.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AWS Cloud Architecture &amp; Services needs attention with effectiveness score 85.76, attendance 93.3%, and pass r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All selected courses are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Row-level data quality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Duplicate rows and numeric ranges were checked before metric generation.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Risk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Visible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Allowed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7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4436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594360" y="3538728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2376" y="3694176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" y="3694176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1600200" y="364845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8" name="Text 26"/>
          <p:cNvSpPr/>
          <p:nvPr/>
        </p:nvSpPr>
        <p:spPr>
          <a:xfrm>
            <a:off x="3840480" y="3630168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594360" y="4288536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2376" y="44439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8952" y="44439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1600200" y="4398264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NORM-05 | High</a:t>
            </a:r>
            <a:endParaRPr lang="en-US" sz="930" dirty="0"/>
          </a:p>
        </p:txBody>
      </p:sp>
      <p:sp>
        <p:nvSpPr>
          <p:cNvPr id="33" name="Text 31"/>
          <p:cNvSpPr/>
          <p:nvPr/>
        </p:nvSpPr>
        <p:spPr>
          <a:xfrm>
            <a:off x="3840480" y="4379976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has zero score or missing assessment.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594360" y="5038344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22376" y="5193792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8952" y="5193792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7" name="Text 35"/>
          <p:cNvSpPr/>
          <p:nvPr/>
        </p:nvSpPr>
        <p:spPr>
          <a:xfrm>
            <a:off x="1600200" y="5148072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38" name="Text 36"/>
          <p:cNvSpPr/>
          <p:nvPr/>
        </p:nvSpPr>
        <p:spPr>
          <a:xfrm>
            <a:off x="3840480" y="5129784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39" name="Shape 37"/>
          <p:cNvSpPr/>
          <p:nvPr/>
        </p:nvSpPr>
        <p:spPr>
          <a:xfrm>
            <a:off x="7699248" y="2788920"/>
            <a:ext cx="3767328" cy="1965960"/>
          </a:xfrm>
          <a:prstGeom prst="roundRect">
            <a:avLst>
              <a:gd name="adj" fmla="val 3721"/>
            </a:avLst>
          </a:prstGeom>
          <a:solidFill>
            <a:srgbClr val="FEE2E2"/>
          </a:solidFill>
          <a:ln w="12700">
            <a:solidFill>
              <a:srgbClr val="B91C1C">
                <a:alpha val="65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955280" y="3054096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91C1C"/>
                </a:solidFill>
              </a:rPr>
              <a:t>GOVERNANCE RESPONSE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7955280" y="3493008"/>
            <a:ext cx="32186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7955280" y="4279392"/>
            <a:ext cx="3218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Triggered by NORM-07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161288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698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698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4360" y="1947672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167128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70432" y="214884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2148840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2121408" y="211226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94760" y="20574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0574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4360" y="2935224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3154680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70432" y="3136392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07008" y="3136392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2121408" y="3099816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94760" y="30449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7863840" y="30449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3922776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8096" y="4142232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4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170432" y="4123944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07008" y="4123944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2121408" y="4087368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794760" y="403250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incomplete learner records for review and schedule re-enrollment in the next suitable cohort.</a:t>
            </a:r>
            <a:endParaRPr lang="en-US" sz="930" dirty="0"/>
          </a:p>
        </p:txBody>
      </p:sp>
      <p:sp>
        <p:nvSpPr>
          <p:cNvPr id="34" name="Text 32"/>
          <p:cNvSpPr/>
          <p:nvPr/>
        </p:nvSpPr>
        <p:spPr>
          <a:xfrm>
            <a:off x="7863840" y="403250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94360" y="4910328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8096" y="5129784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5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170432" y="5111496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207008" y="5111496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2121408" y="5074920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Team Manager + L&amp;D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794760" y="502005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 for support-needed learners and review attendance issues with direct managers.</a:t>
            </a:r>
            <a:endParaRPr lang="en-US" sz="930" dirty="0"/>
          </a:p>
        </p:txBody>
      </p:sp>
      <p:sp>
        <p:nvSpPr>
          <p:cNvPr id="41" name="Text 39"/>
          <p:cNvSpPr/>
          <p:nvPr/>
        </p:nvSpPr>
        <p:spPr>
          <a:xfrm>
            <a:off x="7863840" y="502005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1930527" y="1490472"/>
            <a:ext cx="8346186" cy="0"/>
          </a:xfrm>
          <a:prstGeom prst="line">
            <a:avLst/>
          </a:prstGeom>
          <a:noFill/>
          <a:ln w="12700">
            <a:solidFill>
              <a:srgbClr val="93C5F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674495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674495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85800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8680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1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2215134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251710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5" name="Text 12"/>
          <p:cNvSpPr/>
          <p:nvPr/>
        </p:nvSpPr>
        <p:spPr>
          <a:xfrm>
            <a:off x="868680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68680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868680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868680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19" name="Shape 16"/>
          <p:cNvSpPr/>
          <p:nvPr/>
        </p:nvSpPr>
        <p:spPr>
          <a:xfrm>
            <a:off x="4456557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456557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3467862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650742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2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4997196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033772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2"/>
          <p:cNvSpPr/>
          <p:nvPr/>
        </p:nvSpPr>
        <p:spPr>
          <a:xfrm>
            <a:off x="3650742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3650742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3650742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3650742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29" name="Shape 26"/>
          <p:cNvSpPr/>
          <p:nvPr/>
        </p:nvSpPr>
        <p:spPr>
          <a:xfrm>
            <a:off x="7238619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238619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6249924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432804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3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7779258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815834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5" name="Text 32"/>
          <p:cNvSpPr/>
          <p:nvPr/>
        </p:nvSpPr>
        <p:spPr>
          <a:xfrm>
            <a:off x="6432804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6432804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6432804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6432804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39" name="Shape 36"/>
          <p:cNvSpPr/>
          <p:nvPr/>
        </p:nvSpPr>
        <p:spPr>
          <a:xfrm>
            <a:off x="10020681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10020681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9031986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9214866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4</a:t>
            </a:r>
            <a:endParaRPr lang="en-US" sz="800" dirty="0"/>
          </a:p>
        </p:txBody>
      </p:sp>
      <p:sp>
        <p:nvSpPr>
          <p:cNvPr id="43" name="Shape 40"/>
          <p:cNvSpPr/>
          <p:nvPr/>
        </p:nvSpPr>
        <p:spPr>
          <a:xfrm>
            <a:off x="10561320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10597896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45" name="Text 42"/>
          <p:cNvSpPr/>
          <p:nvPr/>
        </p:nvSpPr>
        <p:spPr>
          <a:xfrm>
            <a:off x="9214866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46" name="Text 43"/>
          <p:cNvSpPr/>
          <p:nvPr/>
        </p:nvSpPr>
        <p:spPr>
          <a:xfrm>
            <a:off x="9214866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incomplete learner records for review and schedule re-enrollment in the next suitable cohort.</a:t>
            </a:r>
            <a:endParaRPr lang="en-US" sz="1050" dirty="0"/>
          </a:p>
        </p:txBody>
      </p:sp>
      <p:sp>
        <p:nvSpPr>
          <p:cNvPr id="47" name="Text 44"/>
          <p:cNvSpPr/>
          <p:nvPr/>
        </p:nvSpPr>
        <p:spPr>
          <a:xfrm>
            <a:off x="9214866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48" name="Text 45"/>
          <p:cNvSpPr/>
          <p:nvPr/>
        </p:nvSpPr>
        <p:spPr>
          <a:xfrm>
            <a:off x="9214866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rpt_2e4a729d-b586-4b50-b875-5f65839c848f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ds_2b469ea6a5efe923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mx_2bddb747-6f0f-462d-90d2-e25f3cc71388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ev_fb0f5c52-6d98-42bd-8ae5-1d89d1565bfe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gv_9b5a32ca-09eb-47db-af07-d22272e2e3e4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L&amp;D Manager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visible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Deterministic fallback used. OPENAI_API_KEY is not configured or LD_REPORTING_USE_LLM=false.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- 2026-Q1</dc:title>
  <dc:subject>Training effectiveness is strong with validated evidence.</dc:subject>
  <dc:creator>SETA L&amp;D Reporting Agent</dc:creator>
  <cp:lastModifiedBy>SETA L&amp;D Reporting Agent</cp:lastModifiedBy>
  <cp:revision>1</cp:revision>
  <dcterms:created xsi:type="dcterms:W3CDTF">2026-06-22T15:27:49Z</dcterms:created>
  <dcterms:modified xsi:type="dcterms:W3CDTF">2026-06-22T15:27:49Z</dcterms:modified>
</cp:coreProperties>
</file>