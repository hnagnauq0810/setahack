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L&amp;D Training Effectiveness Report — Leadership_06_2026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Scope: Course Leadership_06_2026</a:t>
            </a:r>
          </a:p>
          <a:p>
            <a:pPr marL="342900" indent="-171450"/>
            <a:r>
              <a:rPr lang="en-US" sz="1600"/>
              <a:t>Evidence: BLOCKED</a:t>
            </a:r>
          </a:p>
          <a:p>
            <a:pPr marL="342900" indent="-171450"/>
            <a:r>
              <a:rPr lang="en-US" sz="1600"/>
              <a:t>Classification: Not reportable</a:t>
            </a:r>
          </a:p>
          <a:p>
            <a:pPr marL="342900" indent="-171450"/>
            <a:r>
              <a:rPr lang="en-US" sz="1600"/>
              <a:t>Generated: 6/17/2026, 2:41:28 AM</a:t>
            </a:r>
          </a:p>
          <a:p>
            <a:pPr marL="342900" indent="-171450"/>
            <a:r>
              <a:rPr lang="en-US" sz="1600"/>
              <a:t>LLM usage: fallback deterministic mode (OPENAI_API_KEY is not configured or LD_REPORTING_USE_LLM=false.).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SEC-01 Executive Summary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The selected scope contains 1 course(s), 0 completed course(s), and 8 trainee-course records. Overall attendance is 47.9%, completion is 0%, pass rate is 0%, and average score is N/A/10. Total training hours are 34.5 and scaled cost is 4.8.</a:t>
            </a:r>
          </a:p>
          <a:p>
            <a:pPr marL="342900" indent="-171450"/>
            <a:r>
              <a:rPr lang="en-US" sz="1600"/>
              <a:t>Final effectiveness conclusion is blocked because required evidence is incomplete or course status is not completed.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SEC-02 Course-Level Metrics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Overall: 1 course(s), 0 completed, 8 trainee-course records.</a:t>
            </a:r>
          </a:p>
          <a:p>
            <a:pPr marL="342900" indent="-171450"/>
            <a:r>
              <a:rPr lang="en-US" sz="1600"/>
              <a:t>Attendance 47.9% · Completion 0% · Pass rate 0% · Avg score N/A/10.</a:t>
            </a:r>
          </a:p>
          <a:p>
            <a:pPr marL="342900" indent="-171450"/>
            <a:r>
              <a:rPr lang="en-US" sz="1600"/>
              <a:t>Feedback 4.8/5 · Training hours 34.5 · Scaled cost 4.8 · ROI proxy N/A.</a:t>
            </a:r>
          </a:p>
          <a:p>
            <a:pPr marL="342900" indent="-171450"/>
            <a:r>
              <a:rPr lang="en-US" sz="1600"/>
              <a:t>Technical Leadership &amp; Communication: 8 trainees, attendance 47.9%, completion 0%, pass 0%, score N/A/10, effectiveness 25.58.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SEC-03 Trainee Highlights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Outstanding trainee count: 0. L&amp;D Manager view may show individual IDs.</a:t>
            </a:r>
          </a:p>
          <a:p>
            <a:pPr marL="342900" indent="-171450"/>
            <a:r>
              <a:rPr lang="en-US" sz="1600"/>
              <a:t>Support-needed group: Leadership_06_2026 has 8 learner(s). Reason: At least one learner is below pass threshold or attendance policy..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SEC-04 Trainee Evaluation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 pass rate: 0%.</a:t>
            </a:r>
          </a:p>
          <a:p>
            <a:pPr marL="342900" indent="-171450"/>
            <a:r>
              <a:rPr lang="en-US" sz="1600"/>
              <a:t>Average assessment score: N/A/10.</a:t>
            </a:r>
          </a:p>
          <a:p>
            <a:pPr marL="342900" indent="-171450"/>
            <a:r>
              <a:rPr lang="en-US" sz="1600"/>
              <a:t>Technical Leadership &amp; Communication: pass 0%, avg score N/A/10.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SEC-05 Attendance Analysis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 attendance rate: 47.9%.</a:t>
            </a:r>
          </a:p>
          <a:p>
            <a:pPr marL="342900" indent="-171450"/>
            <a:r>
              <a:rPr lang="en-US" sz="1600"/>
              <a:t>Total attended training hours: 34.5.</a:t>
            </a:r>
          </a:p>
          <a:p>
            <a:pPr marL="342900" indent="-171450"/>
            <a:r>
              <a:rPr lang="en-US" sz="1600"/>
              <a:t>Technical Leadership &amp; Communication: attendance 47.9%, hours 34.5.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SEC-06 Effectiveness Analysis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 effectiveness classification: Not reportable.</a:t>
            </a:r>
          </a:p>
          <a:p>
            <a:pPr marL="342900" indent="-171450"/>
            <a:r>
              <a:rPr lang="en-US" sz="1600"/>
              <a:t>Effectiveness score: 25.58.</a:t>
            </a:r>
          </a:p>
          <a:p>
            <a:pPr marL="342900" indent="-171450"/>
            <a:r>
              <a:rPr lang="en-US" sz="1600"/>
              <a:t>NORM flags: 11; high-priority flags: 10.</a:t>
            </a:r>
          </a:p>
          <a:p>
            <a:pPr marL="342900" indent="-171450"/>
            <a:r>
              <a:rPr lang="en-US" sz="1600"/>
              <a:t>Technical Leadership &amp; Communication has the strongest effectiveness score (25.58) in the selected scope.</a:t>
            </a:r>
          </a:p>
          <a:p>
            <a:pPr marL="342900" indent="-171450"/>
            <a:r>
              <a:rPr lang="en-US" sz="1600"/>
              <a:t>1 course group(s) contain learners who need support based on score or attendance policy.</a:t>
            </a:r>
          </a:p>
          <a:p>
            <a:pPr marL="342900" indent="-171450"/>
            <a:r>
              <a:rPr lang="en-US" sz="1600"/>
              <a:t>10 high-priority L&amp;D NORM flag(s) were triggered.</a:t>
            </a:r>
          </a:p>
          <a:p>
            <a:pPr marL="342900" indent="-171450"/>
            <a:r>
              <a:rPr lang="en-US" sz="1600"/>
              <a:t>Evidence status is BLOCKED; conclusions must be limited to validated metrics.</a:t>
            </a:r>
          </a:p>
          <a:p>
            <a:pPr marL="342900" indent="-171450"/>
            <a:r>
              <a:rPr lang="en-US" sz="1600"/>
              <a:t>NORM-01 · High: Pass rate is below 70%.. Action: Flag course for content review; notify L&amp;D manager.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SEC-08 Data Quality Flags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Evidence status: BLOCKED.</a:t>
            </a:r>
          </a:p>
          <a:p>
            <a:pPr marL="342900" indent="-171450"/>
            <a:r>
              <a:rPr lang="en-US" sz="1600"/>
              <a:t>Final conclusion allowed: No.</a:t>
            </a:r>
          </a:p>
          <a:p>
            <a:pPr marL="342900" indent="-171450"/>
            <a:r>
              <a:rPr lang="en-US" sz="1600"/>
              <a:t>Missing/warning evidence items: 2.</a:t>
            </a:r>
          </a:p>
          <a:p>
            <a:pPr marL="342900" indent="-171450"/>
            <a:r>
              <a:rPr lang="en-US" sz="1600"/>
              <a:t>Source availability and required columns: PASS — Teams, OneDrive, Forms, KPI, Rules and Template sheets were mapped to simulated sources.</a:t>
            </a:r>
          </a:p>
          <a:p>
            <a:pPr marL="342900" indent="-171450"/>
            <a:r>
              <a:rPr lang="en-US" sz="1600"/>
              <a:t>Course status: FAIL — 1 course(s) are not completed.</a:t>
            </a:r>
          </a:p>
          <a:p>
            <a:pPr marL="342900" indent="-171450"/>
            <a:r>
              <a:rPr lang="en-US" sz="1600"/>
              <a:t>Attendance completeness: WARN — Expected attendance rows are trainee count × total sessions. Late is retained for metrics as partial attendance.</a:t>
            </a:r>
          </a:p>
          <a:p>
            <a:pPr marL="342900" indent="-171450"/>
            <a:r>
              <a:rPr lang="en-US" sz="1600"/>
              <a:t>Assessment completeness: PASS — Completed courses require one assessment/pass-status row per trainee.</a:t>
            </a:r>
          </a:p>
          <a:p>
            <a:pPr marL="342900" indent="-171450"/>
            <a:r>
              <a:rPr lang="en-US" sz="1600"/>
              <a:t>Feedback completeness: PASS — NORM-14 requires at least 60% feedback response rate for valid analysis.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SEC-09 Recommendations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Do not publish a final effectiveness conclusion until blocked evidence items are resolved.</a:t>
            </a:r>
          </a:p>
          <a:p>
            <a:pPr marL="342900" indent="-171450"/>
            <a:r>
              <a:rPr lang="en-US" sz="1600"/>
              <a:t>Use this output as a preliminary readiness report and assign owners to missing evidence items.</a:t>
            </a:r>
          </a:p>
          <a:p>
            <a:pPr marL="342900" indent="-171450"/>
            <a:r>
              <a:rPr lang="en-US" sz="1600"/>
              <a:t>Flag course for content review; notify L&amp;D manager</a:t>
            </a:r>
          </a:p>
          <a:p>
            <a:pPr marL="342900" indent="-171450"/>
            <a:r>
              <a:rPr lang="en-US" sz="1600"/>
              <a:t>Mark as Incomplete; recommend re-enrollment in next cohort</a:t>
            </a:r>
          </a:p>
          <a:p>
            <a:pPr marL="342900" indent="-171450"/>
            <a:r>
              <a:rPr lang="en-US" sz="1600"/>
              <a:t>Create a coaching plan for support-needed learners and review attendance issues with direct managers.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Human Review &amp; Finalize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Report status: DRAFT</a:t>
            </a:r>
          </a:p>
          <a:p>
            <a:pPr marL="342900" indent="-171450"/>
            <a:r>
              <a:rPr lang="en-US" sz="1600"/>
              <a:t>Quality status: PASS</a:t>
            </a:r>
          </a:p>
          <a:p>
            <a:pPr marL="342900" indent="-171450"/>
            <a:r>
              <a:rPr lang="en-US" sz="1600"/>
              <a:t>Quality issues: 0</a:t>
            </a:r>
          </a:p>
          <a:p>
            <a:pPr marL="342900" indent="-171450"/>
            <a:r>
              <a:rPr lang="en-US" sz="1600"/>
              <a:t>Approval decision: Pending</a:t>
            </a:r>
          </a:p>
          <a:p>
            <a:pPr marL="342900" indent="-171450"/>
            <a:r>
              <a:rPr lang="en-US" sz="1600"/>
              <a:t>Approval note: N/A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SEC-10 Appendix — Raw Data Summary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Report ID: rpt_ca1632d9-6481-4837-a09a-56c56c86ebca.</a:t>
            </a:r>
          </a:p>
          <a:p>
            <a:pPr marL="342900" indent="-171450"/>
            <a:r>
              <a:rPr lang="en-US" sz="1600"/>
              <a:t>Dataset ID: ds_addf6f20120c269f.</a:t>
            </a:r>
          </a:p>
          <a:p>
            <a:pPr marL="342900" indent="-171450"/>
            <a:r>
              <a:rPr lang="en-US" sz="1600"/>
              <a:t>Metrics snapshot ID: mx_29adadd0-83d2-4563-8f23-8b73d4c742de.</a:t>
            </a:r>
          </a:p>
          <a:p>
            <a:pPr marL="342900" indent="-171450"/>
            <a:r>
              <a:rPr lang="en-US" sz="1600"/>
              <a:t>Evidence decision ID: ev_fcb8c002-e24a-449e-ad54-aa5f2e577a6c.</a:t>
            </a:r>
          </a:p>
          <a:p>
            <a:pPr marL="342900" indent="-171450"/>
            <a:r>
              <a:rPr lang="en-US" sz="1600"/>
              <a:t>Governance view ID: gv_334c5812-c873-41e2-8d5b-4fb2f14c1173.</a:t>
            </a:r>
          </a:p>
          <a:p>
            <a:pPr marL="342900" indent="-171450"/>
            <a:r>
              <a:rPr lang="en-US" sz="1600"/>
              <a:t>RBAC role: LND_MANAGER; masked: no.</a:t>
            </a:r>
          </a:p>
          <a:p>
            <a:pPr marL="342900" indent="-171450"/>
            <a:r>
              <a:rPr lang="en-US" sz="1600"/>
              <a:t>LLM enabled: no; model: gpt-4o-mini.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L&amp;D Reporting 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Leadership_06_2026</dc:title>
  <dc:creator>SETA L&amp;D Reporting Agent</dc:creator>
  <cp:lastModifiedBy>SETA L&amp;D Reporting Agent</cp:lastModifiedBy>
  <dcterms:created xsi:type="dcterms:W3CDTF">2026-06-16T19:41:28.382Z</dcterms:created>
  <dcterms:modified xsi:type="dcterms:W3CDTF">2026-06-16T19:41:28.382Z</dcterms:modified>
</cp:coreProperties>
</file>