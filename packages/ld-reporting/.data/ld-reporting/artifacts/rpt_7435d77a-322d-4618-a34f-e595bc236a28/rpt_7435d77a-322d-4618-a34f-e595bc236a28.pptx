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594360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3C5FD"/>
                </a:solidFill>
              </a:rPr>
              <a:t>Training Effectiveness Agent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143000"/>
            <a:ext cx="8046720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L&amp;D Training Effectiveness Report - AI Agent &amp; LLM Application Development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58368" y="2606040"/>
            <a:ext cx="777240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</a:rPr>
              <a:t>Training effectiveness is strong with validated evidence.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58368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4944" y="37536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Passed</a:t>
            </a:r>
            <a:endParaRPr lang="en-US" sz="740" dirty="0"/>
          </a:p>
        </p:txBody>
      </p:sp>
      <p:sp>
        <p:nvSpPr>
          <p:cNvPr id="9" name="Shape 7"/>
          <p:cNvSpPr/>
          <p:nvPr/>
        </p:nvSpPr>
        <p:spPr>
          <a:xfrm>
            <a:off x="205740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093976" y="37536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Draft</a:t>
            </a:r>
            <a:endParaRPr lang="en-US" sz="740" dirty="0"/>
          </a:p>
        </p:txBody>
      </p:sp>
      <p:sp>
        <p:nvSpPr>
          <p:cNvPr id="11" name="Shape 9"/>
          <p:cNvSpPr/>
          <p:nvPr/>
        </p:nvSpPr>
        <p:spPr>
          <a:xfrm>
            <a:off x="329184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28416" y="37536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L&amp;D Manager</a:t>
            </a:r>
            <a:endParaRPr lang="en-US" sz="740" dirty="0"/>
          </a:p>
        </p:txBody>
      </p:sp>
      <p:sp>
        <p:nvSpPr>
          <p:cNvPr id="13" name="Text 11"/>
          <p:cNvSpPr/>
          <p:nvPr/>
        </p:nvSpPr>
        <p:spPr>
          <a:xfrm>
            <a:off x="658368" y="544068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Course AI Agent &amp; LLM Application Development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58368" y="577900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6/21/2026, 11:28:21 PM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418320" y="6144768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SETA L&amp;D Reporting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Executive snapshot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 Agent &amp; LLM Application Development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51560"/>
            <a:ext cx="676656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Training effectiveness is strong with validated evidence.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21792" y="1719072"/>
            <a:ext cx="6675120" cy="15544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</a:rPr>
              <a:t>The selected scope contains 1 course(s), 1 completed course(s), and 13 trainee-course records. Overall attendance is 90.4%, completion is 100%, pass rate is 92.3%, and average score is 7.88/10. Total training hours are 188 and scaled cost is 9.6. Overall effectiveness classification is Risk.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818120" y="1005840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46720" y="123444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046720" y="16459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83296" y="16962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Allowed</a:t>
            </a:r>
            <a:endParaRPr lang="en-US" sz="740" dirty="0"/>
          </a:p>
        </p:txBody>
      </p:sp>
      <p:sp>
        <p:nvSpPr>
          <p:cNvPr id="13" name="Text 11"/>
          <p:cNvSpPr/>
          <p:nvPr/>
        </p:nvSpPr>
        <p:spPr>
          <a:xfrm>
            <a:off x="8046720" y="21214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0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046720" y="24231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0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046720" y="2743200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allowed. Overall classification is Risk.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9436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5895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75895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90.4%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75895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16712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20370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2" name="Shape 20"/>
          <p:cNvSpPr/>
          <p:nvPr/>
        </p:nvSpPr>
        <p:spPr>
          <a:xfrm>
            <a:off x="338328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54787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54787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100%</a:t>
            </a:r>
            <a:endParaRPr lang="en-US" sz="2100" dirty="0"/>
          </a:p>
        </p:txBody>
      </p:sp>
      <p:sp>
        <p:nvSpPr>
          <p:cNvPr id="25" name="Text 23"/>
          <p:cNvSpPr/>
          <p:nvPr/>
        </p:nvSpPr>
        <p:spPr>
          <a:xfrm>
            <a:off x="354787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95604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9262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28" name="Shape 26"/>
          <p:cNvSpPr/>
          <p:nvPr/>
        </p:nvSpPr>
        <p:spPr>
          <a:xfrm>
            <a:off x="617220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3679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33679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92.3%</a:t>
            </a:r>
            <a:endParaRPr lang="en-US" sz="2100" dirty="0"/>
          </a:p>
        </p:txBody>
      </p:sp>
      <p:sp>
        <p:nvSpPr>
          <p:cNvPr id="31" name="Text 29"/>
          <p:cNvSpPr/>
          <p:nvPr/>
        </p:nvSpPr>
        <p:spPr>
          <a:xfrm>
            <a:off x="633679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774496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78154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4" name="Shape 32"/>
          <p:cNvSpPr/>
          <p:nvPr/>
        </p:nvSpPr>
        <p:spPr>
          <a:xfrm>
            <a:off x="896112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12571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912571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7.88/10</a:t>
            </a:r>
            <a:endParaRPr lang="en-US" sz="2100" dirty="0"/>
          </a:p>
        </p:txBody>
      </p:sp>
      <p:sp>
        <p:nvSpPr>
          <p:cNvPr id="37" name="Text 35"/>
          <p:cNvSpPr/>
          <p:nvPr/>
        </p:nvSpPr>
        <p:spPr>
          <a:xfrm>
            <a:off x="912571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1053388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057046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Decision readiness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 Agent &amp; LLM Application Development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24128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25272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1664208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9536" y="1714500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Allowed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822960" y="2139696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0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244144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0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2761488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allowed. Overall classification is Risk.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617720" y="1078992"/>
            <a:ext cx="658368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Final conclusion is allowed. Overall classification is Risk.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617720" y="1993392"/>
            <a:ext cx="2926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Validated gate checks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617720" y="24231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45736" y="25786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82312" y="26289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9" name="Text 17"/>
          <p:cNvSpPr/>
          <p:nvPr/>
        </p:nvSpPr>
        <p:spPr>
          <a:xfrm>
            <a:off x="5623560" y="25328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Source availability and required columns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5146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Required sheets and columns were mapped from Teams, OneDrive, Forms, KPI, Rules and Template sources.</a:t>
            </a:r>
            <a:endParaRPr lang="en-US" sz="860" dirty="0"/>
          </a:p>
        </p:txBody>
      </p:sp>
      <p:sp>
        <p:nvSpPr>
          <p:cNvPr id="21" name="Shape 19"/>
          <p:cNvSpPr/>
          <p:nvPr/>
        </p:nvSpPr>
        <p:spPr>
          <a:xfrm>
            <a:off x="4617720" y="31089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45736" y="32644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82312" y="33147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4" name="Text 22"/>
          <p:cNvSpPr/>
          <p:nvPr/>
        </p:nvSpPr>
        <p:spPr>
          <a:xfrm>
            <a:off x="5623560" y="32186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Course status</a:t>
            </a:r>
            <a:endParaRPr lang="en-US" sz="930" dirty="0"/>
          </a:p>
        </p:txBody>
      </p:sp>
      <p:sp>
        <p:nvSpPr>
          <p:cNvPr id="25" name="Text 23"/>
          <p:cNvSpPr/>
          <p:nvPr/>
        </p:nvSpPr>
        <p:spPr>
          <a:xfrm>
            <a:off x="7863840" y="32004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All selected courses are completed.</a:t>
            </a:r>
            <a:endParaRPr lang="en-US" sz="860" dirty="0"/>
          </a:p>
        </p:txBody>
      </p:sp>
      <p:sp>
        <p:nvSpPr>
          <p:cNvPr id="26" name="Shape 24"/>
          <p:cNvSpPr/>
          <p:nvPr/>
        </p:nvSpPr>
        <p:spPr>
          <a:xfrm>
            <a:off x="4617720" y="37947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45736" y="39502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82312" y="40005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9" name="Text 27"/>
          <p:cNvSpPr/>
          <p:nvPr/>
        </p:nvSpPr>
        <p:spPr>
          <a:xfrm>
            <a:off x="5623560" y="39044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Attendance completeness</a:t>
            </a:r>
            <a:endParaRPr lang="en-US" sz="930" dirty="0"/>
          </a:p>
        </p:txBody>
      </p:sp>
      <p:sp>
        <p:nvSpPr>
          <p:cNvPr id="30" name="Text 28"/>
          <p:cNvSpPr/>
          <p:nvPr/>
        </p:nvSpPr>
        <p:spPr>
          <a:xfrm>
            <a:off x="7863840" y="38862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Expected attendance rows are trainee count x total sessions. Late is retained for metrics as partial attendance.</a:t>
            </a:r>
            <a:endParaRPr lang="en-US" sz="860" dirty="0"/>
          </a:p>
        </p:txBody>
      </p:sp>
      <p:sp>
        <p:nvSpPr>
          <p:cNvPr id="31" name="Shape 29"/>
          <p:cNvSpPr/>
          <p:nvPr/>
        </p:nvSpPr>
        <p:spPr>
          <a:xfrm>
            <a:off x="4617720" y="44805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45736" y="46360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82312" y="46863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4" name="Text 32"/>
          <p:cNvSpPr/>
          <p:nvPr/>
        </p:nvSpPr>
        <p:spPr>
          <a:xfrm>
            <a:off x="5623560" y="45902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Assessment completeness</a:t>
            </a:r>
            <a:endParaRPr lang="en-US" sz="930" dirty="0"/>
          </a:p>
        </p:txBody>
      </p:sp>
      <p:sp>
        <p:nvSpPr>
          <p:cNvPr id="35" name="Text 33"/>
          <p:cNvSpPr/>
          <p:nvPr/>
        </p:nvSpPr>
        <p:spPr>
          <a:xfrm>
            <a:off x="7863840" y="45720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Completed courses require one valid assessment and pass-status row per trainee.</a:t>
            </a:r>
            <a:endParaRPr lang="en-US" sz="860" dirty="0"/>
          </a:p>
        </p:txBody>
      </p:sp>
      <p:sp>
        <p:nvSpPr>
          <p:cNvPr id="36" name="Shape 34"/>
          <p:cNvSpPr/>
          <p:nvPr/>
        </p:nvSpPr>
        <p:spPr>
          <a:xfrm>
            <a:off x="4617720" y="51663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745736" y="53218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82312" y="53721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5623560" y="52760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Feedback completeness</a:t>
            </a:r>
            <a:endParaRPr lang="en-US" sz="930" dirty="0"/>
          </a:p>
        </p:txBody>
      </p:sp>
      <p:sp>
        <p:nvSpPr>
          <p:cNvPr id="40" name="Text 38"/>
          <p:cNvSpPr/>
          <p:nvPr/>
        </p:nvSpPr>
        <p:spPr>
          <a:xfrm>
            <a:off x="7863840" y="52578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6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Performance scorecard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 Agent &amp; LLM Application Development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895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5895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90.4%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75895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16712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0370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13" name="Shape 11"/>
          <p:cNvSpPr/>
          <p:nvPr/>
        </p:nvSpPr>
        <p:spPr>
          <a:xfrm>
            <a:off x="338328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4787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54787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100%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354787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95604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9262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19" name="Shape 17"/>
          <p:cNvSpPr/>
          <p:nvPr/>
        </p:nvSpPr>
        <p:spPr>
          <a:xfrm>
            <a:off x="617220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3679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33679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92.3%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633679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774496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8154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5" name="Shape 23"/>
          <p:cNvSpPr/>
          <p:nvPr/>
        </p:nvSpPr>
        <p:spPr>
          <a:xfrm>
            <a:off x="896112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2571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912571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7.88/10</a:t>
            </a:r>
            <a:endParaRPr lang="en-US" sz="2100" dirty="0"/>
          </a:p>
        </p:txBody>
      </p:sp>
      <p:sp>
        <p:nvSpPr>
          <p:cNvPr id="28" name="Text 26"/>
          <p:cNvSpPr/>
          <p:nvPr/>
        </p:nvSpPr>
        <p:spPr>
          <a:xfrm>
            <a:off x="912571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1053388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57046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31" name="Shape 29"/>
          <p:cNvSpPr/>
          <p:nvPr/>
        </p:nvSpPr>
        <p:spPr>
          <a:xfrm>
            <a:off x="59436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5895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SATISFACTION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75895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4.73/5</a:t>
            </a:r>
            <a:endParaRPr lang="en-US" sz="2100" dirty="0"/>
          </a:p>
        </p:txBody>
      </p:sp>
      <p:sp>
        <p:nvSpPr>
          <p:cNvPr id="34" name="Text 32"/>
          <p:cNvSpPr/>
          <p:nvPr/>
        </p:nvSpPr>
        <p:spPr>
          <a:xfrm>
            <a:off x="75895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4.0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216712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20370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7" name="Shape 35"/>
          <p:cNvSpPr/>
          <p:nvPr/>
        </p:nvSpPr>
        <p:spPr>
          <a:xfrm>
            <a:off x="338328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54787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TRAINING HOURS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354787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188</a:t>
            </a:r>
            <a:endParaRPr lang="en-US" sz="2100" dirty="0"/>
          </a:p>
        </p:txBody>
      </p:sp>
      <p:sp>
        <p:nvSpPr>
          <p:cNvPr id="40" name="Text 38"/>
          <p:cNvSpPr/>
          <p:nvPr/>
        </p:nvSpPr>
        <p:spPr>
          <a:xfrm>
            <a:off x="354787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Tracked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95604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9262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3" name="Shape 41"/>
          <p:cNvSpPr/>
          <p:nvPr/>
        </p:nvSpPr>
        <p:spPr>
          <a:xfrm>
            <a:off x="617220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3679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COST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633679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9.6</a:t>
            </a:r>
            <a:endParaRPr lang="en-US" sz="2100" dirty="0"/>
          </a:p>
        </p:txBody>
      </p:sp>
      <p:sp>
        <p:nvSpPr>
          <p:cNvPr id="46" name="Text 44"/>
          <p:cNvSpPr/>
          <p:nvPr/>
        </p:nvSpPr>
        <p:spPr>
          <a:xfrm>
            <a:off x="633679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Scaled cost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774496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78154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9" name="Shape 47"/>
          <p:cNvSpPr/>
          <p:nvPr/>
        </p:nvSpPr>
        <p:spPr>
          <a:xfrm>
            <a:off x="896112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12571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ROI PROXY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912571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0.042</a:t>
            </a:r>
            <a:endParaRPr lang="en-US" sz="2100" dirty="0"/>
          </a:p>
        </p:txBody>
      </p:sp>
      <p:sp>
        <p:nvSpPr>
          <p:cNvPr id="52" name="Text 50"/>
          <p:cNvSpPr/>
          <p:nvPr/>
        </p:nvSpPr>
        <p:spPr>
          <a:xfrm>
            <a:off x="912571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Relative KPI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1053388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057046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Monitor</a:t>
            </a:r>
            <a:endParaRPr lang="en-US" sz="740" dirty="0"/>
          </a:p>
        </p:txBody>
      </p:sp>
      <p:sp>
        <p:nvSpPr>
          <p:cNvPr id="55" name="Text 53"/>
          <p:cNvSpPr/>
          <p:nvPr/>
        </p:nvSpPr>
        <p:spPr>
          <a:xfrm>
            <a:off x="594360" y="5989320"/>
            <a:ext cx="9875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Completion is attendance-based (&gt;= 70%) and is intentionally separate from pass rate.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Course performance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 Agent &amp; LLM Application Development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078992"/>
          <a:ext cx="10972800" cy="3063240"/>
        </p:xfrm>
        <a:graphic>
          <a:graphicData uri="http://schemas.openxmlformats.org/drawingml/2006/table">
            <a:tbl>
              <a:tblPr/>
              <a:tblGrid>
                <a:gridCol w="3017520"/>
                <a:gridCol w="914400"/>
                <a:gridCol w="1143000"/>
                <a:gridCol w="1143000"/>
                <a:gridCol w="1005840"/>
                <a:gridCol w="1005840"/>
                <a:gridCol w="123444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Course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Learners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Attend.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Complete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Pass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Effectiveness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AI Agent &amp; LLM Application Deve...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13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90.4%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92.3%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7.88/10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89.47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94360" y="457200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What to notice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94360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58952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Strong completion outcome at 100%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325112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489704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Overall effectiveness score is 89.47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8055864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220456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AI Agent &amp; LLM Application Development has an effectiveness score of 89.47 in the selected scope.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Key findings and implications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 Agent &amp; LLM Application Development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13816" y="131216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10" name="Text 8"/>
          <p:cNvSpPr/>
          <p:nvPr/>
        </p:nvSpPr>
        <p:spPr>
          <a:xfrm>
            <a:off x="79552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Strong completion outcome at 100%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9552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Completion is calculated as attendance &gt;= 70%; pass rate is tracked separately at 92.3%.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79552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Learners are completing the required session exposure, and assessment achievement is also healthy.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21792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37376" y="131216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641908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Overall effectiveness score is 89.47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1908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Attendance 90.4%, pass rate 92.3%, average score 7.88/10.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41908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The selected scope is classified as Risk.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9436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3816" y="346100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79552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AI Agent &amp; LLM Application Development has an effectiveness score of 89.47 in the selected scope.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9552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79552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21792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0080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37376" y="346100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8" name="Text 26"/>
          <p:cNvSpPr/>
          <p:nvPr/>
        </p:nvSpPr>
        <p:spPr>
          <a:xfrm>
            <a:off x="641908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2 outstanding trainees met the star learner rule: score &gt;= 9.0 and full attendance.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41908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41908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Evidence traceability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 Agent &amp; LLM Application Development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42416"/>
            <a:ext cx="6858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Every narrative claim is backed by validated artifacts before export.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9436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5895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5528" y="1906524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173736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Source availability and required columns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73736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Required sheets and columns were mapped from Teams, OneDrive, Forms, KPI, Rules and Template sources.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17220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3679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73368" y="1906524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731520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Course status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31520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All selected courses are completed.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9436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5895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5528" y="3076956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1" name="Text 19"/>
          <p:cNvSpPr/>
          <p:nvPr/>
        </p:nvSpPr>
        <p:spPr>
          <a:xfrm>
            <a:off x="173736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Attendance completeness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73736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Expected attendance rows are trainee count x total sessions. Late is retained for metrics as partial attendance.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17220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3679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73368" y="3076956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6" name="Text 24"/>
          <p:cNvSpPr/>
          <p:nvPr/>
        </p:nvSpPr>
        <p:spPr>
          <a:xfrm>
            <a:off x="731520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Assessment completeness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31520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Completed courses require one valid assessment and pass-status row per trainee.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9436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5895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95528" y="4247388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1" name="Text 29"/>
          <p:cNvSpPr/>
          <p:nvPr/>
        </p:nvSpPr>
        <p:spPr>
          <a:xfrm>
            <a:off x="173736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Feedback completeness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73736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617220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33679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73368" y="4247388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6" name="Text 34"/>
          <p:cNvSpPr/>
          <p:nvPr/>
        </p:nvSpPr>
        <p:spPr>
          <a:xfrm>
            <a:off x="731520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Row-level data quality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31520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Duplicate rows and numeric ranges were checked before metric generation.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Governance and access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 Agent &amp; LLM Application Development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066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CLASSIFICATION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4066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Risk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38328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958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SENSITIVE DETAILS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52958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Visible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17220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1850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RAW APPENDIX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31850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Allowed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96112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0742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HIGH-PRIORITY FLAGS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910742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1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94360" y="2788920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22376" y="294436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8952" y="299466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1600200" y="289864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23" name="Text 21"/>
          <p:cNvSpPr/>
          <p:nvPr/>
        </p:nvSpPr>
        <p:spPr>
          <a:xfrm>
            <a:off x="3840480" y="2880360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Recommended action plan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 Agent &amp; LLM Application Development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960120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" y="1179576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170432" y="1161288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07008" y="1211580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2121408" y="1124712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794760" y="106984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930" dirty="0"/>
          </a:p>
        </p:txBody>
      </p:sp>
      <p:sp>
        <p:nvSpPr>
          <p:cNvPr id="13" name="Text 11"/>
          <p:cNvSpPr/>
          <p:nvPr/>
        </p:nvSpPr>
        <p:spPr>
          <a:xfrm>
            <a:off x="7863840" y="1069848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94360" y="1947672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8096" y="2167128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2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170432" y="2148840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07008" y="2199132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8" name="Text 16"/>
          <p:cNvSpPr/>
          <p:nvPr/>
        </p:nvSpPr>
        <p:spPr>
          <a:xfrm>
            <a:off x="2121408" y="2112264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794760" y="205740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Assign a coaching owner, buddy support, and targeted practice resources for the flagged learner.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057400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94360" y="2935224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68096" y="3154680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3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170432" y="3136392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207008" y="3186684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5" name="Text 23"/>
          <p:cNvSpPr/>
          <p:nvPr/>
        </p:nvSpPr>
        <p:spPr>
          <a:xfrm>
            <a:off x="2121408" y="3099816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Team Manager + L&amp;D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794760" y="304495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Assign a coaching owner for support-needed learners and review attendance issues with direct managers.</a:t>
            </a:r>
            <a:endParaRPr lang="en-US" sz="930" dirty="0"/>
          </a:p>
        </p:txBody>
      </p:sp>
      <p:sp>
        <p:nvSpPr>
          <p:cNvPr id="27" name="Text 25"/>
          <p:cNvSpPr/>
          <p:nvPr/>
        </p:nvSpPr>
        <p:spPr>
          <a:xfrm>
            <a:off x="7863840" y="3044952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Delivery roadmap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 Agent &amp; LLM Application Development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65836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124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1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89280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92938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84124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4124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4124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84124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920" dirty="0"/>
          </a:p>
        </p:txBody>
      </p:sp>
      <p:sp>
        <p:nvSpPr>
          <p:cNvPr id="15" name="Shape 13"/>
          <p:cNvSpPr/>
          <p:nvPr/>
        </p:nvSpPr>
        <p:spPr>
          <a:xfrm>
            <a:off x="344728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3016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2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68172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1830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9" name="Text 17"/>
          <p:cNvSpPr/>
          <p:nvPr/>
        </p:nvSpPr>
        <p:spPr>
          <a:xfrm>
            <a:off x="363016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63016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Assign a coaching owner, buddy support, and targeted practice resources for the flagged learner.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63016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363016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920" dirty="0"/>
          </a:p>
        </p:txBody>
      </p:sp>
      <p:sp>
        <p:nvSpPr>
          <p:cNvPr id="23" name="Shape 21"/>
          <p:cNvSpPr/>
          <p:nvPr/>
        </p:nvSpPr>
        <p:spPr>
          <a:xfrm>
            <a:off x="623620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1908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3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47064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0722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7" name="Text 25"/>
          <p:cNvSpPr/>
          <p:nvPr/>
        </p:nvSpPr>
        <p:spPr>
          <a:xfrm>
            <a:off x="641908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Team Manager + L&amp;D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41908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Assign a coaching owner for support-needed learners and review attendance issues with direct managers.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41908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41908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92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Appendix and methodology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 Agent &amp; LLM Application Development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Source traceability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148132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Report ID: rpt_7435d77a-322d-4618-a34f-e595bc236a28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31520" y="179222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Dataset ID: ds_b6b142642e62d216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31520" y="2103120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Metrics snapshot ID: mx_620d8ae1-9745-4dc3-a39d-d305e4987720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31520" y="2414016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Evidence decision ID: ev_ac0d5040-bf64-45bd-ba5c-672cbe907965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31520" y="2724912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Governance view ID: gv_b3c49506-50c4-4e7a-b8f4-97f40343ca70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31520" y="303580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Role view: L&amp;D Manager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31520" y="334670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Sensitive details: visible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49224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LLM disclosure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92240" y="1463040"/>
            <a:ext cx="4983480" cy="1371600"/>
          </a:xfrm>
          <a:prstGeom prst="roundRect">
            <a:avLst>
              <a:gd name="adj" fmla="val 5333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20840" y="1700784"/>
            <a:ext cx="448056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Deterministic fallback used. OPENAI_API_KEY is not configured or LD_REPORTING_USE_LLM=false.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492240" y="32461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Business rule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92240" y="3675888"/>
            <a:ext cx="4892040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Completion rate is calculated from learner attendance &gt;= 70%. Pass rate is calculated independently from assessment pass status.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SETA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L&amp;D Training Effectiveness Report - AI Agent &amp; LLM Application Development</dc:title>
  <dc:subject>Training effectiveness is strong with validated evidence.</dc:subject>
  <dc:creator>SETA L&amp;D Reporting Agent</dc:creator>
  <cp:lastModifiedBy>SETA L&amp;D Reporting Agent</cp:lastModifiedBy>
  <cp:revision>1</cp:revision>
  <dcterms:created xsi:type="dcterms:W3CDTF">2026-06-21T16:28:21Z</dcterms:created>
  <dcterms:modified xsi:type="dcterms:W3CDTF">2026-06-21T16:28:21Z</dcterms:modified>
</cp:coreProperties>
</file>