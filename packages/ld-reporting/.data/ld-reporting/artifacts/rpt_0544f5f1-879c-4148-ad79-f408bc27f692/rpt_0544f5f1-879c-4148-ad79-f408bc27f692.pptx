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Governance flags by priority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91C1C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Sheet1!$A$2:$A$2</c:f>
              <c:strCache>
                <c:ptCount val="1"/>
                <c:pt idx="0">
                  <c:v>High</c:v>
                </c:pt>
              </c:strCache>
            </c:strRef>
          </c:cat>
          <c:val>
            <c:numRef>
              <c:f>Sheet1!$B$2:$B$2</c:f>
              <c:numCache>
                <c:ptCount val="1"/>
                <c:pt idx="0">
                  <c:v>1</c:v>
                </c:pt>
              </c:numCache>
            </c:numRef>
          </c:val>
        </c:ser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executive summary
The selected scope contains 1 course(s), 1 completed course(s), and 13 trainee-course records. Overall attendance is 90.4%, completion is 100%, pass rate is 92.3%, and average score is 7.88/10. Total training hours are 188 and scaled cost is 9.6. Overall effectiveness classification is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Course performance profile
AI Agent &amp; LLM Application Development
Learners: 13
Attendance: 90.4%
Completion: 100%
Pass rate: 92.3%
Average score: 7.88/10
Effectiveness: 89.47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Recommended delivery sequence
1. Flag for coaching; assign buddy or practice resources
Owner: L&amp;D Manager
Outcome: Reduce support-needed learner cases from 1 to 0 (100% resolution against pass-score and attendance policy) by the next cohort review.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AI Agent &amp; LLM Application Development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32520" y="960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VALIDATED PERFORMANCE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887968" y="1325880"/>
            <a:ext cx="2240280" cy="2240280"/>
          </a:xfrm>
          <a:prstGeom prst="ellipse">
            <a:avLst/>
          </a:prstGeom>
          <a:solidFill>
            <a:srgbClr val="B91C1C">
              <a:alpha val="95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81160" y="1719072"/>
            <a:ext cx="1453896" cy="1453896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63456" y="214884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89.5/100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851392" y="37490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Risk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68512" y="43159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Attendance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9555480" y="43342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4334256"/>
            <a:ext cx="991941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16768" y="43068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90.4%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668512" y="47731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Completion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16768" y="47640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100%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668512" y="52303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Pass rate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555480" y="52486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0" y="5248656"/>
            <a:ext cx="1012789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16768" y="52212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92.3%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9397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Course AI Agent &amp; LLM Application Development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6/23/2026, 12:51:57 AM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051560"/>
            <a:ext cx="67665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21792" y="1828800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" y="1828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1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97280" y="1783080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The selected scope contains 1 course(s), 1 completed course(s), and 13 trainee-course records.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621792" y="2487168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2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097280" y="2441448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Overall attendance is 90.4%, completion is 100%, pass rate is 92.3%, and average score is 7.88/10.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621792" y="3145536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3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097280" y="3099816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Total training hours are 188 and scaled cost is 9.6.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83296" y="16459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22" name="Text 19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90.4%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20370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8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100%</a:t>
            </a:r>
            <a:endParaRPr lang="en-US" sz="2100" dirty="0"/>
          </a:p>
        </p:txBody>
      </p:sp>
      <p:sp>
        <p:nvSpPr>
          <p:cNvPr id="34" name="Text 31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99262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7" name="Shape 34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92.3%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78154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43" name="Shape 40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7.88/10</a:t>
            </a:r>
            <a:endParaRPr lang="en-US" sz="2100" dirty="0"/>
          </a:p>
        </p:txBody>
      </p:sp>
      <p:sp>
        <p:nvSpPr>
          <p:cNvPr id="46" name="Text 43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57046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664208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5786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2644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39502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360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218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90.4%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100%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92.3%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7.88/10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4.73/5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188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9.6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0.042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Visual analytics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Overall KPI vs target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Validated performance metrics compared with L&amp;D operating thresholds.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Attendance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347594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90.4%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286893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Completion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32934" y="296951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285978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100%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381762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Pass rate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396392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3963924"/>
            <a:ext cx="2396935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73245" y="391820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380847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92.3%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95528" y="476631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Effectiveness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395728" y="491261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95728" y="4912614"/>
            <a:ext cx="2323443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03090" y="486689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65776" y="475716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89.5/100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Governance flags by priority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NORM rule triggers grouped by business priority.</a:t>
            </a:r>
            <a:endParaRPr lang="en-US" sz="780" dirty="0"/>
          </a:p>
        </p:txBody>
      </p:sp>
      <p:graphicFrame>
        <p:nvGraphicFramePr>
          <p:cNvPr id="33" name="Chart 0" descr=""/>
          <p:cNvGraphicFramePr/>
          <p:nvPr/>
        </p:nvGraphicFramePr>
        <p:xfrm>
          <a:off x="6537960" y="1920240"/>
          <a:ext cx="2784348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4" name="Text 31"/>
          <p:cNvSpPr/>
          <p:nvPr/>
        </p:nvSpPr>
        <p:spPr>
          <a:xfrm>
            <a:off x="7345421" y="3372307"/>
            <a:ext cx="11694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1</a:t>
            </a:r>
            <a:endParaRPr lang="en-US" sz="2200" dirty="0"/>
          </a:p>
        </p:txBody>
      </p:sp>
      <p:sp>
        <p:nvSpPr>
          <p:cNvPr id="35" name="Text 32"/>
          <p:cNvSpPr/>
          <p:nvPr/>
        </p:nvSpPr>
        <p:spPr>
          <a:xfrm>
            <a:off x="7234047" y="3871570"/>
            <a:ext cx="13921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total flags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9486900" y="2286000"/>
            <a:ext cx="109728" cy="1097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669780" y="2258568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High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0643616" y="22585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 (100%)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621792" y="102412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Course performance profile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21792" y="1298448"/>
            <a:ext cx="6629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AI Agent &amp; LLM Application Development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658368" y="20848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773936" y="2112264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773936" y="2112264"/>
            <a:ext cx="4182685" cy="164592"/>
          </a:xfrm>
          <a:prstGeom prst="roundRect">
            <a:avLst>
              <a:gd name="adj" fmla="val 22222"/>
            </a:avLst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706770" y="2075688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92240" y="208483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90.4%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773936" y="2377440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85%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658368" y="287121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Completion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1773936" y="2898648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773936" y="2898648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938114" y="2862072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92240" y="287121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100%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773936" y="3163824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90%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658368" y="365760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Pass rate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1773936" y="3685032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773936" y="3685032"/>
            <a:ext cx="4270595" cy="164592"/>
          </a:xfrm>
          <a:prstGeom prst="roundRect">
            <a:avLst>
              <a:gd name="adj" fmla="val 22222"/>
            </a:avLst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475427" y="3648456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492240" y="365760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92.3%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773936" y="3950208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80%</a:t>
            </a:r>
            <a:endParaRPr lang="en-US" sz="700" dirty="0"/>
          </a:p>
        </p:txBody>
      </p:sp>
      <p:sp>
        <p:nvSpPr>
          <p:cNvPr id="28" name="Shape 25"/>
          <p:cNvSpPr/>
          <p:nvPr/>
        </p:nvSpPr>
        <p:spPr>
          <a:xfrm>
            <a:off x="7635240" y="1170432"/>
            <a:ext cx="384048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936992" y="1481328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EFFECTIVENESS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8549640" y="1828800"/>
            <a:ext cx="2011680" cy="2011680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897112" y="2176272"/>
            <a:ext cx="1316736" cy="13167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897112" y="2505456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47857"/>
                </a:solidFill>
              </a:rPr>
              <a:t>89.47</a:t>
            </a:r>
            <a:endParaRPr lang="en-US" sz="2200" dirty="0"/>
          </a:p>
        </p:txBody>
      </p:sp>
      <p:sp>
        <p:nvSpPr>
          <p:cNvPr id="33" name="Text 30"/>
          <p:cNvSpPr/>
          <p:nvPr/>
        </p:nvSpPr>
        <p:spPr>
          <a:xfrm>
            <a:off x="9025128" y="28986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/ 100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7973568" y="409651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LEARNERS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7973568" y="42793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13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9619488" y="409651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AVG SCORE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9619488" y="42793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7.88/10</a:t>
            </a:r>
            <a:endParaRPr lang="en-US" sz="1500" dirty="0"/>
          </a:p>
        </p:txBody>
      </p:sp>
      <p:sp>
        <p:nvSpPr>
          <p:cNvPr id="38" name="Text 35"/>
          <p:cNvSpPr/>
          <p:nvPr/>
        </p:nvSpPr>
        <p:spPr>
          <a:xfrm>
            <a:off x="621792" y="491947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What leaders should notice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621792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86384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100%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4352544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517136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89.47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8083296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8247888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AI Agent &amp; LLM Application Development has an effectiveness score of 89.47 in the selected scope.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100%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92.3%.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89.47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90.4%, pass rate 92.3%, average score 7.88/10.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AI Agent &amp; LLM Application Development has an effectiveness score of 89.47 in the selected scope.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2 outstanding trainees met the star learner rule: score &gt;= 9.0 and full attendance.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1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4436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7699248" y="2788920"/>
            <a:ext cx="3767328" cy="1965960"/>
          </a:xfrm>
          <a:prstGeom prst="roundRect">
            <a:avLst>
              <a:gd name="adj" fmla="val 3721"/>
            </a:avLst>
          </a:prstGeom>
          <a:solidFill>
            <a:srgbClr val="FEE2E2"/>
          </a:solidFill>
          <a:ln w="12700">
            <a:solidFill>
              <a:srgbClr val="B91C1C">
                <a:alpha val="6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55280" y="305409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GOVERNANCE RESPONSE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7955280" y="3493008"/>
            <a:ext cx="3218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955280" y="4279392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Triggered by NORM-07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161288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78992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78992"/>
            <a:ext cx="32918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Reduce support-needed learner cases from 1 to 0 (100% resolution against pass-score and attendance policy) by the next cohort review.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6103620" y="1490472"/>
            <a:ext cx="0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847588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847588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" y="1938528"/>
            <a:ext cx="10835640" cy="3364992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2212848"/>
            <a:ext cx="9692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1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10561320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597896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5" name="Text 12"/>
          <p:cNvSpPr/>
          <p:nvPr/>
        </p:nvSpPr>
        <p:spPr>
          <a:xfrm>
            <a:off x="868680" y="2633472"/>
            <a:ext cx="10469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68680" y="3035808"/>
            <a:ext cx="104698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68680" y="4187952"/>
            <a:ext cx="10469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68680" y="4443984"/>
            <a:ext cx="10469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Reduce support-needed learner cases from 1 to 0 (100% resolution against pass-score and attendance policy) by the next cohort review.</a:t>
            </a:r>
            <a:endParaRPr lang="en-US" sz="9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rpt_0544f5f1-879c-4148-ad79-f408bc27f692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ds_ec6ffa70039b19a2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mx_5cbe9044-1fd9-45a4-8e04-8bee1388248e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ev_e24a053a-5703-41a7-be2a-3a0ef8409f68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gv_dc9dacb8-a0a6-4e38-a5ce-248b6ae0a651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AI Agent &amp; LLM Application Development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2026-06-22T17:51:58Z</dcterms:created>
  <dcterms:modified xsi:type="dcterms:W3CDTF">2026-06-22T17:51:58Z</dcterms:modified>
</cp:coreProperties>
</file>