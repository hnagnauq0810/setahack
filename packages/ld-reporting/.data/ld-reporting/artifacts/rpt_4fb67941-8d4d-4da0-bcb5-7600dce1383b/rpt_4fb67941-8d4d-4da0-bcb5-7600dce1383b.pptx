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594360"/>
            <a:ext cx="6217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3C5FD"/>
                </a:solidFill>
              </a:rPr>
              <a:t>Training Effectiveness Agent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143000"/>
            <a:ext cx="8046720" cy="1234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L&amp;D Training Effectiveness Report - 2026-Q1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658368" y="2606040"/>
            <a:ext cx="777240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CBD5E1"/>
                </a:solidFill>
              </a:rPr>
              <a:t>Training effectiveness is strong with validated evidence.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58368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94944" y="3753612"/>
            <a:ext cx="106984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Passed</a:t>
            </a:r>
            <a:endParaRPr lang="en-US" sz="740" dirty="0"/>
          </a:p>
        </p:txBody>
      </p:sp>
      <p:sp>
        <p:nvSpPr>
          <p:cNvPr id="9" name="Shape 7"/>
          <p:cNvSpPr/>
          <p:nvPr/>
        </p:nvSpPr>
        <p:spPr>
          <a:xfrm>
            <a:off x="2057400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093976" y="3753612"/>
            <a:ext cx="106984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Draft</a:t>
            </a:r>
            <a:endParaRPr lang="en-US" sz="740" dirty="0"/>
          </a:p>
        </p:txBody>
      </p:sp>
      <p:sp>
        <p:nvSpPr>
          <p:cNvPr id="11" name="Shape 9"/>
          <p:cNvSpPr/>
          <p:nvPr/>
        </p:nvSpPr>
        <p:spPr>
          <a:xfrm>
            <a:off x="3291840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28416" y="3753612"/>
            <a:ext cx="106984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L&amp;D Manager</a:t>
            </a:r>
            <a:endParaRPr lang="en-US" sz="740" dirty="0"/>
          </a:p>
        </p:txBody>
      </p:sp>
      <p:sp>
        <p:nvSpPr>
          <p:cNvPr id="13" name="Text 11"/>
          <p:cNvSpPr/>
          <p:nvPr/>
        </p:nvSpPr>
        <p:spPr>
          <a:xfrm>
            <a:off x="658368" y="5440680"/>
            <a:ext cx="5669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Period 2026-Q1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58368" y="577900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6/21/2026, 11:28:21 PM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418320" y="6144768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SETA L&amp;D Reporting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Executive snapshot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94360" y="1051560"/>
            <a:ext cx="6766560" cy="47548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Training effectiveness is strong with validated evidence.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621792" y="1719072"/>
            <a:ext cx="6675120" cy="15544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</a:rPr>
              <a:t>The selected scope contains 3 course(s), 3 completed course(s), and 59 trainee-course records. Overall attendance is 92.9%, completion is 98.3%, pass rate is 89.8%, and average score is 7.59/10. Total training hours are 848 and scaled cost is 32. Overall effectiveness classification is Risk.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818120" y="1005840"/>
            <a:ext cx="361188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046720" y="123444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Decision readiness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046720" y="16459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083296" y="1696212"/>
            <a:ext cx="106984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Allowed</a:t>
            </a:r>
            <a:endParaRPr lang="en-US" sz="740" dirty="0"/>
          </a:p>
        </p:txBody>
      </p:sp>
      <p:sp>
        <p:nvSpPr>
          <p:cNvPr id="13" name="Text 11"/>
          <p:cNvSpPr/>
          <p:nvPr/>
        </p:nvSpPr>
        <p:spPr>
          <a:xfrm>
            <a:off x="8046720" y="212140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Missing evidence: 0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046720" y="242316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Warnings: 0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046720" y="2743200"/>
            <a:ext cx="306324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Final conclusion is allowed. Overall classification is Risk.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9436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5895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ATTENDANCE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75895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92.9%</a:t>
            </a:r>
            <a:endParaRPr lang="en-US" sz="2100" dirty="0"/>
          </a:p>
        </p:txBody>
      </p:sp>
      <p:sp>
        <p:nvSpPr>
          <p:cNvPr id="19" name="Text 17"/>
          <p:cNvSpPr/>
          <p:nvPr/>
        </p:nvSpPr>
        <p:spPr>
          <a:xfrm>
            <a:off x="75895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85%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216712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203704" y="499719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22" name="Shape 20"/>
          <p:cNvSpPr/>
          <p:nvPr/>
        </p:nvSpPr>
        <p:spPr>
          <a:xfrm>
            <a:off x="338328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54787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COMPLETION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54787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98.3%</a:t>
            </a:r>
            <a:endParaRPr lang="en-US" sz="2100" dirty="0"/>
          </a:p>
        </p:txBody>
      </p:sp>
      <p:sp>
        <p:nvSpPr>
          <p:cNvPr id="25" name="Text 23"/>
          <p:cNvSpPr/>
          <p:nvPr/>
        </p:nvSpPr>
        <p:spPr>
          <a:xfrm>
            <a:off x="354787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90%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495604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92624" y="499719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  <p:sp>
        <p:nvSpPr>
          <p:cNvPr id="28" name="Shape 26"/>
          <p:cNvSpPr/>
          <p:nvPr/>
        </p:nvSpPr>
        <p:spPr>
          <a:xfrm>
            <a:off x="617220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33679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PASS RATE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633679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89.8%</a:t>
            </a:r>
            <a:endParaRPr lang="en-US" sz="2100" dirty="0"/>
          </a:p>
        </p:txBody>
      </p:sp>
      <p:sp>
        <p:nvSpPr>
          <p:cNvPr id="31" name="Text 29"/>
          <p:cNvSpPr/>
          <p:nvPr/>
        </p:nvSpPr>
        <p:spPr>
          <a:xfrm>
            <a:off x="633679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80%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774496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781544" y="499719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34" name="Shape 32"/>
          <p:cNvSpPr/>
          <p:nvPr/>
        </p:nvSpPr>
        <p:spPr>
          <a:xfrm>
            <a:off x="896112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12571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AVG SCORE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912571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7.59/10</a:t>
            </a:r>
            <a:endParaRPr lang="en-US" sz="2100" dirty="0"/>
          </a:p>
        </p:txBody>
      </p:sp>
      <p:sp>
        <p:nvSpPr>
          <p:cNvPr id="37" name="Text 35"/>
          <p:cNvSpPr/>
          <p:nvPr/>
        </p:nvSpPr>
        <p:spPr>
          <a:xfrm>
            <a:off x="912571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Threshold 6.5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1053388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0570464" y="499719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Decision readiness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24128"/>
            <a:ext cx="361188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252728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Decision readiness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22960" y="1664208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59536" y="1714500"/>
            <a:ext cx="106984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Allowed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822960" y="2139696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Missing evidence: 0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22960" y="244144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Warnings: 0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22960" y="2761488"/>
            <a:ext cx="306324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Final conclusion is allowed. Overall classification is Risk.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617720" y="1078992"/>
            <a:ext cx="658368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Final conclusion is allowed. Overall classification is Risk.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617720" y="1993392"/>
            <a:ext cx="2926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Validated gate checks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617720" y="24231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745736" y="25786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82312" y="262890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9" name="Text 17"/>
          <p:cNvSpPr/>
          <p:nvPr/>
        </p:nvSpPr>
        <p:spPr>
          <a:xfrm>
            <a:off x="5623560" y="25328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Source availability and required columns</a:t>
            </a:r>
            <a:endParaRPr lang="en-US" sz="930" dirty="0"/>
          </a:p>
        </p:txBody>
      </p:sp>
      <p:sp>
        <p:nvSpPr>
          <p:cNvPr id="20" name="Text 18"/>
          <p:cNvSpPr/>
          <p:nvPr/>
        </p:nvSpPr>
        <p:spPr>
          <a:xfrm>
            <a:off x="7863840" y="25146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Required sheets and columns were mapped from Teams, OneDrive, Forms, KPI, Rules and Template sources.</a:t>
            </a:r>
            <a:endParaRPr lang="en-US" sz="860" dirty="0"/>
          </a:p>
        </p:txBody>
      </p:sp>
      <p:sp>
        <p:nvSpPr>
          <p:cNvPr id="21" name="Shape 19"/>
          <p:cNvSpPr/>
          <p:nvPr/>
        </p:nvSpPr>
        <p:spPr>
          <a:xfrm>
            <a:off x="4617720" y="31089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745736" y="32644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82312" y="331470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4" name="Text 22"/>
          <p:cNvSpPr/>
          <p:nvPr/>
        </p:nvSpPr>
        <p:spPr>
          <a:xfrm>
            <a:off x="5623560" y="32186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Course status</a:t>
            </a:r>
            <a:endParaRPr lang="en-US" sz="930" dirty="0"/>
          </a:p>
        </p:txBody>
      </p:sp>
      <p:sp>
        <p:nvSpPr>
          <p:cNvPr id="25" name="Text 23"/>
          <p:cNvSpPr/>
          <p:nvPr/>
        </p:nvSpPr>
        <p:spPr>
          <a:xfrm>
            <a:off x="7863840" y="32004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All selected courses are completed.</a:t>
            </a:r>
            <a:endParaRPr lang="en-US" sz="860" dirty="0"/>
          </a:p>
        </p:txBody>
      </p:sp>
      <p:sp>
        <p:nvSpPr>
          <p:cNvPr id="26" name="Shape 24"/>
          <p:cNvSpPr/>
          <p:nvPr/>
        </p:nvSpPr>
        <p:spPr>
          <a:xfrm>
            <a:off x="4617720" y="37947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745736" y="39502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82312" y="400050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9" name="Text 27"/>
          <p:cNvSpPr/>
          <p:nvPr/>
        </p:nvSpPr>
        <p:spPr>
          <a:xfrm>
            <a:off x="5623560" y="39044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Attendance completeness</a:t>
            </a:r>
            <a:endParaRPr lang="en-US" sz="930" dirty="0"/>
          </a:p>
        </p:txBody>
      </p:sp>
      <p:sp>
        <p:nvSpPr>
          <p:cNvPr id="30" name="Text 28"/>
          <p:cNvSpPr/>
          <p:nvPr/>
        </p:nvSpPr>
        <p:spPr>
          <a:xfrm>
            <a:off x="7863840" y="38862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Expected attendance rows are trainee count x total sessions. Late is retained for metrics as partial attendance.</a:t>
            </a:r>
            <a:endParaRPr lang="en-US" sz="860" dirty="0"/>
          </a:p>
        </p:txBody>
      </p:sp>
      <p:sp>
        <p:nvSpPr>
          <p:cNvPr id="31" name="Shape 29"/>
          <p:cNvSpPr/>
          <p:nvPr/>
        </p:nvSpPr>
        <p:spPr>
          <a:xfrm>
            <a:off x="4617720" y="44805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745736" y="46360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82312" y="468630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4" name="Text 32"/>
          <p:cNvSpPr/>
          <p:nvPr/>
        </p:nvSpPr>
        <p:spPr>
          <a:xfrm>
            <a:off x="5623560" y="45902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Assessment completeness</a:t>
            </a:r>
            <a:endParaRPr lang="en-US" sz="930" dirty="0"/>
          </a:p>
        </p:txBody>
      </p:sp>
      <p:sp>
        <p:nvSpPr>
          <p:cNvPr id="35" name="Text 33"/>
          <p:cNvSpPr/>
          <p:nvPr/>
        </p:nvSpPr>
        <p:spPr>
          <a:xfrm>
            <a:off x="7863840" y="45720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Completed courses require one valid assessment and pass-status row per trainee.</a:t>
            </a:r>
            <a:endParaRPr lang="en-US" sz="860" dirty="0"/>
          </a:p>
        </p:txBody>
      </p:sp>
      <p:sp>
        <p:nvSpPr>
          <p:cNvPr id="36" name="Shape 34"/>
          <p:cNvSpPr/>
          <p:nvPr/>
        </p:nvSpPr>
        <p:spPr>
          <a:xfrm>
            <a:off x="4617720" y="51663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745736" y="53218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782312" y="537210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9" name="Text 37"/>
          <p:cNvSpPr/>
          <p:nvPr/>
        </p:nvSpPr>
        <p:spPr>
          <a:xfrm>
            <a:off x="5623560" y="52760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Feedback completeness</a:t>
            </a:r>
            <a:endParaRPr lang="en-US" sz="930" dirty="0"/>
          </a:p>
        </p:txBody>
      </p:sp>
      <p:sp>
        <p:nvSpPr>
          <p:cNvPr id="40" name="Text 38"/>
          <p:cNvSpPr/>
          <p:nvPr/>
        </p:nvSpPr>
        <p:spPr>
          <a:xfrm>
            <a:off x="7863840" y="52578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NORM-14 requires at least 60% feedback response rate for valid analysis.</a:t>
            </a:r>
            <a:endParaRPr lang="en-US" sz="86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Performance scorecard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5895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ATTENDANCE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75895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92.9%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75895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85%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216712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03704" y="216255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13" name="Shape 11"/>
          <p:cNvSpPr/>
          <p:nvPr/>
        </p:nvSpPr>
        <p:spPr>
          <a:xfrm>
            <a:off x="338328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54787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COMPLETION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354787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98.3%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354787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90%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95604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92624" y="216255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  <p:sp>
        <p:nvSpPr>
          <p:cNvPr id="19" name="Shape 17"/>
          <p:cNvSpPr/>
          <p:nvPr/>
        </p:nvSpPr>
        <p:spPr>
          <a:xfrm>
            <a:off x="617220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3679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PASS RATE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633679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89.8%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633679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80%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774496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781544" y="216255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25" name="Shape 23"/>
          <p:cNvSpPr/>
          <p:nvPr/>
        </p:nvSpPr>
        <p:spPr>
          <a:xfrm>
            <a:off x="896112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2571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AVG SCORE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912571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7.59/10</a:t>
            </a:r>
            <a:endParaRPr lang="en-US" sz="2100" dirty="0"/>
          </a:p>
        </p:txBody>
      </p:sp>
      <p:sp>
        <p:nvSpPr>
          <p:cNvPr id="28" name="Text 26"/>
          <p:cNvSpPr/>
          <p:nvPr/>
        </p:nvSpPr>
        <p:spPr>
          <a:xfrm>
            <a:off x="912571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Threshold 6.5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1053388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570464" y="216255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31" name="Shape 29"/>
          <p:cNvSpPr/>
          <p:nvPr/>
        </p:nvSpPr>
        <p:spPr>
          <a:xfrm>
            <a:off x="59436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5895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SATISFACTION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75895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4.48/5</a:t>
            </a:r>
            <a:endParaRPr lang="en-US" sz="2100" dirty="0"/>
          </a:p>
        </p:txBody>
      </p:sp>
      <p:sp>
        <p:nvSpPr>
          <p:cNvPr id="34" name="Text 32"/>
          <p:cNvSpPr/>
          <p:nvPr/>
        </p:nvSpPr>
        <p:spPr>
          <a:xfrm>
            <a:off x="75895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4.0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216712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203704" y="403707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37" name="Shape 35"/>
          <p:cNvSpPr/>
          <p:nvPr/>
        </p:nvSpPr>
        <p:spPr>
          <a:xfrm>
            <a:off x="338328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54787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TRAINING HOURS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354787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848</a:t>
            </a:r>
            <a:endParaRPr lang="en-US" sz="2100" dirty="0"/>
          </a:p>
        </p:txBody>
      </p:sp>
      <p:sp>
        <p:nvSpPr>
          <p:cNvPr id="40" name="Text 38"/>
          <p:cNvSpPr/>
          <p:nvPr/>
        </p:nvSpPr>
        <p:spPr>
          <a:xfrm>
            <a:off x="354787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Tracked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495604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992624" y="403707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Tracked</a:t>
            </a:r>
            <a:endParaRPr lang="en-US" sz="740" dirty="0"/>
          </a:p>
        </p:txBody>
      </p:sp>
      <p:sp>
        <p:nvSpPr>
          <p:cNvPr id="43" name="Shape 41"/>
          <p:cNvSpPr/>
          <p:nvPr/>
        </p:nvSpPr>
        <p:spPr>
          <a:xfrm>
            <a:off x="617220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33679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COST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633679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32</a:t>
            </a:r>
            <a:endParaRPr lang="en-US" sz="2100" dirty="0"/>
          </a:p>
        </p:txBody>
      </p:sp>
      <p:sp>
        <p:nvSpPr>
          <p:cNvPr id="46" name="Text 44"/>
          <p:cNvSpPr/>
          <p:nvPr/>
        </p:nvSpPr>
        <p:spPr>
          <a:xfrm>
            <a:off x="633679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Scaled cost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774496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781544" y="403707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Tracked</a:t>
            </a:r>
            <a:endParaRPr lang="en-US" sz="740" dirty="0"/>
          </a:p>
        </p:txBody>
      </p:sp>
      <p:sp>
        <p:nvSpPr>
          <p:cNvPr id="49" name="Shape 47"/>
          <p:cNvSpPr/>
          <p:nvPr/>
        </p:nvSpPr>
        <p:spPr>
          <a:xfrm>
            <a:off x="896112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912571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ROI PROXY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912571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0.0683</a:t>
            </a:r>
            <a:endParaRPr lang="en-US" sz="2100" dirty="0"/>
          </a:p>
        </p:txBody>
      </p:sp>
      <p:sp>
        <p:nvSpPr>
          <p:cNvPr id="52" name="Text 50"/>
          <p:cNvSpPr/>
          <p:nvPr/>
        </p:nvSpPr>
        <p:spPr>
          <a:xfrm>
            <a:off x="912571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Relative KPI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1053388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10570464" y="403707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Monitor</a:t>
            </a:r>
            <a:endParaRPr lang="en-US" sz="740" dirty="0"/>
          </a:p>
        </p:txBody>
      </p:sp>
      <p:sp>
        <p:nvSpPr>
          <p:cNvPr id="55" name="Text 53"/>
          <p:cNvSpPr/>
          <p:nvPr/>
        </p:nvSpPr>
        <p:spPr>
          <a:xfrm>
            <a:off x="594360" y="5989320"/>
            <a:ext cx="9875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Completion is attendance-based (&gt;= 70%) and is intentionally separate from pass rate.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Course performance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078992"/>
          <a:ext cx="10972800" cy="3063240"/>
        </p:xfrm>
        <a:graphic>
          <a:graphicData uri="http://schemas.openxmlformats.org/drawingml/2006/table">
            <a:tbl>
              <a:tblPr/>
              <a:tblGrid>
                <a:gridCol w="3017520"/>
                <a:gridCol w="914400"/>
                <a:gridCol w="1143000"/>
                <a:gridCol w="1143000"/>
                <a:gridCol w="1005840"/>
                <a:gridCol w="1005840"/>
                <a:gridCol w="123444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Course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Learners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Attend.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Complete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Pass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Score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Effectiveness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Automation Testing with Playwri...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37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91.9%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97.3%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89.2%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7.59/10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86.66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DevOps Fundamentals: CI/CD, K8s...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10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96%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100%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100%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7.89/10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92.28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AWS Cloud Architecture &amp; Servic...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12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93.3%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100%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83.3%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7.32/10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85.76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594360" y="457200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What to notice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594360" y="4956048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58952" y="512064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Strong completion outcome at 98.3%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4325112" y="4956048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489704" y="512064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Overall effectiveness score is 88.23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8055864" y="4956048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220456" y="512064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DevOps Fundamentals: CI/CD, K8s, Monitoring has the strongest effectiveness score (92.28) in the selected scop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Key findings and implications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7899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" y="126187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13816" y="1312164"/>
            <a:ext cx="79552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  <p:sp>
        <p:nvSpPr>
          <p:cNvPr id="10" name="Text 8"/>
          <p:cNvSpPr/>
          <p:nvPr/>
        </p:nvSpPr>
        <p:spPr>
          <a:xfrm>
            <a:off x="795528" y="160934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Strong completion outcome at 98.3%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95528" y="199339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Completion is calculated as attendance &gt;= 70%; pass rate is tracked separately at 89.8%.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795528" y="237744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Learners are completing the required session exposure, and assessment achievement is also healthy.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217920" y="107899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0" y="126187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37376" y="1312164"/>
            <a:ext cx="79552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Risk</a:t>
            </a:r>
            <a:endParaRPr lang="en-US" sz="740" dirty="0"/>
          </a:p>
        </p:txBody>
      </p:sp>
      <p:sp>
        <p:nvSpPr>
          <p:cNvPr id="16" name="Text 14"/>
          <p:cNvSpPr/>
          <p:nvPr/>
        </p:nvSpPr>
        <p:spPr>
          <a:xfrm>
            <a:off x="6419088" y="160934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Overall effectiveness score is 88.23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19088" y="199339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Attendance 92.9%, pass rate 89.8%, average score 7.59/10.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6419088" y="237744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The selected scope is classified as Risk.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94360" y="322783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77240" y="341071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13816" y="3461004"/>
            <a:ext cx="79552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22" name="Text 20"/>
          <p:cNvSpPr/>
          <p:nvPr/>
        </p:nvSpPr>
        <p:spPr>
          <a:xfrm>
            <a:off x="795528" y="375818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DevOps Fundamentals: CI/CD, K8s, Monitoring has the strongest effectiveness score (92.28) in the selected scop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95528" y="414223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Supported by validated metrics, evidence gate, and L&amp;D NORM checks.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795528" y="452628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Use this signal to prioritize follow-up actions and stakeholder communication.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6217920" y="322783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400800" y="341071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37376" y="3461004"/>
            <a:ext cx="79552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Monitor</a:t>
            </a:r>
            <a:endParaRPr lang="en-US" sz="740" dirty="0"/>
          </a:p>
        </p:txBody>
      </p:sp>
      <p:sp>
        <p:nvSpPr>
          <p:cNvPr id="28" name="Text 26"/>
          <p:cNvSpPr/>
          <p:nvPr/>
        </p:nvSpPr>
        <p:spPr>
          <a:xfrm>
            <a:off x="6419088" y="375818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AWS Cloud Architecture &amp; Services needs attention with effectiveness score 85.76, attendance 93.3%, and pass r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419088" y="414223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Supported by validated metrics, evidence gate, and L&amp;D NORM checks.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6419088" y="452628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Use this signal to prioritize follow-up actions and stakeholder communication.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Evidence traceability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94360" y="1042416"/>
            <a:ext cx="6858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Every narrative claim is backed by validated artifacts before export.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94360" y="1691640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58952" y="1856232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95528" y="1906524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1737360" y="1837944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Source availability and required columns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737360" y="2148840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Required sheets and columns were mapped from Teams, OneDrive, Forms, KPI, Rules and Template sources.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172200" y="1691640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336792" y="1856232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73368" y="1906524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6" name="Text 14"/>
          <p:cNvSpPr/>
          <p:nvPr/>
        </p:nvSpPr>
        <p:spPr>
          <a:xfrm>
            <a:off x="7315200" y="1837944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Course status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315200" y="2148840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All selected courses are completed.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594360" y="2862072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58952" y="3026664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95528" y="3076956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1" name="Text 19"/>
          <p:cNvSpPr/>
          <p:nvPr/>
        </p:nvSpPr>
        <p:spPr>
          <a:xfrm>
            <a:off x="1737360" y="3008376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Attendance completeness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737360" y="3319272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Expected attendance rows are trainee count x total sessions. Late is retained for metrics as partial attendance.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6172200" y="2862072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336792" y="3026664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73368" y="3076956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6" name="Text 24"/>
          <p:cNvSpPr/>
          <p:nvPr/>
        </p:nvSpPr>
        <p:spPr>
          <a:xfrm>
            <a:off x="7315200" y="3008376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Assessment completeness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315200" y="3319272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Completed courses require one valid assessment and pass-status row per trainee.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94360" y="4032504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58952" y="4197096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95528" y="4247388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1" name="Text 29"/>
          <p:cNvSpPr/>
          <p:nvPr/>
        </p:nvSpPr>
        <p:spPr>
          <a:xfrm>
            <a:off x="1737360" y="4178808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Feedback completeness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737360" y="4489704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NORM-14 requires at least 60% feedback response rate for valid analysis.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6172200" y="4032504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336792" y="4197096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373368" y="4247388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6" name="Text 34"/>
          <p:cNvSpPr/>
          <p:nvPr/>
        </p:nvSpPr>
        <p:spPr>
          <a:xfrm>
            <a:off x="7315200" y="4178808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Row-level data quality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7315200" y="4489704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Duplicate rows and numeric ranges were checked before metric generation.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Governance and access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066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CLASSIFICATION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74066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B91C1C"/>
                </a:solidFill>
              </a:rPr>
              <a:t>Risk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38328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2958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SENSITIVE DETAILS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52958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47857"/>
                </a:solidFill>
              </a:rPr>
              <a:t>Visible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17220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1850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RAW APPENDIX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631850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47857"/>
                </a:solidFill>
              </a:rPr>
              <a:t>Allowed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896112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0742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HIGH-PRIORITY FLAGS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910742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B91C1C"/>
                </a:solidFill>
              </a:rPr>
              <a:t>7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594360" y="2788920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22376" y="294436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58952" y="299466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2" name="Text 20"/>
          <p:cNvSpPr/>
          <p:nvPr/>
        </p:nvSpPr>
        <p:spPr>
          <a:xfrm>
            <a:off x="1600200" y="289864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NORM-07 | High</a:t>
            </a:r>
            <a:endParaRPr lang="en-US" sz="930" dirty="0"/>
          </a:p>
        </p:txBody>
      </p:sp>
      <p:sp>
        <p:nvSpPr>
          <p:cNvPr id="23" name="Text 21"/>
          <p:cNvSpPr/>
          <p:nvPr/>
        </p:nvSpPr>
        <p:spPr>
          <a:xfrm>
            <a:off x="3840480" y="2880360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needs 1:1 support.</a:t>
            </a:r>
            <a:endParaRPr lang="en-US" sz="860" dirty="0"/>
          </a:p>
        </p:txBody>
      </p:sp>
      <p:sp>
        <p:nvSpPr>
          <p:cNvPr id="24" name="Shape 22"/>
          <p:cNvSpPr/>
          <p:nvPr/>
        </p:nvSpPr>
        <p:spPr>
          <a:xfrm>
            <a:off x="594360" y="3538728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22376" y="3694176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58952" y="3744468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7" name="Text 25"/>
          <p:cNvSpPr/>
          <p:nvPr/>
        </p:nvSpPr>
        <p:spPr>
          <a:xfrm>
            <a:off x="1600200" y="364845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NORM-07 | High</a:t>
            </a:r>
            <a:endParaRPr lang="en-US" sz="930" dirty="0"/>
          </a:p>
        </p:txBody>
      </p:sp>
      <p:sp>
        <p:nvSpPr>
          <p:cNvPr id="28" name="Text 26"/>
          <p:cNvSpPr/>
          <p:nvPr/>
        </p:nvSpPr>
        <p:spPr>
          <a:xfrm>
            <a:off x="3840480" y="3630168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needs 1:1 support.</a:t>
            </a:r>
            <a:endParaRPr lang="en-US" sz="860" dirty="0"/>
          </a:p>
        </p:txBody>
      </p:sp>
      <p:sp>
        <p:nvSpPr>
          <p:cNvPr id="29" name="Shape 27"/>
          <p:cNvSpPr/>
          <p:nvPr/>
        </p:nvSpPr>
        <p:spPr>
          <a:xfrm>
            <a:off x="594360" y="4288536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22376" y="44439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58952" y="449427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2" name="Text 30"/>
          <p:cNvSpPr/>
          <p:nvPr/>
        </p:nvSpPr>
        <p:spPr>
          <a:xfrm>
            <a:off x="1600200" y="4398264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NORM-05 | High</a:t>
            </a:r>
            <a:endParaRPr lang="en-US" sz="930" dirty="0"/>
          </a:p>
        </p:txBody>
      </p:sp>
      <p:sp>
        <p:nvSpPr>
          <p:cNvPr id="33" name="Text 31"/>
          <p:cNvSpPr/>
          <p:nvPr/>
        </p:nvSpPr>
        <p:spPr>
          <a:xfrm>
            <a:off x="3840480" y="4379976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has zero score or missing assessment.</a:t>
            </a:r>
            <a:endParaRPr lang="en-US" sz="860" dirty="0"/>
          </a:p>
        </p:txBody>
      </p:sp>
      <p:sp>
        <p:nvSpPr>
          <p:cNvPr id="34" name="Shape 32"/>
          <p:cNvSpPr/>
          <p:nvPr/>
        </p:nvSpPr>
        <p:spPr>
          <a:xfrm>
            <a:off x="594360" y="5038344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22376" y="5193792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58952" y="5244084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7" name="Text 35"/>
          <p:cNvSpPr/>
          <p:nvPr/>
        </p:nvSpPr>
        <p:spPr>
          <a:xfrm>
            <a:off x="1600200" y="5148072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NORM-07 | High</a:t>
            </a:r>
            <a:endParaRPr lang="en-US" sz="930" dirty="0"/>
          </a:p>
        </p:txBody>
      </p:sp>
      <p:sp>
        <p:nvSpPr>
          <p:cNvPr id="38" name="Text 36"/>
          <p:cNvSpPr/>
          <p:nvPr/>
        </p:nvSpPr>
        <p:spPr>
          <a:xfrm>
            <a:off x="3840480" y="5129784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needs 1:1 support.</a:t>
            </a:r>
            <a:endParaRPr lang="en-US" sz="86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Recommended action plan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960120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68096" y="1179576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1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170432" y="1161288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07008" y="1211580"/>
            <a:ext cx="74980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2121408" y="1124712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794760" y="1069848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Flag for coaching; assign buddy or practice resources</a:t>
            </a:r>
            <a:endParaRPr lang="en-US" sz="930" dirty="0"/>
          </a:p>
        </p:txBody>
      </p:sp>
      <p:sp>
        <p:nvSpPr>
          <p:cNvPr id="13" name="Text 11"/>
          <p:cNvSpPr/>
          <p:nvPr/>
        </p:nvSpPr>
        <p:spPr>
          <a:xfrm>
            <a:off x="7863840" y="1069848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594360" y="1947672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68096" y="2167128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2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1170432" y="2148840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207008" y="2199132"/>
            <a:ext cx="74980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8" name="Text 16"/>
          <p:cNvSpPr/>
          <p:nvPr/>
        </p:nvSpPr>
        <p:spPr>
          <a:xfrm>
            <a:off x="2121408" y="2112264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794760" y="205740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Mark as Incomplete; recommend re-enrollment in next cohort</a:t>
            </a:r>
            <a:endParaRPr lang="en-US" sz="930" dirty="0"/>
          </a:p>
        </p:txBody>
      </p:sp>
      <p:sp>
        <p:nvSpPr>
          <p:cNvPr id="20" name="Text 18"/>
          <p:cNvSpPr/>
          <p:nvPr/>
        </p:nvSpPr>
        <p:spPr>
          <a:xfrm>
            <a:off x="7863840" y="2057400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training effectiveness and repeatability.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594360" y="2935224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68096" y="3154680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3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1170432" y="3136392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207008" y="3186684"/>
            <a:ext cx="74980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5" name="Text 23"/>
          <p:cNvSpPr/>
          <p:nvPr/>
        </p:nvSpPr>
        <p:spPr>
          <a:xfrm>
            <a:off x="2121408" y="3099816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794760" y="3044952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Assign a coaching owner, buddy support, and targeted practice resources for the flagged learner.</a:t>
            </a:r>
            <a:endParaRPr lang="en-US" sz="930" dirty="0"/>
          </a:p>
        </p:txBody>
      </p:sp>
      <p:sp>
        <p:nvSpPr>
          <p:cNvPr id="27" name="Text 25"/>
          <p:cNvSpPr/>
          <p:nvPr/>
        </p:nvSpPr>
        <p:spPr>
          <a:xfrm>
            <a:off x="7863840" y="3044952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94360" y="3922776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68096" y="4142232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4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1170432" y="4123944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207008" y="4174236"/>
            <a:ext cx="74980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2" name="Text 30"/>
          <p:cNvSpPr/>
          <p:nvPr/>
        </p:nvSpPr>
        <p:spPr>
          <a:xfrm>
            <a:off x="2121408" y="4087368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3794760" y="4032504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Mark incomplete learner records for review and schedule re-enrollment in the next suitable cohort.</a:t>
            </a:r>
            <a:endParaRPr lang="en-US" sz="930" dirty="0"/>
          </a:p>
        </p:txBody>
      </p:sp>
      <p:sp>
        <p:nvSpPr>
          <p:cNvPr id="34" name="Text 32"/>
          <p:cNvSpPr/>
          <p:nvPr/>
        </p:nvSpPr>
        <p:spPr>
          <a:xfrm>
            <a:off x="7863840" y="4032504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training effectiveness and repeatability.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594360" y="4910328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68096" y="5129784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5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1170432" y="5111496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207008" y="5161788"/>
            <a:ext cx="74980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9" name="Text 37"/>
          <p:cNvSpPr/>
          <p:nvPr/>
        </p:nvSpPr>
        <p:spPr>
          <a:xfrm>
            <a:off x="2121408" y="5074920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Team Manager + L&amp;D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3794760" y="5020056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Assign a coaching owner for support-needed learners and review attendance issues with direct managers.</a:t>
            </a:r>
            <a:endParaRPr lang="en-US" sz="930" dirty="0"/>
          </a:p>
        </p:txBody>
      </p:sp>
      <p:sp>
        <p:nvSpPr>
          <p:cNvPr id="41" name="Text 39"/>
          <p:cNvSpPr/>
          <p:nvPr/>
        </p:nvSpPr>
        <p:spPr>
          <a:xfrm>
            <a:off x="7863840" y="5020056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Delivery roadmap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658368" y="1234440"/>
            <a:ext cx="2331720" cy="425196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41248" y="1508760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Step 1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892808" y="148132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929384" y="153162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841248" y="1938528"/>
            <a:ext cx="187452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41248" y="2395728"/>
            <a:ext cx="1874520" cy="10058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Flag for coaching; assign buddy or practice resources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841248" y="3822192"/>
            <a:ext cx="1645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841248" y="4096512"/>
            <a:ext cx="187452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920" dirty="0"/>
          </a:p>
        </p:txBody>
      </p:sp>
      <p:sp>
        <p:nvSpPr>
          <p:cNvPr id="15" name="Shape 13"/>
          <p:cNvSpPr/>
          <p:nvPr/>
        </p:nvSpPr>
        <p:spPr>
          <a:xfrm>
            <a:off x="3447288" y="1234440"/>
            <a:ext cx="2331720" cy="425196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30168" y="1508760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Step 2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681728" y="148132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18304" y="153162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9" name="Text 17"/>
          <p:cNvSpPr/>
          <p:nvPr/>
        </p:nvSpPr>
        <p:spPr>
          <a:xfrm>
            <a:off x="3630168" y="1938528"/>
            <a:ext cx="187452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630168" y="2395728"/>
            <a:ext cx="1874520" cy="10058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Mark as Incomplete; recommend re-enrollment in next cohort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3630168" y="3822192"/>
            <a:ext cx="1645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3630168" y="4096512"/>
            <a:ext cx="187452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training effectiveness and repeatability.</a:t>
            </a:r>
            <a:endParaRPr lang="en-US" sz="920" dirty="0"/>
          </a:p>
        </p:txBody>
      </p:sp>
      <p:sp>
        <p:nvSpPr>
          <p:cNvPr id="23" name="Shape 21"/>
          <p:cNvSpPr/>
          <p:nvPr/>
        </p:nvSpPr>
        <p:spPr>
          <a:xfrm>
            <a:off x="6236208" y="1234440"/>
            <a:ext cx="2331720" cy="425196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19088" y="1508760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Step 3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7470648" y="148132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507224" y="153162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7" name="Text 25"/>
          <p:cNvSpPr/>
          <p:nvPr/>
        </p:nvSpPr>
        <p:spPr>
          <a:xfrm>
            <a:off x="6419088" y="1938528"/>
            <a:ext cx="187452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419088" y="2395728"/>
            <a:ext cx="1874520" cy="10058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Assign a coaching owner, buddy support, and targeted practice resources for the flagged learner.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6419088" y="3822192"/>
            <a:ext cx="1645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6419088" y="4096512"/>
            <a:ext cx="187452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920" dirty="0"/>
          </a:p>
        </p:txBody>
      </p:sp>
      <p:sp>
        <p:nvSpPr>
          <p:cNvPr id="31" name="Shape 29"/>
          <p:cNvSpPr/>
          <p:nvPr/>
        </p:nvSpPr>
        <p:spPr>
          <a:xfrm>
            <a:off x="9025128" y="1234440"/>
            <a:ext cx="2331720" cy="425196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208008" y="1508760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Step 4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10259568" y="148132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0296144" y="153162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5" name="Text 33"/>
          <p:cNvSpPr/>
          <p:nvPr/>
        </p:nvSpPr>
        <p:spPr>
          <a:xfrm>
            <a:off x="9208008" y="1938528"/>
            <a:ext cx="187452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9208008" y="2395728"/>
            <a:ext cx="1874520" cy="10058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Mark incomplete learner records for review and schedule re-enrollment in the next suitable cohort.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9208008" y="3822192"/>
            <a:ext cx="1645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9208008" y="4096512"/>
            <a:ext cx="187452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training effectiveness and repeatability.</a:t>
            </a:r>
            <a:endParaRPr lang="en-US" sz="92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Appendix and methodology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94360" y="10515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Source traceability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1481328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Report ID: rpt_4fb67941-8d4d-4da0-bcb5-7600dce1383b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31520" y="1792224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Dataset ID: ds_f110e727be146a02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31520" y="2103120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Metrics snapshot ID: mx_f1845d91-e5bb-489b-bbc4-b881948108cc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731520" y="2414016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Evidence decision ID: ev_aa875f46-2b55-4d61-b8cf-d49a029880cf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731520" y="2724912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Governance view ID: gv_5ca32c42-38a7-4dc8-a616-b72682f542dd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731520" y="3035808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Role view: L&amp;D Manager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31520" y="3346704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Sensitive details: visible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492240" y="10515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LLM disclosure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492240" y="1463040"/>
            <a:ext cx="4983480" cy="1371600"/>
          </a:xfrm>
          <a:prstGeom prst="roundRect">
            <a:avLst>
              <a:gd name="adj" fmla="val 5333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720840" y="1700784"/>
            <a:ext cx="4480560" cy="777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</a:rPr>
              <a:t>Deterministic fallback used. OPENAI_API_KEY is not configured or LD_REPORTING_USE_LLM=false.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492240" y="324612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Business rule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492240" y="3675888"/>
            <a:ext cx="4892040" cy="685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</a:rPr>
              <a:t>Completion rate is calculated from learner attendance &gt;= 70%. Pass rate is calculated independently from assessment pass status.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SETA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L&amp;D Training Effectiveness Report - 2026-Q1</dc:title>
  <dc:subject>Training effectiveness is strong with validated evidence.</dc:subject>
  <dc:creator>SETA L&amp;D Reporting Agent</dc:creator>
  <cp:lastModifiedBy>SETA L&amp;D Reporting Agent</cp:lastModifiedBy>
  <cp:revision>1</cp:revision>
  <dcterms:created xsi:type="dcterms:W3CDTF">2026-06-21T16:28:22Z</dcterms:created>
  <dcterms:modified xsi:type="dcterms:W3CDTF">2026-06-21T16:28:22Z</dcterms:modified>
</cp:coreProperties>
</file>