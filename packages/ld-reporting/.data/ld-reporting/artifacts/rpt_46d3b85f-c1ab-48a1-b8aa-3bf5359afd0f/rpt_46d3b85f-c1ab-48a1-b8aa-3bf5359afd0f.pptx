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1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Governance flags by priority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B91C1C"/>
              </a:solidFill>
              <a:effectLst/>
            </c:spPr>
          </c:dPt>
          <c:dPt>
            <c:idx val="1"/>
            <c:bubble3D val="0"/>
            <c:spPr>
              <a:solidFill>
                <a:srgbClr val="B45309"/>
              </a:solidFill>
              <a:effectLst/>
            </c:spPr>
          </c:dPt>
          <c:dLbls>
            <c:dLbl>
              <c:idx val="0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1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numFmt formatCode="General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Sheet1!$A$2:$A$3</c:f>
              <c:strCache>
                <c:ptCount val="2"/>
                <c:pt idx="0">
                  <c:v>High</c:v>
                </c:pt>
                <c:pt idx="1">
                  <c:v>Medium</c:v>
                </c:pt>
              </c:strCache>
            </c:strRef>
          </c:cat>
          <c:val>
            <c:numRef>
              <c:f>Sheet1!$B$2:$B$3</c:f>
              <c:numCache>
                <c:ptCount val="2"/>
                <c:pt idx="0">
                  <c:v>10</c:v>
                </c:pt>
                <c:pt idx="1">
                  <c:v>1</c:v>
                </c:pt>
              </c:numCache>
            </c:numRef>
          </c:val>
        </c:ser>
        <c:firstSliceAng val="0"/>
        <c:holeSize val="68"/>
      </c:doughnutChart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Full executive summary
The selected scope contains 1 course(s), 0 completed course(s), and 8 trainee-course records. Overall attendance is 47.9%, completion is 0%, pass rate is 0%, and average score is N/A/10. Total training hours are 34.5 and scaled cost is 4.8. Final effectiveness conclusion is blocked because required evidence is incomplete or course status is not completed.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Course performance profile
Technical Leadership &amp; Communication
Learners: 8
Attendance: 47.9%
Completion: 0%
Pass rate: 0%
Average score: N/A/10
Effectiveness: 25.58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Recommended delivery sequence
1. Flag course for content review; notify L&amp;D manager
Owner: Team Manager + L&amp;D
Outcome: Increase Technical Leadership &amp; Communication pass rate from 0% to at least 80% (+80 percentage points) in the next cohort.
2. Mark as Incomplete; recommend re-enrollment in next cohort
Owner: L&amp;D Manager
Outcome: Reduce incomplete or missing-assessment learner records from 8 to 0 before the next cohort closes.
3. Do not publish a final effectiveness conclusion until blocked evidence items are resolved.
Owner: L&amp;D Manager
Outcome: Reduce Evidence Gate blockers from 1 to 0 and move report readiness from BLOCKED to PASS before publication.
4. Assign a coaching owner for support-needed learners and review attendance issues with direct managers.
Owner: Team Manager + L&amp;D
Outcome: Increase Technical Leadership &amp; Communication attendance from 47.9% to at least 85% (+37.1 percentage points) in the next cohort.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B1220"/>
          </a:solidFill>
          <a:ln w="12700">
            <a:solidFill>
              <a:srgbClr val="0B122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594360"/>
            <a:ext cx="6217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93C5FD"/>
                </a:solidFill>
              </a:rPr>
              <a:t>Training Effectiveness Agent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40080" y="1143000"/>
            <a:ext cx="8046720" cy="12344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L&amp;D Training Effectiveness Report - Technical Leadership &amp; Communication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658368" y="2606040"/>
            <a:ext cx="7772400" cy="5943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CBD5E1"/>
                </a:solidFill>
              </a:rPr>
              <a:t>Evidence gaps block a final effectiveness conclusion.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732520" y="960120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3C5FD"/>
                </a:solidFill>
              </a:rPr>
              <a:t>VALIDATED PERFORMANCE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8887968" y="1325880"/>
            <a:ext cx="2240280" cy="2240280"/>
          </a:xfrm>
          <a:prstGeom prst="ellipse">
            <a:avLst/>
          </a:prstGeom>
          <a:solidFill>
            <a:srgbClr val="B91C1C">
              <a:alpha val="95000"/>
            </a:srgbClr>
          </a:solidFill>
          <a:ln w="12700">
            <a:solidFill>
              <a:srgbClr val="60A5FA">
                <a:alpha val="80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9281160" y="1719072"/>
            <a:ext cx="1453896" cy="1453896"/>
          </a:xfrm>
          <a:prstGeom prst="ellipse">
            <a:avLst/>
          </a:prstGeom>
          <a:solidFill>
            <a:srgbClr val="0B1220"/>
          </a:solidFill>
          <a:ln w="12700">
            <a:solidFill>
              <a:srgbClr val="0B1220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363456" y="2148840"/>
            <a:ext cx="12984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25.6/100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8851392" y="3749040"/>
            <a:ext cx="2331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Not reportable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8668512" y="4315968"/>
            <a:ext cx="8686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CBD5E1"/>
                </a:solidFill>
              </a:rPr>
              <a:t>Attendance</a:t>
            </a:r>
            <a:endParaRPr lang="en-US" sz="750" dirty="0"/>
          </a:p>
        </p:txBody>
      </p:sp>
      <p:sp>
        <p:nvSpPr>
          <p:cNvPr id="13" name="Shape 11"/>
          <p:cNvSpPr/>
          <p:nvPr/>
        </p:nvSpPr>
        <p:spPr>
          <a:xfrm>
            <a:off x="9555480" y="4334256"/>
            <a:ext cx="1097280" cy="91440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>
                <a:alpha val="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9555480" y="4334256"/>
            <a:ext cx="525597" cy="91440"/>
          </a:xfrm>
          <a:prstGeom prst="rect">
            <a:avLst/>
          </a:prstGeom>
          <a:solidFill>
            <a:srgbClr val="B91C1C"/>
          </a:solidFill>
          <a:ln w="12700">
            <a:solidFill>
              <a:srgbClr val="B91C1C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0716768" y="4306824"/>
            <a:ext cx="5669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47.9%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8668512" y="4773168"/>
            <a:ext cx="8686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CBD5E1"/>
                </a:solidFill>
              </a:rPr>
              <a:t>Completion</a:t>
            </a:r>
            <a:endParaRPr lang="en-US" sz="750" dirty="0"/>
          </a:p>
        </p:txBody>
      </p:sp>
      <p:sp>
        <p:nvSpPr>
          <p:cNvPr id="17" name="Shape 15"/>
          <p:cNvSpPr/>
          <p:nvPr/>
        </p:nvSpPr>
        <p:spPr>
          <a:xfrm>
            <a:off x="9555480" y="4791456"/>
            <a:ext cx="1097280" cy="91440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>
                <a:alpha val="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555480" y="4791456"/>
            <a:ext cx="0" cy="91440"/>
          </a:xfrm>
          <a:prstGeom prst="rect">
            <a:avLst/>
          </a:prstGeom>
          <a:solidFill>
            <a:srgbClr val="B91C1C"/>
          </a:solidFill>
          <a:ln w="12700">
            <a:solidFill>
              <a:srgbClr val="B91C1C">
                <a:alpha val="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0716768" y="4764024"/>
            <a:ext cx="5669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0%</a:t>
            </a:r>
            <a:endParaRPr lang="en-US" sz="750" dirty="0"/>
          </a:p>
        </p:txBody>
      </p:sp>
      <p:sp>
        <p:nvSpPr>
          <p:cNvPr id="20" name="Text 18"/>
          <p:cNvSpPr/>
          <p:nvPr/>
        </p:nvSpPr>
        <p:spPr>
          <a:xfrm>
            <a:off x="8668512" y="5230368"/>
            <a:ext cx="8686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CBD5E1"/>
                </a:solidFill>
              </a:rPr>
              <a:t>Pass rate</a:t>
            </a:r>
            <a:endParaRPr lang="en-US" sz="750" dirty="0"/>
          </a:p>
        </p:txBody>
      </p:sp>
      <p:sp>
        <p:nvSpPr>
          <p:cNvPr id="21" name="Shape 19"/>
          <p:cNvSpPr/>
          <p:nvPr/>
        </p:nvSpPr>
        <p:spPr>
          <a:xfrm>
            <a:off x="9555480" y="5248656"/>
            <a:ext cx="1097280" cy="91440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>
                <a:alpha val="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9555480" y="5248656"/>
            <a:ext cx="0" cy="91440"/>
          </a:xfrm>
          <a:prstGeom prst="rect">
            <a:avLst/>
          </a:prstGeom>
          <a:solidFill>
            <a:srgbClr val="B91C1C"/>
          </a:solidFill>
          <a:ln w="12700">
            <a:solidFill>
              <a:srgbClr val="B91C1C">
                <a:alpha val="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0716768" y="5221224"/>
            <a:ext cx="5669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0%</a:t>
            </a:r>
            <a:endParaRPr lang="en-US" sz="750" dirty="0"/>
          </a:p>
        </p:txBody>
      </p:sp>
      <p:sp>
        <p:nvSpPr>
          <p:cNvPr id="24" name="Shape 22"/>
          <p:cNvSpPr/>
          <p:nvPr/>
        </p:nvSpPr>
        <p:spPr>
          <a:xfrm>
            <a:off x="658368" y="3703320"/>
            <a:ext cx="114300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94944" y="3703320"/>
            <a:ext cx="106984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Blocked</a:t>
            </a:r>
            <a:endParaRPr lang="en-US" sz="740" dirty="0"/>
          </a:p>
        </p:txBody>
      </p:sp>
      <p:sp>
        <p:nvSpPr>
          <p:cNvPr id="26" name="Shape 24"/>
          <p:cNvSpPr/>
          <p:nvPr/>
        </p:nvSpPr>
        <p:spPr>
          <a:xfrm>
            <a:off x="2057400" y="3703320"/>
            <a:ext cx="1143000" cy="256032"/>
          </a:xfrm>
          <a:prstGeom prst="roundRect">
            <a:avLst>
              <a:gd name="adj" fmla="val 28571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093976" y="3703320"/>
            <a:ext cx="106984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64748B"/>
                </a:solidFill>
              </a:rPr>
              <a:t>Draft</a:t>
            </a:r>
            <a:endParaRPr lang="en-US" sz="740" dirty="0"/>
          </a:p>
        </p:txBody>
      </p:sp>
      <p:sp>
        <p:nvSpPr>
          <p:cNvPr id="28" name="Shape 26"/>
          <p:cNvSpPr/>
          <p:nvPr/>
        </p:nvSpPr>
        <p:spPr>
          <a:xfrm>
            <a:off x="3291840" y="3703320"/>
            <a:ext cx="1143000" cy="256032"/>
          </a:xfrm>
          <a:prstGeom prst="roundRect">
            <a:avLst>
              <a:gd name="adj" fmla="val 28571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328416" y="3703320"/>
            <a:ext cx="106984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64748B"/>
                </a:solidFill>
              </a:rPr>
              <a:t>L&amp;D Manager</a:t>
            </a:r>
            <a:endParaRPr lang="en-US" sz="740" dirty="0"/>
          </a:p>
        </p:txBody>
      </p:sp>
      <p:sp>
        <p:nvSpPr>
          <p:cNvPr id="30" name="Text 28"/>
          <p:cNvSpPr/>
          <p:nvPr/>
        </p:nvSpPr>
        <p:spPr>
          <a:xfrm>
            <a:off x="658368" y="5440680"/>
            <a:ext cx="5669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</a:rPr>
              <a:t>Course Leadership_06_2026 | Type full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658368" y="5779008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6/23/2026, 1:44:56 AM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9418320" y="6144768"/>
            <a:ext cx="2011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SETA L&amp;D Reporting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Executive snapshot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Course Leadership_06_2026 | Type full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Blocked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8" name="Text 5"/>
          <p:cNvSpPr/>
          <p:nvPr/>
        </p:nvSpPr>
        <p:spPr>
          <a:xfrm>
            <a:off x="594360" y="1051560"/>
            <a:ext cx="676656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Evidence gaps block a final effectiveness conclusion.</a:t>
            </a:r>
            <a:endParaRPr lang="en-US" sz="2100" dirty="0"/>
          </a:p>
        </p:txBody>
      </p:sp>
      <p:sp>
        <p:nvSpPr>
          <p:cNvPr id="9" name="Shape 6"/>
          <p:cNvSpPr/>
          <p:nvPr/>
        </p:nvSpPr>
        <p:spPr>
          <a:xfrm>
            <a:off x="621792" y="1828800"/>
            <a:ext cx="310896" cy="310896"/>
          </a:xfrm>
          <a:prstGeom prst="ellipse">
            <a:avLst/>
          </a:prstGeom>
          <a:solidFill>
            <a:srgbClr val="DBEAFE"/>
          </a:solidFill>
          <a:ln w="12700">
            <a:solidFill>
              <a:srgbClr val="93C5FD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621792" y="182880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563EB"/>
                </a:solidFill>
              </a:rPr>
              <a:t>1</a:t>
            </a:r>
            <a:endParaRPr lang="en-US" sz="850" dirty="0"/>
          </a:p>
        </p:txBody>
      </p:sp>
      <p:sp>
        <p:nvSpPr>
          <p:cNvPr id="11" name="Text 8"/>
          <p:cNvSpPr/>
          <p:nvPr/>
        </p:nvSpPr>
        <p:spPr>
          <a:xfrm>
            <a:off x="1097280" y="1783080"/>
            <a:ext cx="6153912" cy="438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0F172A"/>
                </a:solidFill>
              </a:rPr>
              <a:t>The selected scope contains 1 course(s), 0 completed course(s), and 8 trainee-course records.</a:t>
            </a:r>
            <a:endParaRPr lang="en-US" sz="1120" dirty="0"/>
          </a:p>
        </p:txBody>
      </p:sp>
      <p:sp>
        <p:nvSpPr>
          <p:cNvPr id="12" name="Shape 9"/>
          <p:cNvSpPr/>
          <p:nvPr/>
        </p:nvSpPr>
        <p:spPr>
          <a:xfrm>
            <a:off x="621792" y="2487168"/>
            <a:ext cx="310896" cy="310896"/>
          </a:xfrm>
          <a:prstGeom prst="ellipse">
            <a:avLst/>
          </a:prstGeom>
          <a:solidFill>
            <a:srgbClr val="DBEAFE"/>
          </a:solidFill>
          <a:ln w="12700">
            <a:solidFill>
              <a:srgbClr val="93C5FD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621792" y="248716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563EB"/>
                </a:solidFill>
              </a:rPr>
              <a:t>2</a:t>
            </a:r>
            <a:endParaRPr lang="en-US" sz="850" dirty="0"/>
          </a:p>
        </p:txBody>
      </p:sp>
      <p:sp>
        <p:nvSpPr>
          <p:cNvPr id="14" name="Text 11"/>
          <p:cNvSpPr/>
          <p:nvPr/>
        </p:nvSpPr>
        <p:spPr>
          <a:xfrm>
            <a:off x="1097280" y="2441448"/>
            <a:ext cx="6153912" cy="438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0F172A"/>
                </a:solidFill>
              </a:rPr>
              <a:t>Overall attendance is 47.9%, completion is 0%, pass rate is 0%, and average score is N/A/10.</a:t>
            </a:r>
            <a:endParaRPr lang="en-US" sz="1120" dirty="0"/>
          </a:p>
        </p:txBody>
      </p:sp>
      <p:sp>
        <p:nvSpPr>
          <p:cNvPr id="15" name="Shape 12"/>
          <p:cNvSpPr/>
          <p:nvPr/>
        </p:nvSpPr>
        <p:spPr>
          <a:xfrm>
            <a:off x="621792" y="3145536"/>
            <a:ext cx="310896" cy="310896"/>
          </a:xfrm>
          <a:prstGeom prst="ellipse">
            <a:avLst/>
          </a:prstGeom>
          <a:solidFill>
            <a:srgbClr val="DBEAFE"/>
          </a:solidFill>
          <a:ln w="12700">
            <a:solidFill>
              <a:srgbClr val="93C5FD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621792" y="314553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563EB"/>
                </a:solidFill>
              </a:rPr>
              <a:t>3</a:t>
            </a:r>
            <a:endParaRPr lang="en-US" sz="850" dirty="0"/>
          </a:p>
        </p:txBody>
      </p:sp>
      <p:sp>
        <p:nvSpPr>
          <p:cNvPr id="17" name="Text 14"/>
          <p:cNvSpPr/>
          <p:nvPr/>
        </p:nvSpPr>
        <p:spPr>
          <a:xfrm>
            <a:off x="1097280" y="3099816"/>
            <a:ext cx="6153912" cy="438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0F172A"/>
                </a:solidFill>
              </a:rPr>
              <a:t>Total training hours are 34.5 and scaled cost is 4.8.</a:t>
            </a:r>
            <a:endParaRPr lang="en-US" sz="1120" dirty="0"/>
          </a:p>
        </p:txBody>
      </p:sp>
      <p:sp>
        <p:nvSpPr>
          <p:cNvPr id="18" name="Shape 15"/>
          <p:cNvSpPr/>
          <p:nvPr/>
        </p:nvSpPr>
        <p:spPr>
          <a:xfrm>
            <a:off x="7818120" y="1005840"/>
            <a:ext cx="3611880" cy="219456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8046720" y="1234440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Decision readiness</a:t>
            </a:r>
            <a:endParaRPr lang="en-US" sz="1300" dirty="0"/>
          </a:p>
        </p:txBody>
      </p:sp>
      <p:sp>
        <p:nvSpPr>
          <p:cNvPr id="20" name="Shape 17"/>
          <p:cNvSpPr/>
          <p:nvPr/>
        </p:nvSpPr>
        <p:spPr>
          <a:xfrm>
            <a:off x="8046720" y="1645920"/>
            <a:ext cx="114300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8083296" y="1645920"/>
            <a:ext cx="106984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Blocked</a:t>
            </a:r>
            <a:endParaRPr lang="en-US" sz="740" dirty="0"/>
          </a:p>
        </p:txBody>
      </p:sp>
      <p:sp>
        <p:nvSpPr>
          <p:cNvPr id="22" name="Text 19"/>
          <p:cNvSpPr/>
          <p:nvPr/>
        </p:nvSpPr>
        <p:spPr>
          <a:xfrm>
            <a:off x="8046720" y="2121408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</a:rPr>
              <a:t>Missing evidence: 1</a:t>
            </a:r>
            <a:endParaRPr lang="en-US" sz="1100" dirty="0"/>
          </a:p>
        </p:txBody>
      </p:sp>
      <p:sp>
        <p:nvSpPr>
          <p:cNvPr id="23" name="Text 20"/>
          <p:cNvSpPr/>
          <p:nvPr/>
        </p:nvSpPr>
        <p:spPr>
          <a:xfrm>
            <a:off x="8046720" y="2423160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</a:rPr>
              <a:t>Warnings: 1</a:t>
            </a:r>
            <a:endParaRPr lang="en-US" sz="1100" dirty="0"/>
          </a:p>
        </p:txBody>
      </p:sp>
      <p:sp>
        <p:nvSpPr>
          <p:cNvPr id="24" name="Text 21"/>
          <p:cNvSpPr/>
          <p:nvPr/>
        </p:nvSpPr>
        <p:spPr>
          <a:xfrm>
            <a:off x="8046720" y="2743200"/>
            <a:ext cx="306324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Final conclusion is blocked until required evidence is resolved.</a:t>
            </a:r>
            <a:endParaRPr lang="en-US" sz="950" dirty="0"/>
          </a:p>
        </p:txBody>
      </p:sp>
      <p:sp>
        <p:nvSpPr>
          <p:cNvPr id="25" name="Shape 22"/>
          <p:cNvSpPr/>
          <p:nvPr/>
        </p:nvSpPr>
        <p:spPr>
          <a:xfrm>
            <a:off x="594360" y="4160520"/>
            <a:ext cx="251460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758952" y="430682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ATTENDANCE</a:t>
            </a:r>
            <a:endParaRPr lang="en-US" sz="850" dirty="0"/>
          </a:p>
        </p:txBody>
      </p:sp>
      <p:sp>
        <p:nvSpPr>
          <p:cNvPr id="27" name="Text 24"/>
          <p:cNvSpPr/>
          <p:nvPr/>
        </p:nvSpPr>
        <p:spPr>
          <a:xfrm>
            <a:off x="758952" y="454456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47.9%</a:t>
            </a:r>
            <a:endParaRPr lang="en-US" sz="2100" dirty="0"/>
          </a:p>
        </p:txBody>
      </p:sp>
      <p:sp>
        <p:nvSpPr>
          <p:cNvPr id="28" name="Text 25"/>
          <p:cNvSpPr/>
          <p:nvPr/>
        </p:nvSpPr>
        <p:spPr>
          <a:xfrm>
            <a:off x="758952" y="494690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85%</a:t>
            </a:r>
            <a:endParaRPr lang="en-US" sz="850" dirty="0"/>
          </a:p>
        </p:txBody>
      </p:sp>
      <p:sp>
        <p:nvSpPr>
          <p:cNvPr id="29" name="Shape 26"/>
          <p:cNvSpPr/>
          <p:nvPr/>
        </p:nvSpPr>
        <p:spPr>
          <a:xfrm>
            <a:off x="2167128" y="494690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2203704" y="4946904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Risk</a:t>
            </a:r>
            <a:endParaRPr lang="en-US" sz="740" dirty="0"/>
          </a:p>
        </p:txBody>
      </p:sp>
      <p:sp>
        <p:nvSpPr>
          <p:cNvPr id="31" name="Shape 28"/>
          <p:cNvSpPr/>
          <p:nvPr/>
        </p:nvSpPr>
        <p:spPr>
          <a:xfrm>
            <a:off x="3383280" y="4160520"/>
            <a:ext cx="251460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3547872" y="430682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COMPLETION</a:t>
            </a:r>
            <a:endParaRPr lang="en-US" sz="850" dirty="0"/>
          </a:p>
        </p:txBody>
      </p:sp>
      <p:sp>
        <p:nvSpPr>
          <p:cNvPr id="33" name="Text 30"/>
          <p:cNvSpPr/>
          <p:nvPr/>
        </p:nvSpPr>
        <p:spPr>
          <a:xfrm>
            <a:off x="3547872" y="454456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0%</a:t>
            </a:r>
            <a:endParaRPr lang="en-US" sz="2100" dirty="0"/>
          </a:p>
        </p:txBody>
      </p:sp>
      <p:sp>
        <p:nvSpPr>
          <p:cNvPr id="34" name="Text 31"/>
          <p:cNvSpPr/>
          <p:nvPr/>
        </p:nvSpPr>
        <p:spPr>
          <a:xfrm>
            <a:off x="3547872" y="494690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90%</a:t>
            </a:r>
            <a:endParaRPr lang="en-US" sz="850" dirty="0"/>
          </a:p>
        </p:txBody>
      </p:sp>
      <p:sp>
        <p:nvSpPr>
          <p:cNvPr id="35" name="Shape 32"/>
          <p:cNvSpPr/>
          <p:nvPr/>
        </p:nvSpPr>
        <p:spPr>
          <a:xfrm>
            <a:off x="4956048" y="494690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36" name="Text 33"/>
          <p:cNvSpPr/>
          <p:nvPr/>
        </p:nvSpPr>
        <p:spPr>
          <a:xfrm>
            <a:off x="4992624" y="4946904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Risk</a:t>
            </a:r>
            <a:endParaRPr lang="en-US" sz="740" dirty="0"/>
          </a:p>
        </p:txBody>
      </p:sp>
      <p:sp>
        <p:nvSpPr>
          <p:cNvPr id="37" name="Shape 34"/>
          <p:cNvSpPr/>
          <p:nvPr/>
        </p:nvSpPr>
        <p:spPr>
          <a:xfrm>
            <a:off x="6172200" y="4160520"/>
            <a:ext cx="251460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8" name="Text 35"/>
          <p:cNvSpPr/>
          <p:nvPr/>
        </p:nvSpPr>
        <p:spPr>
          <a:xfrm>
            <a:off x="6336792" y="430682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PASS RATE</a:t>
            </a:r>
            <a:endParaRPr lang="en-US" sz="850" dirty="0"/>
          </a:p>
        </p:txBody>
      </p:sp>
      <p:sp>
        <p:nvSpPr>
          <p:cNvPr id="39" name="Text 36"/>
          <p:cNvSpPr/>
          <p:nvPr/>
        </p:nvSpPr>
        <p:spPr>
          <a:xfrm>
            <a:off x="6336792" y="454456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0%</a:t>
            </a:r>
            <a:endParaRPr lang="en-US" sz="2100" dirty="0"/>
          </a:p>
        </p:txBody>
      </p:sp>
      <p:sp>
        <p:nvSpPr>
          <p:cNvPr id="40" name="Text 37"/>
          <p:cNvSpPr/>
          <p:nvPr/>
        </p:nvSpPr>
        <p:spPr>
          <a:xfrm>
            <a:off x="6336792" y="494690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80%</a:t>
            </a:r>
            <a:endParaRPr lang="en-US" sz="850" dirty="0"/>
          </a:p>
        </p:txBody>
      </p:sp>
      <p:sp>
        <p:nvSpPr>
          <p:cNvPr id="41" name="Shape 38"/>
          <p:cNvSpPr/>
          <p:nvPr/>
        </p:nvSpPr>
        <p:spPr>
          <a:xfrm>
            <a:off x="7744968" y="494690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42" name="Text 39"/>
          <p:cNvSpPr/>
          <p:nvPr/>
        </p:nvSpPr>
        <p:spPr>
          <a:xfrm>
            <a:off x="7781544" y="4946904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Risk</a:t>
            </a:r>
            <a:endParaRPr lang="en-US" sz="740" dirty="0"/>
          </a:p>
        </p:txBody>
      </p:sp>
      <p:sp>
        <p:nvSpPr>
          <p:cNvPr id="43" name="Shape 40"/>
          <p:cNvSpPr/>
          <p:nvPr/>
        </p:nvSpPr>
        <p:spPr>
          <a:xfrm>
            <a:off x="8961120" y="4160520"/>
            <a:ext cx="251460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44" name="Text 41"/>
          <p:cNvSpPr/>
          <p:nvPr/>
        </p:nvSpPr>
        <p:spPr>
          <a:xfrm>
            <a:off x="9125712" y="430682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AVG SCORE</a:t>
            </a:r>
            <a:endParaRPr lang="en-US" sz="850" dirty="0"/>
          </a:p>
        </p:txBody>
      </p:sp>
      <p:sp>
        <p:nvSpPr>
          <p:cNvPr id="45" name="Text 42"/>
          <p:cNvSpPr/>
          <p:nvPr/>
        </p:nvSpPr>
        <p:spPr>
          <a:xfrm>
            <a:off x="9125712" y="454456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N/A/10</a:t>
            </a:r>
            <a:endParaRPr lang="en-US" sz="2100" dirty="0"/>
          </a:p>
        </p:txBody>
      </p:sp>
      <p:sp>
        <p:nvSpPr>
          <p:cNvPr id="46" name="Text 43"/>
          <p:cNvSpPr/>
          <p:nvPr/>
        </p:nvSpPr>
        <p:spPr>
          <a:xfrm>
            <a:off x="9125712" y="494690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Threshold 6.5</a:t>
            </a:r>
            <a:endParaRPr lang="en-US" sz="850" dirty="0"/>
          </a:p>
        </p:txBody>
      </p:sp>
      <p:sp>
        <p:nvSpPr>
          <p:cNvPr id="47" name="Shape 44"/>
          <p:cNvSpPr/>
          <p:nvPr/>
        </p:nvSpPr>
        <p:spPr>
          <a:xfrm>
            <a:off x="10533888" y="494690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8" name="Text 45"/>
          <p:cNvSpPr/>
          <p:nvPr/>
        </p:nvSpPr>
        <p:spPr>
          <a:xfrm>
            <a:off x="10570464" y="4946904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64748B"/>
                </a:solidFill>
              </a:rPr>
              <a:t>Tracked</a:t>
            </a:r>
            <a:endParaRPr lang="en-US" sz="74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Decision readiness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Course Leadership_06_2026 | Type full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Blocked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94360" y="1024128"/>
            <a:ext cx="3611880" cy="219456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1252728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Decision readiness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822960" y="1664208"/>
            <a:ext cx="114300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59536" y="1664208"/>
            <a:ext cx="106984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Blocked</a:t>
            </a:r>
            <a:endParaRPr lang="en-US" sz="740" dirty="0"/>
          </a:p>
        </p:txBody>
      </p:sp>
      <p:sp>
        <p:nvSpPr>
          <p:cNvPr id="11" name="Text 9"/>
          <p:cNvSpPr/>
          <p:nvPr/>
        </p:nvSpPr>
        <p:spPr>
          <a:xfrm>
            <a:off x="822960" y="2139696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</a:rPr>
              <a:t>Missing evidence: 1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822960" y="2441448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</a:rPr>
              <a:t>Warnings: 1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822960" y="2761488"/>
            <a:ext cx="306324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Final conclusion is blocked until required evidence is resolved.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4617720" y="1078992"/>
            <a:ext cx="658368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Final conclusion is blocked until required evidence is resolved.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4617720" y="1993392"/>
            <a:ext cx="29260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</a:rPr>
              <a:t>Validated gate checks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4617720" y="2423160"/>
            <a:ext cx="65836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745736" y="257860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782312" y="2578608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19" name="Text 17"/>
          <p:cNvSpPr/>
          <p:nvPr/>
        </p:nvSpPr>
        <p:spPr>
          <a:xfrm>
            <a:off x="5623560" y="2532888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Source availability and required columns</a:t>
            </a:r>
            <a:endParaRPr lang="en-US" sz="930" dirty="0"/>
          </a:p>
        </p:txBody>
      </p:sp>
      <p:sp>
        <p:nvSpPr>
          <p:cNvPr id="20" name="Text 18"/>
          <p:cNvSpPr/>
          <p:nvPr/>
        </p:nvSpPr>
        <p:spPr>
          <a:xfrm>
            <a:off x="7863840" y="2514600"/>
            <a:ext cx="30632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Required sheets and columns were mapped from Teams, OneDrive, Forms, KPI, Rules and Template sources.</a:t>
            </a:r>
            <a:endParaRPr lang="en-US" sz="860" dirty="0"/>
          </a:p>
        </p:txBody>
      </p:sp>
      <p:sp>
        <p:nvSpPr>
          <p:cNvPr id="21" name="Shape 19"/>
          <p:cNvSpPr/>
          <p:nvPr/>
        </p:nvSpPr>
        <p:spPr>
          <a:xfrm>
            <a:off x="4617720" y="3108960"/>
            <a:ext cx="65836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745736" y="326440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782312" y="3264408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Blocked</a:t>
            </a:r>
            <a:endParaRPr lang="en-US" sz="740" dirty="0"/>
          </a:p>
        </p:txBody>
      </p:sp>
      <p:sp>
        <p:nvSpPr>
          <p:cNvPr id="24" name="Text 22"/>
          <p:cNvSpPr/>
          <p:nvPr/>
        </p:nvSpPr>
        <p:spPr>
          <a:xfrm>
            <a:off x="5623560" y="3218688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Course status</a:t>
            </a:r>
            <a:endParaRPr lang="en-US" sz="930" dirty="0"/>
          </a:p>
        </p:txBody>
      </p:sp>
      <p:sp>
        <p:nvSpPr>
          <p:cNvPr id="25" name="Text 23"/>
          <p:cNvSpPr/>
          <p:nvPr/>
        </p:nvSpPr>
        <p:spPr>
          <a:xfrm>
            <a:off x="7863840" y="3200400"/>
            <a:ext cx="30632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1 selected course(s) are not completed.</a:t>
            </a:r>
            <a:endParaRPr lang="en-US" sz="860" dirty="0"/>
          </a:p>
        </p:txBody>
      </p:sp>
      <p:sp>
        <p:nvSpPr>
          <p:cNvPr id="26" name="Shape 24"/>
          <p:cNvSpPr/>
          <p:nvPr/>
        </p:nvSpPr>
        <p:spPr>
          <a:xfrm>
            <a:off x="4617720" y="3794760"/>
            <a:ext cx="65836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745736" y="395020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F3C7"/>
          </a:solidFill>
          <a:ln w="12700">
            <a:solidFill>
              <a:srgbClr val="FEF3C7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782312" y="3950208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45309"/>
                </a:solidFill>
              </a:rPr>
              <a:t>Warning</a:t>
            </a:r>
            <a:endParaRPr lang="en-US" sz="740" dirty="0"/>
          </a:p>
        </p:txBody>
      </p:sp>
      <p:sp>
        <p:nvSpPr>
          <p:cNvPr id="29" name="Text 27"/>
          <p:cNvSpPr/>
          <p:nvPr/>
        </p:nvSpPr>
        <p:spPr>
          <a:xfrm>
            <a:off x="5623560" y="3904488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Attendance completeness</a:t>
            </a:r>
            <a:endParaRPr lang="en-US" sz="930" dirty="0"/>
          </a:p>
        </p:txBody>
      </p:sp>
      <p:sp>
        <p:nvSpPr>
          <p:cNvPr id="30" name="Text 28"/>
          <p:cNvSpPr/>
          <p:nvPr/>
        </p:nvSpPr>
        <p:spPr>
          <a:xfrm>
            <a:off x="7863840" y="3886200"/>
            <a:ext cx="30632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Expected attendance rows are trainee count x total sessions. Late is retained for metrics as partial attendance.</a:t>
            </a:r>
            <a:endParaRPr lang="en-US" sz="860" dirty="0"/>
          </a:p>
        </p:txBody>
      </p:sp>
      <p:sp>
        <p:nvSpPr>
          <p:cNvPr id="31" name="Shape 29"/>
          <p:cNvSpPr/>
          <p:nvPr/>
        </p:nvSpPr>
        <p:spPr>
          <a:xfrm>
            <a:off x="4617720" y="4480560"/>
            <a:ext cx="65836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4745736" y="463600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782312" y="4636008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34" name="Text 32"/>
          <p:cNvSpPr/>
          <p:nvPr/>
        </p:nvSpPr>
        <p:spPr>
          <a:xfrm>
            <a:off x="5623560" y="4590288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Assessment completeness</a:t>
            </a:r>
            <a:endParaRPr lang="en-US" sz="930" dirty="0"/>
          </a:p>
        </p:txBody>
      </p:sp>
      <p:sp>
        <p:nvSpPr>
          <p:cNvPr id="35" name="Text 33"/>
          <p:cNvSpPr/>
          <p:nvPr/>
        </p:nvSpPr>
        <p:spPr>
          <a:xfrm>
            <a:off x="7863840" y="4572000"/>
            <a:ext cx="30632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Completed courses require one valid assessment and pass-status row per trainee.</a:t>
            </a:r>
            <a:endParaRPr lang="en-US" sz="860" dirty="0"/>
          </a:p>
        </p:txBody>
      </p:sp>
      <p:sp>
        <p:nvSpPr>
          <p:cNvPr id="36" name="Shape 34"/>
          <p:cNvSpPr/>
          <p:nvPr/>
        </p:nvSpPr>
        <p:spPr>
          <a:xfrm>
            <a:off x="4617720" y="5166360"/>
            <a:ext cx="65836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4745736" y="532180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782312" y="5321808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39" name="Text 37"/>
          <p:cNvSpPr/>
          <p:nvPr/>
        </p:nvSpPr>
        <p:spPr>
          <a:xfrm>
            <a:off x="5623560" y="5276088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Feedback completeness</a:t>
            </a:r>
            <a:endParaRPr lang="en-US" sz="930" dirty="0"/>
          </a:p>
        </p:txBody>
      </p:sp>
      <p:sp>
        <p:nvSpPr>
          <p:cNvPr id="40" name="Text 38"/>
          <p:cNvSpPr/>
          <p:nvPr/>
        </p:nvSpPr>
        <p:spPr>
          <a:xfrm>
            <a:off x="7863840" y="5257800"/>
            <a:ext cx="30632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NORM-14 requires at least 60% feedback response rate for valid analysis.</a:t>
            </a:r>
            <a:endParaRPr lang="en-US" sz="86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Performance scorecard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Course Leadership_06_2026 | Type full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Blocked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94360" y="105156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58952" y="119786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ATTENDANCE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758952" y="143560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47.9%</a:t>
            </a:r>
            <a:endParaRPr lang="en-US" sz="2100" dirty="0"/>
          </a:p>
        </p:txBody>
      </p:sp>
      <p:sp>
        <p:nvSpPr>
          <p:cNvPr id="10" name="Text 8"/>
          <p:cNvSpPr/>
          <p:nvPr/>
        </p:nvSpPr>
        <p:spPr>
          <a:xfrm>
            <a:off x="758952" y="183794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85%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2167128" y="211226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203704" y="2112264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Risk</a:t>
            </a:r>
            <a:endParaRPr lang="en-US" sz="740" dirty="0"/>
          </a:p>
        </p:txBody>
      </p:sp>
      <p:sp>
        <p:nvSpPr>
          <p:cNvPr id="13" name="Shape 11"/>
          <p:cNvSpPr/>
          <p:nvPr/>
        </p:nvSpPr>
        <p:spPr>
          <a:xfrm>
            <a:off x="3383280" y="105156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547872" y="119786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COMPLETION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3547872" y="143560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0%</a:t>
            </a:r>
            <a:endParaRPr lang="en-US" sz="2100" dirty="0"/>
          </a:p>
        </p:txBody>
      </p:sp>
      <p:sp>
        <p:nvSpPr>
          <p:cNvPr id="16" name="Text 14"/>
          <p:cNvSpPr/>
          <p:nvPr/>
        </p:nvSpPr>
        <p:spPr>
          <a:xfrm>
            <a:off x="3547872" y="183794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90%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4956048" y="211226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992624" y="2112264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Risk</a:t>
            </a:r>
            <a:endParaRPr lang="en-US" sz="740" dirty="0"/>
          </a:p>
        </p:txBody>
      </p:sp>
      <p:sp>
        <p:nvSpPr>
          <p:cNvPr id="19" name="Shape 17"/>
          <p:cNvSpPr/>
          <p:nvPr/>
        </p:nvSpPr>
        <p:spPr>
          <a:xfrm>
            <a:off x="6172200" y="105156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336792" y="119786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PASS RATE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6336792" y="143560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0%</a:t>
            </a:r>
            <a:endParaRPr lang="en-US" sz="2100" dirty="0"/>
          </a:p>
        </p:txBody>
      </p:sp>
      <p:sp>
        <p:nvSpPr>
          <p:cNvPr id="22" name="Text 20"/>
          <p:cNvSpPr/>
          <p:nvPr/>
        </p:nvSpPr>
        <p:spPr>
          <a:xfrm>
            <a:off x="6336792" y="183794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80%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7744968" y="211226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781544" y="2112264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Risk</a:t>
            </a:r>
            <a:endParaRPr lang="en-US" sz="740" dirty="0"/>
          </a:p>
        </p:txBody>
      </p:sp>
      <p:sp>
        <p:nvSpPr>
          <p:cNvPr id="25" name="Shape 23"/>
          <p:cNvSpPr/>
          <p:nvPr/>
        </p:nvSpPr>
        <p:spPr>
          <a:xfrm>
            <a:off x="8961120" y="105156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125712" y="119786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AVG SCORE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9125712" y="143560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N/A/10</a:t>
            </a:r>
            <a:endParaRPr lang="en-US" sz="2100" dirty="0"/>
          </a:p>
        </p:txBody>
      </p:sp>
      <p:sp>
        <p:nvSpPr>
          <p:cNvPr id="28" name="Text 26"/>
          <p:cNvSpPr/>
          <p:nvPr/>
        </p:nvSpPr>
        <p:spPr>
          <a:xfrm>
            <a:off x="9125712" y="183794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Threshold 6.5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10533888" y="211226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10570464" y="2112264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64748B"/>
                </a:solidFill>
              </a:rPr>
              <a:t>Tracked</a:t>
            </a:r>
            <a:endParaRPr lang="en-US" sz="740" dirty="0"/>
          </a:p>
        </p:txBody>
      </p:sp>
      <p:sp>
        <p:nvSpPr>
          <p:cNvPr id="31" name="Shape 29"/>
          <p:cNvSpPr/>
          <p:nvPr/>
        </p:nvSpPr>
        <p:spPr>
          <a:xfrm>
            <a:off x="594360" y="292608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58952" y="307238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SATISFACTION</a:t>
            </a: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758952" y="331012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4.8/5</a:t>
            </a:r>
            <a:endParaRPr lang="en-US" sz="2100" dirty="0"/>
          </a:p>
        </p:txBody>
      </p:sp>
      <p:sp>
        <p:nvSpPr>
          <p:cNvPr id="34" name="Text 32"/>
          <p:cNvSpPr/>
          <p:nvPr/>
        </p:nvSpPr>
        <p:spPr>
          <a:xfrm>
            <a:off x="758952" y="371246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4.0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2167128" y="398678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2203704" y="3986784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Good</a:t>
            </a:r>
            <a:endParaRPr lang="en-US" sz="740" dirty="0"/>
          </a:p>
        </p:txBody>
      </p:sp>
      <p:sp>
        <p:nvSpPr>
          <p:cNvPr id="37" name="Shape 35"/>
          <p:cNvSpPr/>
          <p:nvPr/>
        </p:nvSpPr>
        <p:spPr>
          <a:xfrm>
            <a:off x="3383280" y="292608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547872" y="307238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TRAINING HOURS</a:t>
            </a:r>
            <a:endParaRPr lang="en-US" sz="850" dirty="0"/>
          </a:p>
        </p:txBody>
      </p:sp>
      <p:sp>
        <p:nvSpPr>
          <p:cNvPr id="39" name="Text 37"/>
          <p:cNvSpPr/>
          <p:nvPr/>
        </p:nvSpPr>
        <p:spPr>
          <a:xfrm>
            <a:off x="3547872" y="331012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34.5</a:t>
            </a:r>
            <a:endParaRPr lang="en-US" sz="2100" dirty="0"/>
          </a:p>
        </p:txBody>
      </p:sp>
      <p:sp>
        <p:nvSpPr>
          <p:cNvPr id="40" name="Text 38"/>
          <p:cNvSpPr/>
          <p:nvPr/>
        </p:nvSpPr>
        <p:spPr>
          <a:xfrm>
            <a:off x="3547872" y="371246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Tracked</a:t>
            </a:r>
            <a:endParaRPr lang="en-US" sz="850" dirty="0"/>
          </a:p>
        </p:txBody>
      </p:sp>
      <p:sp>
        <p:nvSpPr>
          <p:cNvPr id="41" name="Shape 39"/>
          <p:cNvSpPr/>
          <p:nvPr/>
        </p:nvSpPr>
        <p:spPr>
          <a:xfrm>
            <a:off x="4956048" y="398678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992624" y="3986784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64748B"/>
                </a:solidFill>
              </a:rPr>
              <a:t>Tracked</a:t>
            </a:r>
            <a:endParaRPr lang="en-US" sz="740" dirty="0"/>
          </a:p>
        </p:txBody>
      </p:sp>
      <p:sp>
        <p:nvSpPr>
          <p:cNvPr id="43" name="Shape 41"/>
          <p:cNvSpPr/>
          <p:nvPr/>
        </p:nvSpPr>
        <p:spPr>
          <a:xfrm>
            <a:off x="6172200" y="292608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336792" y="307238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COST</a:t>
            </a:r>
            <a:endParaRPr lang="en-US" sz="850" dirty="0"/>
          </a:p>
        </p:txBody>
      </p:sp>
      <p:sp>
        <p:nvSpPr>
          <p:cNvPr id="45" name="Text 43"/>
          <p:cNvSpPr/>
          <p:nvPr/>
        </p:nvSpPr>
        <p:spPr>
          <a:xfrm>
            <a:off x="6336792" y="331012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4.8</a:t>
            </a:r>
            <a:endParaRPr lang="en-US" sz="2100" dirty="0"/>
          </a:p>
        </p:txBody>
      </p:sp>
      <p:sp>
        <p:nvSpPr>
          <p:cNvPr id="46" name="Text 44"/>
          <p:cNvSpPr/>
          <p:nvPr/>
        </p:nvSpPr>
        <p:spPr>
          <a:xfrm>
            <a:off x="6336792" y="371246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Scaled cost</a:t>
            </a:r>
            <a:endParaRPr lang="en-US" sz="850" dirty="0"/>
          </a:p>
        </p:txBody>
      </p:sp>
      <p:sp>
        <p:nvSpPr>
          <p:cNvPr id="47" name="Shape 45"/>
          <p:cNvSpPr/>
          <p:nvPr/>
        </p:nvSpPr>
        <p:spPr>
          <a:xfrm>
            <a:off x="7744968" y="398678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7781544" y="3986784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64748B"/>
                </a:solidFill>
              </a:rPr>
              <a:t>Tracked</a:t>
            </a:r>
            <a:endParaRPr lang="en-US" sz="740" dirty="0"/>
          </a:p>
        </p:txBody>
      </p:sp>
      <p:sp>
        <p:nvSpPr>
          <p:cNvPr id="49" name="Shape 47"/>
          <p:cNvSpPr/>
          <p:nvPr/>
        </p:nvSpPr>
        <p:spPr>
          <a:xfrm>
            <a:off x="8961120" y="292608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9125712" y="307238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ROI PROXY</a:t>
            </a:r>
            <a:endParaRPr lang="en-US" sz="850" dirty="0"/>
          </a:p>
        </p:txBody>
      </p:sp>
      <p:sp>
        <p:nvSpPr>
          <p:cNvPr id="51" name="Text 49"/>
          <p:cNvSpPr/>
          <p:nvPr/>
        </p:nvSpPr>
        <p:spPr>
          <a:xfrm>
            <a:off x="9125712" y="331012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N/A</a:t>
            </a:r>
            <a:endParaRPr lang="en-US" sz="2100" dirty="0"/>
          </a:p>
        </p:txBody>
      </p:sp>
      <p:sp>
        <p:nvSpPr>
          <p:cNvPr id="52" name="Text 50"/>
          <p:cNvSpPr/>
          <p:nvPr/>
        </p:nvSpPr>
        <p:spPr>
          <a:xfrm>
            <a:off x="9125712" y="371246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Relative KPI</a:t>
            </a:r>
            <a:endParaRPr lang="en-US" sz="850" dirty="0"/>
          </a:p>
        </p:txBody>
      </p:sp>
      <p:sp>
        <p:nvSpPr>
          <p:cNvPr id="53" name="Shape 51"/>
          <p:cNvSpPr/>
          <p:nvPr/>
        </p:nvSpPr>
        <p:spPr>
          <a:xfrm>
            <a:off x="10533888" y="398678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10570464" y="3986784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64748B"/>
                </a:solidFill>
              </a:rPr>
              <a:t>Tracked</a:t>
            </a:r>
            <a:endParaRPr lang="en-US" sz="740" dirty="0"/>
          </a:p>
        </p:txBody>
      </p:sp>
      <p:sp>
        <p:nvSpPr>
          <p:cNvPr id="55" name="Text 53"/>
          <p:cNvSpPr/>
          <p:nvPr/>
        </p:nvSpPr>
        <p:spPr>
          <a:xfrm>
            <a:off x="594360" y="5989320"/>
            <a:ext cx="9875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Completion is attendance-based (&gt;= 70%) and is intentionally separate from pass rate.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Visual analytics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Course Leadership_06_2026 | Type full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Blocked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94360" y="1051560"/>
            <a:ext cx="5440680" cy="4892040"/>
          </a:xfrm>
          <a:prstGeom prst="roundRect">
            <a:avLst>
              <a:gd name="adj" fmla="val 1495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95528" y="1234440"/>
            <a:ext cx="5038344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0F172A"/>
                </a:solidFill>
              </a:rPr>
              <a:t>Overall KPI vs target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795528" y="1527048"/>
            <a:ext cx="5038344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64748B"/>
                </a:solidFill>
              </a:rPr>
              <a:t>Validated performance metrics compared with L&amp;D operating thresholds.</a:t>
            </a:r>
            <a:endParaRPr lang="en-US" sz="780" dirty="0"/>
          </a:p>
        </p:txBody>
      </p:sp>
      <p:sp>
        <p:nvSpPr>
          <p:cNvPr id="10" name="Text 8"/>
          <p:cNvSpPr/>
          <p:nvPr/>
        </p:nvSpPr>
        <p:spPr>
          <a:xfrm>
            <a:off x="795528" y="1920240"/>
            <a:ext cx="15087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0F172A"/>
                </a:solidFill>
              </a:rPr>
              <a:t>Attendance</a:t>
            </a:r>
            <a:endParaRPr lang="en-US" sz="780" dirty="0"/>
          </a:p>
        </p:txBody>
      </p:sp>
      <p:sp>
        <p:nvSpPr>
          <p:cNvPr id="11" name="Shape 9"/>
          <p:cNvSpPr/>
          <p:nvPr/>
        </p:nvSpPr>
        <p:spPr>
          <a:xfrm>
            <a:off x="2395728" y="2066544"/>
            <a:ext cx="259689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395728" y="2066544"/>
            <a:ext cx="1243913" cy="201168"/>
          </a:xfrm>
          <a:prstGeom prst="rect">
            <a:avLst/>
          </a:prstGeom>
          <a:solidFill>
            <a:srgbClr val="B91C1C"/>
          </a:solidFill>
          <a:ln w="12700">
            <a:solidFill>
              <a:srgbClr val="B91C1C">
                <a:alpha val="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603090" y="2020824"/>
            <a:ext cx="0" cy="292608"/>
          </a:xfrm>
          <a:prstGeom prst="line">
            <a:avLst/>
          </a:prstGeom>
          <a:noFill/>
          <a:ln w="12700">
            <a:solidFill>
              <a:srgbClr val="0B1220">
                <a:alpha val="80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65776" y="1911096"/>
            <a:ext cx="7498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00" b="1" dirty="0">
                <a:solidFill>
                  <a:srgbClr val="0F172A"/>
                </a:solidFill>
              </a:rPr>
              <a:t>47.9%</a:t>
            </a:r>
            <a:endParaRPr lang="en-US" sz="700" dirty="0"/>
          </a:p>
        </p:txBody>
      </p:sp>
      <p:sp>
        <p:nvSpPr>
          <p:cNvPr id="15" name="Text 13"/>
          <p:cNvSpPr/>
          <p:nvPr/>
        </p:nvSpPr>
        <p:spPr>
          <a:xfrm>
            <a:off x="795528" y="2868930"/>
            <a:ext cx="15087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0F172A"/>
                </a:solidFill>
              </a:rPr>
              <a:t>Completion</a:t>
            </a:r>
            <a:endParaRPr lang="en-US" sz="780" dirty="0"/>
          </a:p>
        </p:txBody>
      </p:sp>
      <p:sp>
        <p:nvSpPr>
          <p:cNvPr id="16" name="Shape 14"/>
          <p:cNvSpPr/>
          <p:nvPr/>
        </p:nvSpPr>
        <p:spPr>
          <a:xfrm>
            <a:off x="2395728" y="3015234"/>
            <a:ext cx="259689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395728" y="3015234"/>
            <a:ext cx="27432" cy="201168"/>
          </a:xfrm>
          <a:prstGeom prst="rect">
            <a:avLst/>
          </a:prstGeom>
          <a:solidFill>
            <a:srgbClr val="B91C1C"/>
          </a:solidFill>
          <a:ln w="12700">
            <a:solidFill>
              <a:srgbClr val="B91C1C">
                <a:alpha val="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732934" y="2969514"/>
            <a:ext cx="0" cy="292608"/>
          </a:xfrm>
          <a:prstGeom prst="line">
            <a:avLst/>
          </a:prstGeom>
          <a:noFill/>
          <a:ln w="12700">
            <a:solidFill>
              <a:srgbClr val="0B1220">
                <a:alpha val="8000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065776" y="2859786"/>
            <a:ext cx="7498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00" b="1" dirty="0">
                <a:solidFill>
                  <a:srgbClr val="0F172A"/>
                </a:solidFill>
              </a:rPr>
              <a:t>0%</a:t>
            </a:r>
            <a:endParaRPr lang="en-US" sz="700" dirty="0"/>
          </a:p>
        </p:txBody>
      </p:sp>
      <p:sp>
        <p:nvSpPr>
          <p:cNvPr id="20" name="Text 18"/>
          <p:cNvSpPr/>
          <p:nvPr/>
        </p:nvSpPr>
        <p:spPr>
          <a:xfrm>
            <a:off x="795528" y="3817620"/>
            <a:ext cx="15087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0F172A"/>
                </a:solidFill>
              </a:rPr>
              <a:t>Pass rate</a:t>
            </a:r>
            <a:endParaRPr lang="en-US" sz="780" dirty="0"/>
          </a:p>
        </p:txBody>
      </p:sp>
      <p:sp>
        <p:nvSpPr>
          <p:cNvPr id="21" name="Shape 19"/>
          <p:cNvSpPr/>
          <p:nvPr/>
        </p:nvSpPr>
        <p:spPr>
          <a:xfrm>
            <a:off x="2395728" y="3963924"/>
            <a:ext cx="259689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395728" y="3963924"/>
            <a:ext cx="27432" cy="201168"/>
          </a:xfrm>
          <a:prstGeom prst="rect">
            <a:avLst/>
          </a:prstGeom>
          <a:solidFill>
            <a:srgbClr val="B91C1C"/>
          </a:solidFill>
          <a:ln w="12700">
            <a:solidFill>
              <a:srgbClr val="B91C1C">
                <a:alpha val="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473245" y="3918204"/>
            <a:ext cx="0" cy="292608"/>
          </a:xfrm>
          <a:prstGeom prst="line">
            <a:avLst/>
          </a:prstGeom>
          <a:noFill/>
          <a:ln w="12700">
            <a:solidFill>
              <a:srgbClr val="0B1220">
                <a:alpha val="8000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065776" y="3808476"/>
            <a:ext cx="7498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00" b="1" dirty="0">
                <a:solidFill>
                  <a:srgbClr val="0F172A"/>
                </a:solidFill>
              </a:rPr>
              <a:t>0%</a:t>
            </a:r>
            <a:endParaRPr lang="en-US" sz="700" dirty="0"/>
          </a:p>
        </p:txBody>
      </p:sp>
      <p:sp>
        <p:nvSpPr>
          <p:cNvPr id="25" name="Text 23"/>
          <p:cNvSpPr/>
          <p:nvPr/>
        </p:nvSpPr>
        <p:spPr>
          <a:xfrm>
            <a:off x="795528" y="4766310"/>
            <a:ext cx="15087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0F172A"/>
                </a:solidFill>
              </a:rPr>
              <a:t>Effectiveness</a:t>
            </a:r>
            <a:endParaRPr lang="en-US" sz="780" dirty="0"/>
          </a:p>
        </p:txBody>
      </p:sp>
      <p:sp>
        <p:nvSpPr>
          <p:cNvPr id="26" name="Shape 24"/>
          <p:cNvSpPr/>
          <p:nvPr/>
        </p:nvSpPr>
        <p:spPr>
          <a:xfrm>
            <a:off x="2395728" y="4912614"/>
            <a:ext cx="259689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2395728" y="4912614"/>
            <a:ext cx="664286" cy="201168"/>
          </a:xfrm>
          <a:prstGeom prst="rect">
            <a:avLst/>
          </a:prstGeom>
          <a:solidFill>
            <a:srgbClr val="B91C1C"/>
          </a:solidFill>
          <a:ln w="12700">
            <a:solidFill>
              <a:srgbClr val="B91C1C">
                <a:alpha val="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603090" y="4866894"/>
            <a:ext cx="0" cy="292608"/>
          </a:xfrm>
          <a:prstGeom prst="line">
            <a:avLst/>
          </a:prstGeom>
          <a:noFill/>
          <a:ln w="12700">
            <a:solidFill>
              <a:srgbClr val="0B1220">
                <a:alpha val="80000"/>
              </a:srgbClr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065776" y="4757166"/>
            <a:ext cx="7498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00" b="1" dirty="0">
                <a:solidFill>
                  <a:srgbClr val="0F172A"/>
                </a:solidFill>
              </a:rPr>
              <a:t>25.6/100</a:t>
            </a:r>
            <a:endParaRPr lang="en-US" sz="700" dirty="0"/>
          </a:p>
        </p:txBody>
      </p:sp>
      <p:sp>
        <p:nvSpPr>
          <p:cNvPr id="30" name="Shape 28"/>
          <p:cNvSpPr/>
          <p:nvPr/>
        </p:nvSpPr>
        <p:spPr>
          <a:xfrm>
            <a:off x="6309360" y="1051560"/>
            <a:ext cx="5257800" cy="4892040"/>
          </a:xfrm>
          <a:prstGeom prst="roundRect">
            <a:avLst>
              <a:gd name="adj" fmla="val 1495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510528" y="1234440"/>
            <a:ext cx="4855464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0F172A"/>
                </a:solidFill>
              </a:rPr>
              <a:t>Governance flags by priority</a:t>
            </a:r>
            <a:endParaRPr lang="en-US" sz="1250" dirty="0"/>
          </a:p>
        </p:txBody>
      </p:sp>
      <p:sp>
        <p:nvSpPr>
          <p:cNvPr id="32" name="Text 30"/>
          <p:cNvSpPr/>
          <p:nvPr/>
        </p:nvSpPr>
        <p:spPr>
          <a:xfrm>
            <a:off x="6510528" y="1527048"/>
            <a:ext cx="4855464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64748B"/>
                </a:solidFill>
              </a:rPr>
              <a:t>NORM rule triggers grouped by business priority.</a:t>
            </a:r>
            <a:endParaRPr lang="en-US" sz="780" dirty="0"/>
          </a:p>
        </p:txBody>
      </p:sp>
      <p:graphicFrame>
        <p:nvGraphicFramePr>
          <p:cNvPr id="33" name="Chart 0" descr=""/>
          <p:cNvGraphicFramePr/>
          <p:nvPr/>
        </p:nvGraphicFramePr>
        <p:xfrm>
          <a:off x="6537960" y="1920240"/>
          <a:ext cx="2784348" cy="37490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34" name="Text 31"/>
          <p:cNvSpPr/>
          <p:nvPr/>
        </p:nvSpPr>
        <p:spPr>
          <a:xfrm>
            <a:off x="7345421" y="3372307"/>
            <a:ext cx="116942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11</a:t>
            </a:r>
            <a:endParaRPr lang="en-US" sz="2200" dirty="0"/>
          </a:p>
        </p:txBody>
      </p:sp>
      <p:sp>
        <p:nvSpPr>
          <p:cNvPr id="35" name="Text 32"/>
          <p:cNvSpPr/>
          <p:nvPr/>
        </p:nvSpPr>
        <p:spPr>
          <a:xfrm>
            <a:off x="7234047" y="3871570"/>
            <a:ext cx="139217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total flags</a:t>
            </a:r>
            <a:endParaRPr lang="en-US" sz="800" dirty="0"/>
          </a:p>
        </p:txBody>
      </p:sp>
      <p:sp>
        <p:nvSpPr>
          <p:cNvPr id="36" name="Shape 33"/>
          <p:cNvSpPr/>
          <p:nvPr/>
        </p:nvSpPr>
        <p:spPr>
          <a:xfrm>
            <a:off x="9486900" y="2286000"/>
            <a:ext cx="109728" cy="109728"/>
          </a:xfrm>
          <a:prstGeom prst="rect">
            <a:avLst/>
          </a:prstGeom>
          <a:solidFill>
            <a:srgbClr val="B91C1C"/>
          </a:solidFill>
          <a:ln w="12700">
            <a:solidFill>
              <a:srgbClr val="B91C1C">
                <a:alpha val="0"/>
              </a:srgbClr>
            </a:solidFill>
            <a:prstDash val="solid"/>
          </a:ln>
        </p:spPr>
      </p:sp>
      <p:sp>
        <p:nvSpPr>
          <p:cNvPr id="37" name="Text 34"/>
          <p:cNvSpPr/>
          <p:nvPr/>
        </p:nvSpPr>
        <p:spPr>
          <a:xfrm>
            <a:off x="9669780" y="2258568"/>
            <a:ext cx="99212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</a:rPr>
              <a:t>High</a:t>
            </a:r>
            <a:endParaRPr lang="en-US" sz="900" dirty="0"/>
          </a:p>
        </p:txBody>
      </p:sp>
      <p:sp>
        <p:nvSpPr>
          <p:cNvPr id="38" name="Text 35"/>
          <p:cNvSpPr/>
          <p:nvPr/>
        </p:nvSpPr>
        <p:spPr>
          <a:xfrm>
            <a:off x="10643616" y="2258568"/>
            <a:ext cx="6583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10 (91%)</a:t>
            </a:r>
            <a:endParaRPr lang="en-US" sz="800" dirty="0"/>
          </a:p>
        </p:txBody>
      </p:sp>
      <p:sp>
        <p:nvSpPr>
          <p:cNvPr id="39" name="Shape 36"/>
          <p:cNvSpPr/>
          <p:nvPr/>
        </p:nvSpPr>
        <p:spPr>
          <a:xfrm>
            <a:off x="9486900" y="2779776"/>
            <a:ext cx="109728" cy="109728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>
                <a:alpha val="0"/>
              </a:srgbClr>
            </a:solidFill>
            <a:prstDash val="solid"/>
          </a:ln>
        </p:spPr>
      </p:sp>
      <p:sp>
        <p:nvSpPr>
          <p:cNvPr id="40" name="Text 37"/>
          <p:cNvSpPr/>
          <p:nvPr/>
        </p:nvSpPr>
        <p:spPr>
          <a:xfrm>
            <a:off x="9669780" y="2752344"/>
            <a:ext cx="99212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</a:rPr>
              <a:t>Medium</a:t>
            </a:r>
            <a:endParaRPr lang="en-US" sz="900" dirty="0"/>
          </a:p>
        </p:txBody>
      </p:sp>
      <p:sp>
        <p:nvSpPr>
          <p:cNvPr id="41" name="Text 38"/>
          <p:cNvSpPr/>
          <p:nvPr/>
        </p:nvSpPr>
        <p:spPr>
          <a:xfrm>
            <a:off x="10643616" y="2752344"/>
            <a:ext cx="6583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1 (9%)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Course performance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Course Leadership_06_2026 | Type full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Blocked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8" name="Text 5"/>
          <p:cNvSpPr/>
          <p:nvPr/>
        </p:nvSpPr>
        <p:spPr>
          <a:xfrm>
            <a:off x="621792" y="1024128"/>
            <a:ext cx="2926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563EB"/>
                </a:solidFill>
              </a:rPr>
              <a:t>Course performance profile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621792" y="1298448"/>
            <a:ext cx="6629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Technical Leadership &amp; Communication</a:t>
            </a:r>
            <a:endParaRPr lang="en-US" sz="2100" dirty="0"/>
          </a:p>
        </p:txBody>
      </p:sp>
      <p:sp>
        <p:nvSpPr>
          <p:cNvPr id="10" name="Text 7"/>
          <p:cNvSpPr/>
          <p:nvPr/>
        </p:nvSpPr>
        <p:spPr>
          <a:xfrm>
            <a:off x="658368" y="2084832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Attendance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1773936" y="2112264"/>
            <a:ext cx="4626864" cy="164592"/>
          </a:xfrm>
          <a:prstGeom prst="roundRect">
            <a:avLst>
              <a:gd name="adj" fmla="val 22222"/>
            </a:avLst>
          </a:prstGeom>
          <a:solidFill>
            <a:srgbClr val="E2E8F0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1773936" y="2112264"/>
            <a:ext cx="2216268" cy="164592"/>
          </a:xfrm>
          <a:prstGeom prst="roundRect">
            <a:avLst>
              <a:gd name="adj" fmla="val 22222"/>
            </a:avLst>
          </a:prstGeom>
          <a:solidFill>
            <a:srgbClr val="B91C1C"/>
          </a:solidFill>
          <a:ln w="12700">
            <a:solidFill>
              <a:srgbClr val="B91C1C">
                <a:alpha val="0"/>
              </a:srgbClr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5706770" y="2075688"/>
            <a:ext cx="0" cy="256032"/>
          </a:xfrm>
          <a:prstGeom prst="line">
            <a:avLst/>
          </a:prstGeom>
          <a:noFill/>
          <a:ln w="12700">
            <a:solidFill>
              <a:srgbClr val="0B1220">
                <a:alpha val="85000"/>
              </a:srgbClr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6492240" y="2084832"/>
            <a:ext cx="5669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B91C1C"/>
                </a:solidFill>
              </a:rPr>
              <a:t>47.9%</a:t>
            </a:r>
            <a:endParaRPr lang="en-US" sz="900" dirty="0"/>
          </a:p>
        </p:txBody>
      </p:sp>
      <p:sp>
        <p:nvSpPr>
          <p:cNvPr id="15" name="Text 12"/>
          <p:cNvSpPr/>
          <p:nvPr/>
        </p:nvSpPr>
        <p:spPr>
          <a:xfrm>
            <a:off x="1773936" y="2377440"/>
            <a:ext cx="462686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64748B"/>
                </a:solidFill>
              </a:rPr>
              <a:t>Target 85%</a:t>
            </a:r>
            <a:endParaRPr lang="en-US" sz="700" dirty="0"/>
          </a:p>
        </p:txBody>
      </p:sp>
      <p:sp>
        <p:nvSpPr>
          <p:cNvPr id="16" name="Text 13"/>
          <p:cNvSpPr/>
          <p:nvPr/>
        </p:nvSpPr>
        <p:spPr>
          <a:xfrm>
            <a:off x="658368" y="2871216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Completion</a:t>
            </a:r>
            <a:endParaRPr lang="en-US" sz="1000" dirty="0"/>
          </a:p>
        </p:txBody>
      </p:sp>
      <p:sp>
        <p:nvSpPr>
          <p:cNvPr id="17" name="Shape 14"/>
          <p:cNvSpPr/>
          <p:nvPr/>
        </p:nvSpPr>
        <p:spPr>
          <a:xfrm>
            <a:off x="1773936" y="2898648"/>
            <a:ext cx="4626864" cy="164592"/>
          </a:xfrm>
          <a:prstGeom prst="roundRect">
            <a:avLst>
              <a:gd name="adj" fmla="val 22222"/>
            </a:avLst>
          </a:prstGeom>
          <a:solidFill>
            <a:srgbClr val="E2E8F0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1773936" y="2898648"/>
            <a:ext cx="36576" cy="164592"/>
          </a:xfrm>
          <a:prstGeom prst="roundRect">
            <a:avLst>
              <a:gd name="adj" fmla="val 100000"/>
            </a:avLst>
          </a:prstGeom>
          <a:solidFill>
            <a:srgbClr val="B91C1C"/>
          </a:solidFill>
          <a:ln w="12700">
            <a:solidFill>
              <a:srgbClr val="B91C1C">
                <a:alpha val="0"/>
              </a:srgbClr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5938114" y="2862072"/>
            <a:ext cx="0" cy="256032"/>
          </a:xfrm>
          <a:prstGeom prst="line">
            <a:avLst/>
          </a:prstGeom>
          <a:noFill/>
          <a:ln w="12700">
            <a:solidFill>
              <a:srgbClr val="0B1220">
                <a:alpha val="85000"/>
              </a:srgbClr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6492240" y="2871216"/>
            <a:ext cx="5669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B91C1C"/>
                </a:solidFill>
              </a:rPr>
              <a:t>0%</a:t>
            </a:r>
            <a:endParaRPr lang="en-US" sz="900" dirty="0"/>
          </a:p>
        </p:txBody>
      </p:sp>
      <p:sp>
        <p:nvSpPr>
          <p:cNvPr id="21" name="Text 18"/>
          <p:cNvSpPr/>
          <p:nvPr/>
        </p:nvSpPr>
        <p:spPr>
          <a:xfrm>
            <a:off x="1773936" y="3163824"/>
            <a:ext cx="462686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64748B"/>
                </a:solidFill>
              </a:rPr>
              <a:t>Target 90%</a:t>
            </a:r>
            <a:endParaRPr lang="en-US" sz="700" dirty="0"/>
          </a:p>
        </p:txBody>
      </p:sp>
      <p:sp>
        <p:nvSpPr>
          <p:cNvPr id="22" name="Text 19"/>
          <p:cNvSpPr/>
          <p:nvPr/>
        </p:nvSpPr>
        <p:spPr>
          <a:xfrm>
            <a:off x="658368" y="3657600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Pass rate</a:t>
            </a:r>
            <a:endParaRPr lang="en-US" sz="1000" dirty="0"/>
          </a:p>
        </p:txBody>
      </p:sp>
      <p:sp>
        <p:nvSpPr>
          <p:cNvPr id="23" name="Shape 20"/>
          <p:cNvSpPr/>
          <p:nvPr/>
        </p:nvSpPr>
        <p:spPr>
          <a:xfrm>
            <a:off x="1773936" y="3685032"/>
            <a:ext cx="4626864" cy="164592"/>
          </a:xfrm>
          <a:prstGeom prst="roundRect">
            <a:avLst>
              <a:gd name="adj" fmla="val 22222"/>
            </a:avLst>
          </a:prstGeom>
          <a:solidFill>
            <a:srgbClr val="E2E8F0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1773936" y="3685032"/>
            <a:ext cx="36576" cy="164592"/>
          </a:xfrm>
          <a:prstGeom prst="roundRect">
            <a:avLst>
              <a:gd name="adj" fmla="val 100000"/>
            </a:avLst>
          </a:prstGeom>
          <a:solidFill>
            <a:srgbClr val="B91C1C"/>
          </a:solidFill>
          <a:ln w="12700">
            <a:solidFill>
              <a:srgbClr val="B91C1C">
                <a:alpha val="0"/>
              </a:srgbClr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>
            <a:off x="5475427" y="3648456"/>
            <a:ext cx="0" cy="256032"/>
          </a:xfrm>
          <a:prstGeom prst="line">
            <a:avLst/>
          </a:prstGeom>
          <a:noFill/>
          <a:ln w="12700">
            <a:solidFill>
              <a:srgbClr val="0B1220">
                <a:alpha val="85000"/>
              </a:srgbClr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6492240" y="3657600"/>
            <a:ext cx="5669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B91C1C"/>
                </a:solidFill>
              </a:rPr>
              <a:t>0%</a:t>
            </a:r>
            <a:endParaRPr lang="en-US" sz="900" dirty="0"/>
          </a:p>
        </p:txBody>
      </p:sp>
      <p:sp>
        <p:nvSpPr>
          <p:cNvPr id="27" name="Text 24"/>
          <p:cNvSpPr/>
          <p:nvPr/>
        </p:nvSpPr>
        <p:spPr>
          <a:xfrm>
            <a:off x="1773936" y="3950208"/>
            <a:ext cx="462686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64748B"/>
                </a:solidFill>
              </a:rPr>
              <a:t>Target 80%</a:t>
            </a:r>
            <a:endParaRPr lang="en-US" sz="700" dirty="0"/>
          </a:p>
        </p:txBody>
      </p:sp>
      <p:sp>
        <p:nvSpPr>
          <p:cNvPr id="28" name="Shape 25"/>
          <p:cNvSpPr/>
          <p:nvPr/>
        </p:nvSpPr>
        <p:spPr>
          <a:xfrm>
            <a:off x="7635240" y="1170432"/>
            <a:ext cx="3840480" cy="3611880"/>
          </a:xfrm>
          <a:prstGeom prst="roundRect">
            <a:avLst>
              <a:gd name="adj" fmla="val 2025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7936992" y="1481328"/>
            <a:ext cx="3246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64748B"/>
                </a:solidFill>
              </a:rPr>
              <a:t>EFFECTIVENESS</a:t>
            </a:r>
            <a:endParaRPr lang="en-US" sz="900" dirty="0"/>
          </a:p>
        </p:txBody>
      </p:sp>
      <p:sp>
        <p:nvSpPr>
          <p:cNvPr id="30" name="Shape 27"/>
          <p:cNvSpPr/>
          <p:nvPr/>
        </p:nvSpPr>
        <p:spPr>
          <a:xfrm>
            <a:off x="8549640" y="1828800"/>
            <a:ext cx="2011680" cy="2011680"/>
          </a:xfrm>
          <a:prstGeom prst="ellipse">
            <a:avLst/>
          </a:prstGeom>
          <a:solidFill>
            <a:srgbClr val="B91C1C"/>
          </a:solidFill>
          <a:ln w="12700">
            <a:solidFill>
              <a:srgbClr val="B91C1C">
                <a:alpha val="0"/>
              </a:srgbClr>
            </a:solidFill>
            <a:prstDash val="solid"/>
          </a:ln>
        </p:spPr>
      </p:sp>
      <p:sp>
        <p:nvSpPr>
          <p:cNvPr id="31" name="Shape 28"/>
          <p:cNvSpPr/>
          <p:nvPr/>
        </p:nvSpPr>
        <p:spPr>
          <a:xfrm>
            <a:off x="8897112" y="2176272"/>
            <a:ext cx="1316736" cy="131673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8897112" y="2505456"/>
            <a:ext cx="13167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B91C1C"/>
                </a:solidFill>
              </a:rPr>
              <a:t>25.58</a:t>
            </a:r>
            <a:endParaRPr lang="en-US" sz="2200" dirty="0"/>
          </a:p>
        </p:txBody>
      </p:sp>
      <p:sp>
        <p:nvSpPr>
          <p:cNvPr id="33" name="Text 30"/>
          <p:cNvSpPr/>
          <p:nvPr/>
        </p:nvSpPr>
        <p:spPr>
          <a:xfrm>
            <a:off x="9025128" y="2898648"/>
            <a:ext cx="1051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/ 100</a:t>
            </a:r>
            <a:endParaRPr lang="en-US" sz="800" dirty="0"/>
          </a:p>
        </p:txBody>
      </p:sp>
      <p:sp>
        <p:nvSpPr>
          <p:cNvPr id="34" name="Text 31"/>
          <p:cNvSpPr/>
          <p:nvPr/>
        </p:nvSpPr>
        <p:spPr>
          <a:xfrm>
            <a:off x="7973568" y="4096512"/>
            <a:ext cx="14173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64748B"/>
                </a:solidFill>
              </a:rPr>
              <a:t>LEARNERS</a:t>
            </a:r>
            <a:endParaRPr lang="en-US" sz="750" dirty="0"/>
          </a:p>
        </p:txBody>
      </p:sp>
      <p:sp>
        <p:nvSpPr>
          <p:cNvPr id="35" name="Text 32"/>
          <p:cNvSpPr/>
          <p:nvPr/>
        </p:nvSpPr>
        <p:spPr>
          <a:xfrm>
            <a:off x="7973568" y="4279392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F172A"/>
                </a:solidFill>
              </a:rPr>
              <a:t>8</a:t>
            </a:r>
            <a:endParaRPr lang="en-US" sz="1500" dirty="0"/>
          </a:p>
        </p:txBody>
      </p:sp>
      <p:sp>
        <p:nvSpPr>
          <p:cNvPr id="36" name="Text 33"/>
          <p:cNvSpPr/>
          <p:nvPr/>
        </p:nvSpPr>
        <p:spPr>
          <a:xfrm>
            <a:off x="9619488" y="4096512"/>
            <a:ext cx="14173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64748B"/>
                </a:solidFill>
              </a:rPr>
              <a:t>AVG SCORE</a:t>
            </a:r>
            <a:endParaRPr lang="en-US" sz="750" dirty="0"/>
          </a:p>
        </p:txBody>
      </p:sp>
      <p:sp>
        <p:nvSpPr>
          <p:cNvPr id="37" name="Text 34"/>
          <p:cNvSpPr/>
          <p:nvPr/>
        </p:nvSpPr>
        <p:spPr>
          <a:xfrm>
            <a:off x="9619488" y="4279392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F172A"/>
                </a:solidFill>
              </a:rPr>
              <a:t>N/A/10</a:t>
            </a:r>
            <a:endParaRPr lang="en-US" sz="1500" dirty="0"/>
          </a:p>
        </p:txBody>
      </p:sp>
      <p:sp>
        <p:nvSpPr>
          <p:cNvPr id="38" name="Text 35"/>
          <p:cNvSpPr/>
          <p:nvPr/>
        </p:nvSpPr>
        <p:spPr>
          <a:xfrm>
            <a:off x="621792" y="4919472"/>
            <a:ext cx="3108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What leaders should notice</a:t>
            </a:r>
            <a:endParaRPr lang="en-US" sz="1300" dirty="0"/>
          </a:p>
        </p:txBody>
      </p:sp>
      <p:sp>
        <p:nvSpPr>
          <p:cNvPr id="39" name="Shape 36"/>
          <p:cNvSpPr/>
          <p:nvPr/>
        </p:nvSpPr>
        <p:spPr>
          <a:xfrm>
            <a:off x="621792" y="5285232"/>
            <a:ext cx="3429000" cy="868680"/>
          </a:xfrm>
          <a:prstGeom prst="roundRect">
            <a:avLst>
              <a:gd name="adj" fmla="val 842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40" name="Text 37"/>
          <p:cNvSpPr/>
          <p:nvPr/>
        </p:nvSpPr>
        <p:spPr>
          <a:xfrm>
            <a:off x="786384" y="5449824"/>
            <a:ext cx="306324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Strong completion outcome at 0%</a:t>
            </a:r>
            <a:endParaRPr lang="en-US" sz="1000" dirty="0"/>
          </a:p>
        </p:txBody>
      </p:sp>
      <p:sp>
        <p:nvSpPr>
          <p:cNvPr id="41" name="Shape 38"/>
          <p:cNvSpPr/>
          <p:nvPr/>
        </p:nvSpPr>
        <p:spPr>
          <a:xfrm>
            <a:off x="4352544" y="5285232"/>
            <a:ext cx="3429000" cy="868680"/>
          </a:xfrm>
          <a:prstGeom prst="roundRect">
            <a:avLst>
              <a:gd name="adj" fmla="val 842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42" name="Text 39"/>
          <p:cNvSpPr/>
          <p:nvPr/>
        </p:nvSpPr>
        <p:spPr>
          <a:xfrm>
            <a:off x="4517136" y="5449824"/>
            <a:ext cx="306324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Overall effectiveness score is 25.58</a:t>
            </a:r>
            <a:endParaRPr lang="en-US" sz="1000" dirty="0"/>
          </a:p>
        </p:txBody>
      </p:sp>
      <p:sp>
        <p:nvSpPr>
          <p:cNvPr id="43" name="Shape 40"/>
          <p:cNvSpPr/>
          <p:nvPr/>
        </p:nvSpPr>
        <p:spPr>
          <a:xfrm>
            <a:off x="8083296" y="5285232"/>
            <a:ext cx="3429000" cy="868680"/>
          </a:xfrm>
          <a:prstGeom prst="roundRect">
            <a:avLst>
              <a:gd name="adj" fmla="val 842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44" name="Text 41"/>
          <p:cNvSpPr/>
          <p:nvPr/>
        </p:nvSpPr>
        <p:spPr>
          <a:xfrm>
            <a:off x="8247888" y="5449824"/>
            <a:ext cx="306324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Technical Leadership &amp; Communication has an effectiveness score of 25.58 in the selected scope.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Key findings and implications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Course Leadership_06_2026 | Type full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Blocked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94360" y="1078992"/>
            <a:ext cx="525780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77240" y="1261872"/>
            <a:ext cx="86868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13816" y="1261872"/>
            <a:ext cx="79552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Risk</a:t>
            </a:r>
            <a:endParaRPr lang="en-US" sz="740" dirty="0"/>
          </a:p>
        </p:txBody>
      </p:sp>
      <p:sp>
        <p:nvSpPr>
          <p:cNvPr id="10" name="Text 8"/>
          <p:cNvSpPr/>
          <p:nvPr/>
        </p:nvSpPr>
        <p:spPr>
          <a:xfrm>
            <a:off x="795528" y="1609344"/>
            <a:ext cx="480060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Strong completion outcome at 0%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795528" y="1993392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Completion is calculated as attendance &gt;= 70%; pass rate is tracked separately at 0%.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795528" y="2377440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Implication: Learners are completing the required session exposure, and assessment achievement is also healthy.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6217920" y="1078992"/>
            <a:ext cx="525780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400800" y="1261872"/>
            <a:ext cx="86868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37376" y="1261872"/>
            <a:ext cx="79552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Risk</a:t>
            </a:r>
            <a:endParaRPr lang="en-US" sz="740" dirty="0"/>
          </a:p>
        </p:txBody>
      </p:sp>
      <p:sp>
        <p:nvSpPr>
          <p:cNvPr id="16" name="Text 14"/>
          <p:cNvSpPr/>
          <p:nvPr/>
        </p:nvSpPr>
        <p:spPr>
          <a:xfrm>
            <a:off x="6419088" y="1609344"/>
            <a:ext cx="480060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Overall effectiveness score is 25.58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419088" y="1993392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Attendance 47.9%, pass rate 0%, average score N/A/10.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6419088" y="2377440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Implication: The selected scope is classified as Not reportable.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94360" y="3227832"/>
            <a:ext cx="525780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77240" y="3410712"/>
            <a:ext cx="86868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13816" y="3410712"/>
            <a:ext cx="79552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Good</a:t>
            </a:r>
            <a:endParaRPr lang="en-US" sz="740" dirty="0"/>
          </a:p>
        </p:txBody>
      </p:sp>
      <p:sp>
        <p:nvSpPr>
          <p:cNvPr id="22" name="Text 20"/>
          <p:cNvSpPr/>
          <p:nvPr/>
        </p:nvSpPr>
        <p:spPr>
          <a:xfrm>
            <a:off x="795528" y="3758184"/>
            <a:ext cx="480060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Technical Leadership &amp; Communication has an effectiveness score of 25.58 in the selected scope.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795528" y="4142232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Supported by validated metrics, evidence gate, and L&amp;D NORM checks.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795528" y="4526280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Implication: Use this signal to prioritize follow-up actions and stakeholder communication.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6217920" y="3227832"/>
            <a:ext cx="525780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400800" y="3410712"/>
            <a:ext cx="868680" cy="256032"/>
          </a:xfrm>
          <a:prstGeom prst="roundRect">
            <a:avLst>
              <a:gd name="adj" fmla="val 28571"/>
            </a:avLst>
          </a:prstGeom>
          <a:solidFill>
            <a:srgbClr val="FEF3C7"/>
          </a:solidFill>
          <a:ln w="12700">
            <a:solidFill>
              <a:srgbClr val="FEF3C7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437376" y="3410712"/>
            <a:ext cx="79552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45309"/>
                </a:solidFill>
              </a:rPr>
              <a:t>Monitor</a:t>
            </a:r>
            <a:endParaRPr lang="en-US" sz="740" dirty="0"/>
          </a:p>
        </p:txBody>
      </p:sp>
      <p:sp>
        <p:nvSpPr>
          <p:cNvPr id="28" name="Text 26"/>
          <p:cNvSpPr/>
          <p:nvPr/>
        </p:nvSpPr>
        <p:spPr>
          <a:xfrm>
            <a:off x="6419088" y="3758184"/>
            <a:ext cx="480060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1 course group contained learners who need support based on score or attendance policy.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6419088" y="4142232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Supported by validated metrics, evidence gate, and L&amp;D NORM checks.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6419088" y="4526280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Implication: Use this signal to prioritize follow-up actions and stakeholder communication.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Evidence traceability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Course Leadership_06_2026 | Type full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Blocked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594360" y="1042416"/>
            <a:ext cx="68580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</a:rPr>
              <a:t>Every narrative claim is backed by validated artifacts before export.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594360" y="1691640"/>
            <a:ext cx="51663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58952" y="1856232"/>
            <a:ext cx="841248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95528" y="1856232"/>
            <a:ext cx="768096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11" name="Text 9"/>
          <p:cNvSpPr/>
          <p:nvPr/>
        </p:nvSpPr>
        <p:spPr>
          <a:xfrm>
            <a:off x="1737360" y="1837944"/>
            <a:ext cx="36118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Source availability and required columns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1737360" y="2148840"/>
            <a:ext cx="361188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Required sheets and columns were mapped from Teams, OneDrive, Forms, KPI, Rules and Template sources.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6172200" y="1691640"/>
            <a:ext cx="51663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336792" y="1856232"/>
            <a:ext cx="841248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373368" y="1856232"/>
            <a:ext cx="768096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Blocked</a:t>
            </a:r>
            <a:endParaRPr lang="en-US" sz="740" dirty="0"/>
          </a:p>
        </p:txBody>
      </p:sp>
      <p:sp>
        <p:nvSpPr>
          <p:cNvPr id="16" name="Text 14"/>
          <p:cNvSpPr/>
          <p:nvPr/>
        </p:nvSpPr>
        <p:spPr>
          <a:xfrm>
            <a:off x="7315200" y="1837944"/>
            <a:ext cx="36118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Course status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7315200" y="2148840"/>
            <a:ext cx="361188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1 selected course(s) are not completed.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594360" y="2862072"/>
            <a:ext cx="51663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58952" y="3026664"/>
            <a:ext cx="841248" cy="256032"/>
          </a:xfrm>
          <a:prstGeom prst="roundRect">
            <a:avLst>
              <a:gd name="adj" fmla="val 28571"/>
            </a:avLst>
          </a:prstGeom>
          <a:solidFill>
            <a:srgbClr val="FEF3C7"/>
          </a:solidFill>
          <a:ln w="12700">
            <a:solidFill>
              <a:srgbClr val="FEF3C7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95528" y="3026664"/>
            <a:ext cx="768096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45309"/>
                </a:solidFill>
              </a:rPr>
              <a:t>Warning</a:t>
            </a:r>
            <a:endParaRPr lang="en-US" sz="740" dirty="0"/>
          </a:p>
        </p:txBody>
      </p:sp>
      <p:sp>
        <p:nvSpPr>
          <p:cNvPr id="21" name="Text 19"/>
          <p:cNvSpPr/>
          <p:nvPr/>
        </p:nvSpPr>
        <p:spPr>
          <a:xfrm>
            <a:off x="1737360" y="3008376"/>
            <a:ext cx="36118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Attendance completeness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1737360" y="3319272"/>
            <a:ext cx="361188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Expected attendance rows are trainee count x total sessions. Late is retained for metrics as partial attendance.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6172200" y="2862072"/>
            <a:ext cx="51663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336792" y="3026664"/>
            <a:ext cx="841248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373368" y="3026664"/>
            <a:ext cx="768096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26" name="Text 24"/>
          <p:cNvSpPr/>
          <p:nvPr/>
        </p:nvSpPr>
        <p:spPr>
          <a:xfrm>
            <a:off x="7315200" y="3008376"/>
            <a:ext cx="36118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Assessment completeness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7315200" y="3319272"/>
            <a:ext cx="361188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Completed courses require one valid assessment and pass-status row per trainee.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594360" y="4032504"/>
            <a:ext cx="51663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758952" y="4197096"/>
            <a:ext cx="841248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95528" y="4197096"/>
            <a:ext cx="768096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31" name="Text 29"/>
          <p:cNvSpPr/>
          <p:nvPr/>
        </p:nvSpPr>
        <p:spPr>
          <a:xfrm>
            <a:off x="1737360" y="4178808"/>
            <a:ext cx="36118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Feedback completeness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1737360" y="4489704"/>
            <a:ext cx="361188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NORM-14 requires at least 60% feedback response rate for valid analysis.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6172200" y="4032504"/>
            <a:ext cx="51663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6336792" y="4197096"/>
            <a:ext cx="841248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373368" y="4197096"/>
            <a:ext cx="768096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36" name="Text 34"/>
          <p:cNvSpPr/>
          <p:nvPr/>
        </p:nvSpPr>
        <p:spPr>
          <a:xfrm>
            <a:off x="7315200" y="4178808"/>
            <a:ext cx="36118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Row-level data quality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7315200" y="4489704"/>
            <a:ext cx="361188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Duplicate rows and numeric ranges were checked before metric generation.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Governance and access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Course Leadership_06_2026 | Type full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Blocked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94360" y="1051560"/>
            <a:ext cx="2514600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40664" y="1179576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CLASSIFICATION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740664" y="1490472"/>
            <a:ext cx="214884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B91C1C"/>
                </a:solidFill>
              </a:rPr>
              <a:t>Not reportable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3383280" y="1051560"/>
            <a:ext cx="2514600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529584" y="1179576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SENSITIVE DETAILS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529584" y="1490472"/>
            <a:ext cx="214884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047857"/>
                </a:solidFill>
              </a:rPr>
              <a:t>Visible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6172200" y="1051560"/>
            <a:ext cx="2514600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318504" y="1179576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RAW APPENDIX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6318504" y="1490472"/>
            <a:ext cx="214884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047857"/>
                </a:solidFill>
              </a:rPr>
              <a:t>Allowed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8961120" y="1051560"/>
            <a:ext cx="2514600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107424" y="1179576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HIGH-PRIORITY FLAGS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9107424" y="1490472"/>
            <a:ext cx="214884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B91C1C"/>
                </a:solidFill>
              </a:rPr>
              <a:t>10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594360" y="2788920"/>
            <a:ext cx="68122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22376" y="294436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58952" y="2944368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22" name="Text 20"/>
          <p:cNvSpPr/>
          <p:nvPr/>
        </p:nvSpPr>
        <p:spPr>
          <a:xfrm>
            <a:off x="1600200" y="2898648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NORM-01 | High</a:t>
            </a:r>
            <a:endParaRPr lang="en-US" sz="930" dirty="0"/>
          </a:p>
        </p:txBody>
      </p:sp>
      <p:sp>
        <p:nvSpPr>
          <p:cNvPr id="23" name="Text 21"/>
          <p:cNvSpPr/>
          <p:nvPr/>
        </p:nvSpPr>
        <p:spPr>
          <a:xfrm>
            <a:off x="3840480" y="2880360"/>
            <a:ext cx="32918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Pass rate is below 70%.</a:t>
            </a:r>
            <a:endParaRPr lang="en-US" sz="860" dirty="0"/>
          </a:p>
        </p:txBody>
      </p:sp>
      <p:sp>
        <p:nvSpPr>
          <p:cNvPr id="24" name="Shape 22"/>
          <p:cNvSpPr/>
          <p:nvPr/>
        </p:nvSpPr>
        <p:spPr>
          <a:xfrm>
            <a:off x="594360" y="3538728"/>
            <a:ext cx="68122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22376" y="3694176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F3C7"/>
          </a:solidFill>
          <a:ln w="12700">
            <a:solidFill>
              <a:srgbClr val="FEF3C7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58952" y="3694176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45309"/>
                </a:solidFill>
              </a:rPr>
              <a:t>Medium</a:t>
            </a:r>
            <a:endParaRPr lang="en-US" sz="740" dirty="0"/>
          </a:p>
        </p:txBody>
      </p:sp>
      <p:sp>
        <p:nvSpPr>
          <p:cNvPr id="27" name="Text 25"/>
          <p:cNvSpPr/>
          <p:nvPr/>
        </p:nvSpPr>
        <p:spPr>
          <a:xfrm>
            <a:off x="1600200" y="3648456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NORM-03 | Medium</a:t>
            </a:r>
            <a:endParaRPr lang="en-US" sz="930" dirty="0"/>
          </a:p>
        </p:txBody>
      </p:sp>
      <p:sp>
        <p:nvSpPr>
          <p:cNvPr id="28" name="Text 26"/>
          <p:cNvSpPr/>
          <p:nvPr/>
        </p:nvSpPr>
        <p:spPr>
          <a:xfrm>
            <a:off x="3840480" y="3630168"/>
            <a:ext cx="32918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Attendance rate is below 75%.</a:t>
            </a:r>
            <a:endParaRPr lang="en-US" sz="860" dirty="0"/>
          </a:p>
        </p:txBody>
      </p:sp>
      <p:sp>
        <p:nvSpPr>
          <p:cNvPr id="29" name="Shape 27"/>
          <p:cNvSpPr/>
          <p:nvPr/>
        </p:nvSpPr>
        <p:spPr>
          <a:xfrm>
            <a:off x="594360" y="4288536"/>
            <a:ext cx="68122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722376" y="444398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58952" y="4443984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32" name="Text 30"/>
          <p:cNvSpPr/>
          <p:nvPr/>
        </p:nvSpPr>
        <p:spPr>
          <a:xfrm>
            <a:off x="1600200" y="4398264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NORM-05 | High</a:t>
            </a:r>
            <a:endParaRPr lang="en-US" sz="930" dirty="0"/>
          </a:p>
        </p:txBody>
      </p:sp>
      <p:sp>
        <p:nvSpPr>
          <p:cNvPr id="33" name="Text 31"/>
          <p:cNvSpPr/>
          <p:nvPr/>
        </p:nvSpPr>
        <p:spPr>
          <a:xfrm>
            <a:off x="3840480" y="4379976"/>
            <a:ext cx="32918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Trainee has zero score or missing assessment.</a:t>
            </a:r>
            <a:endParaRPr lang="en-US" sz="860" dirty="0"/>
          </a:p>
        </p:txBody>
      </p:sp>
      <p:sp>
        <p:nvSpPr>
          <p:cNvPr id="34" name="Shape 32"/>
          <p:cNvSpPr/>
          <p:nvPr/>
        </p:nvSpPr>
        <p:spPr>
          <a:xfrm>
            <a:off x="594360" y="5038344"/>
            <a:ext cx="68122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722376" y="5193792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758952" y="5193792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37" name="Text 35"/>
          <p:cNvSpPr/>
          <p:nvPr/>
        </p:nvSpPr>
        <p:spPr>
          <a:xfrm>
            <a:off x="1600200" y="5148072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NORM-05 | High</a:t>
            </a:r>
            <a:endParaRPr lang="en-US" sz="930" dirty="0"/>
          </a:p>
        </p:txBody>
      </p:sp>
      <p:sp>
        <p:nvSpPr>
          <p:cNvPr id="38" name="Text 36"/>
          <p:cNvSpPr/>
          <p:nvPr/>
        </p:nvSpPr>
        <p:spPr>
          <a:xfrm>
            <a:off x="3840480" y="5129784"/>
            <a:ext cx="32918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Trainee has zero score or missing assessment.</a:t>
            </a:r>
            <a:endParaRPr lang="en-US" sz="860" dirty="0"/>
          </a:p>
        </p:txBody>
      </p:sp>
      <p:sp>
        <p:nvSpPr>
          <p:cNvPr id="39" name="Shape 37"/>
          <p:cNvSpPr/>
          <p:nvPr/>
        </p:nvSpPr>
        <p:spPr>
          <a:xfrm>
            <a:off x="7699248" y="2788920"/>
            <a:ext cx="3767328" cy="1965960"/>
          </a:xfrm>
          <a:prstGeom prst="roundRect">
            <a:avLst>
              <a:gd name="adj" fmla="val 3721"/>
            </a:avLst>
          </a:prstGeom>
          <a:solidFill>
            <a:srgbClr val="FEE2E2"/>
          </a:solidFill>
          <a:ln w="12700">
            <a:solidFill>
              <a:srgbClr val="B91C1C">
                <a:alpha val="65000"/>
              </a:srgbClr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7955280" y="3054096"/>
            <a:ext cx="3200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B91C1C"/>
                </a:solidFill>
              </a:rPr>
              <a:t>GOVERNANCE RESPONSE</a:t>
            </a:r>
            <a:endParaRPr lang="en-US" sz="850" dirty="0"/>
          </a:p>
        </p:txBody>
      </p:sp>
      <p:sp>
        <p:nvSpPr>
          <p:cNvPr id="41" name="Text 39"/>
          <p:cNvSpPr/>
          <p:nvPr/>
        </p:nvSpPr>
        <p:spPr>
          <a:xfrm>
            <a:off x="7955280" y="3493008"/>
            <a:ext cx="321868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Flag course for content review; notify L&amp;D manager</a:t>
            </a:r>
            <a:endParaRPr lang="en-US" sz="1200" dirty="0"/>
          </a:p>
        </p:txBody>
      </p:sp>
      <p:sp>
        <p:nvSpPr>
          <p:cNvPr id="42" name="Text 40"/>
          <p:cNvSpPr/>
          <p:nvPr/>
        </p:nvSpPr>
        <p:spPr>
          <a:xfrm>
            <a:off x="7955280" y="4279392"/>
            <a:ext cx="321868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Triggered by NORM-01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Recommended action plan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Course Leadership_06_2026 | Type full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Blocked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94360" y="960120"/>
            <a:ext cx="10972800" cy="859536"/>
          </a:xfrm>
          <a:prstGeom prst="roundRect">
            <a:avLst>
              <a:gd name="adj" fmla="val 638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68096" y="1179576"/>
            <a:ext cx="228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1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1170432" y="1161288"/>
            <a:ext cx="822960" cy="256032"/>
          </a:xfrm>
          <a:prstGeom prst="roundRect">
            <a:avLst>
              <a:gd name="adj" fmla="val 28571"/>
            </a:avLst>
          </a:prstGeom>
          <a:solidFill>
            <a:srgbClr val="FEF3C7"/>
          </a:solidFill>
          <a:ln w="12700">
            <a:solidFill>
              <a:srgbClr val="FEF3C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207008" y="1161288"/>
            <a:ext cx="74980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45309"/>
                </a:solidFill>
              </a:rPr>
              <a:t>Medium</a:t>
            </a:r>
            <a:endParaRPr lang="en-US" sz="740" dirty="0"/>
          </a:p>
        </p:txBody>
      </p:sp>
      <p:sp>
        <p:nvSpPr>
          <p:cNvPr id="11" name="Text 9"/>
          <p:cNvSpPr/>
          <p:nvPr/>
        </p:nvSpPr>
        <p:spPr>
          <a:xfrm>
            <a:off x="2121408" y="1124712"/>
            <a:ext cx="150876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</a:rPr>
              <a:t>Team Manager + L&amp;D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3794760" y="1078992"/>
            <a:ext cx="3840480" cy="5120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0F172A"/>
                </a:solidFill>
              </a:rPr>
              <a:t>Flag course for content review; notify L&amp;D manager</a:t>
            </a:r>
            <a:endParaRPr lang="en-US" sz="930" dirty="0"/>
          </a:p>
        </p:txBody>
      </p:sp>
      <p:sp>
        <p:nvSpPr>
          <p:cNvPr id="13" name="Text 11"/>
          <p:cNvSpPr/>
          <p:nvPr/>
        </p:nvSpPr>
        <p:spPr>
          <a:xfrm>
            <a:off x="7863840" y="1078992"/>
            <a:ext cx="3291840" cy="5120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Increase Technical Leadership &amp; Communication pass rate from 0% to at least 80% (+80 percentage points) in the next cohort.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594360" y="1947672"/>
            <a:ext cx="10972800" cy="859536"/>
          </a:xfrm>
          <a:prstGeom prst="roundRect">
            <a:avLst>
              <a:gd name="adj" fmla="val 638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68096" y="2167128"/>
            <a:ext cx="228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2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1170432" y="2148840"/>
            <a:ext cx="82296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207008" y="2148840"/>
            <a:ext cx="74980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18" name="Text 16"/>
          <p:cNvSpPr/>
          <p:nvPr/>
        </p:nvSpPr>
        <p:spPr>
          <a:xfrm>
            <a:off x="2121408" y="2112264"/>
            <a:ext cx="150876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</a:rPr>
              <a:t>L&amp;D Manager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3794760" y="2066544"/>
            <a:ext cx="3840480" cy="5120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0F172A"/>
                </a:solidFill>
              </a:rPr>
              <a:t>Mark as Incomplete; recommend re-enrollment in next cohort</a:t>
            </a:r>
            <a:endParaRPr lang="en-US" sz="930" dirty="0"/>
          </a:p>
        </p:txBody>
      </p:sp>
      <p:sp>
        <p:nvSpPr>
          <p:cNvPr id="20" name="Text 18"/>
          <p:cNvSpPr/>
          <p:nvPr/>
        </p:nvSpPr>
        <p:spPr>
          <a:xfrm>
            <a:off x="7863840" y="2066544"/>
            <a:ext cx="3291840" cy="5120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Reduce incomplete or missing-assessment learner records from 8 to 0 before the next cohort closes.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594360" y="2935224"/>
            <a:ext cx="10972800" cy="859536"/>
          </a:xfrm>
          <a:prstGeom prst="roundRect">
            <a:avLst>
              <a:gd name="adj" fmla="val 638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68096" y="3154680"/>
            <a:ext cx="228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3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1170432" y="3136392"/>
            <a:ext cx="82296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207008" y="3136392"/>
            <a:ext cx="74980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25" name="Text 23"/>
          <p:cNvSpPr/>
          <p:nvPr/>
        </p:nvSpPr>
        <p:spPr>
          <a:xfrm>
            <a:off x="2121408" y="3099816"/>
            <a:ext cx="150876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</a:rPr>
              <a:t>L&amp;D Manager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3794760" y="3054096"/>
            <a:ext cx="3840480" cy="5120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0F172A"/>
                </a:solidFill>
              </a:rPr>
              <a:t>Do not publish a final effectiveness conclusion until blocked evidence items are resolved.</a:t>
            </a:r>
            <a:endParaRPr lang="en-US" sz="930" dirty="0"/>
          </a:p>
        </p:txBody>
      </p:sp>
      <p:sp>
        <p:nvSpPr>
          <p:cNvPr id="27" name="Text 25"/>
          <p:cNvSpPr/>
          <p:nvPr/>
        </p:nvSpPr>
        <p:spPr>
          <a:xfrm>
            <a:off x="7863840" y="3054096"/>
            <a:ext cx="3291840" cy="5120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Reduce Evidence Gate blockers from 1 to 0 and move report readiness from BLOCKED to PASS before publication.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594360" y="3922776"/>
            <a:ext cx="10972800" cy="859536"/>
          </a:xfrm>
          <a:prstGeom prst="roundRect">
            <a:avLst>
              <a:gd name="adj" fmla="val 638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68096" y="4142232"/>
            <a:ext cx="228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4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1170432" y="4123944"/>
            <a:ext cx="82296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1207008" y="4123944"/>
            <a:ext cx="74980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32" name="Text 30"/>
          <p:cNvSpPr/>
          <p:nvPr/>
        </p:nvSpPr>
        <p:spPr>
          <a:xfrm>
            <a:off x="2121408" y="4087368"/>
            <a:ext cx="150876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</a:rPr>
              <a:t>Team Manager + L&amp;D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3794760" y="4041648"/>
            <a:ext cx="3840480" cy="5120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0F172A"/>
                </a:solidFill>
              </a:rPr>
              <a:t>Assign a coaching owner for support-needed learners and review attendance issues with direct managers.</a:t>
            </a:r>
            <a:endParaRPr lang="en-US" sz="930" dirty="0"/>
          </a:p>
        </p:txBody>
      </p:sp>
      <p:sp>
        <p:nvSpPr>
          <p:cNvPr id="34" name="Text 32"/>
          <p:cNvSpPr/>
          <p:nvPr/>
        </p:nvSpPr>
        <p:spPr>
          <a:xfrm>
            <a:off x="7863840" y="4041648"/>
            <a:ext cx="3291840" cy="5120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Increase Technical Leadership &amp; Communication attendance from 47.9% to at least 85% (+37.1 percentage points) in the next cohort.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Delivery roadmap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Course Leadership_06_2026 | Type full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Blocked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8" name="Shape 5"/>
          <p:cNvSpPr/>
          <p:nvPr/>
        </p:nvSpPr>
        <p:spPr>
          <a:xfrm>
            <a:off x="1930527" y="1490472"/>
            <a:ext cx="8346186" cy="0"/>
          </a:xfrm>
          <a:prstGeom prst="line">
            <a:avLst/>
          </a:prstGeom>
          <a:noFill/>
          <a:ln w="12700">
            <a:solidFill>
              <a:srgbClr val="93C5FD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1674495" y="1234440"/>
            <a:ext cx="512064" cy="512064"/>
          </a:xfrm>
          <a:prstGeom prst="ellipse">
            <a:avLst/>
          </a:prstGeom>
          <a:solidFill>
            <a:srgbClr val="B45309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1674495" y="123444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1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685800" y="1938528"/>
            <a:ext cx="2489454" cy="3364992"/>
          </a:xfrm>
          <a:prstGeom prst="roundRect">
            <a:avLst>
              <a:gd name="adj" fmla="val 2938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68680" y="2212848"/>
            <a:ext cx="134645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ACTION 1</a:t>
            </a:r>
            <a:endParaRPr lang="en-US" sz="800" dirty="0"/>
          </a:p>
        </p:txBody>
      </p:sp>
      <p:sp>
        <p:nvSpPr>
          <p:cNvPr id="13" name="Shape 10"/>
          <p:cNvSpPr/>
          <p:nvPr/>
        </p:nvSpPr>
        <p:spPr>
          <a:xfrm>
            <a:off x="2215134" y="2148840"/>
            <a:ext cx="749808" cy="256032"/>
          </a:xfrm>
          <a:prstGeom prst="roundRect">
            <a:avLst>
              <a:gd name="adj" fmla="val 28571"/>
            </a:avLst>
          </a:prstGeom>
          <a:solidFill>
            <a:srgbClr val="FEF3C7"/>
          </a:solidFill>
          <a:ln w="12700">
            <a:solidFill>
              <a:srgbClr val="FEF3C7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2251710" y="2148840"/>
            <a:ext cx="676656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45309"/>
                </a:solidFill>
              </a:rPr>
              <a:t>Medium</a:t>
            </a:r>
            <a:endParaRPr lang="en-US" sz="740" dirty="0"/>
          </a:p>
        </p:txBody>
      </p:sp>
      <p:sp>
        <p:nvSpPr>
          <p:cNvPr id="15" name="Text 12"/>
          <p:cNvSpPr/>
          <p:nvPr/>
        </p:nvSpPr>
        <p:spPr>
          <a:xfrm>
            <a:off x="868680" y="2633472"/>
            <a:ext cx="212369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</a:rPr>
              <a:t>Team Manager + L&amp;D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868680" y="3035808"/>
            <a:ext cx="2123694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Flag course for content review; notify L&amp;D manager</a:t>
            </a:r>
            <a:endParaRPr lang="en-US" sz="1050" dirty="0"/>
          </a:p>
        </p:txBody>
      </p:sp>
      <p:sp>
        <p:nvSpPr>
          <p:cNvPr id="17" name="Text 14"/>
          <p:cNvSpPr/>
          <p:nvPr/>
        </p:nvSpPr>
        <p:spPr>
          <a:xfrm>
            <a:off x="868680" y="4187952"/>
            <a:ext cx="212369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Expected outcome</a:t>
            </a:r>
            <a:endParaRPr lang="en-US" sz="800" dirty="0"/>
          </a:p>
        </p:txBody>
      </p:sp>
      <p:sp>
        <p:nvSpPr>
          <p:cNvPr id="18" name="Text 15"/>
          <p:cNvSpPr/>
          <p:nvPr/>
        </p:nvSpPr>
        <p:spPr>
          <a:xfrm>
            <a:off x="868680" y="4443984"/>
            <a:ext cx="2123694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64748B"/>
                </a:solidFill>
              </a:rPr>
              <a:t>Increase Technical Leadership &amp; Communication pass rate from 0% to at least 80% (+80 percentage points) in the next cohort.</a:t>
            </a:r>
            <a:endParaRPr lang="en-US" sz="920" dirty="0"/>
          </a:p>
        </p:txBody>
      </p:sp>
      <p:sp>
        <p:nvSpPr>
          <p:cNvPr id="19" name="Shape 16"/>
          <p:cNvSpPr/>
          <p:nvPr/>
        </p:nvSpPr>
        <p:spPr>
          <a:xfrm>
            <a:off x="4456557" y="1234440"/>
            <a:ext cx="512064" cy="512064"/>
          </a:xfrm>
          <a:prstGeom prst="ellipse">
            <a:avLst/>
          </a:prstGeom>
          <a:solidFill>
            <a:srgbClr val="B91C1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4456557" y="123444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2</a:t>
            </a:r>
            <a:endParaRPr lang="en-US" sz="1100" dirty="0"/>
          </a:p>
        </p:txBody>
      </p:sp>
      <p:sp>
        <p:nvSpPr>
          <p:cNvPr id="21" name="Shape 18"/>
          <p:cNvSpPr/>
          <p:nvPr/>
        </p:nvSpPr>
        <p:spPr>
          <a:xfrm>
            <a:off x="3467862" y="1938528"/>
            <a:ext cx="2489454" cy="3364992"/>
          </a:xfrm>
          <a:prstGeom prst="roundRect">
            <a:avLst>
              <a:gd name="adj" fmla="val 2938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3650742" y="2212848"/>
            <a:ext cx="134645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ACTION 2</a:t>
            </a:r>
            <a:endParaRPr lang="en-US" sz="800" dirty="0"/>
          </a:p>
        </p:txBody>
      </p:sp>
      <p:sp>
        <p:nvSpPr>
          <p:cNvPr id="23" name="Shape 20"/>
          <p:cNvSpPr/>
          <p:nvPr/>
        </p:nvSpPr>
        <p:spPr>
          <a:xfrm>
            <a:off x="4997196" y="2148840"/>
            <a:ext cx="749808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5033772" y="2148840"/>
            <a:ext cx="676656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25" name="Text 22"/>
          <p:cNvSpPr/>
          <p:nvPr/>
        </p:nvSpPr>
        <p:spPr>
          <a:xfrm>
            <a:off x="3650742" y="2633472"/>
            <a:ext cx="212369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</a:rPr>
              <a:t>L&amp;D Manager</a:t>
            </a:r>
            <a:endParaRPr lang="en-US" sz="1100" dirty="0"/>
          </a:p>
        </p:txBody>
      </p:sp>
      <p:sp>
        <p:nvSpPr>
          <p:cNvPr id="26" name="Text 23"/>
          <p:cNvSpPr/>
          <p:nvPr/>
        </p:nvSpPr>
        <p:spPr>
          <a:xfrm>
            <a:off x="3650742" y="3035808"/>
            <a:ext cx="2123694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Mark as Incomplete; recommend re-enrollment in next cohort</a:t>
            </a:r>
            <a:endParaRPr lang="en-US" sz="1050" dirty="0"/>
          </a:p>
        </p:txBody>
      </p:sp>
      <p:sp>
        <p:nvSpPr>
          <p:cNvPr id="27" name="Text 24"/>
          <p:cNvSpPr/>
          <p:nvPr/>
        </p:nvSpPr>
        <p:spPr>
          <a:xfrm>
            <a:off x="3650742" y="4187952"/>
            <a:ext cx="212369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Expected outcome</a:t>
            </a:r>
            <a:endParaRPr lang="en-US" sz="800" dirty="0"/>
          </a:p>
        </p:txBody>
      </p:sp>
      <p:sp>
        <p:nvSpPr>
          <p:cNvPr id="28" name="Text 25"/>
          <p:cNvSpPr/>
          <p:nvPr/>
        </p:nvSpPr>
        <p:spPr>
          <a:xfrm>
            <a:off x="3650742" y="4443984"/>
            <a:ext cx="2123694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64748B"/>
                </a:solidFill>
              </a:rPr>
              <a:t>Reduce incomplete or missing-assessment learner records from 8 to 0 before the next cohort closes.</a:t>
            </a:r>
            <a:endParaRPr lang="en-US" sz="920" dirty="0"/>
          </a:p>
        </p:txBody>
      </p:sp>
      <p:sp>
        <p:nvSpPr>
          <p:cNvPr id="29" name="Shape 26"/>
          <p:cNvSpPr/>
          <p:nvPr/>
        </p:nvSpPr>
        <p:spPr>
          <a:xfrm>
            <a:off x="7238619" y="1234440"/>
            <a:ext cx="512064" cy="512064"/>
          </a:xfrm>
          <a:prstGeom prst="ellipse">
            <a:avLst/>
          </a:prstGeom>
          <a:solidFill>
            <a:srgbClr val="B91C1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7238619" y="123444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3</a:t>
            </a:r>
            <a:endParaRPr lang="en-US" sz="1100" dirty="0"/>
          </a:p>
        </p:txBody>
      </p:sp>
      <p:sp>
        <p:nvSpPr>
          <p:cNvPr id="31" name="Shape 28"/>
          <p:cNvSpPr/>
          <p:nvPr/>
        </p:nvSpPr>
        <p:spPr>
          <a:xfrm>
            <a:off x="6249924" y="1938528"/>
            <a:ext cx="2489454" cy="3364992"/>
          </a:xfrm>
          <a:prstGeom prst="roundRect">
            <a:avLst>
              <a:gd name="adj" fmla="val 2938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6432804" y="2212848"/>
            <a:ext cx="134645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ACTION 3</a:t>
            </a:r>
            <a:endParaRPr lang="en-US" sz="800" dirty="0"/>
          </a:p>
        </p:txBody>
      </p:sp>
      <p:sp>
        <p:nvSpPr>
          <p:cNvPr id="33" name="Shape 30"/>
          <p:cNvSpPr/>
          <p:nvPr/>
        </p:nvSpPr>
        <p:spPr>
          <a:xfrm>
            <a:off x="7779258" y="2148840"/>
            <a:ext cx="749808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7815834" y="2148840"/>
            <a:ext cx="676656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35" name="Text 32"/>
          <p:cNvSpPr/>
          <p:nvPr/>
        </p:nvSpPr>
        <p:spPr>
          <a:xfrm>
            <a:off x="6432804" y="2633472"/>
            <a:ext cx="212369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</a:rPr>
              <a:t>L&amp;D Manager</a:t>
            </a:r>
            <a:endParaRPr lang="en-US" sz="1100" dirty="0"/>
          </a:p>
        </p:txBody>
      </p:sp>
      <p:sp>
        <p:nvSpPr>
          <p:cNvPr id="36" name="Text 33"/>
          <p:cNvSpPr/>
          <p:nvPr/>
        </p:nvSpPr>
        <p:spPr>
          <a:xfrm>
            <a:off x="6432804" y="3035808"/>
            <a:ext cx="2123694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Do not publish a final effectiveness conclusion until blocked evidence items are resolved.</a:t>
            </a:r>
            <a:endParaRPr lang="en-US" sz="1050" dirty="0"/>
          </a:p>
        </p:txBody>
      </p:sp>
      <p:sp>
        <p:nvSpPr>
          <p:cNvPr id="37" name="Text 34"/>
          <p:cNvSpPr/>
          <p:nvPr/>
        </p:nvSpPr>
        <p:spPr>
          <a:xfrm>
            <a:off x="6432804" y="4187952"/>
            <a:ext cx="212369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Expected outcome</a:t>
            </a:r>
            <a:endParaRPr lang="en-US" sz="800" dirty="0"/>
          </a:p>
        </p:txBody>
      </p:sp>
      <p:sp>
        <p:nvSpPr>
          <p:cNvPr id="38" name="Text 35"/>
          <p:cNvSpPr/>
          <p:nvPr/>
        </p:nvSpPr>
        <p:spPr>
          <a:xfrm>
            <a:off x="6432804" y="4443984"/>
            <a:ext cx="2123694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64748B"/>
                </a:solidFill>
              </a:rPr>
              <a:t>Reduce Evidence Gate blockers from 1 to 0 and move report readiness from BLOCKED to PASS before publication.</a:t>
            </a:r>
            <a:endParaRPr lang="en-US" sz="920" dirty="0"/>
          </a:p>
        </p:txBody>
      </p:sp>
      <p:sp>
        <p:nvSpPr>
          <p:cNvPr id="39" name="Shape 36"/>
          <p:cNvSpPr/>
          <p:nvPr/>
        </p:nvSpPr>
        <p:spPr>
          <a:xfrm>
            <a:off x="10020681" y="1234440"/>
            <a:ext cx="512064" cy="512064"/>
          </a:xfrm>
          <a:prstGeom prst="ellipse">
            <a:avLst/>
          </a:prstGeom>
          <a:solidFill>
            <a:srgbClr val="B91C1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0" name="Text 37"/>
          <p:cNvSpPr/>
          <p:nvPr/>
        </p:nvSpPr>
        <p:spPr>
          <a:xfrm>
            <a:off x="10020681" y="123444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4</a:t>
            </a:r>
            <a:endParaRPr lang="en-US" sz="1100" dirty="0"/>
          </a:p>
        </p:txBody>
      </p:sp>
      <p:sp>
        <p:nvSpPr>
          <p:cNvPr id="41" name="Shape 38"/>
          <p:cNvSpPr/>
          <p:nvPr/>
        </p:nvSpPr>
        <p:spPr>
          <a:xfrm>
            <a:off x="9031986" y="1938528"/>
            <a:ext cx="2489454" cy="3364992"/>
          </a:xfrm>
          <a:prstGeom prst="roundRect">
            <a:avLst>
              <a:gd name="adj" fmla="val 2938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42" name="Text 39"/>
          <p:cNvSpPr/>
          <p:nvPr/>
        </p:nvSpPr>
        <p:spPr>
          <a:xfrm>
            <a:off x="9214866" y="2212848"/>
            <a:ext cx="134645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ACTION 4</a:t>
            </a:r>
            <a:endParaRPr lang="en-US" sz="800" dirty="0"/>
          </a:p>
        </p:txBody>
      </p:sp>
      <p:sp>
        <p:nvSpPr>
          <p:cNvPr id="43" name="Shape 40"/>
          <p:cNvSpPr/>
          <p:nvPr/>
        </p:nvSpPr>
        <p:spPr>
          <a:xfrm>
            <a:off x="10561320" y="2148840"/>
            <a:ext cx="749808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44" name="Text 41"/>
          <p:cNvSpPr/>
          <p:nvPr/>
        </p:nvSpPr>
        <p:spPr>
          <a:xfrm>
            <a:off x="10597896" y="2148840"/>
            <a:ext cx="676656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45" name="Text 42"/>
          <p:cNvSpPr/>
          <p:nvPr/>
        </p:nvSpPr>
        <p:spPr>
          <a:xfrm>
            <a:off x="9214866" y="2633472"/>
            <a:ext cx="212369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</a:rPr>
              <a:t>Team Manager + L&amp;D</a:t>
            </a:r>
            <a:endParaRPr lang="en-US" sz="1100" dirty="0"/>
          </a:p>
        </p:txBody>
      </p:sp>
      <p:sp>
        <p:nvSpPr>
          <p:cNvPr id="46" name="Text 43"/>
          <p:cNvSpPr/>
          <p:nvPr/>
        </p:nvSpPr>
        <p:spPr>
          <a:xfrm>
            <a:off x="9214866" y="3035808"/>
            <a:ext cx="2123694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Assign a coaching owner for support-needed learners and review attendance issues with direct managers.</a:t>
            </a:r>
            <a:endParaRPr lang="en-US" sz="1050" dirty="0"/>
          </a:p>
        </p:txBody>
      </p:sp>
      <p:sp>
        <p:nvSpPr>
          <p:cNvPr id="47" name="Text 44"/>
          <p:cNvSpPr/>
          <p:nvPr/>
        </p:nvSpPr>
        <p:spPr>
          <a:xfrm>
            <a:off x="9214866" y="4187952"/>
            <a:ext cx="212369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Expected outcome</a:t>
            </a:r>
            <a:endParaRPr lang="en-US" sz="800" dirty="0"/>
          </a:p>
        </p:txBody>
      </p:sp>
      <p:sp>
        <p:nvSpPr>
          <p:cNvPr id="48" name="Text 45"/>
          <p:cNvSpPr/>
          <p:nvPr/>
        </p:nvSpPr>
        <p:spPr>
          <a:xfrm>
            <a:off x="9214866" y="4443984"/>
            <a:ext cx="2123694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64748B"/>
                </a:solidFill>
              </a:rPr>
              <a:t>Increase Technical Leadership &amp; Communication attendance from 47.9% to at least 85% (+37.1 percentage points) in the next cohort.</a:t>
            </a:r>
            <a:endParaRPr lang="en-US" sz="92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Appendix and methodology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Course Leadership_06_2026 | Type full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Blocked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594360" y="105156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Source traceability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31520" y="1481328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Report ID: rpt_46d3b85f-c1ab-48a1-b8aa-3bf5359afd0f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731520" y="1792224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Dataset ID: ds_0cf65ce4bc0b7e65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731520" y="2103120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Metrics snapshot ID: mx_05ec37a3-7120-4495-bad3-12599135a142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731520" y="2414016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Evidence decision ID: ev_fdc641d4-a54c-4b92-b14e-17da76b945c1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731520" y="2724912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Governance view ID: gv_f93d99c0-c27c-40ea-a870-ff502104fa99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731520" y="3035808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Role view: L&amp;D Manager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731520" y="3346704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Sensitive details: visible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6492240" y="105156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LLM disclosure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6492240" y="1463040"/>
            <a:ext cx="4983480" cy="1371600"/>
          </a:xfrm>
          <a:prstGeom prst="roundRect">
            <a:avLst>
              <a:gd name="adj" fmla="val 5333"/>
            </a:avLst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720840" y="1700784"/>
            <a:ext cx="4480560" cy="7772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0F172A"/>
                </a:solidFill>
              </a:rPr>
              <a:t>Deterministic fallback used. OPENAI_API_KEY is not configured or LD_REPORTING_USE_LLM=false.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6492240" y="324612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Business rule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6492240" y="3675888"/>
            <a:ext cx="4892040" cy="6858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</a:rPr>
              <a:t>Completion rate is calculated from learner attendance &gt;= 70%. Pass rate is calculated independently from assessment pass status.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SETA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L&amp;D Training Effectiveness Report - Technical Leadership &amp; Communication</dc:title>
  <dc:subject>Evidence gaps block a final effectiveness conclusion.</dc:subject>
  <dc:creator>SETA L&amp;D Reporting Agent</dc:creator>
  <cp:lastModifiedBy>SETA L&amp;D Reporting Agent</cp:lastModifiedBy>
  <cp:revision>1</cp:revision>
  <dcterms:created xsi:type="dcterms:W3CDTF">2026-06-22T18:44:57Z</dcterms:created>
  <dcterms:modified xsi:type="dcterms:W3CDTF">2026-06-22T18:44:57Z</dcterms:modified>
</cp:coreProperties>
</file>