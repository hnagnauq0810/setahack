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4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Pt>
            <c:idx val="1"/>
            <c:bubble3D val="0"/>
            <c:spPr>
              <a:solidFill>
                <a:srgbClr val="B45309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dLbl>
              <c:idx val="1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Sheet1!$A$2:$A$3</c:f>
              <c:strCache>
                <c:ptCount val="2"/>
                <c:pt idx="0">
                  <c:v>High</c:v>
                </c:pt>
                <c:pt idx="1">
                  <c:v>Medium</c:v>
                </c:pt>
              </c:strCache>
            </c:strRef>
          </c:cat>
          <c:val>
            <c:numRef>
              <c:f>Sheet1!$B$2:$B$3</c:f>
              <c:numCache>
                <c:ptCount val="2"/>
                <c:pt idx="0">
                  <c:v>7</c:v>
                </c:pt>
                <c:pt idx="1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3 course(s), 3 completed course(s), and 59 trainee-course records. Overall attendance is 92.9%, completion is 98.3%, pass rate is 89.8%, and average score is 7.59/10. Total training hours are 848 and scaled cost is 32.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Improve learner recovery and reduce support-needed cases.
2. Mark as Incomplete; recommend re-enrollment in next cohort
Owner: L&amp;D Manager
Outcome: Improve training effectiveness and repeatability.
3. Assign a coaching owner, buddy support, and targeted practice resources for the flagged learner.
Owner: L&amp;D Manager
Outcome: Improve learner recovery and reduce support-needed cases.
4. Mark incomplete learner records for review and schedule re-enrollment in the next suitable cohort.
Owner: L&amp;D Manager
Outcome: Improve training effectiveness and repeatability.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- 2026-Q1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88.2/100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1019373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92.9%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78626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98.3%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985357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89.8%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Period 2026-Q1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6/22/2026, 10:28:12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3 course(s), 3 completed course(s), and 59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92.9%, completion is 98.3%, pass rate is 89.8%, and average score is 7.59/10.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848 and scaled cost is 32.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92.9%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98.3%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89.8%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7.59/10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4.48/5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848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32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0.0683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4125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92.9%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52749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98.3%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32013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89.8%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291241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88.2/100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rate mix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Attendance, completion, and pass rate by course.</a:t>
            </a:r>
            <a:endParaRPr lang="en-US" sz="780" dirty="0"/>
          </a:p>
        </p:txBody>
      </p:sp>
      <p:sp>
        <p:nvSpPr>
          <p:cNvPr id="33" name="Shape 31"/>
          <p:cNvSpPr/>
          <p:nvPr/>
        </p:nvSpPr>
        <p:spPr>
          <a:xfrm>
            <a:off x="6537960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675120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Attendance</a:t>
            </a:r>
            <a:endParaRPr lang="en-US" sz="680" dirty="0"/>
          </a:p>
        </p:txBody>
      </p:sp>
      <p:sp>
        <p:nvSpPr>
          <p:cNvPr id="35" name="Shape 33"/>
          <p:cNvSpPr/>
          <p:nvPr/>
        </p:nvSpPr>
        <p:spPr>
          <a:xfrm>
            <a:off x="7690104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827264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Completion</a:t>
            </a:r>
            <a:endParaRPr lang="en-US" sz="680" dirty="0"/>
          </a:p>
        </p:txBody>
      </p:sp>
      <p:sp>
        <p:nvSpPr>
          <p:cNvPr id="37" name="Shape 35"/>
          <p:cNvSpPr/>
          <p:nvPr/>
        </p:nvSpPr>
        <p:spPr>
          <a:xfrm>
            <a:off x="8842248" y="1920240"/>
            <a:ext cx="9144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979408" y="1901952"/>
            <a:ext cx="950976" cy="11887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680" dirty="0">
                <a:solidFill>
                  <a:srgbClr val="64748B"/>
                </a:solidFill>
              </a:rPr>
              <a:t>Pass rate</a:t>
            </a:r>
            <a:endParaRPr lang="en-US" sz="680" dirty="0"/>
          </a:p>
        </p:txBody>
      </p:sp>
      <p:sp>
        <p:nvSpPr>
          <p:cNvPr id="39" name="Shape 37"/>
          <p:cNvSpPr/>
          <p:nvPr/>
        </p:nvSpPr>
        <p:spPr>
          <a:xfrm>
            <a:off x="6739128" y="5349240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739128" y="3808476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739128" y="2267712"/>
            <a:ext cx="4398264" cy="0"/>
          </a:xfrm>
          <a:prstGeom prst="line">
            <a:avLst/>
          </a:prstGeom>
          <a:noFill/>
          <a:ln w="12700">
            <a:solidFill>
              <a:srgbClr val="E2E8F0">
                <a:alpha val="7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257288" y="2517316"/>
            <a:ext cx="118872" cy="2831924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12736" y="2350913"/>
            <a:ext cx="118872" cy="299832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7568184" y="2600517"/>
            <a:ext cx="118872" cy="274872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57416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Automation Te...</a:t>
            </a:r>
            <a:endParaRPr lang="en-US" sz="650" dirty="0"/>
          </a:p>
        </p:txBody>
      </p:sp>
      <p:sp>
        <p:nvSpPr>
          <p:cNvPr id="46" name="Shape 44"/>
          <p:cNvSpPr/>
          <p:nvPr/>
        </p:nvSpPr>
        <p:spPr>
          <a:xfrm>
            <a:off x="8723376" y="2390973"/>
            <a:ext cx="118872" cy="2958267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8878824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903427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8223504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DevOps Fundam...</a:t>
            </a:r>
            <a:endParaRPr lang="en-US" sz="650" dirty="0"/>
          </a:p>
        </p:txBody>
      </p:sp>
      <p:sp>
        <p:nvSpPr>
          <p:cNvPr id="50" name="Shape 48"/>
          <p:cNvSpPr/>
          <p:nvPr/>
        </p:nvSpPr>
        <p:spPr>
          <a:xfrm>
            <a:off x="10189464" y="2474174"/>
            <a:ext cx="118872" cy="2875066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10344912" y="2267712"/>
            <a:ext cx="118872" cy="308152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10500360" y="2782327"/>
            <a:ext cx="118872" cy="2566913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689592" y="5440680"/>
            <a:ext cx="1429512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 indent="0" marL="0">
              <a:buNone/>
            </a:pPr>
            <a:r>
              <a:rPr lang="en-US" sz="650" dirty="0">
                <a:solidFill>
                  <a:srgbClr val="0F172A"/>
                </a:solidFill>
              </a:rPr>
              <a:t>AWS Cloud Arc...</a:t>
            </a:r>
            <a:endParaRPr lang="en-US" sz="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Distribution and risk signals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Course effectiveness comparison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Effectiveness score by course, using the validated L&amp;D scoring model.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Automation Testing with...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250470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86.7/100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318516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DevOps Fundamentals: CI...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33146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331464"/>
            <a:ext cx="239641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03090" y="328574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31760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92.3/100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445008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AWS Cloud Architecture ...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459638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4596384"/>
            <a:ext cx="2227098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603090" y="455066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444093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85.8/100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8</a:t>
            </a:r>
            <a:endParaRPr lang="en-US" sz="2200" dirty="0"/>
          </a:p>
        </p:txBody>
      </p:sp>
      <p:sp>
        <p:nvSpPr>
          <p:cNvPr id="30" name="Text 27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1" name="Shape 28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3" name="Text 30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7 (88%)</a:t>
            </a:r>
            <a:endParaRPr lang="en-US" sz="800" dirty="0"/>
          </a:p>
        </p:txBody>
      </p:sp>
      <p:sp>
        <p:nvSpPr>
          <p:cNvPr id="34" name="Shape 31"/>
          <p:cNvSpPr/>
          <p:nvPr/>
        </p:nvSpPr>
        <p:spPr>
          <a:xfrm>
            <a:off x="9486900" y="2779776"/>
            <a:ext cx="109728" cy="109728"/>
          </a:xfrm>
          <a:prstGeom prst="rect">
            <a:avLst/>
          </a:prstGeom>
          <a:solidFill>
            <a:srgbClr val="B45309"/>
          </a:solidFill>
          <a:ln w="12700">
            <a:solidFill>
              <a:srgbClr val="B45309">
                <a:alpha val="0"/>
              </a:srgbClr>
            </a:solidFill>
            <a:prstDash val="solid"/>
          </a:ln>
        </p:spPr>
      </p:sp>
      <p:sp>
        <p:nvSpPr>
          <p:cNvPr id="35" name="Text 32"/>
          <p:cNvSpPr/>
          <p:nvPr/>
        </p:nvSpPr>
        <p:spPr>
          <a:xfrm>
            <a:off x="9669780" y="2752344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Medium</a:t>
            </a:r>
            <a:endParaRPr lang="en-US" sz="900" dirty="0"/>
          </a:p>
        </p:txBody>
      </p:sp>
      <p:sp>
        <p:nvSpPr>
          <p:cNvPr id="36" name="Text 33"/>
          <p:cNvSpPr/>
          <p:nvPr/>
        </p:nvSpPr>
        <p:spPr>
          <a:xfrm>
            <a:off x="10643616" y="2752344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(13%)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078992"/>
          <a:ext cx="10972800" cy="3063240"/>
        </p:xfrm>
        <a:graphic>
          <a:graphicData uri="http://schemas.openxmlformats.org/drawingml/2006/table">
            <a:tbl>
              <a:tblPr/>
              <a:tblGrid>
                <a:gridCol w="3017520"/>
                <a:gridCol w="914400"/>
                <a:gridCol w="1143000"/>
                <a:gridCol w="1143000"/>
                <a:gridCol w="1005840"/>
                <a:gridCol w="1005840"/>
                <a:gridCol w="1234440"/>
              </a:tblGrid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Course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Learners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Attend.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Complete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Pass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Score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Effectiveness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Automation Testing with Playwri...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37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91.9%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97.3%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89.2%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7.59/10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86.66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DevOps Fundamentals: CI/CD, K8s...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96%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7.89/10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92.28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AWS Cloud Architecture &amp; Servic...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12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93.3%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100%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83.3%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7.32/10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</a:rPr>
                        <a:t>85.76</a:t>
                      </a:r>
                      <a:endParaRPr lang="en-US" sz="1000" dirty="0"/>
                    </a:p>
                  </a:txBody>
                  <a:tcPr marL="54864" marR="54864" marT="54864" marB="54864" anchor="mid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94360" y="4572000"/>
            <a:ext cx="2011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What to notice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594360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58952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98.3%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325112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489704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88.23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8055864" y="4956048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220456" y="512064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98.3%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89.8%.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88.23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92.9%, pass rate 89.8%, average score 7.59/10.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DevOps Fundamentals: CI/CD, K8s, Monitoring has the strongest effectiveness score (92.28) in the selected scop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AWS Cloud Architecture &amp; Services needs attention with effectiveness score 85.76, attendance 93.3%, and pass r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7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594360" y="3538728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22376" y="3694176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58952" y="3694176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7" name="Text 25"/>
          <p:cNvSpPr/>
          <p:nvPr/>
        </p:nvSpPr>
        <p:spPr>
          <a:xfrm>
            <a:off x="1600200" y="364845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8" name="Text 26"/>
          <p:cNvSpPr/>
          <p:nvPr/>
        </p:nvSpPr>
        <p:spPr>
          <a:xfrm>
            <a:off x="3840480" y="3630168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94360" y="4288536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22376" y="44439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58952" y="44439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1600200" y="4398264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NORM-05 | High</a:t>
            </a:r>
            <a:endParaRPr lang="en-US" sz="930" dirty="0"/>
          </a:p>
        </p:txBody>
      </p:sp>
      <p:sp>
        <p:nvSpPr>
          <p:cNvPr id="33" name="Text 31"/>
          <p:cNvSpPr/>
          <p:nvPr/>
        </p:nvSpPr>
        <p:spPr>
          <a:xfrm>
            <a:off x="3840480" y="4379976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has zero score or missing assessment.</a:t>
            </a:r>
            <a:endParaRPr lang="en-US" sz="860" dirty="0"/>
          </a:p>
        </p:txBody>
      </p:sp>
      <p:sp>
        <p:nvSpPr>
          <p:cNvPr id="34" name="Shape 32"/>
          <p:cNvSpPr/>
          <p:nvPr/>
        </p:nvSpPr>
        <p:spPr>
          <a:xfrm>
            <a:off x="594360" y="5038344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2376" y="5193792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58952" y="5193792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7" name="Text 35"/>
          <p:cNvSpPr/>
          <p:nvPr/>
        </p:nvSpPr>
        <p:spPr>
          <a:xfrm>
            <a:off x="1600200" y="5148072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38" name="Text 36"/>
          <p:cNvSpPr/>
          <p:nvPr/>
        </p:nvSpPr>
        <p:spPr>
          <a:xfrm>
            <a:off x="3840480" y="5129784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39" name="Shape 37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42" name="Text 40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6984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69848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594360" y="1947672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2167128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2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170432" y="2148840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207008" y="2148840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8" name="Text 16"/>
          <p:cNvSpPr/>
          <p:nvPr/>
        </p:nvSpPr>
        <p:spPr>
          <a:xfrm>
            <a:off x="2121408" y="2112264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794760" y="205740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057400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594360" y="2935224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68096" y="3154680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170432" y="3136392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07008" y="3136392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3"/>
          <p:cNvSpPr/>
          <p:nvPr/>
        </p:nvSpPr>
        <p:spPr>
          <a:xfrm>
            <a:off x="2121408" y="3099816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794760" y="30449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930" dirty="0"/>
          </a:p>
        </p:txBody>
      </p:sp>
      <p:sp>
        <p:nvSpPr>
          <p:cNvPr id="27" name="Text 25"/>
          <p:cNvSpPr/>
          <p:nvPr/>
        </p:nvSpPr>
        <p:spPr>
          <a:xfrm>
            <a:off x="7863840" y="3044952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3922776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68096" y="4142232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170432" y="4123944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207008" y="4123944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2" name="Text 30"/>
          <p:cNvSpPr/>
          <p:nvPr/>
        </p:nvSpPr>
        <p:spPr>
          <a:xfrm>
            <a:off x="2121408" y="4087368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3794760" y="4032504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930" dirty="0"/>
          </a:p>
        </p:txBody>
      </p:sp>
      <p:sp>
        <p:nvSpPr>
          <p:cNvPr id="34" name="Text 32"/>
          <p:cNvSpPr/>
          <p:nvPr/>
        </p:nvSpPr>
        <p:spPr>
          <a:xfrm>
            <a:off x="7863840" y="4032504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training effectiveness and repeatability.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94360" y="4910328"/>
            <a:ext cx="10972800" cy="749808"/>
          </a:xfrm>
          <a:prstGeom prst="roundRect">
            <a:avLst>
              <a:gd name="adj" fmla="val 731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68096" y="5129784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5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1170432" y="5111496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207008" y="5111496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2121408" y="5074920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Team Manager + L&amp;D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3794760" y="5020056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Assign a coaching owner for support-needed learners and review attendance issues with direct managers.</a:t>
            </a:r>
            <a:endParaRPr lang="en-US" sz="930" dirty="0"/>
          </a:p>
        </p:txBody>
      </p:sp>
      <p:sp>
        <p:nvSpPr>
          <p:cNvPr id="41" name="Text 39"/>
          <p:cNvSpPr/>
          <p:nvPr/>
        </p:nvSpPr>
        <p:spPr>
          <a:xfrm>
            <a:off x="7863840" y="5020056"/>
            <a:ext cx="3291840" cy="25603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1930527" y="1490472"/>
            <a:ext cx="8346186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1674495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1674495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2215134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2251710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19" name="Shape 16"/>
          <p:cNvSpPr/>
          <p:nvPr/>
        </p:nvSpPr>
        <p:spPr>
          <a:xfrm>
            <a:off x="4456557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456557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21" name="Shape 18"/>
          <p:cNvSpPr/>
          <p:nvPr/>
        </p:nvSpPr>
        <p:spPr>
          <a:xfrm>
            <a:off x="3467862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3650742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2</a:t>
            </a:r>
            <a:endParaRPr lang="en-US" sz="800" dirty="0"/>
          </a:p>
        </p:txBody>
      </p:sp>
      <p:sp>
        <p:nvSpPr>
          <p:cNvPr id="23" name="Shape 20"/>
          <p:cNvSpPr/>
          <p:nvPr/>
        </p:nvSpPr>
        <p:spPr>
          <a:xfrm>
            <a:off x="4997196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033772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5" name="Text 22"/>
          <p:cNvSpPr/>
          <p:nvPr/>
        </p:nvSpPr>
        <p:spPr>
          <a:xfrm>
            <a:off x="3650742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26" name="Text 23"/>
          <p:cNvSpPr/>
          <p:nvPr/>
        </p:nvSpPr>
        <p:spPr>
          <a:xfrm>
            <a:off x="3650742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as Incomplete; recommend re-enrollment in next cohort</a:t>
            </a:r>
            <a:endParaRPr lang="en-US" sz="1050" dirty="0"/>
          </a:p>
        </p:txBody>
      </p:sp>
      <p:sp>
        <p:nvSpPr>
          <p:cNvPr id="27" name="Text 24"/>
          <p:cNvSpPr/>
          <p:nvPr/>
        </p:nvSpPr>
        <p:spPr>
          <a:xfrm>
            <a:off x="3650742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28" name="Text 25"/>
          <p:cNvSpPr/>
          <p:nvPr/>
        </p:nvSpPr>
        <p:spPr>
          <a:xfrm>
            <a:off x="3650742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7238619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238619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31" name="Shape 28"/>
          <p:cNvSpPr/>
          <p:nvPr/>
        </p:nvSpPr>
        <p:spPr>
          <a:xfrm>
            <a:off x="6249924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6432804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3</a:t>
            </a:r>
            <a:endParaRPr lang="en-US" sz="800" dirty="0"/>
          </a:p>
        </p:txBody>
      </p:sp>
      <p:sp>
        <p:nvSpPr>
          <p:cNvPr id="33" name="Shape 30"/>
          <p:cNvSpPr/>
          <p:nvPr/>
        </p:nvSpPr>
        <p:spPr>
          <a:xfrm>
            <a:off x="7779258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7815834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35" name="Text 32"/>
          <p:cNvSpPr/>
          <p:nvPr/>
        </p:nvSpPr>
        <p:spPr>
          <a:xfrm>
            <a:off x="6432804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36" name="Text 33"/>
          <p:cNvSpPr/>
          <p:nvPr/>
        </p:nvSpPr>
        <p:spPr>
          <a:xfrm>
            <a:off x="6432804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Assign a coaching owner, buddy support, and targeted practice resources for the flagged learner.</a:t>
            </a:r>
            <a:endParaRPr lang="en-US" sz="1050" dirty="0"/>
          </a:p>
        </p:txBody>
      </p:sp>
      <p:sp>
        <p:nvSpPr>
          <p:cNvPr id="37" name="Text 34"/>
          <p:cNvSpPr/>
          <p:nvPr/>
        </p:nvSpPr>
        <p:spPr>
          <a:xfrm>
            <a:off x="6432804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38" name="Text 35"/>
          <p:cNvSpPr/>
          <p:nvPr/>
        </p:nvSpPr>
        <p:spPr>
          <a:xfrm>
            <a:off x="6432804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learner recovery and reduce support-needed cases.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10020681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020681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41" name="Shape 38"/>
          <p:cNvSpPr/>
          <p:nvPr/>
        </p:nvSpPr>
        <p:spPr>
          <a:xfrm>
            <a:off x="9031986" y="1938528"/>
            <a:ext cx="2489454" cy="3364992"/>
          </a:xfrm>
          <a:prstGeom prst="roundRect">
            <a:avLst>
              <a:gd name="adj" fmla="val 2938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9214866" y="2212848"/>
            <a:ext cx="134645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4</a:t>
            </a:r>
            <a:endParaRPr lang="en-US" sz="800" dirty="0"/>
          </a:p>
        </p:txBody>
      </p:sp>
      <p:sp>
        <p:nvSpPr>
          <p:cNvPr id="43" name="Shape 4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45" name="Text 42"/>
          <p:cNvSpPr/>
          <p:nvPr/>
        </p:nvSpPr>
        <p:spPr>
          <a:xfrm>
            <a:off x="9214866" y="2633472"/>
            <a:ext cx="212369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46" name="Text 43"/>
          <p:cNvSpPr/>
          <p:nvPr/>
        </p:nvSpPr>
        <p:spPr>
          <a:xfrm>
            <a:off x="9214866" y="3090672"/>
            <a:ext cx="2123694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Mark incomplete learner records for review and schedule re-enrollment in the next suitable cohort.</a:t>
            </a:r>
            <a:endParaRPr lang="en-US" sz="1050" dirty="0"/>
          </a:p>
        </p:txBody>
      </p:sp>
      <p:sp>
        <p:nvSpPr>
          <p:cNvPr id="47" name="Text 44"/>
          <p:cNvSpPr/>
          <p:nvPr/>
        </p:nvSpPr>
        <p:spPr>
          <a:xfrm>
            <a:off x="9214866" y="4315968"/>
            <a:ext cx="2123694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48" name="Text 45"/>
          <p:cNvSpPr/>
          <p:nvPr/>
        </p:nvSpPr>
        <p:spPr>
          <a:xfrm>
            <a:off x="9214866" y="4590288"/>
            <a:ext cx="2123694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Improve training effectiveness and repeatability.</a:t>
            </a:r>
            <a:endParaRPr lang="en-US" sz="92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Period 2026-Q1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rpt_a4a966ef-a96d-467b-9688-9f2287bcb2a2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ds_07454184a9dab174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mx_07aac4b6-ca87-4480-b0d3-ce5cd56192a2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ev_a84e2ec6-a183-42c9-89cc-73da81b4e850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gv_b44a1c55-f698-49c1-b08b-26b1a748a8dd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- 2026-Q1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2026-06-22T15:28:12Z</dcterms:created>
  <dcterms:modified xsi:type="dcterms:W3CDTF">2026-06-22T15:28:12Z</dcterms:modified>
</cp:coreProperties>
</file>